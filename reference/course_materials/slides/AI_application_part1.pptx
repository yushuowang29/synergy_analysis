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46"/>
  </p:notesMasterIdLst>
  <p:sldIdLst>
    <p:sldId id="256" r:id="rId3"/>
    <p:sldId id="257" r:id="rId4"/>
    <p:sldId id="266" r:id="rId5"/>
    <p:sldId id="304" r:id="rId6"/>
    <p:sldId id="307" r:id="rId7"/>
    <p:sldId id="306" r:id="rId8"/>
    <p:sldId id="258" r:id="rId9"/>
    <p:sldId id="309" r:id="rId10"/>
    <p:sldId id="308" r:id="rId11"/>
    <p:sldId id="310" r:id="rId12"/>
    <p:sldId id="259" r:id="rId13"/>
    <p:sldId id="260" r:id="rId14"/>
    <p:sldId id="277" r:id="rId15"/>
    <p:sldId id="305" r:id="rId16"/>
    <p:sldId id="278" r:id="rId17"/>
    <p:sldId id="311" r:id="rId18"/>
    <p:sldId id="314" r:id="rId19"/>
    <p:sldId id="315" r:id="rId20"/>
    <p:sldId id="283" r:id="rId21"/>
    <p:sldId id="284" r:id="rId22"/>
    <p:sldId id="286" r:id="rId23"/>
    <p:sldId id="285" r:id="rId24"/>
    <p:sldId id="312" r:id="rId25"/>
    <p:sldId id="287" r:id="rId26"/>
    <p:sldId id="316" r:id="rId27"/>
    <p:sldId id="289" r:id="rId28"/>
    <p:sldId id="290" r:id="rId29"/>
    <p:sldId id="313" r:id="rId30"/>
    <p:sldId id="291" r:id="rId31"/>
    <p:sldId id="319" r:id="rId32"/>
    <p:sldId id="320" r:id="rId33"/>
    <p:sldId id="292" r:id="rId34"/>
    <p:sldId id="293" r:id="rId35"/>
    <p:sldId id="321" r:id="rId36"/>
    <p:sldId id="294" r:id="rId37"/>
    <p:sldId id="295" r:id="rId38"/>
    <p:sldId id="296" r:id="rId39"/>
    <p:sldId id="297" r:id="rId40"/>
    <p:sldId id="261" r:id="rId41"/>
    <p:sldId id="317" r:id="rId42"/>
    <p:sldId id="267" r:id="rId43"/>
    <p:sldId id="268" r:id="rId44"/>
    <p:sldId id="323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74CC68F-327B-674B-8B30-935AE1C738EE}">
          <p14:sldIdLst>
            <p14:sldId id="256"/>
            <p14:sldId id="257"/>
            <p14:sldId id="266"/>
            <p14:sldId id="304"/>
            <p14:sldId id="307"/>
            <p14:sldId id="306"/>
            <p14:sldId id="258"/>
            <p14:sldId id="309"/>
            <p14:sldId id="308"/>
            <p14:sldId id="310"/>
            <p14:sldId id="259"/>
            <p14:sldId id="260"/>
            <p14:sldId id="277"/>
            <p14:sldId id="305"/>
            <p14:sldId id="278"/>
            <p14:sldId id="311"/>
            <p14:sldId id="314"/>
            <p14:sldId id="315"/>
            <p14:sldId id="283"/>
            <p14:sldId id="284"/>
            <p14:sldId id="286"/>
            <p14:sldId id="285"/>
            <p14:sldId id="312"/>
            <p14:sldId id="287"/>
            <p14:sldId id="316"/>
            <p14:sldId id="289"/>
            <p14:sldId id="290"/>
            <p14:sldId id="313"/>
            <p14:sldId id="291"/>
            <p14:sldId id="319"/>
            <p14:sldId id="320"/>
            <p14:sldId id="292"/>
            <p14:sldId id="293"/>
            <p14:sldId id="321"/>
            <p14:sldId id="294"/>
            <p14:sldId id="295"/>
            <p14:sldId id="296"/>
            <p14:sldId id="297"/>
            <p14:sldId id="261"/>
            <p14:sldId id="317"/>
            <p14:sldId id="267"/>
            <p14:sldId id="268"/>
            <p14:sldId id="32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0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5"/>
    <p:restoredTop sz="94694"/>
  </p:normalViewPr>
  <p:slideViewPr>
    <p:cSldViewPr snapToGrid="0">
      <p:cViewPr varScale="1">
        <p:scale>
          <a:sx n="100" d="100"/>
          <a:sy n="100" d="100"/>
        </p:scale>
        <p:origin x="5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zh-CN" sz="1800" b="0" u="none" strike="noStrike">
                <a:solidFill>
                  <a:schemeClr val="dk1"/>
                </a:solidFill>
                <a:uFillTx/>
                <a:latin typeface="Century Gothic"/>
              </a:rPr>
              <a:t>单击以移动幻灯片</a:t>
            </a:r>
            <a:endParaRPr lang="en-US" sz="1800" b="0" u="none" strike="noStrike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zh-CN" sz="1600" b="0" u="none" strike="noStrike">
                <a:solidFill>
                  <a:srgbClr val="000000"/>
                </a:solidFill>
                <a:uFillTx/>
                <a:latin typeface="Arial"/>
              </a:rPr>
              <a:t>点击编辑备注格式</a:t>
            </a:r>
            <a:endParaRPr lang="en-US" sz="1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58" name="PlaceHolder 4"/>
          <p:cNvSpPr>
            <a:spLocks noGrp="1"/>
          </p:cNvSpPr>
          <p:nvPr>
            <p:ph type="dt" idx="5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59" name="PlaceHolder 5"/>
          <p:cNvSpPr>
            <a:spLocks noGrp="1"/>
          </p:cNvSpPr>
          <p:nvPr>
            <p:ph type="ftr" idx="5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60" name="PlaceHolder 6"/>
          <p:cNvSpPr>
            <a:spLocks noGrp="1"/>
          </p:cNvSpPr>
          <p:nvPr>
            <p:ph type="sldNum" idx="5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A51B4EE-1874-43AA-A316-2F5BCD9BB07E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5E90E-12E0-2173-8CEF-E9ABE42D6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9307AC9D-869B-7381-2D8E-475C89B66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295BA8CA-8384-BBC0-CB59-A333CAE487F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+mn-lt"/>
              </a:rPr>
              <a:t>https://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+mn-lt"/>
              </a:rPr>
              <a:t>statomics.github.io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+mn-lt"/>
              </a:rPr>
              <a:t>/SGA/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+mn-lt"/>
              </a:rPr>
              <a:t>sequencing_intro.html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3A15C22E-84AC-4F7B-FE80-7463FE3A88A4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42418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F971A-C04A-1A0D-303D-6391D9874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60AAF404-0DF3-E666-A4E7-D2F426EE5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5A1EBC46-C3A9-63FF-2CE0-6EBFBA69F55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C8D80966-1076-207A-D566-641D6CF042C0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3493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C7655-F9B9-FCE4-06D8-BCBB019F3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4F071408-E7C3-B938-EFE2-65D521B50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CBB94C8A-30FD-5697-3DF5-8C6493A0AEA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9DAE1CD2-2D3F-A5AE-DB95-F1B531F12775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4569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C7655-F9B9-FCE4-06D8-BCBB019F3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4F071408-E7C3-B938-EFE2-65D521B50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CBB94C8A-30FD-5697-3DF5-8C6493A0AEA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9DAE1CD2-2D3F-A5AE-DB95-F1B531F12775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6094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Use this slide to connect symbols with chemistry. Students often memorize letters but miss why properties matter.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Clarify that the groups are simplified; exact behavior depends on pH, structural context, and neighboring residues.</a:t>
            </a:r>
          </a:p>
        </p:txBody>
      </p:sp>
      <p:sp>
        <p:nvSpPr>
          <p:cNvPr id="48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693E38-DDF4-4887-BEB5-0CF02491BA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demonstrates how alignments or variant tables are interpreted. Students should not stop at “letter changed”; they should translate the letter change into chemistry and position.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UniProt record notes a variant at residue 46, R to Q, associated with MODY10 and reduced binding/biological activity/folding properties.</a:t>
            </a:r>
          </a:p>
        </p:txBody>
      </p:sp>
      <p:sp>
        <p:nvSpPr>
          <p:cNvPr id="49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D23A60-8D2E-4636-9E7E-C39045EE05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C7655-F9B9-FCE4-06D8-BCBB019F3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4F071408-E7C3-B938-EFE2-65D521B50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CBB94C8A-30FD-5697-3DF5-8C6493A0AEA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9DAE1CD2-2D3F-A5AE-DB95-F1B531F12775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189325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168A4-20BB-7FD5-6065-5D0D0293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E1FD4303-E165-1D05-9E9E-0B0CD5528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30CBF03E-93DF-79CE-B0F7-32641A892FC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6DAB3BB2-F2C3-A6D6-C331-8F08A4EED914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102174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C7655-F9B9-FCE4-06D8-BCBB019F3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4F071408-E7C3-B938-EFE2-65D521B50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CBB94C8A-30FD-5697-3DF5-8C6493A0AEA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9DAE1CD2-2D3F-A5AE-DB95-F1B531F12775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35915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825F3-2B2B-5EFC-0A69-D017E9E84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599035A7-48BB-F262-3AFC-D768840FC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06DCB8FA-6D3C-05FF-8E94-A5B9B1E9A9A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7BB2A11B-1858-63F0-5E8D-0DCE2B0CB665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59590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 in data terms. Input is a one-dimensional sequence of amino acid tokens; output is a three-dimensional object. This is why protein structure prediction is a structured prediction problem rather than a simple classification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present pre-AlphaFold work as obsolete. Experimental structure determination remains the gold standard, and template modeling or co-evolutionary analysis are still conceptually important. The message is that each approach uses a different representation of the biological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E6223-BF7A-4FD8-B466-1575F0492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26026A5A-E137-E1E1-ED9B-43F151C0C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9315FA65-E4DB-4461-846E-059DB0543B5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C0A86A9C-ABA4-7249-6A58-2E8A2FF5F218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812515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232AB-4A13-0771-7565-ADD9E145A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92DEADFE-C42E-763D-ED5A-4331C3D1C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28357731-F86F-16CB-EC44-67B378174A5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C8268EE2-F385-1C19-56C5-EA997AE66994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467322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52E25-3E9F-8844-D89C-CAEF00D19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A605E7BD-34E8-A28A-668C-7F8EDA567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D6532772-826D-FAF9-4EBF-4ABF8E0B197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C2EE0AC4-2FD9-5ABC-8419-215728224513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41940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04900-5427-FF0D-6E77-A979D3B93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7A4982A2-CDC6-F963-935E-E7D26E5C3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6E2C96C3-91D5-2491-6D19-57E06BDC249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933ABA65-6D23-364D-B68B-0FF07F63A7F6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81588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73DB1-F9F1-6662-83E8-5199C233E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3DCD2E1E-2E40-0E33-7CA2-D8E5D0862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89957800-1843-A19F-3FD8-0A67471E43B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D603DC3B-67D3-F835-74B5-5C1BEC5D280F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00020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5ED96-4931-DFA2-7A7E-E62A10AE2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B4FD8DA7-480C-11E2-9E87-68129AA10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73D20628-9FF4-D156-8921-BE48C3462D3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E2866506-5F3C-8E1C-FEBA-630EC9CBAA94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9884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1EF5F-2C4B-6D15-86DB-B82A94A67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EE46DE4E-F50E-DD69-CDE8-64C596C9E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F06D48BF-FA06-2BCF-4000-FDEB7876A4D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1A7C9E5D-69D6-718A-99C8-DAD6B71849D7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82931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EBF1F-1000-3C1D-39BD-1DDF9203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1140C5FB-A23C-697C-DF0D-D8A56D679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915A6BED-1AB4-6F0F-119C-64B8EE04F17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EFCDF269-D714-CBDB-48BB-C8351D111E8C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73097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B2E70-654F-4DCC-FF13-05A786013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DB492C38-C70C-172D-167D-EFCBA0E41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5D77B4EB-9C4F-126D-8A57-6C4FA92176C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E1F3C3FB-1968-0F8C-5B86-FA5FD8A4B845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447442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FEFB2-F7A6-BC58-E52A-2F63F25B0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0E63FD44-5EC0-4E6F-D748-4BE5E95C2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CA3CD17C-F18C-CAD9-BA28-E50FF86298A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427FEBB2-CC8C-D6C0-A7A0-7F2FE7C0BE17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33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81901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5F648-735B-FF52-74F9-DB705190F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2016E04D-1CE8-4FE1-5175-BFC85F407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EB8D0348-C5EE-CAFB-195D-3BF45BCDFF8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38049BCD-61A7-D933-AF62-6F3FC13B26C0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36102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3D9DD-310E-A0E4-551E-B7A08F2A6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144ED0BA-4409-E8C9-2BEB-96FD3D6D8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DF54C656-86D0-4264-C092-E1451C5E7E8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A2A9DDDF-F9E7-2AFA-8163-1B2AD1236255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36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965460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88BC1-8946-A7B2-41B5-F873D9908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DBDD7B93-7256-44D3-92FA-86BDBF447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62E88EE6-5C7F-F85D-6697-4AF3178BFEF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ED338CBD-8E23-A2B5-DD2E-D001374744C1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37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66506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8AB47-12DF-3522-090C-18850EA5D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FD742D1A-4775-8091-548F-2A978F136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1C26A191-F58D-282B-D60C-0212619DD7F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D4B28E3E-252B-426D-B607-855BD423328D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38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7011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C631E69-FE8D-40A5-83BC-7A40A0579DC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62696B16-10D3-9E3A-6BB0-889C587922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6200" y="1447920"/>
            <a:ext cx="940356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Click to edit Master text styles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Second level</a:t>
            </a:r>
          </a:p>
          <a:p>
            <a:pPr marL="1257480" lvl="2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Third level</a:t>
            </a:r>
          </a:p>
          <a:p>
            <a:pPr marL="1714680" lvl="3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Fourth level</a:t>
            </a:r>
          </a:p>
          <a:p>
            <a:pPr marL="2171880" lvl="4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Fifth level</a:t>
            </a:r>
            <a:endParaRPr lang="en-US" sz="16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C20347A0-056D-5BA9-8169-23AC579A1A2D}"/>
              </a:ext>
            </a:extLst>
          </p:cNvPr>
          <p:cNvSpPr>
            <a:spLocks noGrp="1"/>
          </p:cNvSpPr>
          <p:nvPr>
            <p:ph type="title" idx="11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Click to edit Master title style</a:t>
            </a:r>
            <a:endParaRPr lang="en-US" sz="36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6F98EF3-F25C-4491-8E47-9A859931980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13ABBB5C-CA96-CACC-C3DC-87C591D2C8A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Click to edit Master title style</a:t>
            </a:r>
            <a:endParaRPr lang="en-US" sz="36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CFA9D1A3-8910-8B0A-7CB7-D58CA93190A1}"/>
              </a:ext>
            </a:extLst>
          </p:cNvPr>
          <p:cNvSpPr>
            <a:spLocks noGrp="1"/>
          </p:cNvSpPr>
          <p:nvPr>
            <p:ph hasCustomPrompt="1"/>
          </p:nvPr>
        </p:nvSpPr>
        <p:spPr>
          <a:xfrm>
            <a:off x="646200" y="1447920"/>
            <a:ext cx="940356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Click to edit Master text styles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Second level</a:t>
            </a:r>
          </a:p>
          <a:p>
            <a:pPr marL="1257480" lvl="2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Third level</a:t>
            </a:r>
          </a:p>
          <a:p>
            <a:pPr marL="1714680" lvl="3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Fourth level</a:t>
            </a:r>
          </a:p>
          <a:p>
            <a:pPr marL="2171880" lvl="4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Fifth level</a:t>
            </a:r>
            <a:endParaRPr lang="en-US" sz="16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819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52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/>
          <p:cNvPicPr/>
          <p:nvPr/>
        </p:nvPicPr>
        <p:blipFill>
          <a:blip r:embed="rId6"/>
          <a:srcRect l="3610"/>
          <a:stretch/>
        </p:blipFill>
        <p:spPr>
          <a:xfrm>
            <a:off x="1244160" y="243828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Picture 6"/>
          <p:cNvPicPr/>
          <p:nvPr/>
        </p:nvPicPr>
        <p:blipFill>
          <a:blip r:embed="rId7"/>
          <a:srcRect l="35647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F2EFF3">
                  <a:alpha val="7000"/>
                </a:srgbClr>
              </a:gs>
              <a:gs pos="36000">
                <a:srgbClr val="F2EFF3">
                  <a:alpha val="6000"/>
                </a:srgbClr>
              </a:gs>
              <a:gs pos="69000">
                <a:srgbClr val="F2EF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3" name="Picture 8"/>
          <p:cNvPicPr/>
          <p:nvPr/>
        </p:nvPicPr>
        <p:blipFill>
          <a:blip r:embed="rId8"/>
          <a:srcRect t="28812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1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dk1">
                    <a:tint val="75000"/>
                    <a:alpha val="60000"/>
                  </a:schemeClr>
                </a:solidFill>
                <a:uFillTx/>
                <a:latin typeface="Century Gothi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dk1">
                    <a:tint val="75000"/>
                    <a:alpha val="60000"/>
                  </a:schemeClr>
                </a:solidFill>
                <a:uFillTx/>
                <a:latin typeface="Century Gothic"/>
              </a:rPr>
              <a:t> </a:t>
            </a:r>
            <a:endParaRPr lang="en-US" sz="11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2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3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70831AF0-FBC4-4993-B694-9A2B661C5DFC}" type="slidenum">
              <a: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rPr>
              <a:t>‹#›</a:t>
            </a:fld>
            <a:endParaRPr lang="en-US" sz="2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D86A4C5-1539-7816-FE3D-F9A00E28456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571" y="6324962"/>
            <a:ext cx="3653499" cy="47495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02B91D2-A610-0EDB-D9CA-D816AFFE4754}"/>
              </a:ext>
            </a:extLst>
          </p:cNvPr>
          <p:cNvSpPr txBox="1"/>
          <p:nvPr userDrawn="1"/>
        </p:nvSpPr>
        <p:spPr>
          <a:xfrm>
            <a:off x="646200" y="406400"/>
            <a:ext cx="9403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l"/>
        <a:defRPr sz="2000" kern="1200">
          <a:solidFill>
            <a:srgbClr val="94209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l"/>
        <a:defRPr sz="2200" kern="1200">
          <a:solidFill>
            <a:srgbClr val="94209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l"/>
        <a:defRPr sz="1800" kern="1200">
          <a:solidFill>
            <a:srgbClr val="94209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l"/>
        <a:defRPr sz="2200" kern="1200">
          <a:solidFill>
            <a:srgbClr val="94209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epmind.google/blog/alphafold-using-ai-for-scientific-discovery-2020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tokenizer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mp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 idx="11"/>
          </p:nvPr>
        </p:nvSpPr>
        <p:spPr>
          <a:xfrm>
            <a:off x="1473480" y="1063800"/>
            <a:ext cx="9244800" cy="500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生物统计和生物信息引论</a:t>
            </a:r>
            <a:br>
              <a:rPr sz="3600" dirty="0"/>
            </a:br>
            <a:br>
              <a:rPr sz="3600" dirty="0"/>
            </a:br>
            <a:r>
              <a:rPr lang="en-US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Lecture 11 </a:t>
            </a:r>
            <a:br>
              <a:rPr sz="3600" dirty="0"/>
            </a:br>
            <a:br>
              <a:rPr sz="3600" dirty="0"/>
            </a:br>
            <a:r>
              <a:rPr lang="zh-CN" altLang="en-US" sz="3600" dirty="0"/>
              <a:t>生物医学问题</a:t>
            </a:r>
            <a:r>
              <a:rPr lang="zh-CN" altLang="en-US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中的复杂模型应用</a:t>
            </a:r>
            <a:r>
              <a:rPr lang="en-US" sz="3600" dirty="0"/>
              <a:t> I</a:t>
            </a:r>
            <a:br>
              <a:rPr lang="en-US" sz="3100" dirty="0"/>
            </a:br>
            <a:br>
              <a:rPr sz="3100" dirty="0"/>
            </a:br>
            <a:br>
              <a:rPr sz="4400" dirty="0"/>
            </a:br>
            <a:br>
              <a:rPr sz="2400" dirty="0"/>
            </a:br>
            <a:endParaRPr lang="en-US" sz="36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3" name="文本框 5"/>
          <p:cNvSpPr/>
          <p:nvPr/>
        </p:nvSpPr>
        <p:spPr>
          <a:xfrm>
            <a:off x="3366000" y="4699440"/>
            <a:ext cx="545940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2800" b="0" u="none" strike="noStrike">
                <a:solidFill>
                  <a:schemeClr val="dk2"/>
                </a:solidFill>
                <a:uFillTx/>
                <a:latin typeface="华文中宋"/>
                <a:ea typeface="华文中宋"/>
              </a:rPr>
              <a:t>王健桥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" sz="2800" b="0" u="none" strike="noStrike">
                <a:solidFill>
                  <a:schemeClr val="dk2"/>
                </a:solidFill>
                <a:uFillTx/>
                <a:latin typeface="华文中宋"/>
                <a:ea typeface="华文中宋"/>
              </a:rPr>
              <a:t> jianqw@mail.tsinghua.edu.cn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sldNum" idx="3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rgbClr val="8B8B8B"/>
                </a:solidFill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DA314AF9-3C40-4DB2-885B-07A833D88667}" type="slidenum">
              <a:rPr lang="en-US" sz="2800" b="0" u="none" strike="noStrike">
                <a:solidFill>
                  <a:srgbClr val="8B8B8B"/>
                </a:solidFill>
                <a:uFillTx/>
                <a:latin typeface="Century Gothic"/>
              </a:rPr>
              <a:t>1</a:t>
            </a:fld>
            <a:endParaRPr lang="en-US" sz="2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 xmlns:p15="http://schemas.microsoft.com/office/powerpoint/2012/main"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Outline</a:t>
            </a:r>
            <a:endParaRPr lang="en-US" sz="36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 idx="4294967295"/>
          </p:nvPr>
        </p:nvSpPr>
        <p:spPr>
          <a:xfrm>
            <a:off x="646200" y="1353326"/>
            <a:ext cx="9403560" cy="512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From sequence to protein structure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From DNA sequence to regulatory elements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Concepts in Large Language Model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Applications for Biological sequences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AlphaFold3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dirty="0" err="1">
                <a:solidFill>
                  <a:schemeClr val="dk1"/>
                </a:solidFill>
                <a:latin typeface="华文中宋"/>
                <a:ea typeface="华文中宋"/>
              </a:rPr>
              <a:t>AlphaGenome</a:t>
            </a:r>
            <a:endParaRPr lang="en-US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ESM2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2000" b="0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0046C-FD2C-859F-447D-7F37CB34B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4BBE5BBE-F2C7-B640-5F24-AE557C0EA6B2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Recap: central dogma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D61DDC4-2A04-C722-F9E3-96475DD47D90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</a:t>
            </a:fld>
            <a:endParaRPr/>
          </a:p>
        </p:txBody>
      </p:sp>
      <p:pic>
        <p:nvPicPr>
          <p:cNvPr id="4098" name="Picture 2" descr="Central Paradigm of Biology: a gene, a specific region in the DNA, is first transcribed into RNA and then into proteins. Note, that for RNA-genes the RNA molecule is the end product itself, which is referred to as non-coding RNA (ncRNA) (Source: Wikipedia)">
            <a:extLst>
              <a:ext uri="{FF2B5EF4-FFF2-40B4-BE49-F238E27FC236}">
                <a16:creationId xmlns:a16="http://schemas.microsoft.com/office/drawing/2014/main" id="{7CFF7BDD-E1EC-F8B1-7FA2-9B8AE5FEB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35" y="1138922"/>
            <a:ext cx="7294260" cy="5473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7782EA0-86F5-B36C-41C7-8F20C5D75BCD}"/>
              </a:ext>
            </a:extLst>
          </p:cNvPr>
          <p:cNvSpPr txBox="1"/>
          <p:nvPr/>
        </p:nvSpPr>
        <p:spPr>
          <a:xfrm>
            <a:off x="8558439" y="5689600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Source: Wikipedia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5675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5B07D-9D64-9B7A-AA6B-3F7415C52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E134D811-EEF1-67F5-CCB6-BEABF6759A40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Protein</a:t>
            </a:r>
            <a:r>
              <a:rPr lang="en-US" sz="2800" dirty="0">
                <a:solidFill>
                  <a:schemeClr val="dk2"/>
                </a:solidFill>
                <a:latin typeface="华文中宋"/>
                <a:ea typeface="华文中宋"/>
              </a:rPr>
              <a:t>: from sequence to structure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B597F023-2CEE-AA9C-970A-00336B429B3E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4</a:t>
            </a:fld>
            <a:endParaRPr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2FD2E0E-A1EB-C673-6124-BAD2EBD407A3}"/>
              </a:ext>
            </a:extLst>
          </p:cNvPr>
          <p:cNvSpPr txBox="1"/>
          <p:nvPr/>
        </p:nvSpPr>
        <p:spPr>
          <a:xfrm>
            <a:off x="943296" y="4666281"/>
            <a:ext cx="10000607" cy="1169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Proteins are made up of 20 types of amino acids.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Sequence determine 3D structure.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A protein can be represented as a </a:t>
            </a:r>
            <a:r>
              <a:rPr lang="en-US" altLang="zh-CN" sz="2000" b="1" dirty="0">
                <a:latin typeface="+mn-ea"/>
              </a:rPr>
              <a:t>1D sequence</a:t>
            </a:r>
            <a:r>
              <a:rPr lang="en-US" altLang="zh-CN" sz="2000" dirty="0">
                <a:latin typeface="+mn-ea"/>
              </a:rPr>
              <a:t> or a </a:t>
            </a:r>
            <a:r>
              <a:rPr lang="en-US" altLang="zh-CN" sz="2000" b="1" dirty="0">
                <a:latin typeface="+mn-ea"/>
              </a:rPr>
              <a:t>3D structure</a:t>
            </a:r>
            <a:r>
              <a:rPr lang="en-US" altLang="zh-CN" sz="2000" dirty="0">
                <a:latin typeface="+mn-ea"/>
              </a:rPr>
              <a:t>.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BA25A193-EAD5-AA3F-FAFD-DBBB7A50F8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20ED64-228C-CAFB-9B01-62036D075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267" y="1489236"/>
            <a:ext cx="8517466" cy="270745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A320B97-502D-2E4B-22FE-3DDD6777F8FA}"/>
              </a:ext>
            </a:extLst>
          </p:cNvPr>
          <p:cNvSpPr txBox="1"/>
          <p:nvPr/>
        </p:nvSpPr>
        <p:spPr>
          <a:xfrm>
            <a:off x="230073" y="6338987"/>
            <a:ext cx="8103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Source:  </a:t>
            </a:r>
            <a:r>
              <a:rPr lang="en-US" altLang="zh-CN" dirty="0">
                <a:hlinkClick r:id="rId4"/>
              </a:rPr>
              <a:t>https://deepmind.google/blog/alphafold-using-ai-for-scientific-discovery-2020/</a:t>
            </a:r>
            <a:r>
              <a:rPr lang="en-US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5949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2CCF0-3D03-8983-E29C-BAA537420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88DF13DF-E07B-2AF1-F57F-C5F278C8745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How the sequence folds to the 3D structure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51876AB-CD49-6A57-227F-EE95AE5A539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5</a:t>
            </a:fld>
            <a:endParaRPr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9B660485-A7CA-F015-684D-859A3B0029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26" name="Picture 2" descr="Protein Structure - Labster">
            <a:extLst>
              <a:ext uri="{FF2B5EF4-FFF2-40B4-BE49-F238E27FC236}">
                <a16:creationId xmlns:a16="http://schemas.microsoft.com/office/drawing/2014/main" id="{E342C6CD-329B-A7EE-F3D2-5DC43FF16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138" y="1416050"/>
            <a:ext cx="3248025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AD1C96-6A7E-9583-82CE-9493F7FB9FB9}"/>
              </a:ext>
            </a:extLst>
          </p:cNvPr>
          <p:cNvSpPr txBox="1"/>
          <p:nvPr/>
        </p:nvSpPr>
        <p:spPr>
          <a:xfrm>
            <a:off x="804863" y="31058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1D35"/>
                </a:solidFill>
                <a:effectLst/>
                <a:latin typeface="Google Sans"/>
              </a:rPr>
              <a:t>1972 Nobel Prize in Chemistry: </a:t>
            </a:r>
            <a:r>
              <a:rPr lang="en-GB" altLang="zh-CN" b="0" i="0" dirty="0">
                <a:solidFill>
                  <a:srgbClr val="0A0A0A"/>
                </a:solidFill>
                <a:effectLst/>
                <a:latin typeface="Google Sans"/>
              </a:rPr>
              <a:t>3D shape of a protein is entirely determined by the sequence of its amino acids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05E3C5-B771-A3FE-FFD3-F9812BF97716}"/>
              </a:ext>
            </a:extLst>
          </p:cNvPr>
          <p:cNvSpPr txBox="1"/>
          <p:nvPr/>
        </p:nvSpPr>
        <p:spPr>
          <a:xfrm>
            <a:off x="804863" y="17647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i="0" dirty="0">
                <a:solidFill>
                  <a:srgbClr val="001D35"/>
                </a:solidFill>
                <a:effectLst/>
                <a:latin typeface="Google Sans"/>
              </a:rPr>
              <a:t>1962 Nobel Prize in Chemistry:  </a:t>
            </a:r>
            <a:r>
              <a:rPr lang="en-GB" altLang="zh-CN" b="0" i="0" dirty="0">
                <a:solidFill>
                  <a:srgbClr val="0A0A0A"/>
                </a:solidFill>
                <a:effectLst/>
                <a:latin typeface="Google Sans"/>
              </a:rPr>
              <a:t> first atomic structures of proteins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20E74B-8D64-62B9-156B-3C78690839C1}"/>
              </a:ext>
            </a:extLst>
          </p:cNvPr>
          <p:cNvSpPr txBox="1"/>
          <p:nvPr/>
        </p:nvSpPr>
        <p:spPr>
          <a:xfrm>
            <a:off x="804863" y="47060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How to determine the structure? Previous methods: find the structure that has low free energy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7075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2CCF0-3D03-8983-E29C-BAA537420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88DF13DF-E07B-2AF1-F57F-C5F278C8745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Protein Sequence data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51876AB-CD49-6A57-227F-EE95AE5A539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6</a:t>
            </a:fld>
            <a:endParaRPr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9B660485-A7CA-F015-684D-859A3B0029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6586D-4B19-1F96-86E0-E114EF2AE9C5}"/>
              </a:ext>
            </a:extLst>
          </p:cNvPr>
          <p:cNvSpPr txBox="1"/>
          <p:nvPr/>
        </p:nvSpPr>
        <p:spPr>
          <a:xfrm>
            <a:off x="1511300" y="1943785"/>
            <a:ext cx="7969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/>
              <a:t>Sequences:</a:t>
            </a:r>
            <a:r>
              <a:rPr lang="en-GB" altLang="zh-CN" dirty="0"/>
              <a:t> The raw strings of amino acids.</a:t>
            </a:r>
            <a:endParaRPr lang="zh-CN" altLang="en-US" dirty="0"/>
          </a:p>
        </p:txBody>
      </p:sp>
      <p:pic>
        <p:nvPicPr>
          <p:cNvPr id="273" name="Picture 272">
            <a:extLst>
              <a:ext uri="{FF2B5EF4-FFF2-40B4-BE49-F238E27FC236}">
                <a16:creationId xmlns:a16="http://schemas.microsoft.com/office/drawing/2014/main" id="{0E3562D4-5154-0523-91BD-E1E4FB0804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25" y="2985726"/>
            <a:ext cx="11055350" cy="1559158"/>
          </a:xfrm>
          <a:prstGeom prst="rect">
            <a:avLst/>
          </a:prstGeom>
        </p:spPr>
      </p:pic>
      <p:sp>
        <p:nvSpPr>
          <p:cNvPr id="277" name="Text 53">
            <a:extLst>
              <a:ext uri="{FF2B5EF4-FFF2-40B4-BE49-F238E27FC236}">
                <a16:creationId xmlns:a16="http://schemas.microsoft.com/office/drawing/2014/main" id="{728A3F1A-20E3-32D9-78F7-B2E9A11005E0}"/>
              </a:ext>
            </a:extLst>
          </p:cNvPr>
          <p:cNvSpPr/>
          <p:nvPr/>
        </p:nvSpPr>
        <p:spPr>
          <a:xfrm>
            <a:off x="902970" y="5111240"/>
            <a:ext cx="28159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8A8A7"/>
                </a:solidFill>
                <a:effectLst/>
                <a:uFillTx/>
                <a:latin typeface="Aptos"/>
              </a:rPr>
              <a:t>Residue ≠ free amino acid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54">
            <a:extLst>
              <a:ext uri="{FF2B5EF4-FFF2-40B4-BE49-F238E27FC236}">
                <a16:creationId xmlns:a16="http://schemas.microsoft.com/office/drawing/2014/main" id="{6F1CC77A-5C13-2EA2-8ECB-1EC66B151CE3}"/>
              </a:ext>
            </a:extLst>
          </p:cNvPr>
          <p:cNvSpPr/>
          <p:nvPr/>
        </p:nvSpPr>
        <p:spPr>
          <a:xfrm>
            <a:off x="902970" y="5394560"/>
            <a:ext cx="281592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Inside a protein, each letter represents an amino-acid residue joined by peptide bonds.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56">
            <a:extLst>
              <a:ext uri="{FF2B5EF4-FFF2-40B4-BE49-F238E27FC236}">
                <a16:creationId xmlns:a16="http://schemas.microsoft.com/office/drawing/2014/main" id="{9FC52537-84F8-619C-CAC1-1B8CADE41E15}"/>
              </a:ext>
            </a:extLst>
          </p:cNvPr>
          <p:cNvSpPr/>
          <p:nvPr/>
        </p:nvSpPr>
        <p:spPr>
          <a:xfrm>
            <a:off x="4469130" y="5111240"/>
            <a:ext cx="30902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76F51"/>
                </a:solidFill>
                <a:effectLst/>
                <a:uFillTx/>
                <a:latin typeface="Aptos"/>
              </a:rPr>
              <a:t>Order matters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57">
            <a:extLst>
              <a:ext uri="{FF2B5EF4-FFF2-40B4-BE49-F238E27FC236}">
                <a16:creationId xmlns:a16="http://schemas.microsoft.com/office/drawing/2014/main" id="{95968E67-1408-DC40-C6A1-60FBD762DA07}"/>
              </a:ext>
            </a:extLst>
          </p:cNvPr>
          <p:cNvSpPr/>
          <p:nvPr/>
        </p:nvSpPr>
        <p:spPr>
          <a:xfrm>
            <a:off x="4469130" y="5394560"/>
            <a:ext cx="30902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Changing one letter or moving a segment can change folding, binding, processing, or disease risk.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59">
            <a:extLst>
              <a:ext uri="{FF2B5EF4-FFF2-40B4-BE49-F238E27FC236}">
                <a16:creationId xmlns:a16="http://schemas.microsoft.com/office/drawing/2014/main" id="{A16CC020-6EBD-085E-EF8C-5DF9C496C4C5}"/>
              </a:ext>
            </a:extLst>
          </p:cNvPr>
          <p:cNvSpPr/>
          <p:nvPr/>
        </p:nvSpPr>
        <p:spPr>
          <a:xfrm>
            <a:off x="8337330" y="5111240"/>
            <a:ext cx="29073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7B61FF"/>
                </a:solidFill>
                <a:effectLst/>
                <a:uFillTx/>
                <a:latin typeface="Aptos"/>
              </a:rPr>
              <a:t>Coordinates matter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60">
            <a:extLst>
              <a:ext uri="{FF2B5EF4-FFF2-40B4-BE49-F238E27FC236}">
                <a16:creationId xmlns:a16="http://schemas.microsoft.com/office/drawing/2014/main" id="{3F46A2DA-0A36-0E79-63FE-CD21190AC44C}"/>
              </a:ext>
            </a:extLst>
          </p:cNvPr>
          <p:cNvSpPr/>
          <p:nvPr/>
        </p:nvSpPr>
        <p:spPr>
          <a:xfrm>
            <a:off x="8337330" y="5394560"/>
            <a:ext cx="290736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Annotations usually refer to residue numbers, such as 25..54 or Cys31.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F09661-4A4F-384E-A7B0-BA5E72913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700" y="896822"/>
            <a:ext cx="260985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5095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502920" y="32004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rgbClr val="0B1F33"/>
                </a:solidFill>
                <a:effectLst/>
                <a:uFillTx/>
                <a:latin typeface="Aptos Display"/>
                <a:ea typeface="Aptos Display"/>
              </a:rPr>
              <a:t>The protein “alphabet” carries chemistry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530280" y="80460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The one-letter code is compact, but each letter has chemical behavior that influences structure and function.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809820" y="1402920"/>
            <a:ext cx="1279800" cy="77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4CAF50"/>
                </a:solidFill>
                <a:effectLst/>
                <a:uFillTx/>
                <a:latin typeface="Aptos"/>
              </a:rPr>
              <a:t>Hydrophobic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4CAF50"/>
                </a:solidFill>
                <a:effectLst/>
                <a:uFillTx/>
                <a:latin typeface="Aptos"/>
              </a:rPr>
              <a:t> (</a:t>
            </a:r>
            <a:r>
              <a:rPr lang="zh-CN" altLang="en-US" sz="1200" b="1" u="none" strike="noStrike" dirty="0">
                <a:solidFill>
                  <a:srgbClr val="4CAF50"/>
                </a:solidFill>
                <a:effectLst/>
                <a:uFillTx/>
                <a:latin typeface="Aptos"/>
              </a:rPr>
              <a:t>疏水性</a:t>
            </a:r>
            <a:r>
              <a:rPr lang="en-US" sz="1200" b="1" u="none" strike="noStrike" dirty="0">
                <a:solidFill>
                  <a:srgbClr val="4CAF50"/>
                </a:solidFill>
                <a:effectLst/>
                <a:uFillTx/>
                <a:latin typeface="Aptos"/>
              </a:rPr>
              <a:t>)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4"/>
          <p:cNvSpPr/>
          <p:nvPr/>
        </p:nvSpPr>
        <p:spPr>
          <a:xfrm>
            <a:off x="2167200" y="155448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4CAF50">
              <a:alpha val="94000"/>
            </a:srgbClr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2167200" y="1618920"/>
            <a:ext cx="292320" cy="1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6"/>
          <p:cNvSpPr/>
          <p:nvPr/>
        </p:nvSpPr>
        <p:spPr>
          <a:xfrm>
            <a:off x="2514600" y="155448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4CAF50">
              <a:alpha val="94000"/>
            </a:srgbClr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2514600" y="1618920"/>
            <a:ext cx="292320" cy="1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8"/>
          <p:cNvSpPr/>
          <p:nvPr/>
        </p:nvSpPr>
        <p:spPr>
          <a:xfrm>
            <a:off x="2862000" y="155448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4CAF50">
              <a:alpha val="94000"/>
            </a:srgbClr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2862000" y="1618920"/>
            <a:ext cx="292320" cy="1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0"/>
          <p:cNvSpPr/>
          <p:nvPr/>
        </p:nvSpPr>
        <p:spPr>
          <a:xfrm>
            <a:off x="3209400" y="155448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4CAF50">
              <a:alpha val="94000"/>
            </a:srgbClr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1"/>
          <p:cNvSpPr/>
          <p:nvPr/>
        </p:nvSpPr>
        <p:spPr>
          <a:xfrm>
            <a:off x="3209400" y="1618920"/>
            <a:ext cx="292320" cy="1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2"/>
          <p:cNvSpPr/>
          <p:nvPr/>
        </p:nvSpPr>
        <p:spPr>
          <a:xfrm>
            <a:off x="3557160" y="155448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4CAF50">
              <a:alpha val="94000"/>
            </a:srgbClr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3557160" y="1618920"/>
            <a:ext cx="292320" cy="1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4"/>
          <p:cNvSpPr/>
          <p:nvPr/>
        </p:nvSpPr>
        <p:spPr>
          <a:xfrm>
            <a:off x="3904560" y="155448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4CAF50">
              <a:alpha val="94000"/>
            </a:srgbClr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3904560" y="1618920"/>
            <a:ext cx="292320" cy="1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F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6"/>
          <p:cNvSpPr/>
          <p:nvPr/>
        </p:nvSpPr>
        <p:spPr>
          <a:xfrm>
            <a:off x="4251960" y="155448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4CAF50">
              <a:alpha val="94000"/>
            </a:srgbClr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7"/>
          <p:cNvSpPr/>
          <p:nvPr/>
        </p:nvSpPr>
        <p:spPr>
          <a:xfrm>
            <a:off x="4251960" y="1618920"/>
            <a:ext cx="292320" cy="1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8"/>
          <p:cNvSpPr/>
          <p:nvPr/>
        </p:nvSpPr>
        <p:spPr>
          <a:xfrm>
            <a:off x="4599360" y="155448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4CAF50">
              <a:alpha val="94000"/>
            </a:srgbClr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9"/>
          <p:cNvSpPr/>
          <p:nvPr/>
        </p:nvSpPr>
        <p:spPr>
          <a:xfrm>
            <a:off x="4599360" y="1618920"/>
            <a:ext cx="292320" cy="1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0"/>
          <p:cNvSpPr/>
          <p:nvPr/>
        </p:nvSpPr>
        <p:spPr>
          <a:xfrm>
            <a:off x="4946760" y="155448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4CAF50">
              <a:alpha val="94000"/>
            </a:srgbClr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1"/>
          <p:cNvSpPr/>
          <p:nvPr/>
        </p:nvSpPr>
        <p:spPr>
          <a:xfrm>
            <a:off x="4946760" y="1618920"/>
            <a:ext cx="292320" cy="1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2"/>
          <p:cNvSpPr/>
          <p:nvPr/>
        </p:nvSpPr>
        <p:spPr>
          <a:xfrm>
            <a:off x="5779080" y="161856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67085"/>
                </a:solidFill>
                <a:effectLst/>
                <a:uFillTx/>
                <a:latin typeface="Aptos"/>
              </a:rPr>
              <a:t>often buried inside folded proteins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3"/>
          <p:cNvSpPr/>
          <p:nvPr/>
        </p:nvSpPr>
        <p:spPr>
          <a:xfrm>
            <a:off x="791100" y="2484360"/>
            <a:ext cx="127980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8A8A7"/>
                </a:solidFill>
                <a:effectLst/>
                <a:uFillTx/>
                <a:latin typeface="Aptos"/>
              </a:rPr>
              <a:t>Polar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dirty="0">
                <a:solidFill>
                  <a:srgbClr val="18A8A7"/>
                </a:solidFill>
                <a:latin typeface="Aptos"/>
              </a:rPr>
              <a:t>(</a:t>
            </a:r>
            <a:r>
              <a:rPr lang="zh-CN" altLang="en-US" sz="1200" b="1" dirty="0">
                <a:solidFill>
                  <a:srgbClr val="18A8A7"/>
                </a:solidFill>
                <a:latin typeface="Aptos"/>
              </a:rPr>
              <a:t>极性</a:t>
            </a:r>
            <a:r>
              <a:rPr lang="en-US" sz="1200" b="1" dirty="0">
                <a:solidFill>
                  <a:srgbClr val="18A8A7"/>
                </a:solidFill>
                <a:latin typeface="Aptos"/>
              </a:rPr>
              <a:t>)</a:t>
            </a:r>
            <a:endParaRPr lang="en-US" sz="1200" b="1" u="none" strike="noStrike" dirty="0">
              <a:solidFill>
                <a:srgbClr val="18A8A7"/>
              </a:solidFill>
              <a:effectLst/>
              <a:uFillTx/>
              <a:latin typeface="Apto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4"/>
          <p:cNvSpPr/>
          <p:nvPr/>
        </p:nvSpPr>
        <p:spPr>
          <a:xfrm>
            <a:off x="2167200" y="254196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18A8A7">
              <a:alpha val="94000"/>
            </a:srgbClr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5"/>
          <p:cNvSpPr/>
          <p:nvPr/>
        </p:nvSpPr>
        <p:spPr>
          <a:xfrm>
            <a:off x="2167200" y="2606400"/>
            <a:ext cx="292320" cy="1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6"/>
          <p:cNvSpPr/>
          <p:nvPr/>
        </p:nvSpPr>
        <p:spPr>
          <a:xfrm>
            <a:off x="2514600" y="254196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18A8A7">
              <a:alpha val="94000"/>
            </a:srgbClr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7"/>
          <p:cNvSpPr/>
          <p:nvPr/>
        </p:nvSpPr>
        <p:spPr>
          <a:xfrm>
            <a:off x="2514600" y="2606400"/>
            <a:ext cx="292320" cy="1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8"/>
          <p:cNvSpPr/>
          <p:nvPr/>
        </p:nvSpPr>
        <p:spPr>
          <a:xfrm>
            <a:off x="2862000" y="254196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18A8A7">
              <a:alpha val="94000"/>
            </a:srgbClr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9"/>
          <p:cNvSpPr/>
          <p:nvPr/>
        </p:nvSpPr>
        <p:spPr>
          <a:xfrm>
            <a:off x="2862000" y="2606400"/>
            <a:ext cx="292320" cy="1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30"/>
          <p:cNvSpPr/>
          <p:nvPr/>
        </p:nvSpPr>
        <p:spPr>
          <a:xfrm>
            <a:off x="3209400" y="254196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18A8A7">
              <a:alpha val="94000"/>
            </a:srgbClr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1"/>
          <p:cNvSpPr/>
          <p:nvPr/>
        </p:nvSpPr>
        <p:spPr>
          <a:xfrm>
            <a:off x="3209400" y="2606400"/>
            <a:ext cx="292320" cy="1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Q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32"/>
          <p:cNvSpPr/>
          <p:nvPr/>
        </p:nvSpPr>
        <p:spPr>
          <a:xfrm>
            <a:off x="3557160" y="254196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18A8A7">
              <a:alpha val="94000"/>
            </a:srgbClr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3"/>
          <p:cNvSpPr/>
          <p:nvPr/>
        </p:nvSpPr>
        <p:spPr>
          <a:xfrm>
            <a:off x="3557160" y="2606400"/>
            <a:ext cx="292320" cy="1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4"/>
          <p:cNvSpPr/>
          <p:nvPr/>
        </p:nvSpPr>
        <p:spPr>
          <a:xfrm>
            <a:off x="3904560" y="254196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F2B233">
              <a:alpha val="94000"/>
            </a:srgbClr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5"/>
          <p:cNvSpPr/>
          <p:nvPr/>
        </p:nvSpPr>
        <p:spPr>
          <a:xfrm>
            <a:off x="3904560" y="2606400"/>
            <a:ext cx="292320" cy="1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6"/>
          <p:cNvSpPr/>
          <p:nvPr/>
        </p:nvSpPr>
        <p:spPr>
          <a:xfrm>
            <a:off x="5779080" y="260604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form H-bonds; often surface-exposed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7"/>
          <p:cNvSpPr/>
          <p:nvPr/>
        </p:nvSpPr>
        <p:spPr>
          <a:xfrm>
            <a:off x="749880" y="3575160"/>
            <a:ext cx="1279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D94F4F"/>
                </a:solidFill>
                <a:effectLst/>
                <a:uFillTx/>
                <a:latin typeface="Aptos"/>
              </a:rPr>
              <a:t>Acidic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dirty="0">
                <a:solidFill>
                  <a:srgbClr val="D94F4F"/>
                </a:solidFill>
                <a:latin typeface="Aptos"/>
              </a:rPr>
              <a:t>(</a:t>
            </a:r>
            <a:r>
              <a:rPr lang="zh-CN" altLang="en-US" sz="1200" b="1" dirty="0">
                <a:solidFill>
                  <a:srgbClr val="D94F4F"/>
                </a:solidFill>
                <a:latin typeface="Aptos"/>
              </a:rPr>
              <a:t>酸性</a:t>
            </a:r>
            <a:r>
              <a:rPr lang="en-US" sz="1200" b="1" dirty="0">
                <a:solidFill>
                  <a:srgbClr val="D94F4F"/>
                </a:solidFill>
                <a:latin typeface="Aptos"/>
              </a:rPr>
              <a:t>)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38"/>
          <p:cNvSpPr/>
          <p:nvPr/>
        </p:nvSpPr>
        <p:spPr>
          <a:xfrm>
            <a:off x="2167200" y="352944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D94F4F">
              <a:alpha val="94000"/>
            </a:srgbClr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9"/>
          <p:cNvSpPr/>
          <p:nvPr/>
        </p:nvSpPr>
        <p:spPr>
          <a:xfrm>
            <a:off x="2167200" y="3593880"/>
            <a:ext cx="292320" cy="1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40"/>
          <p:cNvSpPr/>
          <p:nvPr/>
        </p:nvSpPr>
        <p:spPr>
          <a:xfrm>
            <a:off x="2514600" y="352944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D94F4F">
              <a:alpha val="94000"/>
            </a:srgbClr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41"/>
          <p:cNvSpPr/>
          <p:nvPr/>
        </p:nvSpPr>
        <p:spPr>
          <a:xfrm>
            <a:off x="2514600" y="3593880"/>
            <a:ext cx="292320" cy="1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2"/>
          <p:cNvSpPr/>
          <p:nvPr/>
        </p:nvSpPr>
        <p:spPr>
          <a:xfrm>
            <a:off x="5779080" y="359352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negatively charged near neutral pH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43"/>
          <p:cNvSpPr/>
          <p:nvPr/>
        </p:nvSpPr>
        <p:spPr>
          <a:xfrm>
            <a:off x="749880" y="4563000"/>
            <a:ext cx="1279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473E6"/>
                </a:solidFill>
                <a:effectLst/>
                <a:uFillTx/>
                <a:latin typeface="Aptos"/>
              </a:rPr>
              <a:t>Basic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200" b="1" dirty="0">
                <a:solidFill>
                  <a:srgbClr val="1473E6"/>
                </a:solidFill>
                <a:latin typeface="Aptos"/>
              </a:rPr>
              <a:t>（碱性）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44"/>
          <p:cNvSpPr/>
          <p:nvPr/>
        </p:nvSpPr>
        <p:spPr>
          <a:xfrm>
            <a:off x="2167200" y="451728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1473E6">
              <a:alpha val="94000"/>
            </a:srgbClr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5"/>
          <p:cNvSpPr/>
          <p:nvPr/>
        </p:nvSpPr>
        <p:spPr>
          <a:xfrm>
            <a:off x="2167200" y="4581360"/>
            <a:ext cx="292320" cy="1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46"/>
          <p:cNvSpPr/>
          <p:nvPr/>
        </p:nvSpPr>
        <p:spPr>
          <a:xfrm>
            <a:off x="2514600" y="451728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1473E6">
              <a:alpha val="94000"/>
            </a:srgbClr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47"/>
          <p:cNvSpPr/>
          <p:nvPr/>
        </p:nvSpPr>
        <p:spPr>
          <a:xfrm>
            <a:off x="2514600" y="4581360"/>
            <a:ext cx="292320" cy="1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48"/>
          <p:cNvSpPr/>
          <p:nvPr/>
        </p:nvSpPr>
        <p:spPr>
          <a:xfrm>
            <a:off x="2862000" y="4517280"/>
            <a:ext cx="292320" cy="292320"/>
          </a:xfrm>
          <a:prstGeom prst="roundRect">
            <a:avLst>
              <a:gd name="adj" fmla="val 25000"/>
            </a:avLst>
          </a:prstGeom>
          <a:solidFill>
            <a:srgbClr val="1473E6">
              <a:alpha val="94000"/>
            </a:srgbClr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9"/>
          <p:cNvSpPr/>
          <p:nvPr/>
        </p:nvSpPr>
        <p:spPr>
          <a:xfrm>
            <a:off x="2862000" y="4581360"/>
            <a:ext cx="292320" cy="1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0"/>
          <p:cNvSpPr/>
          <p:nvPr/>
        </p:nvSpPr>
        <p:spPr>
          <a:xfrm>
            <a:off x="5779080" y="458100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positively charged; common cleavage signals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51"/>
          <p:cNvSpPr/>
          <p:nvPr/>
        </p:nvSpPr>
        <p:spPr>
          <a:xfrm>
            <a:off x="731520" y="5513760"/>
            <a:ext cx="10607040" cy="360"/>
          </a:xfrm>
          <a:prstGeom prst="line">
            <a:avLst/>
          </a:prstGeom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2"/>
          <p:cNvSpPr/>
          <p:nvPr/>
        </p:nvSpPr>
        <p:spPr>
          <a:xfrm>
            <a:off x="749880" y="572400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Typical interpretation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3"/>
          <p:cNvSpPr/>
          <p:nvPr/>
        </p:nvSpPr>
        <p:spPr>
          <a:xfrm>
            <a:off x="2853000" y="5724000"/>
            <a:ext cx="79549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 dirty="0">
                <a:solidFill>
                  <a:srgbClr val="667085"/>
                </a:solidFill>
                <a:effectLst/>
                <a:uFillTx/>
                <a:latin typeface="Aptos"/>
              </a:rPr>
              <a:t>Hydrophobic stretches can indicate signal peptides or membrane regions; charged clusters can mark cleavage sites, active sites, or interaction patches.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54"/>
          <p:cNvSpPr/>
          <p:nvPr/>
        </p:nvSpPr>
        <p:spPr>
          <a:xfrm>
            <a:off x="502920" y="6492240"/>
            <a:ext cx="10515600" cy="360"/>
          </a:xfrm>
          <a:prstGeom prst="line">
            <a:avLst/>
          </a:prstGeom>
          <a:ln w="762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5"/>
          <p:cNvSpPr/>
          <p:nvPr/>
        </p:nvSpPr>
        <p:spPr>
          <a:xfrm>
            <a:off x="502920" y="6565320"/>
            <a:ext cx="978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98A2B3"/>
                </a:solidFill>
                <a:effectLst/>
                <a:uFillTx/>
                <a:latin typeface="Aptos"/>
              </a:rPr>
              <a:t>Protein sequence data — student teaching deck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56"/>
          <p:cNvSpPr/>
          <p:nvPr/>
        </p:nvSpPr>
        <p:spPr>
          <a:xfrm>
            <a:off x="11201400" y="6528960"/>
            <a:ext cx="502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8A2B3"/>
                </a:solidFill>
                <a:effectLst/>
                <a:uFillTx/>
                <a:latin typeface="Aptos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"/>
          <p:cNvSpPr/>
          <p:nvPr/>
        </p:nvSpPr>
        <p:spPr>
          <a:xfrm>
            <a:off x="502920" y="32004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F33"/>
                </a:solidFill>
                <a:effectLst/>
                <a:uFillTx/>
                <a:latin typeface="Aptos Display"/>
                <a:ea typeface="Aptos Display"/>
              </a:rPr>
              <a:t>7. Sequence comparison reveals variants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"/>
          <p:cNvSpPr/>
          <p:nvPr/>
        </p:nvSpPr>
        <p:spPr>
          <a:xfrm>
            <a:off x="530280" y="80460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A single substitution can change chemical properties, folding, or interaction with another molecule.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"/>
          <p:cNvSpPr/>
          <p:nvPr/>
        </p:nvSpPr>
        <p:spPr>
          <a:xfrm>
            <a:off x="685800" y="132588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Example: insulin residue 46, R → Q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4"/>
          <p:cNvSpPr/>
          <p:nvPr/>
        </p:nvSpPr>
        <p:spPr>
          <a:xfrm>
            <a:off x="685800" y="171900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Reference segment: residues 41–50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5"/>
          <p:cNvSpPr/>
          <p:nvPr/>
        </p:nvSpPr>
        <p:spPr>
          <a:xfrm>
            <a:off x="658440" y="244152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Reference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6"/>
          <p:cNvSpPr/>
          <p:nvPr/>
        </p:nvSpPr>
        <p:spPr>
          <a:xfrm>
            <a:off x="658440" y="312732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Variant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7"/>
          <p:cNvSpPr/>
          <p:nvPr/>
        </p:nvSpPr>
        <p:spPr>
          <a:xfrm>
            <a:off x="1828800" y="2286000"/>
            <a:ext cx="4752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8"/>
          <p:cNvSpPr/>
          <p:nvPr/>
        </p:nvSpPr>
        <p:spPr>
          <a:xfrm>
            <a:off x="1828800" y="24048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Consolas"/>
                <a:ea typeface="Consolas"/>
              </a:rPr>
              <a:t>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9"/>
          <p:cNvSpPr/>
          <p:nvPr/>
        </p:nvSpPr>
        <p:spPr>
          <a:xfrm>
            <a:off x="1828800" y="203004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41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0"/>
          <p:cNvSpPr/>
          <p:nvPr/>
        </p:nvSpPr>
        <p:spPr>
          <a:xfrm>
            <a:off x="2359080" y="2286000"/>
            <a:ext cx="4752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1"/>
          <p:cNvSpPr/>
          <p:nvPr/>
        </p:nvSpPr>
        <p:spPr>
          <a:xfrm>
            <a:off x="2359080" y="24048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Consolas"/>
                <a:ea typeface="Consolas"/>
              </a:rPr>
              <a:t>V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2"/>
          <p:cNvSpPr/>
          <p:nvPr/>
        </p:nvSpPr>
        <p:spPr>
          <a:xfrm>
            <a:off x="2359080" y="203004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42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3"/>
          <p:cNvSpPr/>
          <p:nvPr/>
        </p:nvSpPr>
        <p:spPr>
          <a:xfrm>
            <a:off x="2889360" y="2286000"/>
            <a:ext cx="4752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4"/>
          <p:cNvSpPr/>
          <p:nvPr/>
        </p:nvSpPr>
        <p:spPr>
          <a:xfrm>
            <a:off x="2889360" y="24048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Consolas"/>
                <a:ea typeface="Consolas"/>
              </a:rPr>
              <a:t>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5"/>
          <p:cNvSpPr/>
          <p:nvPr/>
        </p:nvSpPr>
        <p:spPr>
          <a:xfrm>
            <a:off x="2889360" y="203004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43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6"/>
          <p:cNvSpPr/>
          <p:nvPr/>
        </p:nvSpPr>
        <p:spPr>
          <a:xfrm>
            <a:off x="3420000" y="2286000"/>
            <a:ext cx="4752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7"/>
          <p:cNvSpPr/>
          <p:nvPr/>
        </p:nvSpPr>
        <p:spPr>
          <a:xfrm>
            <a:off x="3420000" y="24048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Consolas"/>
                <a:ea typeface="Consolas"/>
              </a:rPr>
              <a:t>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8"/>
          <p:cNvSpPr/>
          <p:nvPr/>
        </p:nvSpPr>
        <p:spPr>
          <a:xfrm>
            <a:off x="3420000" y="203004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44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9"/>
          <p:cNvSpPr/>
          <p:nvPr/>
        </p:nvSpPr>
        <p:spPr>
          <a:xfrm>
            <a:off x="3950280" y="2286000"/>
            <a:ext cx="4752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0"/>
          <p:cNvSpPr/>
          <p:nvPr/>
        </p:nvSpPr>
        <p:spPr>
          <a:xfrm>
            <a:off x="3950280" y="24048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Consolas"/>
                <a:ea typeface="Consolas"/>
              </a:rPr>
              <a:t>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1"/>
          <p:cNvSpPr/>
          <p:nvPr/>
        </p:nvSpPr>
        <p:spPr>
          <a:xfrm>
            <a:off x="3950280" y="203004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45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22"/>
          <p:cNvSpPr/>
          <p:nvPr/>
        </p:nvSpPr>
        <p:spPr>
          <a:xfrm>
            <a:off x="4480560" y="2286000"/>
            <a:ext cx="475200" cy="475200"/>
          </a:xfrm>
          <a:prstGeom prst="roundRect">
            <a:avLst>
              <a:gd name="adj" fmla="val 11538"/>
            </a:avLst>
          </a:prstGeom>
          <a:solidFill>
            <a:srgbClr val="1473E6"/>
          </a:solidFill>
          <a:ln w="12700">
            <a:solidFill>
              <a:srgbClr val="1473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3"/>
          <p:cNvSpPr/>
          <p:nvPr/>
        </p:nvSpPr>
        <p:spPr>
          <a:xfrm>
            <a:off x="4480560" y="24048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4"/>
          <p:cNvSpPr/>
          <p:nvPr/>
        </p:nvSpPr>
        <p:spPr>
          <a:xfrm>
            <a:off x="4480560" y="203004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46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25"/>
          <p:cNvSpPr/>
          <p:nvPr/>
        </p:nvSpPr>
        <p:spPr>
          <a:xfrm>
            <a:off x="5010840" y="2286000"/>
            <a:ext cx="4752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6"/>
          <p:cNvSpPr/>
          <p:nvPr/>
        </p:nvSpPr>
        <p:spPr>
          <a:xfrm>
            <a:off x="5010840" y="24048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Consolas"/>
                <a:ea typeface="Consolas"/>
              </a:rPr>
              <a:t>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7"/>
          <p:cNvSpPr/>
          <p:nvPr/>
        </p:nvSpPr>
        <p:spPr>
          <a:xfrm>
            <a:off x="5010840" y="203004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47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28"/>
          <p:cNvSpPr/>
          <p:nvPr/>
        </p:nvSpPr>
        <p:spPr>
          <a:xfrm>
            <a:off x="5541120" y="2286000"/>
            <a:ext cx="4752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9"/>
          <p:cNvSpPr/>
          <p:nvPr/>
        </p:nvSpPr>
        <p:spPr>
          <a:xfrm>
            <a:off x="5541120" y="24048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Consolas"/>
                <a:ea typeface="Consolas"/>
              </a:rPr>
              <a:t>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30"/>
          <p:cNvSpPr/>
          <p:nvPr/>
        </p:nvSpPr>
        <p:spPr>
          <a:xfrm>
            <a:off x="5541120" y="203004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48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31"/>
          <p:cNvSpPr/>
          <p:nvPr/>
        </p:nvSpPr>
        <p:spPr>
          <a:xfrm>
            <a:off x="6071760" y="2286000"/>
            <a:ext cx="4752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32"/>
          <p:cNvSpPr/>
          <p:nvPr/>
        </p:nvSpPr>
        <p:spPr>
          <a:xfrm>
            <a:off x="6071760" y="24048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Consolas"/>
                <a:ea typeface="Consolas"/>
              </a:rPr>
              <a:t>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33"/>
          <p:cNvSpPr/>
          <p:nvPr/>
        </p:nvSpPr>
        <p:spPr>
          <a:xfrm>
            <a:off x="6071760" y="203004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49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34"/>
          <p:cNvSpPr/>
          <p:nvPr/>
        </p:nvSpPr>
        <p:spPr>
          <a:xfrm>
            <a:off x="6602040" y="2286000"/>
            <a:ext cx="4752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35"/>
          <p:cNvSpPr/>
          <p:nvPr/>
        </p:nvSpPr>
        <p:spPr>
          <a:xfrm>
            <a:off x="6602040" y="24048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Consolas"/>
                <a:ea typeface="Consolas"/>
              </a:rPr>
              <a:t>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36"/>
          <p:cNvSpPr/>
          <p:nvPr/>
        </p:nvSpPr>
        <p:spPr>
          <a:xfrm>
            <a:off x="6602040" y="2030040"/>
            <a:ext cx="4752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50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37"/>
          <p:cNvSpPr/>
          <p:nvPr/>
        </p:nvSpPr>
        <p:spPr>
          <a:xfrm>
            <a:off x="1828800" y="2971800"/>
            <a:ext cx="4752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38"/>
          <p:cNvSpPr/>
          <p:nvPr/>
        </p:nvSpPr>
        <p:spPr>
          <a:xfrm>
            <a:off x="1828800" y="30906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Consolas"/>
                <a:ea typeface="Consolas"/>
              </a:rPr>
              <a:t>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39"/>
          <p:cNvSpPr/>
          <p:nvPr/>
        </p:nvSpPr>
        <p:spPr>
          <a:xfrm>
            <a:off x="2359080" y="2971800"/>
            <a:ext cx="4752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40"/>
          <p:cNvSpPr/>
          <p:nvPr/>
        </p:nvSpPr>
        <p:spPr>
          <a:xfrm>
            <a:off x="2359080" y="30906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Consolas"/>
                <a:ea typeface="Consolas"/>
              </a:rPr>
              <a:t>V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41"/>
          <p:cNvSpPr/>
          <p:nvPr/>
        </p:nvSpPr>
        <p:spPr>
          <a:xfrm>
            <a:off x="2889360" y="2971800"/>
            <a:ext cx="4752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42"/>
          <p:cNvSpPr/>
          <p:nvPr/>
        </p:nvSpPr>
        <p:spPr>
          <a:xfrm>
            <a:off x="2889360" y="30906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1F33"/>
                </a:solidFill>
                <a:effectLst/>
                <a:uFillTx/>
                <a:latin typeface="Consolas"/>
                <a:ea typeface="Consolas"/>
              </a:rPr>
              <a:t>C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43"/>
          <p:cNvSpPr/>
          <p:nvPr/>
        </p:nvSpPr>
        <p:spPr>
          <a:xfrm>
            <a:off x="3420000" y="2971800"/>
            <a:ext cx="4752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44"/>
          <p:cNvSpPr/>
          <p:nvPr/>
        </p:nvSpPr>
        <p:spPr>
          <a:xfrm>
            <a:off x="3420000" y="30906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Consolas"/>
                <a:ea typeface="Consolas"/>
              </a:rPr>
              <a:t>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45"/>
          <p:cNvSpPr/>
          <p:nvPr/>
        </p:nvSpPr>
        <p:spPr>
          <a:xfrm>
            <a:off x="3950280" y="2971800"/>
            <a:ext cx="4752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46"/>
          <p:cNvSpPr/>
          <p:nvPr/>
        </p:nvSpPr>
        <p:spPr>
          <a:xfrm>
            <a:off x="3950280" y="30906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Consolas"/>
                <a:ea typeface="Consolas"/>
              </a:rPr>
              <a:t>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47"/>
          <p:cNvSpPr/>
          <p:nvPr/>
        </p:nvSpPr>
        <p:spPr>
          <a:xfrm>
            <a:off x="4480560" y="2971800"/>
            <a:ext cx="475200" cy="475200"/>
          </a:xfrm>
          <a:prstGeom prst="roundRect">
            <a:avLst>
              <a:gd name="adj" fmla="val 11538"/>
            </a:avLst>
          </a:prstGeom>
          <a:solidFill>
            <a:srgbClr val="E76F51"/>
          </a:solidFill>
          <a:ln w="12700">
            <a:solidFill>
              <a:srgbClr val="E76F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48"/>
          <p:cNvSpPr/>
          <p:nvPr/>
        </p:nvSpPr>
        <p:spPr>
          <a:xfrm>
            <a:off x="4480560" y="30906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Q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49"/>
          <p:cNvSpPr/>
          <p:nvPr/>
        </p:nvSpPr>
        <p:spPr>
          <a:xfrm>
            <a:off x="5010840" y="2971800"/>
            <a:ext cx="4752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50"/>
          <p:cNvSpPr/>
          <p:nvPr/>
        </p:nvSpPr>
        <p:spPr>
          <a:xfrm>
            <a:off x="5010840" y="30906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Consolas"/>
                <a:ea typeface="Consolas"/>
              </a:rPr>
              <a:t>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51"/>
          <p:cNvSpPr/>
          <p:nvPr/>
        </p:nvSpPr>
        <p:spPr>
          <a:xfrm>
            <a:off x="5541120" y="2971800"/>
            <a:ext cx="4752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52"/>
          <p:cNvSpPr/>
          <p:nvPr/>
        </p:nvSpPr>
        <p:spPr>
          <a:xfrm>
            <a:off x="5541120" y="30906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Consolas"/>
                <a:ea typeface="Consolas"/>
              </a:rPr>
              <a:t>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53"/>
          <p:cNvSpPr/>
          <p:nvPr/>
        </p:nvSpPr>
        <p:spPr>
          <a:xfrm>
            <a:off x="6071760" y="2971800"/>
            <a:ext cx="4752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54"/>
          <p:cNvSpPr/>
          <p:nvPr/>
        </p:nvSpPr>
        <p:spPr>
          <a:xfrm>
            <a:off x="6071760" y="30906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Consolas"/>
                <a:ea typeface="Consolas"/>
              </a:rPr>
              <a:t>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55"/>
          <p:cNvSpPr/>
          <p:nvPr/>
        </p:nvSpPr>
        <p:spPr>
          <a:xfrm>
            <a:off x="6602040" y="2971800"/>
            <a:ext cx="4752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56"/>
          <p:cNvSpPr/>
          <p:nvPr/>
        </p:nvSpPr>
        <p:spPr>
          <a:xfrm>
            <a:off x="6602040" y="30906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Consolas"/>
                <a:ea typeface="Consolas"/>
              </a:rPr>
              <a:t>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57"/>
          <p:cNvSpPr/>
          <p:nvPr/>
        </p:nvSpPr>
        <p:spPr>
          <a:xfrm>
            <a:off x="4718160" y="2788920"/>
            <a:ext cx="360" cy="164520"/>
          </a:xfrm>
          <a:prstGeom prst="line">
            <a:avLst/>
          </a:prstGeom>
          <a:ln w="15240">
            <a:solidFill>
              <a:srgbClr val="98A2B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58"/>
          <p:cNvSpPr/>
          <p:nvPr/>
        </p:nvSpPr>
        <p:spPr>
          <a:xfrm>
            <a:off x="7406640" y="1828800"/>
            <a:ext cx="3565800" cy="987120"/>
          </a:xfrm>
          <a:prstGeom prst="roundRect">
            <a:avLst>
              <a:gd name="adj" fmla="val 9259"/>
            </a:avLst>
          </a:prstGeom>
          <a:solidFill>
            <a:srgbClr val="FFFFFF">
              <a:alpha val="97000"/>
            </a:srgbClr>
          </a:solidFill>
          <a:ln w="13970">
            <a:solidFill>
              <a:srgbClr val="1473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59"/>
          <p:cNvSpPr/>
          <p:nvPr/>
        </p:nvSpPr>
        <p:spPr>
          <a:xfrm>
            <a:off x="7552800" y="1938600"/>
            <a:ext cx="32731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473E6"/>
                </a:solidFill>
                <a:effectLst/>
                <a:uFillTx/>
                <a:latin typeface="Aptos"/>
              </a:rPr>
              <a:t>R = arginine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60"/>
          <p:cNvSpPr/>
          <p:nvPr/>
        </p:nvSpPr>
        <p:spPr>
          <a:xfrm>
            <a:off x="7552800" y="2221920"/>
            <a:ext cx="3273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Basic, positively charged side chain. In this site, changing R can affect interaction and folding.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61"/>
          <p:cNvSpPr/>
          <p:nvPr/>
        </p:nvSpPr>
        <p:spPr>
          <a:xfrm>
            <a:off x="7406640" y="3072240"/>
            <a:ext cx="3565800" cy="987120"/>
          </a:xfrm>
          <a:prstGeom prst="roundRect">
            <a:avLst>
              <a:gd name="adj" fmla="val 9259"/>
            </a:avLst>
          </a:prstGeom>
          <a:solidFill>
            <a:srgbClr val="FFFFFF">
              <a:alpha val="97000"/>
            </a:srgbClr>
          </a:solidFill>
          <a:ln w="13970">
            <a:solidFill>
              <a:srgbClr val="E76F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62"/>
          <p:cNvSpPr/>
          <p:nvPr/>
        </p:nvSpPr>
        <p:spPr>
          <a:xfrm>
            <a:off x="7552800" y="3182040"/>
            <a:ext cx="32731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76F51"/>
                </a:solidFill>
                <a:effectLst/>
                <a:uFillTx/>
                <a:latin typeface="Aptos"/>
              </a:rPr>
              <a:t>Q = glutamine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63"/>
          <p:cNvSpPr/>
          <p:nvPr/>
        </p:nvSpPr>
        <p:spPr>
          <a:xfrm>
            <a:off x="7552800" y="3465720"/>
            <a:ext cx="3273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Polar, uncharged side chain. Similar size, different charge: a subtle-looking but meaningful change.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66"/>
          <p:cNvSpPr/>
          <p:nvPr/>
        </p:nvSpPr>
        <p:spPr>
          <a:xfrm>
            <a:off x="502920" y="6492240"/>
            <a:ext cx="10515600" cy="360"/>
          </a:xfrm>
          <a:prstGeom prst="line">
            <a:avLst/>
          </a:prstGeom>
          <a:ln w="762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68"/>
          <p:cNvSpPr/>
          <p:nvPr/>
        </p:nvSpPr>
        <p:spPr>
          <a:xfrm>
            <a:off x="11201400" y="6528960"/>
            <a:ext cx="502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8A2B3"/>
                </a:solidFill>
                <a:effectLst/>
                <a:uFillTx/>
                <a:latin typeface="Aptos"/>
              </a:rPr>
              <a:t>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 65">
            <a:extLst>
              <a:ext uri="{FF2B5EF4-FFF2-40B4-BE49-F238E27FC236}">
                <a16:creationId xmlns:a16="http://schemas.microsoft.com/office/drawing/2014/main" id="{0F51DED1-665C-BD89-874C-612E64009186}"/>
              </a:ext>
            </a:extLst>
          </p:cNvPr>
          <p:cNvSpPr/>
          <p:nvPr/>
        </p:nvSpPr>
        <p:spPr>
          <a:xfrm>
            <a:off x="1307340" y="4841820"/>
            <a:ext cx="9417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Where is it? What property changed? Is the residue conserved? Is there experimental evidence?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2CCF0-3D03-8983-E29C-BAA537420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88DF13DF-E07B-2AF1-F57F-C5F278C8745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431108" y="300135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Multiple Sequence </a:t>
            </a:r>
            <a:r>
              <a:rPr lang="en-US" sz="2800" dirty="0">
                <a:solidFill>
                  <a:schemeClr val="dk2"/>
                </a:solidFill>
                <a:latin typeface="华文中宋"/>
                <a:ea typeface="华文中宋"/>
              </a:rPr>
              <a:t>Alignment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51876AB-CD49-6A57-227F-EE95AE5A5392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10339820" y="1343310"/>
            <a:ext cx="837720" cy="767160"/>
          </a:xfrm>
        </p:spPr>
        <p:txBody>
          <a:bodyPr/>
          <a:lstStyle/>
          <a:p>
            <a:fld id="{B6C27646-495F-4B6F-9416-09F93FD7972B}" type="slidenum">
              <a:rPr/>
              <a:t>9</a:t>
            </a:fld>
            <a:endParaRPr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9B660485-A7CA-F015-684D-859A3B0029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0900" y="4324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EC0A98-BFD2-E5DA-658D-994CE6D951B0}"/>
              </a:ext>
            </a:extLst>
          </p:cNvPr>
          <p:cNvSpPr txBox="1"/>
          <p:nvPr/>
        </p:nvSpPr>
        <p:spPr>
          <a:xfrm>
            <a:off x="929132" y="1019224"/>
            <a:ext cx="9239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0" i="0" dirty="0">
                <a:solidFill>
                  <a:srgbClr val="222222"/>
                </a:solidFill>
                <a:effectLst/>
                <a:latin typeface="-apple-system"/>
              </a:rPr>
              <a:t>Multiple sequence alignment (MSA) lies at the heart of comparative genomics, structural biology and evolutionary inference.</a:t>
            </a:r>
            <a:endParaRPr lang="zh-CN" altLang="en-US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411F0FBA-43D0-56A9-6A4E-28905EC5787F}"/>
              </a:ext>
            </a:extLst>
          </p:cNvPr>
          <p:cNvSpPr/>
          <p:nvPr/>
        </p:nvSpPr>
        <p:spPr>
          <a:xfrm>
            <a:off x="709676" y="2259404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MSA 在做什么？把“相同来源的位置”排到同一列</a:t>
            </a:r>
            <a:endParaRPr lang="en-US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4ED4E348-07D7-D1C1-B337-88934F46314C}"/>
              </a:ext>
            </a:extLst>
          </p:cNvPr>
          <p:cNvSpPr/>
          <p:nvPr/>
        </p:nvSpPr>
        <p:spPr>
          <a:xfrm>
            <a:off x="11142980" y="205562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5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BE9DC7E5-3AD6-1A53-AA72-0C8D4A22FDFB}"/>
              </a:ext>
            </a:extLst>
          </p:cNvPr>
          <p:cNvSpPr/>
          <p:nvPr/>
        </p:nvSpPr>
        <p:spPr>
          <a:xfrm>
            <a:off x="627380" y="294259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未对齐的相似序列</a:t>
            </a:r>
            <a:endParaRPr lang="en-US" sz="17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C79C9FE0-B0FB-9527-09B8-8AFC97ABCEEA}"/>
              </a:ext>
            </a:extLst>
          </p:cNvPr>
          <p:cNvSpPr/>
          <p:nvPr/>
        </p:nvSpPr>
        <p:spPr>
          <a:xfrm>
            <a:off x="627380" y="333578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575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长度可能不同；插入或缺失的位置尚不清楚。</a:t>
            </a:r>
            <a:endParaRPr lang="en-US" sz="12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6A1CC9A5-FA2F-F213-E00D-63ECB889C1ED}"/>
              </a:ext>
            </a:extLst>
          </p:cNvPr>
          <p:cNvSpPr/>
          <p:nvPr/>
        </p:nvSpPr>
        <p:spPr>
          <a:xfrm>
            <a:off x="645668" y="403987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575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Seq1</a:t>
            </a:r>
            <a:endParaRPr lang="en-US" sz="11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5FE13392-796E-B67E-7736-4454A1306F94}"/>
              </a:ext>
            </a:extLst>
          </p:cNvPr>
          <p:cNvSpPr/>
          <p:nvPr/>
        </p:nvSpPr>
        <p:spPr>
          <a:xfrm>
            <a:off x="1313180" y="400329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MKTLLVAIAAGIT</a:t>
            </a:r>
            <a:endParaRPr lang="en-US" sz="16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78A87F34-4D0B-9ACA-CCE4-87AAD2562DC2}"/>
              </a:ext>
            </a:extLst>
          </p:cNvPr>
          <p:cNvSpPr/>
          <p:nvPr/>
        </p:nvSpPr>
        <p:spPr>
          <a:xfrm>
            <a:off x="645668" y="457022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575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Seq2</a:t>
            </a:r>
            <a:endParaRPr lang="en-US" sz="11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DBF8ED8-7EFF-D053-E14B-25937B698D4F}"/>
              </a:ext>
            </a:extLst>
          </p:cNvPr>
          <p:cNvSpPr/>
          <p:nvPr/>
        </p:nvSpPr>
        <p:spPr>
          <a:xfrm>
            <a:off x="1313180" y="453364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MKTLVAIAAQQQGIT</a:t>
            </a:r>
            <a:endParaRPr lang="en-US" sz="16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CD029D48-ADC2-6FF0-F723-DAB76A904219}"/>
              </a:ext>
            </a:extLst>
          </p:cNvPr>
          <p:cNvSpPr/>
          <p:nvPr/>
        </p:nvSpPr>
        <p:spPr>
          <a:xfrm>
            <a:off x="645668" y="510057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575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Seq3</a:t>
            </a:r>
            <a:endParaRPr lang="en-US" sz="11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9C9587C1-45F1-2F2A-7779-11C7A1CB68F3}"/>
              </a:ext>
            </a:extLst>
          </p:cNvPr>
          <p:cNvSpPr/>
          <p:nvPr/>
        </p:nvSpPr>
        <p:spPr>
          <a:xfrm>
            <a:off x="1313180" y="506399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MKTLLVAIAAGIT</a:t>
            </a:r>
            <a:endParaRPr lang="en-US" sz="160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57BE1D9C-2426-9C66-4AC4-BA1253EE2598}"/>
              </a:ext>
            </a:extLst>
          </p:cNvPr>
          <p:cNvSpPr/>
          <p:nvPr/>
        </p:nvSpPr>
        <p:spPr>
          <a:xfrm>
            <a:off x="4441952" y="4636770"/>
            <a:ext cx="960120" cy="0"/>
          </a:xfrm>
          <a:prstGeom prst="line">
            <a:avLst/>
          </a:prstGeom>
          <a:noFill/>
          <a:ln w="20320">
            <a:solidFill>
              <a:srgbClr val="95A3B8"/>
            </a:solidFill>
            <a:prstDash val="solid"/>
            <a:tailEnd type="triangle"/>
          </a:ln>
        </p:spPr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F1D93B54-A03F-D827-A01E-FA34175329B4}"/>
              </a:ext>
            </a:extLst>
          </p:cNvPr>
          <p:cNvSpPr/>
          <p:nvPr/>
        </p:nvSpPr>
        <p:spPr>
          <a:xfrm>
            <a:off x="4350512" y="4197858"/>
            <a:ext cx="1325880" cy="347472"/>
          </a:xfrm>
          <a:prstGeom prst="roundRect">
            <a:avLst/>
          </a:prstGeom>
          <a:solidFill>
            <a:srgbClr val="F5B845"/>
          </a:solidFill>
          <a:ln>
            <a:solidFill>
              <a:srgbClr val="F5B845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插入 gap</a:t>
            </a:r>
            <a:endParaRPr lang="en-US" sz="13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3CB8D9A6-C2D0-9626-2901-E39153BA8129}"/>
              </a:ext>
            </a:extLst>
          </p:cNvPr>
          <p:cNvSpPr/>
          <p:nvPr/>
        </p:nvSpPr>
        <p:spPr>
          <a:xfrm>
            <a:off x="4094480" y="489280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575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让同源位置垂直对齐</a:t>
            </a:r>
            <a:endParaRPr lang="en-US" sz="1150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C8E2531A-378D-0873-CE69-670476E9A27A}"/>
              </a:ext>
            </a:extLst>
          </p:cNvPr>
          <p:cNvSpPr/>
          <p:nvPr/>
        </p:nvSpPr>
        <p:spPr>
          <a:xfrm>
            <a:off x="6570980" y="294259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MSA 之后</a:t>
            </a:r>
            <a:endParaRPr lang="en-US" sz="17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0E1047B9-CFDF-1D68-8D73-0090C78999CF}"/>
              </a:ext>
            </a:extLst>
          </p:cNvPr>
          <p:cNvSpPr/>
          <p:nvPr/>
        </p:nvSpPr>
        <p:spPr>
          <a:xfrm>
            <a:off x="6570980" y="333578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575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每一列表示一个可比较的同源位置；“-” 表示插入/缺失。</a:t>
            </a:r>
            <a:endParaRPr lang="en-US" sz="125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6296C102-3C0D-39D3-5F1E-289EFD74E83B}"/>
              </a:ext>
            </a:extLst>
          </p:cNvPr>
          <p:cNvSpPr/>
          <p:nvPr/>
        </p:nvSpPr>
        <p:spPr>
          <a:xfrm>
            <a:off x="6589268" y="394843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575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Seq1</a:t>
            </a:r>
            <a:endParaRPr lang="en-US" sz="1050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6FD8C9AB-B764-B8FD-B803-C35D5D96A646}"/>
              </a:ext>
            </a:extLst>
          </p:cNvPr>
          <p:cNvSpPr/>
          <p:nvPr/>
        </p:nvSpPr>
        <p:spPr>
          <a:xfrm>
            <a:off x="7229348" y="3893566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</a:t>
            </a:r>
            <a:endParaRPr lang="en-US" sz="1250" dirty="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778AB7D8-BE6E-8E7C-8059-6708086766D2}"/>
              </a:ext>
            </a:extLst>
          </p:cNvPr>
          <p:cNvSpPr/>
          <p:nvPr/>
        </p:nvSpPr>
        <p:spPr>
          <a:xfrm>
            <a:off x="7448804" y="3893566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</a:t>
            </a:r>
            <a:endParaRPr lang="en-US" sz="1250" dirty="0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F2BBD9D0-376F-239E-F744-8668C1BCCCD5}"/>
              </a:ext>
            </a:extLst>
          </p:cNvPr>
          <p:cNvSpPr/>
          <p:nvPr/>
        </p:nvSpPr>
        <p:spPr>
          <a:xfrm>
            <a:off x="7668260" y="3893566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</a:t>
            </a:r>
            <a:endParaRPr lang="en-US" sz="1250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44A61233-E365-1351-4184-0CB8D86FCE87}"/>
              </a:ext>
            </a:extLst>
          </p:cNvPr>
          <p:cNvSpPr/>
          <p:nvPr/>
        </p:nvSpPr>
        <p:spPr>
          <a:xfrm>
            <a:off x="7887716" y="3893566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250" dirty="0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CEB8415C-5434-1E0F-896F-A8B5969827AE}"/>
              </a:ext>
            </a:extLst>
          </p:cNvPr>
          <p:cNvSpPr/>
          <p:nvPr/>
        </p:nvSpPr>
        <p:spPr>
          <a:xfrm>
            <a:off x="8107172" y="3893566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250" dirty="0"/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7982C011-E2CE-360F-6F1E-3A1AFE224EB4}"/>
              </a:ext>
            </a:extLst>
          </p:cNvPr>
          <p:cNvSpPr/>
          <p:nvPr/>
        </p:nvSpPr>
        <p:spPr>
          <a:xfrm>
            <a:off x="8326628" y="3893566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</a:t>
            </a:r>
            <a:endParaRPr lang="en-US" sz="1250" dirty="0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7A45C9A2-66E6-0E71-14CA-12823B617024}"/>
              </a:ext>
            </a:extLst>
          </p:cNvPr>
          <p:cNvSpPr/>
          <p:nvPr/>
        </p:nvSpPr>
        <p:spPr>
          <a:xfrm>
            <a:off x="8546084" y="3893566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25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C6A931D6-CB43-7063-31C9-F91B8D8321A2}"/>
              </a:ext>
            </a:extLst>
          </p:cNvPr>
          <p:cNvSpPr/>
          <p:nvPr/>
        </p:nvSpPr>
        <p:spPr>
          <a:xfrm>
            <a:off x="8765540" y="3893566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</a:t>
            </a:r>
            <a:endParaRPr lang="en-US" sz="1250" dirty="0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AE3ECCF6-7C1A-AE98-571F-9B3DA5C381DD}"/>
              </a:ext>
            </a:extLst>
          </p:cNvPr>
          <p:cNvSpPr/>
          <p:nvPr/>
        </p:nvSpPr>
        <p:spPr>
          <a:xfrm>
            <a:off x="8984996" y="3893566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25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AFDF535D-324B-20F7-A159-2197D14EE997}"/>
              </a:ext>
            </a:extLst>
          </p:cNvPr>
          <p:cNvSpPr/>
          <p:nvPr/>
        </p:nvSpPr>
        <p:spPr>
          <a:xfrm>
            <a:off x="9204452" y="3893566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250" dirty="0"/>
          </a:p>
        </p:txBody>
      </p:sp>
      <p:sp>
        <p:nvSpPr>
          <p:cNvPr id="37" name="Text 27">
            <a:extLst>
              <a:ext uri="{FF2B5EF4-FFF2-40B4-BE49-F238E27FC236}">
                <a16:creationId xmlns:a16="http://schemas.microsoft.com/office/drawing/2014/main" id="{CAE44B86-D976-A1B2-011F-9FAA1663B22B}"/>
              </a:ext>
            </a:extLst>
          </p:cNvPr>
          <p:cNvSpPr/>
          <p:nvPr/>
        </p:nvSpPr>
        <p:spPr>
          <a:xfrm>
            <a:off x="9423908" y="3893566"/>
            <a:ext cx="192024" cy="256032"/>
          </a:xfrm>
          <a:prstGeom prst="rect">
            <a:avLst/>
          </a:prstGeom>
          <a:solidFill>
            <a:srgbClr val="E2E8F0"/>
          </a:solidFill>
          <a:ln>
            <a:solidFill>
              <a:srgbClr val="E2E8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5758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</a:t>
            </a:r>
            <a:endParaRPr lang="en-US" sz="1250" dirty="0"/>
          </a:p>
        </p:txBody>
      </p:sp>
      <p:sp>
        <p:nvSpPr>
          <p:cNvPr id="38" name="Text 28">
            <a:extLst>
              <a:ext uri="{FF2B5EF4-FFF2-40B4-BE49-F238E27FC236}">
                <a16:creationId xmlns:a16="http://schemas.microsoft.com/office/drawing/2014/main" id="{671ED4A4-B535-A3C6-AACF-B3E6296BA9F0}"/>
              </a:ext>
            </a:extLst>
          </p:cNvPr>
          <p:cNvSpPr/>
          <p:nvPr/>
        </p:nvSpPr>
        <p:spPr>
          <a:xfrm>
            <a:off x="9643364" y="3893566"/>
            <a:ext cx="192024" cy="256032"/>
          </a:xfrm>
          <a:prstGeom prst="rect">
            <a:avLst/>
          </a:prstGeom>
          <a:solidFill>
            <a:srgbClr val="E2E8F0"/>
          </a:solidFill>
          <a:ln>
            <a:solidFill>
              <a:srgbClr val="E2E8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5758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</a:t>
            </a:r>
            <a:endParaRPr lang="en-US" sz="1250" dirty="0"/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8BB9BAB9-C669-74AE-425D-E43B658464A6}"/>
              </a:ext>
            </a:extLst>
          </p:cNvPr>
          <p:cNvSpPr/>
          <p:nvPr/>
        </p:nvSpPr>
        <p:spPr>
          <a:xfrm>
            <a:off x="9862820" y="3893566"/>
            <a:ext cx="192024" cy="256032"/>
          </a:xfrm>
          <a:prstGeom prst="rect">
            <a:avLst/>
          </a:prstGeom>
          <a:solidFill>
            <a:srgbClr val="E2E8F0"/>
          </a:solidFill>
          <a:ln>
            <a:solidFill>
              <a:srgbClr val="E2E8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5758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</a:t>
            </a:r>
            <a:endParaRPr lang="en-US" sz="1250" dirty="0"/>
          </a:p>
        </p:txBody>
      </p:sp>
      <p:sp>
        <p:nvSpPr>
          <p:cNvPr id="40" name="Text 30">
            <a:extLst>
              <a:ext uri="{FF2B5EF4-FFF2-40B4-BE49-F238E27FC236}">
                <a16:creationId xmlns:a16="http://schemas.microsoft.com/office/drawing/2014/main" id="{3CDF8195-A5E9-FD52-3977-7E31D6D6DE19}"/>
              </a:ext>
            </a:extLst>
          </p:cNvPr>
          <p:cNvSpPr/>
          <p:nvPr/>
        </p:nvSpPr>
        <p:spPr>
          <a:xfrm>
            <a:off x="10082276" y="3893566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</a:t>
            </a:r>
            <a:endParaRPr lang="en-US" sz="1250" dirty="0"/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5CCF9F9F-6E54-9512-768A-900E66CCFE02}"/>
              </a:ext>
            </a:extLst>
          </p:cNvPr>
          <p:cNvSpPr/>
          <p:nvPr/>
        </p:nvSpPr>
        <p:spPr>
          <a:xfrm>
            <a:off x="10301732" y="3893566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</a:t>
            </a:r>
            <a:endParaRPr lang="en-US" sz="1250" dirty="0"/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A3F54908-21FF-2D0A-82FE-21138D8CD9C0}"/>
              </a:ext>
            </a:extLst>
          </p:cNvPr>
          <p:cNvSpPr/>
          <p:nvPr/>
        </p:nvSpPr>
        <p:spPr>
          <a:xfrm>
            <a:off x="10521188" y="3893566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</a:t>
            </a:r>
            <a:endParaRPr lang="en-US" sz="1250" dirty="0"/>
          </a:p>
        </p:txBody>
      </p:sp>
      <p:sp>
        <p:nvSpPr>
          <p:cNvPr id="43" name="Text 33">
            <a:extLst>
              <a:ext uri="{FF2B5EF4-FFF2-40B4-BE49-F238E27FC236}">
                <a16:creationId xmlns:a16="http://schemas.microsoft.com/office/drawing/2014/main" id="{88F7D1EC-5B0D-B22B-0817-7F4D71C8CC7F}"/>
              </a:ext>
            </a:extLst>
          </p:cNvPr>
          <p:cNvSpPr/>
          <p:nvPr/>
        </p:nvSpPr>
        <p:spPr>
          <a:xfrm>
            <a:off x="6589268" y="442391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575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Seq2</a:t>
            </a:r>
            <a:endParaRPr lang="en-US" sz="1050" dirty="0"/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EB745928-BBFE-13A9-B75E-FF37A207614A}"/>
              </a:ext>
            </a:extLst>
          </p:cNvPr>
          <p:cNvSpPr/>
          <p:nvPr/>
        </p:nvSpPr>
        <p:spPr>
          <a:xfrm>
            <a:off x="7229348" y="4369054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</a:t>
            </a:r>
            <a:endParaRPr lang="en-US" sz="1250" dirty="0"/>
          </a:p>
        </p:txBody>
      </p:sp>
      <p:sp>
        <p:nvSpPr>
          <p:cNvPr id="45" name="Text 35">
            <a:extLst>
              <a:ext uri="{FF2B5EF4-FFF2-40B4-BE49-F238E27FC236}">
                <a16:creationId xmlns:a16="http://schemas.microsoft.com/office/drawing/2014/main" id="{0F636AAB-BBD9-388E-FC42-C5166DEB333A}"/>
              </a:ext>
            </a:extLst>
          </p:cNvPr>
          <p:cNvSpPr/>
          <p:nvPr/>
        </p:nvSpPr>
        <p:spPr>
          <a:xfrm>
            <a:off x="7448804" y="4369054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</a:t>
            </a:r>
            <a:endParaRPr lang="en-US" sz="1250" dirty="0"/>
          </a:p>
        </p:txBody>
      </p:sp>
      <p:sp>
        <p:nvSpPr>
          <p:cNvPr id="46" name="Text 36">
            <a:extLst>
              <a:ext uri="{FF2B5EF4-FFF2-40B4-BE49-F238E27FC236}">
                <a16:creationId xmlns:a16="http://schemas.microsoft.com/office/drawing/2014/main" id="{1A4F9FC7-65D8-8FEC-24B8-BBFA0D45440D}"/>
              </a:ext>
            </a:extLst>
          </p:cNvPr>
          <p:cNvSpPr/>
          <p:nvPr/>
        </p:nvSpPr>
        <p:spPr>
          <a:xfrm>
            <a:off x="7668260" y="4369054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</a:t>
            </a:r>
            <a:endParaRPr lang="en-US" sz="1250" dirty="0"/>
          </a:p>
        </p:txBody>
      </p:sp>
      <p:sp>
        <p:nvSpPr>
          <p:cNvPr id="47" name="Text 37">
            <a:extLst>
              <a:ext uri="{FF2B5EF4-FFF2-40B4-BE49-F238E27FC236}">
                <a16:creationId xmlns:a16="http://schemas.microsoft.com/office/drawing/2014/main" id="{249C0966-7355-C400-00F1-FDF2CC853C48}"/>
              </a:ext>
            </a:extLst>
          </p:cNvPr>
          <p:cNvSpPr/>
          <p:nvPr/>
        </p:nvSpPr>
        <p:spPr>
          <a:xfrm>
            <a:off x="7887716" y="4369054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250" dirty="0"/>
          </a:p>
        </p:txBody>
      </p:sp>
      <p:sp>
        <p:nvSpPr>
          <p:cNvPr id="48" name="Text 38">
            <a:extLst>
              <a:ext uri="{FF2B5EF4-FFF2-40B4-BE49-F238E27FC236}">
                <a16:creationId xmlns:a16="http://schemas.microsoft.com/office/drawing/2014/main" id="{EE1C425A-4010-8A01-6465-C7827329C966}"/>
              </a:ext>
            </a:extLst>
          </p:cNvPr>
          <p:cNvSpPr/>
          <p:nvPr/>
        </p:nvSpPr>
        <p:spPr>
          <a:xfrm>
            <a:off x="8107172" y="4369054"/>
            <a:ext cx="192024" cy="256032"/>
          </a:xfrm>
          <a:prstGeom prst="rect">
            <a:avLst/>
          </a:prstGeom>
          <a:solidFill>
            <a:srgbClr val="E2E8F0"/>
          </a:solidFill>
          <a:ln>
            <a:solidFill>
              <a:srgbClr val="E2E8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5758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</a:t>
            </a:r>
            <a:endParaRPr lang="en-US" sz="1250" dirty="0"/>
          </a:p>
        </p:txBody>
      </p:sp>
      <p:sp>
        <p:nvSpPr>
          <p:cNvPr id="49" name="Text 39">
            <a:extLst>
              <a:ext uri="{FF2B5EF4-FFF2-40B4-BE49-F238E27FC236}">
                <a16:creationId xmlns:a16="http://schemas.microsoft.com/office/drawing/2014/main" id="{77154EAA-69E6-5C50-11CA-505318CE2063}"/>
              </a:ext>
            </a:extLst>
          </p:cNvPr>
          <p:cNvSpPr/>
          <p:nvPr/>
        </p:nvSpPr>
        <p:spPr>
          <a:xfrm>
            <a:off x="8326628" y="4369054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</a:t>
            </a:r>
            <a:endParaRPr lang="en-US" sz="1250" dirty="0"/>
          </a:p>
        </p:txBody>
      </p:sp>
      <p:sp>
        <p:nvSpPr>
          <p:cNvPr id="50" name="Text 40">
            <a:extLst>
              <a:ext uri="{FF2B5EF4-FFF2-40B4-BE49-F238E27FC236}">
                <a16:creationId xmlns:a16="http://schemas.microsoft.com/office/drawing/2014/main" id="{39EADD60-DBF1-4AFA-1D26-B412538A06A1}"/>
              </a:ext>
            </a:extLst>
          </p:cNvPr>
          <p:cNvSpPr/>
          <p:nvPr/>
        </p:nvSpPr>
        <p:spPr>
          <a:xfrm>
            <a:off x="8546084" y="4369054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250" dirty="0"/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89CF14EF-52BE-1564-0727-6DEACF380690}"/>
              </a:ext>
            </a:extLst>
          </p:cNvPr>
          <p:cNvSpPr/>
          <p:nvPr/>
        </p:nvSpPr>
        <p:spPr>
          <a:xfrm>
            <a:off x="8765540" y="4369054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</a:t>
            </a:r>
            <a:endParaRPr lang="en-US" sz="1250" dirty="0"/>
          </a:p>
        </p:txBody>
      </p:sp>
      <p:sp>
        <p:nvSpPr>
          <p:cNvPr id="52" name="Text 42">
            <a:extLst>
              <a:ext uri="{FF2B5EF4-FFF2-40B4-BE49-F238E27FC236}">
                <a16:creationId xmlns:a16="http://schemas.microsoft.com/office/drawing/2014/main" id="{1E96306D-DDCA-3D87-246A-EC16DE9F543D}"/>
              </a:ext>
            </a:extLst>
          </p:cNvPr>
          <p:cNvSpPr/>
          <p:nvPr/>
        </p:nvSpPr>
        <p:spPr>
          <a:xfrm>
            <a:off x="8984996" y="4369054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250" dirty="0"/>
          </a:p>
        </p:txBody>
      </p:sp>
      <p:sp>
        <p:nvSpPr>
          <p:cNvPr id="53" name="Text 43">
            <a:extLst>
              <a:ext uri="{FF2B5EF4-FFF2-40B4-BE49-F238E27FC236}">
                <a16:creationId xmlns:a16="http://schemas.microsoft.com/office/drawing/2014/main" id="{8ACB5DB7-9B04-9882-ED8E-E7AD09F5F0BB}"/>
              </a:ext>
            </a:extLst>
          </p:cNvPr>
          <p:cNvSpPr/>
          <p:nvPr/>
        </p:nvSpPr>
        <p:spPr>
          <a:xfrm>
            <a:off x="9204452" y="4369054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250" dirty="0"/>
          </a:p>
        </p:txBody>
      </p:sp>
      <p:sp>
        <p:nvSpPr>
          <p:cNvPr id="54" name="Text 44">
            <a:extLst>
              <a:ext uri="{FF2B5EF4-FFF2-40B4-BE49-F238E27FC236}">
                <a16:creationId xmlns:a16="http://schemas.microsoft.com/office/drawing/2014/main" id="{797A976F-D44D-A0EB-46EC-1F99082DE5DB}"/>
              </a:ext>
            </a:extLst>
          </p:cNvPr>
          <p:cNvSpPr/>
          <p:nvPr/>
        </p:nvSpPr>
        <p:spPr>
          <a:xfrm>
            <a:off x="9423908" y="4369054"/>
            <a:ext cx="192024" cy="256032"/>
          </a:xfrm>
          <a:prstGeom prst="rect">
            <a:avLst/>
          </a:prstGeom>
          <a:solidFill>
            <a:srgbClr val="FFF4CC"/>
          </a:solidFill>
          <a:ln>
            <a:solidFill>
              <a:srgbClr val="FFF4CC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</a:t>
            </a:r>
            <a:endParaRPr lang="en-US" sz="1250" dirty="0"/>
          </a:p>
        </p:txBody>
      </p:sp>
      <p:sp>
        <p:nvSpPr>
          <p:cNvPr id="55" name="Text 45">
            <a:extLst>
              <a:ext uri="{FF2B5EF4-FFF2-40B4-BE49-F238E27FC236}">
                <a16:creationId xmlns:a16="http://schemas.microsoft.com/office/drawing/2014/main" id="{FECC9BDB-802A-59B9-36C3-A5722F7BD1E4}"/>
              </a:ext>
            </a:extLst>
          </p:cNvPr>
          <p:cNvSpPr/>
          <p:nvPr/>
        </p:nvSpPr>
        <p:spPr>
          <a:xfrm>
            <a:off x="9643364" y="4369054"/>
            <a:ext cx="192024" cy="256032"/>
          </a:xfrm>
          <a:prstGeom prst="rect">
            <a:avLst/>
          </a:prstGeom>
          <a:solidFill>
            <a:srgbClr val="FFF4CC"/>
          </a:solidFill>
          <a:ln>
            <a:solidFill>
              <a:srgbClr val="FFF4CC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</a:t>
            </a:r>
            <a:endParaRPr lang="en-US" sz="1250" dirty="0"/>
          </a:p>
        </p:txBody>
      </p:sp>
      <p:sp>
        <p:nvSpPr>
          <p:cNvPr id="56" name="Text 46">
            <a:extLst>
              <a:ext uri="{FF2B5EF4-FFF2-40B4-BE49-F238E27FC236}">
                <a16:creationId xmlns:a16="http://schemas.microsoft.com/office/drawing/2014/main" id="{317AA521-0601-C41F-CDB9-F01432B4D1D5}"/>
              </a:ext>
            </a:extLst>
          </p:cNvPr>
          <p:cNvSpPr/>
          <p:nvPr/>
        </p:nvSpPr>
        <p:spPr>
          <a:xfrm>
            <a:off x="9862820" y="4369054"/>
            <a:ext cx="192024" cy="256032"/>
          </a:xfrm>
          <a:prstGeom prst="rect">
            <a:avLst/>
          </a:prstGeom>
          <a:solidFill>
            <a:srgbClr val="FFF4CC"/>
          </a:solidFill>
          <a:ln>
            <a:solidFill>
              <a:srgbClr val="FFF4CC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</a:t>
            </a:r>
            <a:endParaRPr lang="en-US" sz="1250" dirty="0"/>
          </a:p>
        </p:txBody>
      </p:sp>
      <p:sp>
        <p:nvSpPr>
          <p:cNvPr id="57" name="Text 47">
            <a:extLst>
              <a:ext uri="{FF2B5EF4-FFF2-40B4-BE49-F238E27FC236}">
                <a16:creationId xmlns:a16="http://schemas.microsoft.com/office/drawing/2014/main" id="{7C82461F-6945-0621-C67E-97ADC838285A}"/>
              </a:ext>
            </a:extLst>
          </p:cNvPr>
          <p:cNvSpPr/>
          <p:nvPr/>
        </p:nvSpPr>
        <p:spPr>
          <a:xfrm>
            <a:off x="10082276" y="4369054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</a:t>
            </a:r>
            <a:endParaRPr lang="en-US" sz="1250" dirty="0"/>
          </a:p>
        </p:txBody>
      </p:sp>
      <p:sp>
        <p:nvSpPr>
          <p:cNvPr id="58" name="Text 48">
            <a:extLst>
              <a:ext uri="{FF2B5EF4-FFF2-40B4-BE49-F238E27FC236}">
                <a16:creationId xmlns:a16="http://schemas.microsoft.com/office/drawing/2014/main" id="{898EA702-5A7E-8F3C-3171-FDEA1973F72F}"/>
              </a:ext>
            </a:extLst>
          </p:cNvPr>
          <p:cNvSpPr/>
          <p:nvPr/>
        </p:nvSpPr>
        <p:spPr>
          <a:xfrm>
            <a:off x="10301732" y="4369054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</a:t>
            </a:r>
            <a:endParaRPr lang="en-US" sz="1250" dirty="0"/>
          </a:p>
        </p:txBody>
      </p:sp>
      <p:sp>
        <p:nvSpPr>
          <p:cNvPr id="59" name="Text 49">
            <a:extLst>
              <a:ext uri="{FF2B5EF4-FFF2-40B4-BE49-F238E27FC236}">
                <a16:creationId xmlns:a16="http://schemas.microsoft.com/office/drawing/2014/main" id="{667DCF3F-B21B-9342-5A85-6415009BEC95}"/>
              </a:ext>
            </a:extLst>
          </p:cNvPr>
          <p:cNvSpPr/>
          <p:nvPr/>
        </p:nvSpPr>
        <p:spPr>
          <a:xfrm>
            <a:off x="10521188" y="4369054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</a:t>
            </a:r>
            <a:endParaRPr lang="en-US" sz="1250" dirty="0"/>
          </a:p>
        </p:txBody>
      </p:sp>
      <p:sp>
        <p:nvSpPr>
          <p:cNvPr id="60" name="Text 50">
            <a:extLst>
              <a:ext uri="{FF2B5EF4-FFF2-40B4-BE49-F238E27FC236}">
                <a16:creationId xmlns:a16="http://schemas.microsoft.com/office/drawing/2014/main" id="{01990636-EF14-37D6-4093-2F162D386D4D}"/>
              </a:ext>
            </a:extLst>
          </p:cNvPr>
          <p:cNvSpPr/>
          <p:nvPr/>
        </p:nvSpPr>
        <p:spPr>
          <a:xfrm>
            <a:off x="6589268" y="489940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575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Seq3</a:t>
            </a:r>
            <a:endParaRPr lang="en-US" sz="1050" dirty="0"/>
          </a:p>
        </p:txBody>
      </p:sp>
      <p:sp>
        <p:nvSpPr>
          <p:cNvPr id="61" name="Text 51">
            <a:extLst>
              <a:ext uri="{FF2B5EF4-FFF2-40B4-BE49-F238E27FC236}">
                <a16:creationId xmlns:a16="http://schemas.microsoft.com/office/drawing/2014/main" id="{F28EE3D0-C071-F10B-9C35-810324732E84}"/>
              </a:ext>
            </a:extLst>
          </p:cNvPr>
          <p:cNvSpPr/>
          <p:nvPr/>
        </p:nvSpPr>
        <p:spPr>
          <a:xfrm>
            <a:off x="7229348" y="4844542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</a:t>
            </a:r>
            <a:endParaRPr lang="en-US" sz="1250" dirty="0"/>
          </a:p>
        </p:txBody>
      </p:sp>
      <p:sp>
        <p:nvSpPr>
          <p:cNvPr id="62" name="Text 52">
            <a:extLst>
              <a:ext uri="{FF2B5EF4-FFF2-40B4-BE49-F238E27FC236}">
                <a16:creationId xmlns:a16="http://schemas.microsoft.com/office/drawing/2014/main" id="{330BF27F-B71D-0739-E878-E0E0176750BD}"/>
              </a:ext>
            </a:extLst>
          </p:cNvPr>
          <p:cNvSpPr/>
          <p:nvPr/>
        </p:nvSpPr>
        <p:spPr>
          <a:xfrm>
            <a:off x="7448804" y="4844542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</a:t>
            </a:r>
            <a:endParaRPr lang="en-US" sz="1250" dirty="0"/>
          </a:p>
        </p:txBody>
      </p:sp>
      <p:sp>
        <p:nvSpPr>
          <p:cNvPr id="63" name="Text 53">
            <a:extLst>
              <a:ext uri="{FF2B5EF4-FFF2-40B4-BE49-F238E27FC236}">
                <a16:creationId xmlns:a16="http://schemas.microsoft.com/office/drawing/2014/main" id="{2FAB6C4B-E601-DAF8-8C04-791030C2AA20}"/>
              </a:ext>
            </a:extLst>
          </p:cNvPr>
          <p:cNvSpPr/>
          <p:nvPr/>
        </p:nvSpPr>
        <p:spPr>
          <a:xfrm>
            <a:off x="7668260" y="4844542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</a:t>
            </a:r>
            <a:endParaRPr lang="en-US" sz="1250" dirty="0"/>
          </a:p>
        </p:txBody>
      </p:sp>
      <p:sp>
        <p:nvSpPr>
          <p:cNvPr id="256" name="Text 54">
            <a:extLst>
              <a:ext uri="{FF2B5EF4-FFF2-40B4-BE49-F238E27FC236}">
                <a16:creationId xmlns:a16="http://schemas.microsoft.com/office/drawing/2014/main" id="{47808D47-742C-60EC-5CDF-B8E35B9590DB}"/>
              </a:ext>
            </a:extLst>
          </p:cNvPr>
          <p:cNvSpPr/>
          <p:nvPr/>
        </p:nvSpPr>
        <p:spPr>
          <a:xfrm>
            <a:off x="7887716" y="4844542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250" dirty="0"/>
          </a:p>
        </p:txBody>
      </p:sp>
      <p:sp>
        <p:nvSpPr>
          <p:cNvPr id="257" name="Text 55">
            <a:extLst>
              <a:ext uri="{FF2B5EF4-FFF2-40B4-BE49-F238E27FC236}">
                <a16:creationId xmlns:a16="http://schemas.microsoft.com/office/drawing/2014/main" id="{1B8E79AF-C6E5-EF03-63FE-893D5255FB2D}"/>
              </a:ext>
            </a:extLst>
          </p:cNvPr>
          <p:cNvSpPr/>
          <p:nvPr/>
        </p:nvSpPr>
        <p:spPr>
          <a:xfrm>
            <a:off x="8107172" y="4844542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250" dirty="0"/>
          </a:p>
        </p:txBody>
      </p:sp>
      <p:sp>
        <p:nvSpPr>
          <p:cNvPr id="258" name="Text 56">
            <a:extLst>
              <a:ext uri="{FF2B5EF4-FFF2-40B4-BE49-F238E27FC236}">
                <a16:creationId xmlns:a16="http://schemas.microsoft.com/office/drawing/2014/main" id="{A80801FC-EE5E-C0DC-8035-4FEB48F60BFB}"/>
              </a:ext>
            </a:extLst>
          </p:cNvPr>
          <p:cNvSpPr/>
          <p:nvPr/>
        </p:nvSpPr>
        <p:spPr>
          <a:xfrm>
            <a:off x="8326628" y="4844542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</a:t>
            </a:r>
            <a:endParaRPr lang="en-US" sz="1250" dirty="0"/>
          </a:p>
        </p:txBody>
      </p:sp>
      <p:sp>
        <p:nvSpPr>
          <p:cNvPr id="259" name="Text 57">
            <a:extLst>
              <a:ext uri="{FF2B5EF4-FFF2-40B4-BE49-F238E27FC236}">
                <a16:creationId xmlns:a16="http://schemas.microsoft.com/office/drawing/2014/main" id="{0E6A90BC-765D-E686-BAD3-35D88155FD4B}"/>
              </a:ext>
            </a:extLst>
          </p:cNvPr>
          <p:cNvSpPr/>
          <p:nvPr/>
        </p:nvSpPr>
        <p:spPr>
          <a:xfrm>
            <a:off x="8546084" y="4844542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250" dirty="0"/>
          </a:p>
        </p:txBody>
      </p:sp>
      <p:sp>
        <p:nvSpPr>
          <p:cNvPr id="260" name="Text 58">
            <a:extLst>
              <a:ext uri="{FF2B5EF4-FFF2-40B4-BE49-F238E27FC236}">
                <a16:creationId xmlns:a16="http://schemas.microsoft.com/office/drawing/2014/main" id="{3D4EE867-46B7-7395-E868-BF821A00DE34}"/>
              </a:ext>
            </a:extLst>
          </p:cNvPr>
          <p:cNvSpPr/>
          <p:nvPr/>
        </p:nvSpPr>
        <p:spPr>
          <a:xfrm>
            <a:off x="8765540" y="4844542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</a:t>
            </a:r>
            <a:endParaRPr lang="en-US" sz="1250" dirty="0"/>
          </a:p>
        </p:txBody>
      </p:sp>
      <p:sp>
        <p:nvSpPr>
          <p:cNvPr id="261" name="Text 59">
            <a:extLst>
              <a:ext uri="{FF2B5EF4-FFF2-40B4-BE49-F238E27FC236}">
                <a16:creationId xmlns:a16="http://schemas.microsoft.com/office/drawing/2014/main" id="{C71DF14F-8676-904D-E1DD-BA4851E1A368}"/>
              </a:ext>
            </a:extLst>
          </p:cNvPr>
          <p:cNvSpPr/>
          <p:nvPr/>
        </p:nvSpPr>
        <p:spPr>
          <a:xfrm>
            <a:off x="8984996" y="4844542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250" dirty="0"/>
          </a:p>
        </p:txBody>
      </p:sp>
      <p:sp>
        <p:nvSpPr>
          <p:cNvPr id="262" name="Text 60">
            <a:extLst>
              <a:ext uri="{FF2B5EF4-FFF2-40B4-BE49-F238E27FC236}">
                <a16:creationId xmlns:a16="http://schemas.microsoft.com/office/drawing/2014/main" id="{1C761FD5-EBE6-35B6-E333-C56A59E9EC05}"/>
              </a:ext>
            </a:extLst>
          </p:cNvPr>
          <p:cNvSpPr/>
          <p:nvPr/>
        </p:nvSpPr>
        <p:spPr>
          <a:xfrm>
            <a:off x="9204452" y="4844542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250" dirty="0"/>
          </a:p>
        </p:txBody>
      </p:sp>
      <p:sp>
        <p:nvSpPr>
          <p:cNvPr id="263" name="Text 61">
            <a:extLst>
              <a:ext uri="{FF2B5EF4-FFF2-40B4-BE49-F238E27FC236}">
                <a16:creationId xmlns:a16="http://schemas.microsoft.com/office/drawing/2014/main" id="{77F67F1E-66D5-992B-0246-B7D9292A845E}"/>
              </a:ext>
            </a:extLst>
          </p:cNvPr>
          <p:cNvSpPr/>
          <p:nvPr/>
        </p:nvSpPr>
        <p:spPr>
          <a:xfrm>
            <a:off x="9423908" y="4844542"/>
            <a:ext cx="192024" cy="256032"/>
          </a:xfrm>
          <a:prstGeom prst="rect">
            <a:avLst/>
          </a:prstGeom>
          <a:solidFill>
            <a:srgbClr val="E2E8F0"/>
          </a:solidFill>
          <a:ln>
            <a:solidFill>
              <a:srgbClr val="E2E8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5758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</a:t>
            </a:r>
            <a:endParaRPr lang="en-US" sz="1250" dirty="0"/>
          </a:p>
        </p:txBody>
      </p:sp>
      <p:sp>
        <p:nvSpPr>
          <p:cNvPr id="265" name="Text 62">
            <a:extLst>
              <a:ext uri="{FF2B5EF4-FFF2-40B4-BE49-F238E27FC236}">
                <a16:creationId xmlns:a16="http://schemas.microsoft.com/office/drawing/2014/main" id="{4B26675C-7436-B5DD-E5FE-24392E985D2F}"/>
              </a:ext>
            </a:extLst>
          </p:cNvPr>
          <p:cNvSpPr/>
          <p:nvPr/>
        </p:nvSpPr>
        <p:spPr>
          <a:xfrm>
            <a:off x="9643364" y="4844542"/>
            <a:ext cx="192024" cy="256032"/>
          </a:xfrm>
          <a:prstGeom prst="rect">
            <a:avLst/>
          </a:prstGeom>
          <a:solidFill>
            <a:srgbClr val="E2E8F0"/>
          </a:solidFill>
          <a:ln>
            <a:solidFill>
              <a:srgbClr val="E2E8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5758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</a:t>
            </a:r>
            <a:endParaRPr lang="en-US" sz="1250" dirty="0"/>
          </a:p>
        </p:txBody>
      </p:sp>
      <p:sp>
        <p:nvSpPr>
          <p:cNvPr id="266" name="Text 63">
            <a:extLst>
              <a:ext uri="{FF2B5EF4-FFF2-40B4-BE49-F238E27FC236}">
                <a16:creationId xmlns:a16="http://schemas.microsoft.com/office/drawing/2014/main" id="{5E06768B-71FE-B3FD-23DF-406DB8A685FE}"/>
              </a:ext>
            </a:extLst>
          </p:cNvPr>
          <p:cNvSpPr/>
          <p:nvPr/>
        </p:nvSpPr>
        <p:spPr>
          <a:xfrm>
            <a:off x="9862820" y="4844542"/>
            <a:ext cx="192024" cy="256032"/>
          </a:xfrm>
          <a:prstGeom prst="rect">
            <a:avLst/>
          </a:prstGeom>
          <a:solidFill>
            <a:srgbClr val="E2E8F0"/>
          </a:solidFill>
          <a:ln>
            <a:solidFill>
              <a:srgbClr val="E2E8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5758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</a:t>
            </a:r>
            <a:endParaRPr lang="en-US" sz="1250" dirty="0"/>
          </a:p>
        </p:txBody>
      </p:sp>
      <p:sp>
        <p:nvSpPr>
          <p:cNvPr id="267" name="Text 64">
            <a:extLst>
              <a:ext uri="{FF2B5EF4-FFF2-40B4-BE49-F238E27FC236}">
                <a16:creationId xmlns:a16="http://schemas.microsoft.com/office/drawing/2014/main" id="{E888F159-2AAA-9263-256A-E08762306566}"/>
              </a:ext>
            </a:extLst>
          </p:cNvPr>
          <p:cNvSpPr/>
          <p:nvPr/>
        </p:nvSpPr>
        <p:spPr>
          <a:xfrm>
            <a:off x="10082276" y="4844542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</a:t>
            </a:r>
            <a:endParaRPr lang="en-US" sz="1250" dirty="0"/>
          </a:p>
        </p:txBody>
      </p:sp>
      <p:sp>
        <p:nvSpPr>
          <p:cNvPr id="268" name="Text 65">
            <a:extLst>
              <a:ext uri="{FF2B5EF4-FFF2-40B4-BE49-F238E27FC236}">
                <a16:creationId xmlns:a16="http://schemas.microsoft.com/office/drawing/2014/main" id="{F7DDBEFF-D278-D539-C98C-BC4041141B66}"/>
              </a:ext>
            </a:extLst>
          </p:cNvPr>
          <p:cNvSpPr/>
          <p:nvPr/>
        </p:nvSpPr>
        <p:spPr>
          <a:xfrm>
            <a:off x="10301732" y="4844542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</a:t>
            </a:r>
            <a:endParaRPr lang="en-US" sz="1250" dirty="0"/>
          </a:p>
        </p:txBody>
      </p:sp>
      <p:sp>
        <p:nvSpPr>
          <p:cNvPr id="269" name="Text 66">
            <a:extLst>
              <a:ext uri="{FF2B5EF4-FFF2-40B4-BE49-F238E27FC236}">
                <a16:creationId xmlns:a16="http://schemas.microsoft.com/office/drawing/2014/main" id="{70614715-D92A-2FEE-1BC2-0F8ABE3E58BB}"/>
              </a:ext>
            </a:extLst>
          </p:cNvPr>
          <p:cNvSpPr/>
          <p:nvPr/>
        </p:nvSpPr>
        <p:spPr>
          <a:xfrm>
            <a:off x="10521188" y="4844542"/>
            <a:ext cx="192024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</a:t>
            </a:r>
            <a:endParaRPr lang="en-US" sz="1250" dirty="0"/>
          </a:p>
        </p:txBody>
      </p:sp>
      <p:sp>
        <p:nvSpPr>
          <p:cNvPr id="270" name="Text 67">
            <a:extLst>
              <a:ext uri="{FF2B5EF4-FFF2-40B4-BE49-F238E27FC236}">
                <a16:creationId xmlns:a16="http://schemas.microsoft.com/office/drawing/2014/main" id="{0A1EC0B5-C42D-DD1C-6762-1C29734327D3}"/>
              </a:ext>
            </a:extLst>
          </p:cNvPr>
          <p:cNvSpPr/>
          <p:nvPr/>
        </p:nvSpPr>
        <p:spPr>
          <a:xfrm>
            <a:off x="9460484" y="545719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B8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gap 区域</a:t>
            </a:r>
            <a:endParaRPr lang="en-US" sz="1050" dirty="0"/>
          </a:p>
        </p:txBody>
      </p:sp>
      <p:sp>
        <p:nvSpPr>
          <p:cNvPr id="272" name="Text 69">
            <a:extLst>
              <a:ext uri="{FF2B5EF4-FFF2-40B4-BE49-F238E27FC236}">
                <a16:creationId xmlns:a16="http://schemas.microsoft.com/office/drawing/2014/main" id="{CA1818E7-7683-18EA-8CA3-81C266C9DA0D}"/>
              </a:ext>
            </a:extLst>
          </p:cNvPr>
          <p:cNvSpPr/>
          <p:nvPr/>
        </p:nvSpPr>
        <p:spPr>
          <a:xfrm>
            <a:off x="744236" y="5767296"/>
            <a:ext cx="10433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6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关键概念</a:t>
            </a:r>
            <a:endParaRPr lang="en-US" sz="1300" dirty="0"/>
          </a:p>
        </p:txBody>
      </p:sp>
      <p:sp>
        <p:nvSpPr>
          <p:cNvPr id="273" name="Text 70">
            <a:extLst>
              <a:ext uri="{FF2B5EF4-FFF2-40B4-BE49-F238E27FC236}">
                <a16:creationId xmlns:a16="http://schemas.microsoft.com/office/drawing/2014/main" id="{8EC115ED-AC0A-5042-7908-DEFE9C065C40}"/>
              </a:ext>
            </a:extLst>
          </p:cNvPr>
          <p:cNvSpPr/>
          <p:nvPr/>
        </p:nvSpPr>
        <p:spPr>
          <a:xfrm>
            <a:off x="721884" y="6113470"/>
            <a:ext cx="10433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MSA 的列不是“第 k 个字符”，而是“第 k 个同源位置”。这点对于后续解释保守性、突变和结构约束非常重要。</a:t>
            </a:r>
            <a:endParaRPr lang="en-US" sz="1220" dirty="0"/>
          </a:p>
        </p:txBody>
      </p:sp>
    </p:spTree>
    <p:extLst>
      <p:ext uri="{BB962C8B-B14F-4D97-AF65-F5344CB8AC3E}">
        <p14:creationId xmlns:p14="http://schemas.microsoft.com/office/powerpoint/2010/main" val="1862058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defTabSz="457200">
              <a:spcBef>
                <a:spcPct val="0"/>
              </a:spcBef>
            </a:pPr>
            <a:r>
              <a:rPr lang="en-US" sz="2800" dirty="0">
                <a:solidFill>
                  <a:schemeClr val="dk2"/>
                </a:solidFill>
                <a:latin typeface="华文中宋"/>
                <a:ea typeface="华文中宋"/>
                <a:cs typeface="+mj-cs"/>
              </a:rPr>
              <a:t>一个简单的 MSA </a:t>
            </a:r>
            <a:r>
              <a:rPr lang="en-US" sz="2800" dirty="0" err="1">
                <a:solidFill>
                  <a:schemeClr val="dk2"/>
                </a:solidFill>
                <a:latin typeface="华文中宋"/>
                <a:ea typeface="华文中宋"/>
                <a:cs typeface="+mj-cs"/>
              </a:rPr>
              <a:t>例子：怎样读保守位点与替换</a:t>
            </a:r>
            <a:endParaRPr lang="en-US" sz="2800" dirty="0">
              <a:solidFill>
                <a:schemeClr val="dk2"/>
              </a:solidFill>
              <a:latin typeface="华文中宋"/>
              <a:ea typeface="华文中宋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155680" y="3474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5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789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575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物种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07008" y="107899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5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651760" y="107899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5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457700" y="107899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5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63640" y="107899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5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069580" y="107899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5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0352" y="14904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Human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07008" y="1417320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568196" y="1417320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929384" y="1417320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90572" y="1417320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51760" y="1417320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012948" y="1417320"/>
            <a:ext cx="329184" cy="329184"/>
          </a:xfrm>
          <a:prstGeom prst="roundRect">
            <a:avLst/>
          </a:prstGeom>
          <a:solidFill>
            <a:srgbClr val="1E73D8"/>
          </a:solidFill>
          <a:ln>
            <a:solidFill>
              <a:srgbClr val="1E73D8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74136" y="1417320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735324" y="1417320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096512" y="1417320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57700" y="1417320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18888" y="1417320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180076" y="1417320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541264" y="1417320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902452" y="1417320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63640" y="1417320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624828" y="1417320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86016" y="1417320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347204" y="1417320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708392" y="1417320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069580" y="1417320"/>
            <a:ext cx="329184" cy="329184"/>
          </a:xfrm>
          <a:prstGeom prst="roundRect">
            <a:avLst/>
          </a:prstGeom>
          <a:solidFill>
            <a:srgbClr val="D9534F"/>
          </a:solidFill>
          <a:ln>
            <a:solidFill>
              <a:srgbClr val="D9534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430768" y="1417320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30352" y="1956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Mouse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207008" y="1883664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568196" y="1883664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929384" y="1883664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2290572" y="1883664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2651760" y="1883664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3012948" y="1883664"/>
            <a:ext cx="329184" cy="329184"/>
          </a:xfrm>
          <a:prstGeom prst="roundRect">
            <a:avLst/>
          </a:prstGeom>
          <a:solidFill>
            <a:srgbClr val="1E73D8"/>
          </a:solidFill>
          <a:ln>
            <a:solidFill>
              <a:srgbClr val="1E73D8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3374136" y="1883664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3735324" y="1883664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4096512" y="1883664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4457700" y="1883664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4818888" y="1883664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180076" y="1883664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5541264" y="1883664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5902452" y="1883664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6263640" y="1883664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6624828" y="1883664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6986016" y="1883664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7347204" y="1883664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7708392" y="1883664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8069580" y="1883664"/>
            <a:ext cx="329184" cy="329184"/>
          </a:xfrm>
          <a:prstGeom prst="roundRect">
            <a:avLst/>
          </a:prstGeom>
          <a:solidFill>
            <a:srgbClr val="D9534F"/>
          </a:solidFill>
          <a:ln>
            <a:solidFill>
              <a:srgbClr val="D9534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8430768" y="1883664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530352" y="24231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Rat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207008" y="2350008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1568196" y="2350008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1929384" y="2350008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2290572" y="2350008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2651760" y="2350008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3012948" y="2350008"/>
            <a:ext cx="329184" cy="329184"/>
          </a:xfrm>
          <a:prstGeom prst="roundRect">
            <a:avLst/>
          </a:prstGeom>
          <a:solidFill>
            <a:srgbClr val="1E73D8"/>
          </a:solidFill>
          <a:ln>
            <a:solidFill>
              <a:srgbClr val="1E73D8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</a:t>
            </a:r>
            <a:endParaRPr lang="en-US" sz="1350" dirty="0"/>
          </a:p>
        </p:txBody>
      </p:sp>
      <p:sp>
        <p:nvSpPr>
          <p:cNvPr id="62" name="Text 60"/>
          <p:cNvSpPr/>
          <p:nvPr/>
        </p:nvSpPr>
        <p:spPr>
          <a:xfrm>
            <a:off x="3374136" y="2350008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3735324" y="2350008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4096512" y="2350008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4457700" y="2350008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4818888" y="2350008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5180076" y="2350008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350" dirty="0"/>
          </a:p>
        </p:txBody>
      </p:sp>
      <p:sp>
        <p:nvSpPr>
          <p:cNvPr id="68" name="Text 66"/>
          <p:cNvSpPr/>
          <p:nvPr/>
        </p:nvSpPr>
        <p:spPr>
          <a:xfrm>
            <a:off x="5541264" y="2350008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5902452" y="2350008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70" name="Text 68"/>
          <p:cNvSpPr/>
          <p:nvPr/>
        </p:nvSpPr>
        <p:spPr>
          <a:xfrm>
            <a:off x="6263640" y="2350008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350" dirty="0"/>
          </a:p>
        </p:txBody>
      </p:sp>
      <p:sp>
        <p:nvSpPr>
          <p:cNvPr id="71" name="Text 69"/>
          <p:cNvSpPr/>
          <p:nvPr/>
        </p:nvSpPr>
        <p:spPr>
          <a:xfrm>
            <a:off x="6624828" y="2350008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6986016" y="2350008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7347204" y="2350008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7708392" y="2350008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8069580" y="2350008"/>
            <a:ext cx="329184" cy="329184"/>
          </a:xfrm>
          <a:prstGeom prst="roundRect">
            <a:avLst/>
          </a:prstGeom>
          <a:solidFill>
            <a:srgbClr val="D9534F"/>
          </a:solidFill>
          <a:ln>
            <a:solidFill>
              <a:srgbClr val="D9534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</a:t>
            </a:r>
            <a:endParaRPr lang="en-US" sz="1350" dirty="0"/>
          </a:p>
        </p:txBody>
      </p:sp>
      <p:sp>
        <p:nvSpPr>
          <p:cNvPr id="76" name="Text 74"/>
          <p:cNvSpPr/>
          <p:nvPr/>
        </p:nvSpPr>
        <p:spPr>
          <a:xfrm>
            <a:off x="8430768" y="2350008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</a:t>
            </a:r>
            <a:endParaRPr lang="en-US" sz="1350" dirty="0"/>
          </a:p>
        </p:txBody>
      </p:sp>
      <p:sp>
        <p:nvSpPr>
          <p:cNvPr id="77" name="Text 75"/>
          <p:cNvSpPr/>
          <p:nvPr/>
        </p:nvSpPr>
        <p:spPr>
          <a:xfrm>
            <a:off x="530352" y="28895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Dog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207008" y="2816352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</a:t>
            </a:r>
            <a:endParaRPr lang="en-US" sz="1350" dirty="0"/>
          </a:p>
        </p:txBody>
      </p:sp>
      <p:sp>
        <p:nvSpPr>
          <p:cNvPr id="79" name="Text 77"/>
          <p:cNvSpPr/>
          <p:nvPr/>
        </p:nvSpPr>
        <p:spPr>
          <a:xfrm>
            <a:off x="1568196" y="2816352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350" dirty="0"/>
          </a:p>
        </p:txBody>
      </p:sp>
      <p:sp>
        <p:nvSpPr>
          <p:cNvPr id="80" name="Text 78"/>
          <p:cNvSpPr/>
          <p:nvPr/>
        </p:nvSpPr>
        <p:spPr>
          <a:xfrm>
            <a:off x="1929384" y="2816352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2290572" y="2816352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</a:t>
            </a:r>
            <a:endParaRPr lang="en-US" sz="1350" dirty="0"/>
          </a:p>
        </p:txBody>
      </p:sp>
      <p:sp>
        <p:nvSpPr>
          <p:cNvPr id="82" name="Text 80"/>
          <p:cNvSpPr/>
          <p:nvPr/>
        </p:nvSpPr>
        <p:spPr>
          <a:xfrm>
            <a:off x="2651760" y="2816352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</a:t>
            </a:r>
            <a:endParaRPr lang="en-US" sz="1350" dirty="0"/>
          </a:p>
        </p:txBody>
      </p:sp>
      <p:sp>
        <p:nvSpPr>
          <p:cNvPr id="83" name="Text 81"/>
          <p:cNvSpPr/>
          <p:nvPr/>
        </p:nvSpPr>
        <p:spPr>
          <a:xfrm>
            <a:off x="3012948" y="2816352"/>
            <a:ext cx="329184" cy="329184"/>
          </a:xfrm>
          <a:prstGeom prst="roundRect">
            <a:avLst/>
          </a:prstGeom>
          <a:solidFill>
            <a:srgbClr val="1E73D8"/>
          </a:solidFill>
          <a:ln>
            <a:solidFill>
              <a:srgbClr val="1E73D8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3374136" y="2816352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85" name="Text 83"/>
          <p:cNvSpPr/>
          <p:nvPr/>
        </p:nvSpPr>
        <p:spPr>
          <a:xfrm>
            <a:off x="3735324" y="2816352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86" name="Text 84"/>
          <p:cNvSpPr/>
          <p:nvPr/>
        </p:nvSpPr>
        <p:spPr>
          <a:xfrm>
            <a:off x="4096512" y="2816352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4457700" y="2816352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88" name="Text 86"/>
          <p:cNvSpPr/>
          <p:nvPr/>
        </p:nvSpPr>
        <p:spPr>
          <a:xfrm>
            <a:off x="4818888" y="2816352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89" name="Text 87"/>
          <p:cNvSpPr/>
          <p:nvPr/>
        </p:nvSpPr>
        <p:spPr>
          <a:xfrm>
            <a:off x="5180076" y="2816352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350" dirty="0"/>
          </a:p>
        </p:txBody>
      </p:sp>
      <p:sp>
        <p:nvSpPr>
          <p:cNvPr id="90" name="Text 88"/>
          <p:cNvSpPr/>
          <p:nvPr/>
        </p:nvSpPr>
        <p:spPr>
          <a:xfrm>
            <a:off x="5541264" y="2816352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91" name="Text 89"/>
          <p:cNvSpPr/>
          <p:nvPr/>
        </p:nvSpPr>
        <p:spPr>
          <a:xfrm>
            <a:off x="5902452" y="2816352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92" name="Text 90"/>
          <p:cNvSpPr/>
          <p:nvPr/>
        </p:nvSpPr>
        <p:spPr>
          <a:xfrm>
            <a:off x="6263640" y="2816352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350" dirty="0"/>
          </a:p>
        </p:txBody>
      </p:sp>
      <p:sp>
        <p:nvSpPr>
          <p:cNvPr id="93" name="Text 91"/>
          <p:cNvSpPr/>
          <p:nvPr/>
        </p:nvSpPr>
        <p:spPr>
          <a:xfrm>
            <a:off x="6624828" y="2816352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50" dirty="0"/>
          </a:p>
        </p:txBody>
      </p:sp>
      <p:sp>
        <p:nvSpPr>
          <p:cNvPr id="94" name="Text 92"/>
          <p:cNvSpPr/>
          <p:nvPr/>
        </p:nvSpPr>
        <p:spPr>
          <a:xfrm>
            <a:off x="6986016" y="2816352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</a:t>
            </a:r>
            <a:endParaRPr lang="en-US" sz="1350" dirty="0"/>
          </a:p>
        </p:txBody>
      </p:sp>
      <p:sp>
        <p:nvSpPr>
          <p:cNvPr id="95" name="Text 93"/>
          <p:cNvSpPr/>
          <p:nvPr/>
        </p:nvSpPr>
        <p:spPr>
          <a:xfrm>
            <a:off x="7347204" y="2816352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</a:t>
            </a:r>
            <a:endParaRPr lang="en-US" sz="1350" dirty="0"/>
          </a:p>
        </p:txBody>
      </p:sp>
      <p:sp>
        <p:nvSpPr>
          <p:cNvPr id="96" name="Text 94"/>
          <p:cNvSpPr/>
          <p:nvPr/>
        </p:nvSpPr>
        <p:spPr>
          <a:xfrm>
            <a:off x="7708392" y="2816352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</a:t>
            </a:r>
            <a:endParaRPr lang="en-US" sz="1350" dirty="0"/>
          </a:p>
        </p:txBody>
      </p:sp>
      <p:sp>
        <p:nvSpPr>
          <p:cNvPr id="97" name="Text 95"/>
          <p:cNvSpPr/>
          <p:nvPr/>
        </p:nvSpPr>
        <p:spPr>
          <a:xfrm>
            <a:off x="8069580" y="2816352"/>
            <a:ext cx="329184" cy="329184"/>
          </a:xfrm>
          <a:prstGeom prst="roundRect">
            <a:avLst/>
          </a:prstGeom>
          <a:solidFill>
            <a:srgbClr val="D9534F"/>
          </a:solidFill>
          <a:ln>
            <a:solidFill>
              <a:srgbClr val="D9534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</a:t>
            </a:r>
            <a:endParaRPr lang="en-US" sz="1350" dirty="0"/>
          </a:p>
        </p:txBody>
      </p:sp>
      <p:sp>
        <p:nvSpPr>
          <p:cNvPr id="98" name="Text 96"/>
          <p:cNvSpPr/>
          <p:nvPr/>
        </p:nvSpPr>
        <p:spPr>
          <a:xfrm>
            <a:off x="8430768" y="2816352"/>
            <a:ext cx="329184" cy="329184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</a:t>
            </a:r>
            <a:endParaRPr lang="en-US" sz="1350" dirty="0"/>
          </a:p>
        </p:txBody>
      </p:sp>
      <p:sp>
        <p:nvSpPr>
          <p:cNvPr id="99" name="Text 97"/>
          <p:cNvSpPr/>
          <p:nvPr/>
        </p:nvSpPr>
        <p:spPr>
          <a:xfrm>
            <a:off x="530352" y="33558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保守性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1207008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6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</a:t>
            </a:r>
            <a:endParaRPr lang="en-US" sz="1350" dirty="0"/>
          </a:p>
        </p:txBody>
      </p:sp>
      <p:sp>
        <p:nvSpPr>
          <p:cNvPr id="101" name="Text 99"/>
          <p:cNvSpPr/>
          <p:nvPr/>
        </p:nvSpPr>
        <p:spPr>
          <a:xfrm>
            <a:off x="1568196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6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</a:t>
            </a:r>
            <a:endParaRPr lang="en-US" sz="1350" dirty="0"/>
          </a:p>
        </p:txBody>
      </p:sp>
      <p:sp>
        <p:nvSpPr>
          <p:cNvPr id="102" name="Text 100"/>
          <p:cNvSpPr/>
          <p:nvPr/>
        </p:nvSpPr>
        <p:spPr>
          <a:xfrm>
            <a:off x="1929384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6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</a:t>
            </a:r>
            <a:endParaRPr lang="en-US" sz="1350" dirty="0"/>
          </a:p>
        </p:txBody>
      </p:sp>
      <p:sp>
        <p:nvSpPr>
          <p:cNvPr id="103" name="Text 101"/>
          <p:cNvSpPr/>
          <p:nvPr/>
        </p:nvSpPr>
        <p:spPr>
          <a:xfrm>
            <a:off x="2290572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6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</a:t>
            </a:r>
            <a:endParaRPr lang="en-US" sz="1350" dirty="0"/>
          </a:p>
        </p:txBody>
      </p:sp>
      <p:sp>
        <p:nvSpPr>
          <p:cNvPr id="104" name="Text 102"/>
          <p:cNvSpPr/>
          <p:nvPr/>
        </p:nvSpPr>
        <p:spPr>
          <a:xfrm>
            <a:off x="2651760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6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</a:t>
            </a:r>
            <a:endParaRPr lang="en-US" sz="1350" dirty="0"/>
          </a:p>
        </p:txBody>
      </p:sp>
      <p:sp>
        <p:nvSpPr>
          <p:cNvPr id="105" name="Text 103"/>
          <p:cNvSpPr/>
          <p:nvPr/>
        </p:nvSpPr>
        <p:spPr>
          <a:xfrm>
            <a:off x="3012948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6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</a:t>
            </a:r>
            <a:endParaRPr lang="en-US" sz="1350" dirty="0"/>
          </a:p>
        </p:txBody>
      </p:sp>
      <p:sp>
        <p:nvSpPr>
          <p:cNvPr id="106" name="Text 104"/>
          <p:cNvSpPr/>
          <p:nvPr/>
        </p:nvSpPr>
        <p:spPr>
          <a:xfrm>
            <a:off x="3374136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6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</a:t>
            </a:r>
            <a:endParaRPr lang="en-US" sz="1350" dirty="0"/>
          </a:p>
        </p:txBody>
      </p:sp>
      <p:sp>
        <p:nvSpPr>
          <p:cNvPr id="107" name="Text 105"/>
          <p:cNvSpPr/>
          <p:nvPr/>
        </p:nvSpPr>
        <p:spPr>
          <a:xfrm>
            <a:off x="3735324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6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</a:t>
            </a:r>
            <a:endParaRPr lang="en-US" sz="1350" dirty="0"/>
          </a:p>
        </p:txBody>
      </p:sp>
      <p:sp>
        <p:nvSpPr>
          <p:cNvPr id="108" name="Text 106"/>
          <p:cNvSpPr/>
          <p:nvPr/>
        </p:nvSpPr>
        <p:spPr>
          <a:xfrm>
            <a:off x="4096512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6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</a:t>
            </a:r>
            <a:endParaRPr lang="en-US" sz="1350" dirty="0"/>
          </a:p>
        </p:txBody>
      </p:sp>
      <p:sp>
        <p:nvSpPr>
          <p:cNvPr id="109" name="Text 107"/>
          <p:cNvSpPr/>
          <p:nvPr/>
        </p:nvSpPr>
        <p:spPr>
          <a:xfrm>
            <a:off x="4457700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6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</a:t>
            </a:r>
            <a:endParaRPr lang="en-US" sz="1350" dirty="0"/>
          </a:p>
        </p:txBody>
      </p:sp>
      <p:sp>
        <p:nvSpPr>
          <p:cNvPr id="110" name="Text 108"/>
          <p:cNvSpPr/>
          <p:nvPr/>
        </p:nvSpPr>
        <p:spPr>
          <a:xfrm>
            <a:off x="4818888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6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</a:t>
            </a:r>
            <a:endParaRPr lang="en-US" sz="1350" dirty="0"/>
          </a:p>
        </p:txBody>
      </p:sp>
      <p:sp>
        <p:nvSpPr>
          <p:cNvPr id="111" name="Text 109"/>
          <p:cNvSpPr/>
          <p:nvPr/>
        </p:nvSpPr>
        <p:spPr>
          <a:xfrm>
            <a:off x="5180076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6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</a:t>
            </a:r>
            <a:endParaRPr lang="en-US" sz="1350" dirty="0"/>
          </a:p>
        </p:txBody>
      </p:sp>
      <p:sp>
        <p:nvSpPr>
          <p:cNvPr id="112" name="Text 110"/>
          <p:cNvSpPr/>
          <p:nvPr/>
        </p:nvSpPr>
        <p:spPr>
          <a:xfrm>
            <a:off x="5541264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6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</a:t>
            </a:r>
            <a:endParaRPr lang="en-US" sz="1350" dirty="0"/>
          </a:p>
        </p:txBody>
      </p:sp>
      <p:sp>
        <p:nvSpPr>
          <p:cNvPr id="113" name="Text 111"/>
          <p:cNvSpPr/>
          <p:nvPr/>
        </p:nvSpPr>
        <p:spPr>
          <a:xfrm>
            <a:off x="5902452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6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</a:t>
            </a:r>
            <a:endParaRPr lang="en-US" sz="1350" dirty="0"/>
          </a:p>
        </p:txBody>
      </p:sp>
      <p:sp>
        <p:nvSpPr>
          <p:cNvPr id="114" name="Text 112"/>
          <p:cNvSpPr/>
          <p:nvPr/>
        </p:nvSpPr>
        <p:spPr>
          <a:xfrm>
            <a:off x="6263640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B8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:</a:t>
            </a:r>
            <a:endParaRPr lang="en-US" sz="1350" dirty="0"/>
          </a:p>
        </p:txBody>
      </p:sp>
      <p:sp>
        <p:nvSpPr>
          <p:cNvPr id="115" name="Text 113"/>
          <p:cNvSpPr/>
          <p:nvPr/>
        </p:nvSpPr>
        <p:spPr>
          <a:xfrm>
            <a:off x="6624828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6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</a:t>
            </a:r>
            <a:endParaRPr lang="en-US" sz="1350" dirty="0"/>
          </a:p>
        </p:txBody>
      </p:sp>
      <p:sp>
        <p:nvSpPr>
          <p:cNvPr id="116" name="Text 114"/>
          <p:cNvSpPr/>
          <p:nvPr/>
        </p:nvSpPr>
        <p:spPr>
          <a:xfrm>
            <a:off x="6986016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6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</a:t>
            </a:r>
            <a:endParaRPr lang="en-US" sz="1350" dirty="0"/>
          </a:p>
        </p:txBody>
      </p:sp>
      <p:sp>
        <p:nvSpPr>
          <p:cNvPr id="117" name="Text 115"/>
          <p:cNvSpPr/>
          <p:nvPr/>
        </p:nvSpPr>
        <p:spPr>
          <a:xfrm>
            <a:off x="7347204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6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</a:t>
            </a:r>
            <a:endParaRPr lang="en-US" sz="1350" dirty="0"/>
          </a:p>
        </p:txBody>
      </p:sp>
      <p:sp>
        <p:nvSpPr>
          <p:cNvPr id="118" name="Text 116"/>
          <p:cNvSpPr/>
          <p:nvPr/>
        </p:nvSpPr>
        <p:spPr>
          <a:xfrm>
            <a:off x="7708392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6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</a:t>
            </a:r>
            <a:endParaRPr lang="en-US" sz="1350" dirty="0"/>
          </a:p>
        </p:txBody>
      </p:sp>
      <p:sp>
        <p:nvSpPr>
          <p:cNvPr id="119" name="Text 117"/>
          <p:cNvSpPr/>
          <p:nvPr/>
        </p:nvSpPr>
        <p:spPr>
          <a:xfrm>
            <a:off x="8069580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B8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:</a:t>
            </a:r>
            <a:endParaRPr lang="en-US" sz="1350" dirty="0"/>
          </a:p>
        </p:txBody>
      </p:sp>
      <p:sp>
        <p:nvSpPr>
          <p:cNvPr id="120" name="Text 118"/>
          <p:cNvSpPr/>
          <p:nvPr/>
        </p:nvSpPr>
        <p:spPr>
          <a:xfrm>
            <a:off x="8430768" y="32826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6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</a:t>
            </a:r>
            <a:endParaRPr lang="en-US" sz="1350" dirty="0"/>
          </a:p>
        </p:txBody>
      </p:sp>
      <p:sp>
        <p:nvSpPr>
          <p:cNvPr id="121" name="Shape 119"/>
          <p:cNvSpPr/>
          <p:nvPr/>
        </p:nvSpPr>
        <p:spPr>
          <a:xfrm>
            <a:off x="960120" y="4160520"/>
            <a:ext cx="48006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861FF">
                <a:alpha val="65000"/>
              </a:srgbClr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161288" y="4325112"/>
            <a:ext cx="4398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61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怎么读？</a:t>
            </a:r>
            <a:endParaRPr lang="en-US" sz="1300" dirty="0"/>
          </a:p>
        </p:txBody>
      </p:sp>
      <p:sp>
        <p:nvSpPr>
          <p:cNvPr id="123" name="Text 121"/>
          <p:cNvSpPr/>
          <p:nvPr/>
        </p:nvSpPr>
        <p:spPr>
          <a:xfrm>
            <a:off x="1161288" y="4663440"/>
            <a:ext cx="4398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“*” 表示该列完全保守；“:” 表示发生了替换，但化学性质相近。保守列通常提示结构或功能约束。</a:t>
            </a:r>
            <a:endParaRPr lang="en-US" sz="1220" dirty="0"/>
          </a:p>
        </p:txBody>
      </p:sp>
      <p:sp>
        <p:nvSpPr>
          <p:cNvPr id="124" name="Shape 122"/>
          <p:cNvSpPr/>
          <p:nvPr/>
        </p:nvSpPr>
        <p:spPr>
          <a:xfrm>
            <a:off x="6172200" y="4160520"/>
            <a:ext cx="4983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B845">
                <a:alpha val="65000"/>
              </a:srgbClr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373368" y="4325112"/>
            <a:ext cx="4581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8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例子中的变化</a:t>
            </a:r>
            <a:endParaRPr lang="en-US" sz="1300" dirty="0"/>
          </a:p>
        </p:txBody>
      </p:sp>
      <p:sp>
        <p:nvSpPr>
          <p:cNvPr id="126" name="Text 124"/>
          <p:cNvSpPr/>
          <p:nvPr/>
        </p:nvSpPr>
        <p:spPr>
          <a:xfrm>
            <a:off x="6373368" y="4663440"/>
            <a:ext cx="4581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↔ V 都是疏水氨基酸；D ↔ E 都是酸性氨基酸。这样的替换通常比疏水 ↔ 带电替换更温和。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457200">
              <a:spcBef>
                <a:spcPct val="0"/>
              </a:spcBef>
              <a:buNone/>
            </a:pPr>
            <a:r>
              <a:rPr lang="en-US" sz="2800" dirty="0" err="1">
                <a:solidFill>
                  <a:schemeClr val="dk2"/>
                </a:solidFill>
                <a:latin typeface="华文中宋"/>
                <a:ea typeface="华文中宋"/>
                <a:cs typeface="+mj-cs"/>
              </a:rPr>
              <a:t>保守性告诉我们：哪些位置可能承担结构或功能约束</a:t>
            </a:r>
            <a:endParaRPr lang="en-US" sz="2800" dirty="0">
              <a:solidFill>
                <a:schemeClr val="dk2"/>
              </a:solidFill>
              <a:latin typeface="华文中宋"/>
              <a:ea typeface="华文中宋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155680" y="3474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5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25296"/>
            <a:ext cx="310896" cy="310896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</a:t>
            </a:r>
            <a:endParaRPr lang="en-US" sz="1280" dirty="0"/>
          </a:p>
        </p:txBody>
      </p:sp>
      <p:sp>
        <p:nvSpPr>
          <p:cNvPr id="6" name="Text 4"/>
          <p:cNvSpPr/>
          <p:nvPr/>
        </p:nvSpPr>
        <p:spPr>
          <a:xfrm>
            <a:off x="1129284" y="1225296"/>
            <a:ext cx="310896" cy="310896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1481328" y="1225296"/>
            <a:ext cx="310896" cy="310896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1833372" y="1225296"/>
            <a:ext cx="310896" cy="310896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2185416" y="1225296"/>
            <a:ext cx="310896" cy="310896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2537460" y="1225296"/>
            <a:ext cx="310896" cy="310896"/>
          </a:xfrm>
          <a:prstGeom prst="roundRect">
            <a:avLst/>
          </a:prstGeom>
          <a:solidFill>
            <a:srgbClr val="1E73D8"/>
          </a:solidFill>
          <a:ln>
            <a:solidFill>
              <a:srgbClr val="1E73D8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2889504" y="1225296"/>
            <a:ext cx="310896" cy="310896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3241548" y="1225296"/>
            <a:ext cx="310896" cy="310896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3593592" y="1225296"/>
            <a:ext cx="310896" cy="310896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3945636" y="1225296"/>
            <a:ext cx="310896" cy="310896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4297680" y="1225296"/>
            <a:ext cx="310896" cy="310896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4649724" y="1225296"/>
            <a:ext cx="310896" cy="310896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5001768" y="1225296"/>
            <a:ext cx="310896" cy="310896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5353812" y="1225296"/>
            <a:ext cx="310896" cy="310896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5705856" y="1225296"/>
            <a:ext cx="310896" cy="310896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6057900" y="1225296"/>
            <a:ext cx="310896" cy="310896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6409944" y="1225296"/>
            <a:ext cx="310896" cy="310896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6761988" y="1225296"/>
            <a:ext cx="310896" cy="310896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7114032" y="1225296"/>
            <a:ext cx="310896" cy="310896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7466076" y="1225296"/>
            <a:ext cx="310896" cy="310896"/>
          </a:xfrm>
          <a:prstGeom prst="roundRect">
            <a:avLst/>
          </a:prstGeom>
          <a:solidFill>
            <a:srgbClr val="D9534F"/>
          </a:solidFill>
          <a:ln>
            <a:solidFill>
              <a:srgbClr val="D9534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7818120" y="1225296"/>
            <a:ext cx="310896" cy="310896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768096" y="1737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5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示例序列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8096" y="21762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5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conservation score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2104" y="2626614"/>
            <a:ext cx="164592" cy="1049274"/>
          </a:xfrm>
          <a:prstGeom prst="rect">
            <a:avLst/>
          </a:prstGeom>
          <a:solidFill>
            <a:srgbClr val="7861FF"/>
          </a:solidFill>
          <a:ln w="12700">
            <a:solidFill>
              <a:srgbClr val="7861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4148" y="2589581"/>
            <a:ext cx="164592" cy="1086307"/>
          </a:xfrm>
          <a:prstGeom prst="rect">
            <a:avLst/>
          </a:prstGeom>
          <a:solidFill>
            <a:srgbClr val="7861FF"/>
          </a:solidFill>
          <a:ln w="12700">
            <a:solidFill>
              <a:srgbClr val="7861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36192" y="2614270"/>
            <a:ext cx="164592" cy="1061618"/>
          </a:xfrm>
          <a:prstGeom prst="rect">
            <a:avLst/>
          </a:prstGeom>
          <a:solidFill>
            <a:srgbClr val="7861FF"/>
          </a:solidFill>
          <a:ln w="12700">
            <a:solidFill>
              <a:srgbClr val="7861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88236" y="2564892"/>
            <a:ext cx="164592" cy="1110996"/>
          </a:xfrm>
          <a:prstGeom prst="rect">
            <a:avLst/>
          </a:prstGeom>
          <a:solidFill>
            <a:srgbClr val="7861FF"/>
          </a:solidFill>
          <a:ln w="12700">
            <a:solidFill>
              <a:srgbClr val="7861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0280" y="2663647"/>
            <a:ext cx="164592" cy="1012241"/>
          </a:xfrm>
          <a:prstGeom prst="rect">
            <a:avLst/>
          </a:prstGeom>
          <a:solidFill>
            <a:srgbClr val="7861FF"/>
          </a:solidFill>
          <a:ln w="12700">
            <a:solidFill>
              <a:srgbClr val="7861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92324" y="2737714"/>
            <a:ext cx="164592" cy="938174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44368" y="2564892"/>
            <a:ext cx="164592" cy="1110996"/>
          </a:xfrm>
          <a:prstGeom prst="rect">
            <a:avLst/>
          </a:prstGeom>
          <a:solidFill>
            <a:srgbClr val="7861FF"/>
          </a:solidFill>
          <a:ln w="12700">
            <a:solidFill>
              <a:srgbClr val="7861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96412" y="2589581"/>
            <a:ext cx="164592" cy="1086307"/>
          </a:xfrm>
          <a:prstGeom prst="rect">
            <a:avLst/>
          </a:prstGeom>
          <a:solidFill>
            <a:srgbClr val="7861FF"/>
          </a:solidFill>
          <a:ln w="12700">
            <a:solidFill>
              <a:srgbClr val="7861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48456" y="2774747"/>
            <a:ext cx="164592" cy="901141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00500" y="2577236"/>
            <a:ext cx="164592" cy="1098652"/>
          </a:xfrm>
          <a:prstGeom prst="rect">
            <a:avLst/>
          </a:prstGeom>
          <a:solidFill>
            <a:srgbClr val="7861FF"/>
          </a:solidFill>
          <a:ln w="12700">
            <a:solidFill>
              <a:srgbClr val="7861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52544" y="2564892"/>
            <a:ext cx="164592" cy="1110996"/>
          </a:xfrm>
          <a:prstGeom prst="rect">
            <a:avLst/>
          </a:prstGeom>
          <a:solidFill>
            <a:srgbClr val="7861FF"/>
          </a:solidFill>
          <a:ln w="12700">
            <a:solidFill>
              <a:srgbClr val="7861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4588" y="2614270"/>
            <a:ext cx="164592" cy="1061618"/>
          </a:xfrm>
          <a:prstGeom prst="rect">
            <a:avLst/>
          </a:prstGeom>
          <a:solidFill>
            <a:srgbClr val="7861FF"/>
          </a:solidFill>
          <a:ln w="12700">
            <a:solidFill>
              <a:srgbClr val="7861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56632" y="2626614"/>
            <a:ext cx="164592" cy="1049274"/>
          </a:xfrm>
          <a:prstGeom prst="rect">
            <a:avLst/>
          </a:prstGeom>
          <a:solidFill>
            <a:srgbClr val="7861FF"/>
          </a:solidFill>
          <a:ln w="12700">
            <a:solidFill>
              <a:srgbClr val="7861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08676" y="2589581"/>
            <a:ext cx="164592" cy="1086307"/>
          </a:xfrm>
          <a:prstGeom prst="rect">
            <a:avLst/>
          </a:prstGeom>
          <a:solidFill>
            <a:srgbClr val="7861FF"/>
          </a:solidFill>
          <a:ln w="12700">
            <a:solidFill>
              <a:srgbClr val="7861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60720" y="3083357"/>
            <a:ext cx="164592" cy="592531"/>
          </a:xfrm>
          <a:prstGeom prst="rect">
            <a:avLst/>
          </a:prstGeom>
          <a:solidFill>
            <a:srgbClr val="F5B845"/>
          </a:solidFill>
          <a:ln w="12700">
            <a:solidFill>
              <a:srgbClr val="F5B845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12764" y="2614270"/>
            <a:ext cx="164592" cy="1061618"/>
          </a:xfrm>
          <a:prstGeom prst="rect">
            <a:avLst/>
          </a:prstGeom>
          <a:solidFill>
            <a:srgbClr val="7861FF"/>
          </a:solidFill>
          <a:ln w="12700">
            <a:solidFill>
              <a:srgbClr val="7861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64808" y="2638958"/>
            <a:ext cx="164592" cy="1036930"/>
          </a:xfrm>
          <a:prstGeom prst="rect">
            <a:avLst/>
          </a:prstGeom>
          <a:solidFill>
            <a:srgbClr val="7861FF"/>
          </a:solidFill>
          <a:ln w="12700">
            <a:solidFill>
              <a:srgbClr val="7861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16852" y="2713025"/>
            <a:ext cx="164592" cy="962863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68896" y="2750058"/>
            <a:ext cx="164592" cy="925830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20940" y="3033979"/>
            <a:ext cx="164592" cy="641909"/>
          </a:xfrm>
          <a:prstGeom prst="rect">
            <a:avLst/>
          </a:prstGeom>
          <a:solidFill>
            <a:srgbClr val="F5B845"/>
          </a:solidFill>
          <a:ln w="12700">
            <a:solidFill>
              <a:srgbClr val="F5B845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72984" y="2700680"/>
            <a:ext cx="164592" cy="975208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7240" y="3730752"/>
            <a:ext cx="7543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" y="4160520"/>
            <a:ext cx="1481328" cy="347472"/>
          </a:xfrm>
          <a:prstGeom prst="round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长疏水片段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68680" y="460857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可能提示 signal peptide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或 transmembrane region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803904" y="4160520"/>
            <a:ext cx="1600200" cy="347472"/>
          </a:xfrm>
          <a:prstGeom prst="roundRect">
            <a:avLst/>
          </a:prstGeom>
          <a:solidFill>
            <a:srgbClr val="7861FF"/>
          </a:solidFill>
          <a:ln>
            <a:solidFill>
              <a:srgbClr val="7861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高度保守位点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858768" y="460857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更可能参与折叠核心、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活性位点或结合界面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903720" y="4160520"/>
            <a:ext cx="1554480" cy="347472"/>
          </a:xfrm>
          <a:prstGeom prst="roundRect">
            <a:avLst/>
          </a:prstGeom>
          <a:solidFill>
            <a:srgbClr val="F5B845"/>
          </a:solidFill>
          <a:ln>
            <a:solidFill>
              <a:srgbClr val="F5B845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可变 / gap 区域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949440" y="46085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常对应 flexible loop，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或物种特异性插入缺失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646920" y="1335024"/>
            <a:ext cx="1874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A6A6">
                <a:alpha val="6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48088" y="1499616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6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读图逻辑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848088" y="1837944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MSA 将每个位置的“进化变异”转化为位置级特征：越保守，越可能被结构或功能约束。</a:t>
            </a:r>
            <a:endParaRPr lang="en-US" sz="1220" dirty="0"/>
          </a:p>
        </p:txBody>
      </p:sp>
      <p:sp>
        <p:nvSpPr>
          <p:cNvPr id="59" name="Shape 57"/>
          <p:cNvSpPr/>
          <p:nvPr/>
        </p:nvSpPr>
        <p:spPr>
          <a:xfrm>
            <a:off x="9646920" y="3703320"/>
            <a:ext cx="187452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534F">
                <a:alpha val="6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848088" y="386791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53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9848088" y="4206240"/>
            <a:ext cx="1472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保守 ≠ 一定功能关键；可变 ≠ 一定不重要。需要结合结构、表达、实验与物种采样共同判断。</a:t>
            </a:r>
            <a:endParaRPr lang="en-US" sz="1220" dirty="0"/>
          </a:p>
        </p:txBody>
      </p:sp>
      <p:sp>
        <p:nvSpPr>
          <p:cNvPr id="62" name="Text 60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5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MSA · Multiple Sequence Alignment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defTabSz="457200">
              <a:spcBef>
                <a:spcPct val="0"/>
              </a:spcBef>
            </a:pPr>
            <a:r>
              <a:rPr lang="en-US" sz="2800" dirty="0" err="1">
                <a:solidFill>
                  <a:schemeClr val="dk2"/>
                </a:solidFill>
                <a:latin typeface="华文中宋"/>
                <a:ea typeface="华文中宋"/>
                <a:cs typeface="+mj-cs"/>
              </a:rPr>
              <a:t>共进化：MSA</a:t>
            </a:r>
            <a:r>
              <a:rPr lang="en-US" sz="2800" dirty="0">
                <a:solidFill>
                  <a:schemeClr val="dk2"/>
                </a:solidFill>
                <a:latin typeface="华文中宋"/>
                <a:ea typeface="华文中宋"/>
                <a:cs typeface="+mj-cs"/>
              </a:rPr>
              <a:t> </a:t>
            </a:r>
            <a:r>
              <a:rPr lang="en-US" sz="2800" dirty="0" err="1">
                <a:solidFill>
                  <a:schemeClr val="dk2"/>
                </a:solidFill>
                <a:latin typeface="华文中宋"/>
                <a:ea typeface="华文中宋"/>
                <a:cs typeface="+mj-cs"/>
              </a:rPr>
              <a:t>还能暗示三维结构中的接触关系</a:t>
            </a:r>
            <a:endParaRPr lang="en-US" sz="2800" dirty="0">
              <a:solidFill>
                <a:schemeClr val="dk2"/>
              </a:solidFill>
              <a:latin typeface="华文中宋"/>
              <a:ea typeface="华文中宋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155680" y="3474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5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78992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如果两个位置在进化中“同步变化”，它们可能在空间上相互接触。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160934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575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species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16093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861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position 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00600" y="16093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A6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position j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6575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Sp1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432304" y="2029968"/>
            <a:ext cx="310896" cy="310896"/>
          </a:xfrm>
          <a:prstGeom prst="roundRect">
            <a:avLst/>
          </a:prstGeom>
          <a:solidFill>
            <a:srgbClr val="7861FF"/>
          </a:solidFill>
          <a:ln>
            <a:solidFill>
              <a:srgbClr val="7861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16352" y="207568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5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············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10912" y="2029968"/>
            <a:ext cx="310896" cy="310896"/>
          </a:xfrm>
          <a:prstGeom prst="roundRect">
            <a:avLst/>
          </a:prstGeom>
          <a:solidFill>
            <a:srgbClr val="1AA6A6"/>
          </a:solidFill>
          <a:ln>
            <a:solidFill>
              <a:srgbClr val="1AA6A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5968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6575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Sp2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432304" y="2523744"/>
            <a:ext cx="310896" cy="310896"/>
          </a:xfrm>
          <a:prstGeom prst="roundRect">
            <a:avLst/>
          </a:prstGeom>
          <a:solidFill>
            <a:srgbClr val="7861FF"/>
          </a:solidFill>
          <a:ln>
            <a:solidFill>
              <a:srgbClr val="7861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16352" y="25694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5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············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10912" y="2523744"/>
            <a:ext cx="310896" cy="310896"/>
          </a:xfrm>
          <a:prstGeom prst="roundRect">
            <a:avLst/>
          </a:prstGeom>
          <a:solidFill>
            <a:srgbClr val="1AA6A6"/>
          </a:solidFill>
          <a:ln>
            <a:solidFill>
              <a:srgbClr val="1AA6A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090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6575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Sp3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432304" y="3017520"/>
            <a:ext cx="310896" cy="310896"/>
          </a:xfrm>
          <a:prstGeom prst="roundRect">
            <a:avLst/>
          </a:prstGeom>
          <a:solidFill>
            <a:srgbClr val="7861FF"/>
          </a:solidFill>
          <a:ln>
            <a:solidFill>
              <a:srgbClr val="7861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16352" y="30632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5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············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10912" y="3017520"/>
            <a:ext cx="310896" cy="310896"/>
          </a:xfrm>
          <a:prstGeom prst="roundRect">
            <a:avLst/>
          </a:prstGeom>
          <a:solidFill>
            <a:srgbClr val="1AA6A6"/>
          </a:solidFill>
          <a:ln>
            <a:solidFill>
              <a:srgbClr val="1AA6A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5844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6575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Sp4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2432304" y="3511296"/>
            <a:ext cx="310896" cy="310896"/>
          </a:xfrm>
          <a:prstGeom prst="roundRect">
            <a:avLst/>
          </a:prstGeom>
          <a:solidFill>
            <a:srgbClr val="7861FF"/>
          </a:solidFill>
          <a:ln>
            <a:solidFill>
              <a:srgbClr val="7861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16352" y="355701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5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············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10912" y="3511296"/>
            <a:ext cx="310896" cy="310896"/>
          </a:xfrm>
          <a:prstGeom prst="roundRect">
            <a:avLst/>
          </a:prstGeom>
          <a:solidFill>
            <a:srgbClr val="1AA6A6"/>
          </a:solidFill>
          <a:ln>
            <a:solidFill>
              <a:srgbClr val="1AA6A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0" y="1828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861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position 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29800" y="1828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A6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position j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06640" y="2212848"/>
            <a:ext cx="621792" cy="621792"/>
          </a:xfrm>
          <a:prstGeom prst="ellipse">
            <a:avLst/>
          </a:prstGeom>
          <a:solidFill>
            <a:srgbClr val="7861FF"/>
          </a:solidFill>
          <a:ln>
            <a:solidFill>
              <a:srgbClr val="7861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11312" y="23774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B84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··········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66960" y="2212848"/>
            <a:ext cx="621792" cy="621792"/>
          </a:xfrm>
          <a:prstGeom prst="ellipse">
            <a:avLst/>
          </a:prstGeom>
          <a:solidFill>
            <a:srgbClr val="1AA6A6"/>
          </a:solidFill>
          <a:ln>
            <a:solidFill>
              <a:srgbClr val="1AA6A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339328" y="27980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B8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共变信号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315200" y="3273552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 i 变，j 也系统性变化，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可能说明二者在 3D 中相互接触。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41248" y="4590288"/>
            <a:ext cx="48006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861FF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2416" y="4754880"/>
            <a:ext cx="4398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61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结构预测中的作用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42416" y="5093208"/>
            <a:ext cx="4398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MSA 提供两类信号：单列保守性说明位置重要性；双列共变性提示残基之间可能接触。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6172200" y="4590288"/>
            <a:ext cx="49834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A6A6">
                <a:alpha val="6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73368" y="4754880"/>
            <a:ext cx="4581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6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 AlphaFold 的关系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73368" y="5093208"/>
            <a:ext cx="4581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AlphaFold2 等结构预测方法会把 MSA 中的演化信息编码成序列特征和 pairwise 特征，用于约束三维结构。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5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MSA · Multiple Sequence Alignment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DD495-2859-6370-E741-1EE3E64D3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6DA76D5E-316D-E53C-9860-292BCA3AAA93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Protein Parameterization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C084A524-3A84-20E6-D59F-70D593276AEF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646199" y="1353326"/>
                <a:ext cx="10683953" cy="4931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Protein backbone consists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𝛼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𝛽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𝑁</m:t>
                    </m:r>
                    <m:r>
                      <a:rPr lang="en-US" sz="20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𝑂</m:t>
                    </m:r>
                  </m:oMath>
                </a14:m>
                <a:r>
                  <a:rPr lang="en-US" altLang="zh-CN" sz="2000" dirty="0">
                    <a:latin typeface="+mn-ea"/>
                  </a:rPr>
                  <a:t> atoms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000" dirty="0">
                    <a:latin typeface="+mn-ea"/>
                  </a:rPr>
                  <a:t>Grey for Carbon, blue for Nitrogen, red for Oxygen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sz="2000" b="0" u="none" strike="noStrike" dirty="0">
                  <a:solidFill>
                    <a:schemeClr val="dk1"/>
                  </a:solidFill>
                  <a:uFillTx/>
                  <a:latin typeface="+mn-ea"/>
                </a:endParaRPr>
              </a:p>
              <a:p>
                <a:pPr marL="0" indent="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None/>
                </a:pPr>
                <a:endParaRPr lang="en-US" sz="2000" dirty="0">
                  <a:solidFill>
                    <a:schemeClr val="dk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C084A524-3A84-20E6-D59F-70D593276A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46199" y="1353326"/>
                <a:ext cx="10683953" cy="4931860"/>
              </a:xfrm>
              <a:prstGeom prst="rect">
                <a:avLst/>
              </a:prstGeom>
              <a:blipFill>
                <a:blip r:embed="rId3"/>
                <a:stretch>
                  <a:fillRect l="-237" t="-51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1C273A7C-0C29-2553-FE63-1EA0CE71C82B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13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A8FCDF9-5957-98AE-96ED-783E54506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670113"/>
            <a:ext cx="7772400" cy="307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5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2CCF0-3D03-8983-E29C-BAA537420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88DF13DF-E07B-2AF1-F57F-C5F278C8745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Protein 3D structure</a:t>
            </a:r>
            <a:r>
              <a:rPr lang="zh-CN" altLang="en-US" sz="2800" dirty="0">
                <a:solidFill>
                  <a:schemeClr val="dk2"/>
                </a:solidFill>
                <a:latin typeface="华文中宋"/>
                <a:ea typeface="华文中宋"/>
              </a:rPr>
              <a:t> </a:t>
            </a: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data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51876AB-CD49-6A57-227F-EE95AE5A539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14</a:t>
            </a:fld>
            <a:endParaRPr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48A2958-1661-E332-2F2A-9DBFF8BE9BD0}"/>
              </a:ext>
            </a:extLst>
          </p:cNvPr>
          <p:cNvSpPr txBox="1"/>
          <p:nvPr/>
        </p:nvSpPr>
        <p:spPr>
          <a:xfrm>
            <a:off x="6026149" y="4125423"/>
            <a:ext cx="5743903" cy="1538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A </a:t>
            </a:r>
            <a:r>
              <a:rPr lang="en-US" altLang="zh-CN" sz="2000" dirty="0" err="1">
                <a:latin typeface="+mn-ea"/>
              </a:rPr>
              <a:t>pdb</a:t>
            </a:r>
            <a:r>
              <a:rPr lang="en-US" altLang="zh-CN" sz="2000" dirty="0">
                <a:latin typeface="+mn-ea"/>
              </a:rPr>
              <a:t> file mainly stores atom coordinates.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Multiple atoms make up an amino acid.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Multiple amino acids make up a chain.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X-ray or cryo-EM</a:t>
            </a:r>
            <a:endParaRPr lang="zh-CN" altLang="en-US" sz="2000" dirty="0">
              <a:latin typeface="+mn-ea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9B660485-A7CA-F015-684D-859A3B0029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2A94A9-EAC0-899A-6EE6-E14A2E8F3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73" y="1790790"/>
            <a:ext cx="5371830" cy="3581220"/>
          </a:xfrm>
          <a:prstGeom prst="rect">
            <a:avLst/>
          </a:prstGeom>
        </p:spPr>
      </p:pic>
      <p:pic>
        <p:nvPicPr>
          <p:cNvPr id="2050" name="Picture 2" descr="solving protein structures ...">
            <a:extLst>
              <a:ext uri="{FF2B5EF4-FFF2-40B4-BE49-F238E27FC236}">
                <a16:creationId xmlns:a16="http://schemas.microsoft.com/office/drawing/2014/main" id="{4E7EB481-7CFA-4A51-3DEA-EFDCDFA02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250" y="1932477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4530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CFF80-E45E-2B94-2B5E-98C7319D7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A3C635B4-CB63-92AE-23F8-CFE0062C10F4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Protein Parameterization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38616543-9F83-D99C-85FC-E7C6AF233805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646200" y="1353326"/>
                <a:ext cx="6879208" cy="550467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Directly use Cartesian coordinates is not ideal. Global rotation or translation changes all coordinates, but the protein itself is same.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Relative geometry inside the residue is almost fixed</a:t>
                </a: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sz="1800" b="0" u="none" strike="noStrike" dirty="0">
                    <a:solidFill>
                      <a:schemeClr val="dk1"/>
                    </a:solidFill>
                    <a:uFillTx/>
                    <a:latin typeface="华文中宋"/>
                    <a:ea typeface="华文中宋"/>
                  </a:rPr>
                  <a:t>Bond length</a:t>
                </a:r>
                <a:r>
                  <a:rPr lang="en-US" sz="18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, b</a:t>
                </a:r>
                <a:r>
                  <a:rPr lang="en-US" sz="1800" b="0" u="none" strike="noStrike" dirty="0">
                    <a:solidFill>
                      <a:schemeClr val="dk1"/>
                    </a:solidFill>
                    <a:uFillTx/>
                    <a:latin typeface="华文中宋"/>
                    <a:ea typeface="华文中宋"/>
                  </a:rPr>
                  <a:t>ond angle, peptide-bond planarity</a:t>
                </a: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sz="18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Each residue(AA) can be regarded as a toy block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To build up the whole protein, need to put blocks in right place!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Per residue(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𝑖</m:t>
                    </m:r>
                  </m:oMath>
                </a14:m>
                <a:r>
                  <a:rPr lang="en-US" altLang="zh-CN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):</a:t>
                </a: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∈ </m:t>
                    </m:r>
                    <m:sSup>
                      <m:sSupPr>
                        <m:ctrlPr>
                          <a:rPr lang="en-US" altLang="zh-CN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dk1"/>
                    </a:solidFill>
                    <a:latin typeface="+mn-ea"/>
                    <a:ea typeface="华文中宋"/>
                  </a:rPr>
                  <a:t>: Translation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𝐶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dk1"/>
                    </a:solidFill>
                    <a:latin typeface="+mn-ea"/>
                    <a:ea typeface="华文中宋"/>
                  </a:rPr>
                  <a:t> position)</a:t>
                </a: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𝑞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𝑆𝑂</m:t>
                    </m:r>
                    <m:r>
                      <a:rPr lang="en-US" altLang="zh-CN" sz="18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(3)</m:t>
                    </m:r>
                  </m:oMath>
                </a14:m>
                <a:r>
                  <a:rPr lang="en-US" altLang="zh-CN" sz="1800" dirty="0">
                    <a:solidFill>
                      <a:schemeClr val="dk1"/>
                    </a:solidFill>
                    <a:latin typeface="+mn-ea"/>
                    <a:ea typeface="华文中宋"/>
                  </a:rPr>
                  <a:t>: Rotation (Orientation)</a:t>
                </a:r>
                <a:endParaRPr lang="en-US" sz="2000" dirty="0">
                  <a:solidFill>
                    <a:schemeClr val="dk1"/>
                  </a:solidFill>
                  <a:latin typeface="华文中宋"/>
                  <a:ea typeface="华文中宋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Full backbone: </a:t>
                </a:r>
              </a:p>
              <a:p>
                <a:pPr marL="0" indent="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None/>
                </a:pPr>
                <a:endParaRPr lang="en-US" sz="2600" dirty="0">
                  <a:solidFill>
                    <a:schemeClr val="dk1"/>
                  </a:solidFill>
                  <a:latin typeface="+mn-ea"/>
                  <a:ea typeface="华文中宋"/>
                </a:endParaRPr>
              </a:p>
            </p:txBody>
          </p:sp>
        </mc:Choice>
        <mc:Fallback xmlns="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38616543-9F83-D99C-85FC-E7C6AF2338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46200" y="1353326"/>
                <a:ext cx="6879208" cy="5504674"/>
              </a:xfrm>
              <a:prstGeom prst="rect">
                <a:avLst/>
              </a:prstGeom>
              <a:blipFill>
                <a:blip r:embed="rId3"/>
                <a:stretch>
                  <a:fillRect l="-368" t="-461" r="-92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9A8C641B-5B4C-7F9E-A62E-D52C047A59B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15</a:t>
            </a:fld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BBB296-5819-30D9-E993-A9A6CF7C3D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408" y="1736239"/>
            <a:ext cx="4481393" cy="384663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71E59FB-F60A-F7FC-C942-7F7679E897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6088" y="5972934"/>
            <a:ext cx="1475608" cy="43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57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7FFAA-81C6-0BEE-F1A7-0FEC3F90CE90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CN" dirty="0"/>
              <a:t>The goal is still to recover the 3D structure from a sequence</a:t>
            </a:r>
          </a:p>
          <a:p>
            <a:endParaRPr lang="en-US" altLang="zh-CN" dirty="0"/>
          </a:p>
          <a:p>
            <a:r>
              <a:rPr lang="en-US" altLang="zh-CN" dirty="0"/>
              <a:t>Spatial structure determines the biological function</a:t>
            </a:r>
          </a:p>
          <a:p>
            <a:endParaRPr lang="en-US" altLang="zh-CN" dirty="0"/>
          </a:p>
          <a:p>
            <a:r>
              <a:rPr lang="en-US" altLang="zh-CN" dirty="0"/>
              <a:t>The challenge is that we understand little about the underlying chemistry/physics mechanism</a:t>
            </a:r>
          </a:p>
          <a:p>
            <a:endParaRPr lang="en-US" altLang="zh-CN" dirty="0"/>
          </a:p>
          <a:p>
            <a:r>
              <a:rPr lang="en-US" altLang="zh-CN" dirty="0"/>
              <a:t>Previous methods</a:t>
            </a:r>
            <a:r>
              <a:rPr lang="zh-CN" altLang="en-US" dirty="0"/>
              <a:t>： </a:t>
            </a:r>
            <a:r>
              <a:rPr lang="en-US" altLang="zh-CN" dirty="0"/>
              <a:t>Calculate the lowest </a:t>
            </a:r>
            <a:r>
              <a:rPr lang="en-GB" altLang="zh-CN" dirty="0"/>
              <a:t>Energy Function in Protein Folding</a:t>
            </a:r>
            <a:r>
              <a:rPr lang="en-US" altLang="zh-CN" dirty="0"/>
              <a:t> </a:t>
            </a:r>
          </a:p>
          <a:p>
            <a:endParaRPr lang="zh-CN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57A4FF8-13D2-39FA-A2F6-CD54F0F2E902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/>
          <a:lstStyle/>
          <a:p>
            <a:r>
              <a:rPr lang="en-US" altLang="zh-CN" sz="44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Scientific goal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3325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protein folding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1115568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is more than a classification task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1920240" cy="822960"/>
          </a:xfrm>
          <a:prstGeom prst="rect">
            <a:avLst/>
          </a:prstGeom>
          <a:solidFill>
            <a:srgbClr val="EAF3FF"/>
          </a:solidFill>
          <a:ln w="15240">
            <a:solidFill>
              <a:srgbClr val="1E5A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Amino acid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D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91840" y="1965960"/>
            <a:ext cx="2240280" cy="822960"/>
          </a:xfrm>
          <a:prstGeom prst="rect">
            <a:avLst/>
          </a:prstGeom>
          <a:solidFill>
            <a:srgbClr val="E8FFFB"/>
          </a:solidFill>
          <a:ln w="15240">
            <a:solidFill>
              <a:srgbClr val="00A7A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and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D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evolutionary constraints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1965960"/>
            <a:ext cx="1920240" cy="822960"/>
          </a:xfrm>
          <a:prstGeom prst="rect">
            <a:avLst/>
          </a:prstGeom>
          <a:solidFill>
            <a:srgbClr val="F2ECFF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Folded 3D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D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15400" y="1965960"/>
            <a:ext cx="1920240" cy="822960"/>
          </a:xfrm>
          <a:prstGeom prst="rect">
            <a:avLst/>
          </a:prstGeom>
          <a:solidFill>
            <a:srgbClr val="FFF7D6"/>
          </a:solidFill>
          <a:ln w="15240">
            <a:solidFill>
              <a:srgbClr val="F4A26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Biological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D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97480" y="2377440"/>
            <a:ext cx="502920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23560" y="2377440"/>
            <a:ext cx="548640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75320" y="2377440"/>
            <a:ext cx="548640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77240" y="3703320"/>
            <a:ext cx="2880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K T A Y I A K Q R ...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7490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670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343400" y="3703320"/>
            <a:ext cx="3291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coordinates, residue contacts, confidence scores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670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66760" y="3703320"/>
            <a:ext cx="2971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txBody>
          <a:bodyPr wrap="square" lIns="1524" tIns="1524" rIns="1524" bIns="152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mechanism, binding, design, disease interpretation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5532120"/>
            <a:ext cx="9784080" cy="384048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point: unlike MNIST, the target is not a label. The model must predict spatial geometry.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Existing efforts before modern deep learning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1115568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data sources, different assumptions, different bottlenecks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2743200" cy="41148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37560" y="1444752"/>
            <a:ext cx="2971800" cy="41148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data used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444752"/>
            <a:ext cx="5212080" cy="41148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contributes / limitation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56232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D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Experimental structural biology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3337560" y="1856232"/>
            <a:ext cx="2971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X-ray crystallography, NMR, cryo-EM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6309360" y="1856232"/>
            <a:ext cx="5212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Directly determine structures; accurate but slow, costly, and not fully scalable.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594360" y="2633472"/>
            <a:ext cx="2743200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D7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D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Physics-based modeling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3337560" y="2633472"/>
            <a:ext cx="2971800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D7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functions and molecular simulation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6309360" y="2633472"/>
            <a:ext cx="5212080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D7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for the lowest-energy conformation; conformational space is enormous.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594360" y="3410712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D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Homology / template modeling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3337560" y="3410712"/>
            <a:ext cx="2971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structures of related proteins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6309360" y="3410712"/>
            <a:ext cx="5212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well with close templates; weaker for novel folds or distant homologs.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594360" y="4187952"/>
            <a:ext cx="2743200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D7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D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Co-evolution / contact prediction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3337560" y="4187952"/>
            <a:ext cx="2971800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D7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sequence alignments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6309360" y="4187952"/>
            <a:ext cx="5212080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D7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Correlated mutations suggest residue-residue contacts; needs many related sequences.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594360" y="4965192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D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/ AlphaFold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3337560" y="4965192"/>
            <a:ext cx="2971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Sequence, MSA, pair representations, geometry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6309360" y="4965192"/>
            <a:ext cx="5212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structural constraints from large data; still requires biological validation.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731520" y="5989320"/>
            <a:ext cx="10744200" cy="384048"/>
          </a:xfrm>
          <a:prstGeom prst="rect">
            <a:avLst/>
          </a:prstGeom>
          <a:solidFill>
            <a:srgbClr val="E8FFFB"/>
          </a:solidFill>
          <a:ln w="12700">
            <a:solidFill>
              <a:srgbClr val="E8FFFB"/>
            </a:solidFill>
          </a:ln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line: progress came from combining physical insight, evolutionary information, benchmarks, and statistical learning.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4E6B4-081C-56C7-B2D6-AAEEABC55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>
            <a:extLst>
              <a:ext uri="{FF2B5EF4-FFF2-40B4-BE49-F238E27FC236}">
                <a16:creationId xmlns:a16="http://schemas.microsoft.com/office/drawing/2014/main" id="{43158D43-66F7-1DCB-412D-CE2B3C3D3CD1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19</a:t>
            </a:fld>
            <a:endParaRPr dirty="0"/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FA95CD3D-C749-63A6-9F5B-BE63475B608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771" y="3722914"/>
            <a:ext cx="9403560" cy="142602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r>
              <a:rPr lang="en-US" sz="3200" b="1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AlphaFold</a:t>
            </a:r>
          </a:p>
        </p:txBody>
      </p:sp>
    </p:spTree>
    <p:extLst>
      <p:ext uri="{BB962C8B-B14F-4D97-AF65-F5344CB8AC3E}">
        <p14:creationId xmlns:p14="http://schemas.microsoft.com/office/powerpoint/2010/main" val="3222555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09F2F-2369-EB04-1273-38D4C1DAC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>
            <a:extLst>
              <a:ext uri="{FF2B5EF4-FFF2-40B4-BE49-F238E27FC236}">
                <a16:creationId xmlns:a16="http://schemas.microsoft.com/office/drawing/2014/main" id="{5CECBB1E-3D13-71CE-C3AC-D4F544505878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20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EA17105-98D2-7316-3D42-77B49BE84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43" y="881743"/>
            <a:ext cx="5279571" cy="52795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4142E8C-7C45-9496-D39E-11461D1F9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288" y="1668649"/>
            <a:ext cx="4984312" cy="370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241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A0AD2-907E-F075-9810-40B371727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31470CC7-98F6-E1D9-5D3B-6DEF05666E0B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From sequence to structure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EF0BBEA2-4242-81A9-E32A-12C2036A5A5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200" y="4336397"/>
            <a:ext cx="9847629" cy="170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Alphafold2 predicts all heavy-atoms. 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Translation and rotation for backbone,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4 torsion angles for side chain. 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97E0E399-6100-DD83-283C-435E1266C8BF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21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F7AB204-85DC-6E43-32F1-B92E87914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771" y="1476098"/>
            <a:ext cx="7772400" cy="209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383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B0208-74D5-23C9-BC62-B8BCC3D52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3C3320A2-B7E6-5B8C-F8E0-2E5630B4316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Model structure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7C74CF8B-3B45-1B69-4B29-F50A739D3AB5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22</a:t>
            </a:fld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B308C4-D7B4-ECF2-2F47-E9F06DBDE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923525"/>
            <a:ext cx="7772400" cy="274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5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8A1CE-28F7-5AED-CB83-1489D9019EC7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544600" y="383030"/>
            <a:ext cx="9404280" cy="720000"/>
          </a:xfrm>
        </p:spPr>
        <p:txBody>
          <a:bodyPr/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Progress in Large Language Model</a:t>
            </a:r>
            <a:endParaRPr lang="zh-CN" altLang="en-US" sz="2800" dirty="0">
              <a:solidFill>
                <a:schemeClr val="dk2"/>
              </a:solidFill>
              <a:latin typeface="华文中宋"/>
              <a:ea typeface="华文中宋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5F4CF-4B8E-5C82-2E2B-06C3114296DD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Before moving to the </a:t>
            </a:r>
            <a:r>
              <a:rPr lang="en-US" altLang="zh-CN" dirty="0" err="1"/>
              <a:t>Alphafold</a:t>
            </a:r>
            <a:r>
              <a:rPr lang="en-US" altLang="zh-CN" dirty="0"/>
              <a:t>, let’s talk about progress in LLM</a:t>
            </a:r>
          </a:p>
          <a:p>
            <a:endParaRPr lang="en-US" altLang="zh-CN" dirty="0"/>
          </a:p>
          <a:p>
            <a:r>
              <a:rPr lang="en-GB" altLang="zh-CN" dirty="0"/>
              <a:t>Biological sequence models borrowed this idea: choose meaningful units, convert them to embeddings, and learn context-dependent representations.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TextBox 43">
            <a:extLst>
              <a:ext uri="{FF2B5EF4-FFF2-40B4-BE49-F238E27FC236}">
                <a16:creationId xmlns:a16="http://schemas.microsoft.com/office/drawing/2014/main" id="{68956DC2-AFF9-AA57-DC9E-7272855A5153}"/>
              </a:ext>
            </a:extLst>
          </p:cNvPr>
          <p:cNvSpPr txBox="1"/>
          <p:nvPr/>
        </p:nvSpPr>
        <p:spPr>
          <a:xfrm>
            <a:off x="609600" y="3268980"/>
            <a:ext cx="10972800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142A56"/>
                </a:solidFill>
                <a:latin typeface="Apto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4430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B175D-F811-9DAC-4D45-F10AFDA76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2">
            <a:extLst>
              <a:ext uri="{FF2B5EF4-FFF2-40B4-BE49-F238E27FC236}">
                <a16:creationId xmlns:a16="http://schemas.microsoft.com/office/drawing/2014/main" id="{BDAEB770-15D6-7E62-90C7-2A2DC960CA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771" y="3722914"/>
            <a:ext cx="9403560" cy="142602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r>
              <a:rPr lang="en-US" altLang="zh-CN" sz="3200" b="1" dirty="0">
                <a:solidFill>
                  <a:schemeClr val="dk1"/>
                </a:solidFill>
                <a:latin typeface="华文中宋"/>
                <a:ea typeface="华文中宋"/>
              </a:rPr>
              <a:t>Autoregressive models(GPT)</a:t>
            </a:r>
            <a:endParaRPr lang="en-US" sz="3200" b="1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46592F42-40CE-7964-9684-D77F52617D4C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67412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5C78D-D392-43A2-64C0-547FB5249E8E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/>
          <a:lstStyle/>
          <a:p>
            <a:r>
              <a:rPr lang="en-GB" altLang="zh-CN" b="0" dirty="0">
                <a:solidFill>
                  <a:srgbClr val="202124"/>
                </a:solidFill>
                <a:effectLst/>
                <a:latin typeface="Google Sans"/>
              </a:rPr>
              <a:t>What is a language model</a:t>
            </a:r>
            <a:br>
              <a:rPr lang="en-GB" altLang="zh-CN" b="0" dirty="0">
                <a:solidFill>
                  <a:srgbClr val="202124"/>
                </a:solidFill>
                <a:effectLst/>
                <a:latin typeface="Google Sans"/>
              </a:rPr>
            </a:br>
            <a:endParaRPr lang="zh-CN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EF2A9E-592A-90E8-A18A-7835BEC6FD25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3" y="1948175"/>
            <a:ext cx="9404350" cy="3799850"/>
          </a:xfrm>
        </p:spPr>
      </p:pic>
    </p:spTree>
    <p:extLst>
      <p:ext uri="{BB962C8B-B14F-4D97-AF65-F5344CB8AC3E}">
        <p14:creationId xmlns:p14="http://schemas.microsoft.com/office/powerpoint/2010/main" val="2341410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F226E-48D4-CB94-74AF-DD2EFDC30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A8142ECE-5A4F-229A-D5AB-11C01C606A8B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Auto Regressive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623C987B-16F5-9BE0-90E0-5C7908D2F77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200" y="1447920"/>
            <a:ext cx="10757524" cy="512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Autoregressive model: generate data token by token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Key idea: predict the next token from previous tokens</a:t>
            </a:r>
            <a:endParaRPr lang="en-US" sz="2000" b="0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AR: 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20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endParaRPr lang="en-US" sz="20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Just like how we talk. During training, model learns to predict next word(token). During inference, recursively predict next token.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B8338683-FE85-7B6D-23C2-ABF26F88B4DF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26</a:t>
            </a:fld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20B03EC-FF88-5FD5-5462-7EB85D811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745" y="4523942"/>
            <a:ext cx="2857500" cy="64943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4F7D1FB-56F3-5211-59B6-CF69754A1B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82" y="2947905"/>
            <a:ext cx="6355036" cy="34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621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AD4F6-2B55-626B-79DF-987F931AC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969A3086-F35C-F0E5-7DC1-2C3CC027BEEB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Token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E11606C2-EE77-F7A6-6B49-30B8FD67822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920" y="1347098"/>
            <a:ext cx="9403560" cy="541105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A token is the basic unit processed by the model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Text: words or </a:t>
            </a:r>
            <a:r>
              <a:rPr lang="en-US" altLang="zh-CN" sz="1800" dirty="0" err="1">
                <a:solidFill>
                  <a:schemeClr val="dk1"/>
                </a:solidFill>
                <a:latin typeface="华文中宋"/>
                <a:ea typeface="华文中宋"/>
              </a:rPr>
              <a:t>subwords</a:t>
            </a:r>
            <a:endParaRPr lang="en-US" altLang="zh-CN" sz="18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Protein: amino acids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DNA / RNA: nucleotides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Single-cell data: genes can be treated as token-like units</a:t>
            </a:r>
            <a:endParaRPr lang="en-US" altLang="zh-CN" sz="26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b="1" dirty="0">
                <a:solidFill>
                  <a:schemeClr val="dk1"/>
                </a:solidFill>
                <a:latin typeface="华文中宋"/>
                <a:ea typeface="华文中宋"/>
              </a:rPr>
              <a:t>Tokenizer</a:t>
            </a: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 turns sentence into tokens: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Try on </a:t>
            </a: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  <a:hlinkClick r:id="rId3"/>
              </a:rPr>
              <a:t>https://platform.openai.com/tokenizer</a:t>
            </a: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 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9A3405E-AF1C-6AD3-8F69-776B7C8FF03C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27</a:t>
            </a:fld>
            <a:endParaRPr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CCD2F45-00DA-7565-62BD-ACD116E31E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60" y="3869079"/>
            <a:ext cx="5649496" cy="209330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0EB689E-F026-6833-FDB9-EE8BF612F8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455" y="3869078"/>
            <a:ext cx="5576935" cy="209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6420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BA083-FE3C-E577-F7D4-2054AFAD7CEC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/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Token</a:t>
            </a:r>
            <a:endParaRPr lang="zh-CN" altLang="en-US" sz="2800" dirty="0">
              <a:solidFill>
                <a:schemeClr val="dk2"/>
              </a:solidFill>
              <a:latin typeface="华文中宋"/>
              <a:ea typeface="华文中宋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5B987-E7C7-18D2-67B3-7DF2B6EEC9B7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873FC2-2F10-D1B7-0AE8-058BA04DC2A2}"/>
              </a:ext>
            </a:extLst>
          </p:cNvPr>
          <p:cNvSpPr/>
          <p:nvPr/>
        </p:nvSpPr>
        <p:spPr>
          <a:xfrm>
            <a:off x="152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31376A-5AE4-473B-A705-1764E95EEDD2}"/>
              </a:ext>
            </a:extLst>
          </p:cNvPr>
          <p:cNvSpPr/>
          <p:nvPr/>
        </p:nvSpPr>
        <p:spPr>
          <a:xfrm>
            <a:off x="152" y="0"/>
            <a:ext cx="109728" cy="6858000"/>
          </a:xfrm>
          <a:prstGeom prst="rect">
            <a:avLst/>
          </a:prstGeom>
          <a:solidFill>
            <a:srgbClr val="008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7C423551-1517-95C6-D0C3-697EF0F857A8}"/>
              </a:ext>
            </a:extLst>
          </p:cNvPr>
          <p:cNvSpPr txBox="1"/>
          <p:nvPr/>
        </p:nvSpPr>
        <p:spPr>
          <a:xfrm>
            <a:off x="503072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 b="1">
                <a:solidFill>
                  <a:srgbClr val="142A56"/>
                </a:solidFill>
                <a:latin typeface="Aptos Display"/>
              </a:defRPr>
            </a:pPr>
            <a:r>
              <a:t>2. Tokenization in large language models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DE94675C-2935-DAE1-23C7-7E191796DBB6}"/>
              </a:ext>
            </a:extLst>
          </p:cNvPr>
          <p:cNvSpPr/>
          <p:nvPr/>
        </p:nvSpPr>
        <p:spPr>
          <a:xfrm>
            <a:off x="640232" y="1325880"/>
            <a:ext cx="3474720" cy="4389120"/>
          </a:xfrm>
          <a:prstGeom prst="roundRect">
            <a:avLst/>
          </a:prstGeom>
          <a:solidFill>
            <a:srgbClr val="E3F1F9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80139D0B-6EE5-655B-EDFA-F5C8DFA4DDEF}"/>
              </a:ext>
            </a:extLst>
          </p:cNvPr>
          <p:cNvSpPr txBox="1"/>
          <p:nvPr/>
        </p:nvSpPr>
        <p:spPr>
          <a:xfrm>
            <a:off x="868832" y="1536192"/>
            <a:ext cx="301752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 b="1">
                <a:solidFill>
                  <a:srgbClr val="142A56"/>
                </a:solidFill>
                <a:latin typeface="Aptos"/>
              </a:defRPr>
            </a:pPr>
            <a:r>
              <a:t>Word-level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D2D7F95B-2886-D0B9-51E4-CBCA7F4F0E3F}"/>
              </a:ext>
            </a:extLst>
          </p:cNvPr>
          <p:cNvSpPr txBox="1"/>
          <p:nvPr/>
        </p:nvSpPr>
        <p:spPr>
          <a:xfrm>
            <a:off x="868832" y="1920240"/>
            <a:ext cx="29260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 b="0">
                <a:solidFill>
                  <a:srgbClr val="5F666E"/>
                </a:solidFill>
                <a:latin typeface="Consolas"/>
              </a:defRPr>
            </a:pPr>
            <a:r>
              <a:t>"biomedical applications"</a:t>
            </a: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95609372-7667-3D50-C6A4-846B372DD844}"/>
              </a:ext>
            </a:extLst>
          </p:cNvPr>
          <p:cNvSpPr/>
          <p:nvPr/>
        </p:nvSpPr>
        <p:spPr>
          <a:xfrm>
            <a:off x="868832" y="2606040"/>
            <a:ext cx="134416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DD770121-9012-EC24-ADB0-08C49D15403F}"/>
              </a:ext>
            </a:extLst>
          </p:cNvPr>
          <p:cNvSpPr txBox="1"/>
          <p:nvPr/>
        </p:nvSpPr>
        <p:spPr>
          <a:xfrm>
            <a:off x="887120" y="269748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142A56"/>
                </a:solidFill>
                <a:latin typeface="Consolas"/>
              </a:defRPr>
            </a:pPr>
            <a:r>
              <a:t>biomedical</a:t>
            </a:r>
          </a:p>
        </p:txBody>
      </p: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497C5C52-7615-A7BF-29BC-5C3CB4C8BCFB}"/>
              </a:ext>
            </a:extLst>
          </p:cNvPr>
          <p:cNvSpPr/>
          <p:nvPr/>
        </p:nvSpPr>
        <p:spPr>
          <a:xfrm>
            <a:off x="2267864" y="2606040"/>
            <a:ext cx="134416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094D36BE-0EC9-2A1C-77B5-583629C28223}"/>
              </a:ext>
            </a:extLst>
          </p:cNvPr>
          <p:cNvSpPr txBox="1"/>
          <p:nvPr/>
        </p:nvSpPr>
        <p:spPr>
          <a:xfrm>
            <a:off x="2286152" y="2697480"/>
            <a:ext cx="1307592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142A56"/>
                </a:solidFill>
                <a:latin typeface="Consolas"/>
              </a:defRPr>
            </a:pPr>
            <a:r>
              <a:t>applications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49B79B71-4CAA-007E-10AD-C77A38B7056A}"/>
              </a:ext>
            </a:extLst>
          </p:cNvPr>
          <p:cNvSpPr txBox="1"/>
          <p:nvPr/>
        </p:nvSpPr>
        <p:spPr>
          <a:xfrm>
            <a:off x="868832" y="3337560"/>
            <a:ext cx="2743200" cy="1325880"/>
          </a:xfrm>
          <a:prstGeom prst="rect">
            <a:avLst/>
          </a:prstGeom>
          <a:noFill/>
        </p:spPr>
        <p:txBody>
          <a:bodyPr wrap="square" lIns="54864" tIns="36576" rIns="54864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>
                <a:solidFill>
                  <a:srgbClr val="5F666E"/>
                </a:solidFill>
                <a:latin typeface="Aptos"/>
              </a:defRPr>
            </a:pPr>
            <a:r>
              <a:t>• simple</a:t>
            </a:r>
          </a:p>
          <a:p>
            <a:pPr>
              <a:spcAft>
                <a:spcPts val="300"/>
              </a:spcAft>
              <a:defRPr sz="1300">
                <a:solidFill>
                  <a:srgbClr val="5F666E"/>
                </a:solidFill>
                <a:latin typeface="Aptos"/>
              </a:defRPr>
            </a:pPr>
            <a:r>
              <a:t>• large vocabulary</a:t>
            </a:r>
          </a:p>
          <a:p>
            <a:pPr>
              <a:spcAft>
                <a:spcPts val="300"/>
              </a:spcAft>
              <a:defRPr sz="1300">
                <a:solidFill>
                  <a:srgbClr val="5F666E"/>
                </a:solidFill>
                <a:latin typeface="Aptos"/>
              </a:defRPr>
            </a:pPr>
            <a:r>
              <a:t>• bad for rare words</a:t>
            </a:r>
          </a:p>
        </p:txBody>
      </p:sp>
      <p:sp>
        <p:nvSpPr>
          <p:cNvPr id="16" name="Rounded Rectangle 13">
            <a:extLst>
              <a:ext uri="{FF2B5EF4-FFF2-40B4-BE49-F238E27FC236}">
                <a16:creationId xmlns:a16="http://schemas.microsoft.com/office/drawing/2014/main" id="{C4D8F62C-6E5B-71E7-3B8E-1141853E6DE8}"/>
              </a:ext>
            </a:extLst>
          </p:cNvPr>
          <p:cNvSpPr/>
          <p:nvPr/>
        </p:nvSpPr>
        <p:spPr>
          <a:xfrm>
            <a:off x="4389272" y="1325880"/>
            <a:ext cx="3474720" cy="4389120"/>
          </a:xfrm>
          <a:prstGeom prst="roundRect">
            <a:avLst/>
          </a:prstGeom>
          <a:solidFill>
            <a:srgbClr val="E6F6EF"/>
          </a:solidFill>
          <a:ln w="15240">
            <a:solidFill>
              <a:srgbClr val="21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CAE9580E-9D3F-8A81-1972-7EF2262E2B9E}"/>
              </a:ext>
            </a:extLst>
          </p:cNvPr>
          <p:cNvSpPr txBox="1"/>
          <p:nvPr/>
        </p:nvSpPr>
        <p:spPr>
          <a:xfrm>
            <a:off x="4617872" y="1536192"/>
            <a:ext cx="301752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 b="1">
                <a:solidFill>
                  <a:srgbClr val="142A56"/>
                </a:solidFill>
                <a:latin typeface="Aptos"/>
              </a:defRPr>
            </a:pPr>
            <a:r>
              <a:t>Character-level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038F5285-C32F-BE94-D053-D6CD2DA3527D}"/>
              </a:ext>
            </a:extLst>
          </p:cNvPr>
          <p:cNvSpPr txBox="1"/>
          <p:nvPr/>
        </p:nvSpPr>
        <p:spPr>
          <a:xfrm>
            <a:off x="4617872" y="1920240"/>
            <a:ext cx="29260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 b="0">
                <a:solidFill>
                  <a:srgbClr val="5F666E"/>
                </a:solidFill>
                <a:latin typeface="Consolas"/>
              </a:defRPr>
            </a:pPr>
            <a:r>
              <a:t>"biology"</a:t>
            </a:r>
          </a:p>
        </p:txBody>
      </p:sp>
      <p:sp>
        <p:nvSpPr>
          <p:cNvPr id="19" name="Rounded Rectangle 16">
            <a:extLst>
              <a:ext uri="{FF2B5EF4-FFF2-40B4-BE49-F238E27FC236}">
                <a16:creationId xmlns:a16="http://schemas.microsoft.com/office/drawing/2014/main" id="{C545757C-AFE1-0DFE-A5E7-5B5CA3122D88}"/>
              </a:ext>
            </a:extLst>
          </p:cNvPr>
          <p:cNvSpPr/>
          <p:nvPr/>
        </p:nvSpPr>
        <p:spPr>
          <a:xfrm>
            <a:off x="4617872" y="2606040"/>
            <a:ext cx="344859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ED3D12ED-2874-57B0-C7A7-3B2045199CC9}"/>
              </a:ext>
            </a:extLst>
          </p:cNvPr>
          <p:cNvSpPr txBox="1"/>
          <p:nvPr/>
        </p:nvSpPr>
        <p:spPr>
          <a:xfrm>
            <a:off x="4636159" y="2697480"/>
            <a:ext cx="308283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142A56"/>
                </a:solidFill>
                <a:latin typeface="Consolas"/>
              </a:defRPr>
            </a:pPr>
            <a:r>
              <a:t>b</a:t>
            </a:r>
          </a:p>
        </p:txBody>
      </p:sp>
      <p:sp>
        <p:nvSpPr>
          <p:cNvPr id="21" name="Rounded Rectangle 18">
            <a:extLst>
              <a:ext uri="{FF2B5EF4-FFF2-40B4-BE49-F238E27FC236}">
                <a16:creationId xmlns:a16="http://schemas.microsoft.com/office/drawing/2014/main" id="{44A34144-1F51-88D9-CD37-B2388BBCC8F0}"/>
              </a:ext>
            </a:extLst>
          </p:cNvPr>
          <p:cNvSpPr/>
          <p:nvPr/>
        </p:nvSpPr>
        <p:spPr>
          <a:xfrm>
            <a:off x="5017595" y="2606040"/>
            <a:ext cx="344859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99FCCF56-06FA-F45D-39AD-B554D6935A7B}"/>
              </a:ext>
            </a:extLst>
          </p:cNvPr>
          <p:cNvSpPr txBox="1"/>
          <p:nvPr/>
        </p:nvSpPr>
        <p:spPr>
          <a:xfrm>
            <a:off x="5035883" y="2697480"/>
            <a:ext cx="308283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142A56"/>
                </a:solidFill>
                <a:latin typeface="Consolas"/>
              </a:defRPr>
            </a:pPr>
            <a:r>
              <a:t>i</a:t>
            </a:r>
          </a:p>
        </p:txBody>
      </p:sp>
      <p:sp>
        <p:nvSpPr>
          <p:cNvPr id="23" name="Rounded Rectangle 20">
            <a:extLst>
              <a:ext uri="{FF2B5EF4-FFF2-40B4-BE49-F238E27FC236}">
                <a16:creationId xmlns:a16="http://schemas.microsoft.com/office/drawing/2014/main" id="{E153A9A5-BBB0-39FB-7411-AE2A85123ED2}"/>
              </a:ext>
            </a:extLst>
          </p:cNvPr>
          <p:cNvSpPr/>
          <p:nvPr/>
        </p:nvSpPr>
        <p:spPr>
          <a:xfrm>
            <a:off x="5417318" y="2606040"/>
            <a:ext cx="344859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E27CFD44-E010-E738-4216-00F1D2FA124F}"/>
              </a:ext>
            </a:extLst>
          </p:cNvPr>
          <p:cNvSpPr txBox="1"/>
          <p:nvPr/>
        </p:nvSpPr>
        <p:spPr>
          <a:xfrm>
            <a:off x="5435606" y="2697480"/>
            <a:ext cx="308283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142A56"/>
                </a:solidFill>
                <a:latin typeface="Consolas"/>
              </a:defRPr>
            </a:pPr>
            <a:r>
              <a:t>o</a:t>
            </a:r>
          </a:p>
        </p:txBody>
      </p:sp>
      <p:sp>
        <p:nvSpPr>
          <p:cNvPr id="25" name="Rounded Rectangle 22">
            <a:extLst>
              <a:ext uri="{FF2B5EF4-FFF2-40B4-BE49-F238E27FC236}">
                <a16:creationId xmlns:a16="http://schemas.microsoft.com/office/drawing/2014/main" id="{91E14B31-5CA9-CD6B-5B27-59913664C87C}"/>
              </a:ext>
            </a:extLst>
          </p:cNvPr>
          <p:cNvSpPr/>
          <p:nvPr/>
        </p:nvSpPr>
        <p:spPr>
          <a:xfrm>
            <a:off x="5817042" y="2606040"/>
            <a:ext cx="344859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574B2B89-371E-51F9-D024-0C49D3A8472B}"/>
              </a:ext>
            </a:extLst>
          </p:cNvPr>
          <p:cNvSpPr txBox="1"/>
          <p:nvPr/>
        </p:nvSpPr>
        <p:spPr>
          <a:xfrm>
            <a:off x="5835330" y="2697480"/>
            <a:ext cx="308283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142A56"/>
                </a:solidFill>
                <a:latin typeface="Consolas"/>
              </a:defRPr>
            </a:pPr>
            <a:r>
              <a:t>l</a:t>
            </a:r>
          </a:p>
        </p:txBody>
      </p:sp>
      <p:sp>
        <p:nvSpPr>
          <p:cNvPr id="27" name="Rounded Rectangle 24">
            <a:extLst>
              <a:ext uri="{FF2B5EF4-FFF2-40B4-BE49-F238E27FC236}">
                <a16:creationId xmlns:a16="http://schemas.microsoft.com/office/drawing/2014/main" id="{1858B042-ED13-E222-D919-0DA5A150D700}"/>
              </a:ext>
            </a:extLst>
          </p:cNvPr>
          <p:cNvSpPr/>
          <p:nvPr/>
        </p:nvSpPr>
        <p:spPr>
          <a:xfrm>
            <a:off x="6216765" y="2606040"/>
            <a:ext cx="344859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8" name="TextBox 25">
            <a:extLst>
              <a:ext uri="{FF2B5EF4-FFF2-40B4-BE49-F238E27FC236}">
                <a16:creationId xmlns:a16="http://schemas.microsoft.com/office/drawing/2014/main" id="{3C289A5E-1717-6426-3987-7B66C5419A69}"/>
              </a:ext>
            </a:extLst>
          </p:cNvPr>
          <p:cNvSpPr txBox="1"/>
          <p:nvPr/>
        </p:nvSpPr>
        <p:spPr>
          <a:xfrm>
            <a:off x="6235053" y="2697480"/>
            <a:ext cx="308283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142A56"/>
                </a:solidFill>
                <a:latin typeface="Consolas"/>
              </a:defRPr>
            </a:pPr>
            <a:r>
              <a:t>o</a:t>
            </a:r>
          </a:p>
        </p:txBody>
      </p:sp>
      <p:sp>
        <p:nvSpPr>
          <p:cNvPr id="29" name="Rounded Rectangle 26">
            <a:extLst>
              <a:ext uri="{FF2B5EF4-FFF2-40B4-BE49-F238E27FC236}">
                <a16:creationId xmlns:a16="http://schemas.microsoft.com/office/drawing/2014/main" id="{827E1F08-3B6F-9445-F101-CFEC759AFE83}"/>
              </a:ext>
            </a:extLst>
          </p:cNvPr>
          <p:cNvSpPr/>
          <p:nvPr/>
        </p:nvSpPr>
        <p:spPr>
          <a:xfrm>
            <a:off x="6616489" y="2606040"/>
            <a:ext cx="344859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0" name="TextBox 27">
            <a:extLst>
              <a:ext uri="{FF2B5EF4-FFF2-40B4-BE49-F238E27FC236}">
                <a16:creationId xmlns:a16="http://schemas.microsoft.com/office/drawing/2014/main" id="{4FD3FD5F-A398-8BA0-64F3-BDCF051B91B2}"/>
              </a:ext>
            </a:extLst>
          </p:cNvPr>
          <p:cNvSpPr txBox="1"/>
          <p:nvPr/>
        </p:nvSpPr>
        <p:spPr>
          <a:xfrm>
            <a:off x="6634777" y="2697480"/>
            <a:ext cx="308283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142A56"/>
                </a:solidFill>
                <a:latin typeface="Consolas"/>
              </a:defRPr>
            </a:pPr>
            <a:r>
              <a:t>g</a:t>
            </a:r>
          </a:p>
        </p:txBody>
      </p:sp>
      <p:sp>
        <p:nvSpPr>
          <p:cNvPr id="31" name="Rounded Rectangle 28">
            <a:extLst>
              <a:ext uri="{FF2B5EF4-FFF2-40B4-BE49-F238E27FC236}">
                <a16:creationId xmlns:a16="http://schemas.microsoft.com/office/drawing/2014/main" id="{500A15D2-1B10-1223-20D1-FCFF37884E9F}"/>
              </a:ext>
            </a:extLst>
          </p:cNvPr>
          <p:cNvSpPr/>
          <p:nvPr/>
        </p:nvSpPr>
        <p:spPr>
          <a:xfrm>
            <a:off x="7016212" y="2606040"/>
            <a:ext cx="344859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2" name="TextBox 29">
            <a:extLst>
              <a:ext uri="{FF2B5EF4-FFF2-40B4-BE49-F238E27FC236}">
                <a16:creationId xmlns:a16="http://schemas.microsoft.com/office/drawing/2014/main" id="{9BADFA28-EC94-A101-F729-84006509BED8}"/>
              </a:ext>
            </a:extLst>
          </p:cNvPr>
          <p:cNvSpPr txBox="1"/>
          <p:nvPr/>
        </p:nvSpPr>
        <p:spPr>
          <a:xfrm>
            <a:off x="7034500" y="2697480"/>
            <a:ext cx="308283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142A56"/>
                </a:solidFill>
                <a:latin typeface="Consolas"/>
              </a:defRPr>
            </a:pPr>
            <a:r>
              <a:t>y</a:t>
            </a:r>
          </a:p>
        </p:txBody>
      </p:sp>
      <p:sp>
        <p:nvSpPr>
          <p:cNvPr id="33" name="TextBox 30">
            <a:extLst>
              <a:ext uri="{FF2B5EF4-FFF2-40B4-BE49-F238E27FC236}">
                <a16:creationId xmlns:a16="http://schemas.microsoft.com/office/drawing/2014/main" id="{932675FF-325E-66E3-552B-D1CE5B1B72D8}"/>
              </a:ext>
            </a:extLst>
          </p:cNvPr>
          <p:cNvSpPr txBox="1"/>
          <p:nvPr/>
        </p:nvSpPr>
        <p:spPr>
          <a:xfrm>
            <a:off x="4617872" y="3337560"/>
            <a:ext cx="2743200" cy="1325880"/>
          </a:xfrm>
          <a:prstGeom prst="rect">
            <a:avLst/>
          </a:prstGeom>
          <a:noFill/>
        </p:spPr>
        <p:txBody>
          <a:bodyPr wrap="square" lIns="54864" tIns="36576" rIns="54864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>
                <a:solidFill>
                  <a:srgbClr val="5F666E"/>
                </a:solidFill>
                <a:latin typeface="Aptos"/>
              </a:defRPr>
            </a:pPr>
            <a:r>
              <a:t>• small vocabulary</a:t>
            </a:r>
          </a:p>
          <a:p>
            <a:pPr>
              <a:spcAft>
                <a:spcPts val="300"/>
              </a:spcAft>
              <a:defRPr sz="1300">
                <a:solidFill>
                  <a:srgbClr val="5F666E"/>
                </a:solidFill>
                <a:latin typeface="Aptos"/>
              </a:defRPr>
            </a:pPr>
            <a:r>
              <a:t>• long sequences</a:t>
            </a:r>
          </a:p>
          <a:p>
            <a:pPr>
              <a:spcAft>
                <a:spcPts val="300"/>
              </a:spcAft>
              <a:defRPr sz="1300">
                <a:solidFill>
                  <a:srgbClr val="5F666E"/>
                </a:solidFill>
                <a:latin typeface="Aptos"/>
              </a:defRPr>
            </a:pPr>
            <a:r>
              <a:t>• harder long-context learning</a:t>
            </a:r>
          </a:p>
        </p:txBody>
      </p:sp>
      <p:sp>
        <p:nvSpPr>
          <p:cNvPr id="34" name="Rounded Rectangle 31">
            <a:extLst>
              <a:ext uri="{FF2B5EF4-FFF2-40B4-BE49-F238E27FC236}">
                <a16:creationId xmlns:a16="http://schemas.microsoft.com/office/drawing/2014/main" id="{6480CC95-665A-5641-9667-CE338623BFF7}"/>
              </a:ext>
            </a:extLst>
          </p:cNvPr>
          <p:cNvSpPr/>
          <p:nvPr/>
        </p:nvSpPr>
        <p:spPr>
          <a:xfrm>
            <a:off x="8138312" y="1325880"/>
            <a:ext cx="3474720" cy="4389120"/>
          </a:xfrm>
          <a:prstGeom prst="roundRect">
            <a:avLst/>
          </a:prstGeom>
          <a:solidFill>
            <a:srgbClr val="EFEBF9"/>
          </a:solidFill>
          <a:ln w="1524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" name="TextBox 32">
            <a:extLst>
              <a:ext uri="{FF2B5EF4-FFF2-40B4-BE49-F238E27FC236}">
                <a16:creationId xmlns:a16="http://schemas.microsoft.com/office/drawing/2014/main" id="{FD658952-36BB-4C01-3A18-B969142622B5}"/>
              </a:ext>
            </a:extLst>
          </p:cNvPr>
          <p:cNvSpPr txBox="1"/>
          <p:nvPr/>
        </p:nvSpPr>
        <p:spPr>
          <a:xfrm>
            <a:off x="8366912" y="1536192"/>
            <a:ext cx="301752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 b="1">
                <a:solidFill>
                  <a:srgbClr val="142A56"/>
                </a:solidFill>
                <a:latin typeface="Aptos"/>
              </a:defRPr>
            </a:pPr>
            <a:r>
              <a:t>Subword / BPE</a:t>
            </a:r>
          </a:p>
        </p:txBody>
      </p:sp>
      <p:sp>
        <p:nvSpPr>
          <p:cNvPr id="36" name="TextBox 33">
            <a:extLst>
              <a:ext uri="{FF2B5EF4-FFF2-40B4-BE49-F238E27FC236}">
                <a16:creationId xmlns:a16="http://schemas.microsoft.com/office/drawing/2014/main" id="{E4489A8D-BEE6-66D3-1A84-8E414FD6950C}"/>
              </a:ext>
            </a:extLst>
          </p:cNvPr>
          <p:cNvSpPr txBox="1"/>
          <p:nvPr/>
        </p:nvSpPr>
        <p:spPr>
          <a:xfrm>
            <a:off x="8366912" y="1920240"/>
            <a:ext cx="29260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 b="0">
                <a:solidFill>
                  <a:srgbClr val="5F666E"/>
                </a:solidFill>
                <a:latin typeface="Consolas"/>
              </a:defRPr>
            </a:pPr>
            <a:r>
              <a:t>"biomedical applications"</a:t>
            </a:r>
          </a:p>
        </p:txBody>
      </p:sp>
      <p:sp>
        <p:nvSpPr>
          <p:cNvPr id="37" name="Rounded Rectangle 34">
            <a:extLst>
              <a:ext uri="{FF2B5EF4-FFF2-40B4-BE49-F238E27FC236}">
                <a16:creationId xmlns:a16="http://schemas.microsoft.com/office/drawing/2014/main" id="{0A24E236-98B9-40CF-49DD-9A25D0BB1A80}"/>
              </a:ext>
            </a:extLst>
          </p:cNvPr>
          <p:cNvSpPr/>
          <p:nvPr/>
        </p:nvSpPr>
        <p:spPr>
          <a:xfrm>
            <a:off x="8366912" y="2606040"/>
            <a:ext cx="644652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8" name="TextBox 35">
            <a:extLst>
              <a:ext uri="{FF2B5EF4-FFF2-40B4-BE49-F238E27FC236}">
                <a16:creationId xmlns:a16="http://schemas.microsoft.com/office/drawing/2014/main" id="{0F204CEA-BE04-E788-DADB-840FF1537F8B}"/>
              </a:ext>
            </a:extLst>
          </p:cNvPr>
          <p:cNvSpPr txBox="1"/>
          <p:nvPr/>
        </p:nvSpPr>
        <p:spPr>
          <a:xfrm>
            <a:off x="8385200" y="2697480"/>
            <a:ext cx="608075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142A56"/>
                </a:solidFill>
                <a:latin typeface="Consolas"/>
              </a:defRPr>
            </a:pPr>
            <a:r>
              <a:t>bio</a:t>
            </a:r>
          </a:p>
        </p:txBody>
      </p:sp>
      <p:sp>
        <p:nvSpPr>
          <p:cNvPr id="39" name="Rounded Rectangle 36">
            <a:extLst>
              <a:ext uri="{FF2B5EF4-FFF2-40B4-BE49-F238E27FC236}">
                <a16:creationId xmlns:a16="http://schemas.microsoft.com/office/drawing/2014/main" id="{6162483D-6655-E8C1-6CA0-65BFAF0E6269}"/>
              </a:ext>
            </a:extLst>
          </p:cNvPr>
          <p:cNvSpPr/>
          <p:nvPr/>
        </p:nvSpPr>
        <p:spPr>
          <a:xfrm>
            <a:off x="9066428" y="2606040"/>
            <a:ext cx="644652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0" name="TextBox 37">
            <a:extLst>
              <a:ext uri="{FF2B5EF4-FFF2-40B4-BE49-F238E27FC236}">
                <a16:creationId xmlns:a16="http://schemas.microsoft.com/office/drawing/2014/main" id="{BDB6CB62-0452-DF35-683D-9FE00FD8FC64}"/>
              </a:ext>
            </a:extLst>
          </p:cNvPr>
          <p:cNvSpPr txBox="1"/>
          <p:nvPr/>
        </p:nvSpPr>
        <p:spPr>
          <a:xfrm>
            <a:off x="9084716" y="2697480"/>
            <a:ext cx="608075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142A56"/>
                </a:solidFill>
                <a:latin typeface="Consolas"/>
              </a:defRPr>
            </a:pPr>
            <a:r>
              <a:t>medical</a:t>
            </a:r>
          </a:p>
        </p:txBody>
      </p:sp>
      <p:sp>
        <p:nvSpPr>
          <p:cNvPr id="41" name="Rounded Rectangle 38">
            <a:extLst>
              <a:ext uri="{FF2B5EF4-FFF2-40B4-BE49-F238E27FC236}">
                <a16:creationId xmlns:a16="http://schemas.microsoft.com/office/drawing/2014/main" id="{07BDF3F1-B891-2964-1876-2F8D9EEE23CD}"/>
              </a:ext>
            </a:extLst>
          </p:cNvPr>
          <p:cNvSpPr/>
          <p:nvPr/>
        </p:nvSpPr>
        <p:spPr>
          <a:xfrm>
            <a:off x="9765944" y="2606040"/>
            <a:ext cx="644652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2" name="TextBox 39">
            <a:extLst>
              <a:ext uri="{FF2B5EF4-FFF2-40B4-BE49-F238E27FC236}">
                <a16:creationId xmlns:a16="http://schemas.microsoft.com/office/drawing/2014/main" id="{9E23A916-3EB9-8E9C-4656-26D5D574626F}"/>
              </a:ext>
            </a:extLst>
          </p:cNvPr>
          <p:cNvSpPr txBox="1"/>
          <p:nvPr/>
        </p:nvSpPr>
        <p:spPr>
          <a:xfrm>
            <a:off x="9784232" y="2697480"/>
            <a:ext cx="608075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142A56"/>
                </a:solidFill>
                <a:latin typeface="Consolas"/>
              </a:defRPr>
            </a:pPr>
            <a:r>
              <a:t>app</a:t>
            </a:r>
          </a:p>
        </p:txBody>
      </p:sp>
      <p:sp>
        <p:nvSpPr>
          <p:cNvPr id="43" name="Rounded Rectangle 40">
            <a:extLst>
              <a:ext uri="{FF2B5EF4-FFF2-40B4-BE49-F238E27FC236}">
                <a16:creationId xmlns:a16="http://schemas.microsoft.com/office/drawing/2014/main" id="{D1DB5FE6-C4A0-B551-3196-833A7B4F83B4}"/>
              </a:ext>
            </a:extLst>
          </p:cNvPr>
          <p:cNvSpPr/>
          <p:nvPr/>
        </p:nvSpPr>
        <p:spPr>
          <a:xfrm>
            <a:off x="10465460" y="2606040"/>
            <a:ext cx="644652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4" name="TextBox 41">
            <a:extLst>
              <a:ext uri="{FF2B5EF4-FFF2-40B4-BE49-F238E27FC236}">
                <a16:creationId xmlns:a16="http://schemas.microsoft.com/office/drawing/2014/main" id="{6A38C0B8-5E44-6944-3C34-D4E0B21ABCB7}"/>
              </a:ext>
            </a:extLst>
          </p:cNvPr>
          <p:cNvSpPr txBox="1"/>
          <p:nvPr/>
        </p:nvSpPr>
        <p:spPr>
          <a:xfrm>
            <a:off x="10483748" y="2697480"/>
            <a:ext cx="608075" cy="27432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142A56"/>
                </a:solidFill>
                <a:latin typeface="Consolas"/>
              </a:defRPr>
            </a:pPr>
            <a:r>
              <a:t>lications</a:t>
            </a:r>
          </a:p>
        </p:txBody>
      </p:sp>
      <p:sp>
        <p:nvSpPr>
          <p:cNvPr id="45" name="TextBox 42">
            <a:extLst>
              <a:ext uri="{FF2B5EF4-FFF2-40B4-BE49-F238E27FC236}">
                <a16:creationId xmlns:a16="http://schemas.microsoft.com/office/drawing/2014/main" id="{F34159E3-4905-E993-CC2F-30D5C8447A94}"/>
              </a:ext>
            </a:extLst>
          </p:cNvPr>
          <p:cNvSpPr txBox="1"/>
          <p:nvPr/>
        </p:nvSpPr>
        <p:spPr>
          <a:xfrm>
            <a:off x="8366912" y="3337560"/>
            <a:ext cx="2743200" cy="1325880"/>
          </a:xfrm>
          <a:prstGeom prst="rect">
            <a:avLst/>
          </a:prstGeom>
          <a:noFill/>
        </p:spPr>
        <p:txBody>
          <a:bodyPr wrap="square" lIns="54864" tIns="36576" rIns="54864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>
                <a:solidFill>
                  <a:srgbClr val="5F666E"/>
                </a:solidFill>
                <a:latin typeface="Aptos"/>
              </a:defRPr>
            </a:pPr>
            <a:r>
              <a:t>• compact</a:t>
            </a:r>
          </a:p>
          <a:p>
            <a:pPr>
              <a:spcAft>
                <a:spcPts val="300"/>
              </a:spcAft>
              <a:defRPr sz="1300">
                <a:solidFill>
                  <a:srgbClr val="5F666E"/>
                </a:solidFill>
                <a:latin typeface="Aptos"/>
              </a:defRPr>
            </a:pPr>
            <a:r>
              <a:t>• handles rare words</a:t>
            </a:r>
          </a:p>
          <a:p>
            <a:pPr>
              <a:spcAft>
                <a:spcPts val="300"/>
              </a:spcAft>
              <a:defRPr sz="1300">
                <a:solidFill>
                  <a:srgbClr val="5F666E"/>
                </a:solidFill>
                <a:latin typeface="Aptos"/>
              </a:defRPr>
            </a:pPr>
            <a:r>
              <a:t>• learned from corpus statistics</a:t>
            </a:r>
          </a:p>
        </p:txBody>
      </p:sp>
    </p:spTree>
    <p:extLst>
      <p:ext uri="{BB962C8B-B14F-4D97-AF65-F5344CB8AC3E}">
        <p14:creationId xmlns:p14="http://schemas.microsoft.com/office/powerpoint/2010/main" val="26250544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C111C-DF17-13A2-63F8-C0F892D11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83D84C04-9F64-D96D-AF7B-A5A4DCAC39C3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From </a:t>
            </a: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token IDs to embeddings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2AD27736-B12C-9FEB-5EB1-8C60F8FEDCFB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646920" y="1062720"/>
                <a:ext cx="10543320" cy="569543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Token IDs are just integer labels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Neural networks cannot learn from IDs directly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Each token ID is mapped to a learnable vector, this vector is called an embedding	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A lookup table: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solidFill>
                    <a:schemeClr val="dk1"/>
                  </a:solidFill>
                  <a:latin typeface="华文中宋"/>
                  <a:ea typeface="华文中宋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solidFill>
                    <a:schemeClr val="dk1"/>
                  </a:solidFill>
                  <a:latin typeface="华文中宋"/>
                  <a:ea typeface="华文中宋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𝑉</m:t>
                    </m:r>
                  </m:oMath>
                </a14:m>
                <a:r>
                  <a:rPr lang="en-US" altLang="zh-CN" sz="18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: vocabulary size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𝑑</m:t>
                    </m:r>
                  </m:oMath>
                </a14:m>
                <a:r>
                  <a:rPr lang="en-US" altLang="zh-CN" sz="18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: embedding dimension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𝑥</m:t>
                        </m:r>
                      </m:e>
                      <m:sub>
                        <m:r>
                          <a:rPr lang="en-US" altLang="zh-CN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: token ID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𝑒</m:t>
                        </m:r>
                      </m:e>
                      <m:sub>
                        <m:r>
                          <a:rPr lang="en-US" altLang="zh-CN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: token embedding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solidFill>
                    <a:schemeClr val="dk1"/>
                  </a:solidFill>
                  <a:latin typeface="华文中宋"/>
                  <a:ea typeface="华文中宋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Just find the corresponding row. Not matrix multiplication. 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The token ID itself has no mathematical meaning. The real representation is the embedding vector learned during training. </a:t>
                </a:r>
              </a:p>
            </p:txBody>
          </p:sp>
        </mc:Choice>
        <mc:Fallback xmlns="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2AD27736-B12C-9FEB-5EB1-8C60F8FEDC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46920" y="1062720"/>
                <a:ext cx="10543320" cy="5695432"/>
              </a:xfrm>
              <a:prstGeom prst="rect">
                <a:avLst/>
              </a:prstGeom>
              <a:blipFill>
                <a:blip r:embed="rId3"/>
                <a:stretch>
                  <a:fillRect l="-120" t="-44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F5FD6BD2-6C6D-0A32-9689-576DEC19F4C5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29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DAC2E17-EB40-9872-2996-3EFD3CB24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950" y="2451190"/>
            <a:ext cx="1816100" cy="850900"/>
          </a:xfrm>
          <a:prstGeom prst="rect">
            <a:avLst/>
          </a:prstGeom>
        </p:spPr>
      </p:pic>
      <p:pic>
        <p:nvPicPr>
          <p:cNvPr id="3074" name="Picture 2" descr="Token Embeddings — what they are, why they matter, and how to build them  (with working code) | by Nitin Kalra | Medium">
            <a:extLst>
              <a:ext uri="{FF2B5EF4-FFF2-40B4-BE49-F238E27FC236}">
                <a16:creationId xmlns:a16="http://schemas.microsoft.com/office/drawing/2014/main" id="{56ECB5B7-7E6E-7D92-834C-755F36484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340" y="3555911"/>
            <a:ext cx="4340772" cy="178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2098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6EA89-43C6-CE97-21D4-B81E4A2C0437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Embedding</a:t>
            </a:r>
            <a:r>
              <a:rPr lang="en-US" altLang="zh-CN" dirty="0"/>
              <a:t> </a:t>
            </a: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space</a:t>
            </a:r>
            <a:endParaRPr lang="zh-CN" altLang="en-US" sz="2800" dirty="0">
              <a:solidFill>
                <a:schemeClr val="dk2"/>
              </a:solidFill>
              <a:latin typeface="华文中宋"/>
              <a:ea typeface="华文中宋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259451-9DF1-5C03-DC46-A46EDBA7E338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613" y="1406355"/>
            <a:ext cx="9404350" cy="4248490"/>
          </a:xfrm>
        </p:spPr>
      </p:pic>
    </p:spTree>
    <p:extLst>
      <p:ext uri="{BB962C8B-B14F-4D97-AF65-F5344CB8AC3E}">
        <p14:creationId xmlns:p14="http://schemas.microsoft.com/office/powerpoint/2010/main" val="8209862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6EA89-43C6-CE97-21D4-B81E4A2C0437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Context changes representation</a:t>
            </a:r>
            <a:endParaRPr lang="zh-CN" altLang="en-US" sz="2800" dirty="0">
              <a:solidFill>
                <a:schemeClr val="dk2"/>
              </a:solidFill>
              <a:latin typeface="华文中宋"/>
              <a:ea typeface="华文中宋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F61006-6EBE-6AD7-80DD-C411A2E62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" y="1172880"/>
            <a:ext cx="10541000" cy="513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459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6914C-77BA-FADF-9CA7-C2990896A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E1929DC8-DC70-9834-C2DE-180F211D0D5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Key idea: weighted average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DED60845-F577-42FD-B4D6-D5A3E86F1AAA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32</a:t>
            </a:fld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B84F508-F61E-B154-D3C0-1234E8230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50" y="1211934"/>
            <a:ext cx="7528088" cy="56460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PlaceHolder 2">
                <a:extLst>
                  <a:ext uri="{FF2B5EF4-FFF2-40B4-BE49-F238E27FC236}">
                    <a16:creationId xmlns:a16="http://schemas.microsoft.com/office/drawing/2014/main" id="{FD0A66A1-8D2F-765D-B067-08FE32FCD9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37749" y="1786759"/>
                <a:ext cx="4025462" cy="372066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l"/>
                  <a:defRPr sz="2000" kern="1200">
                    <a:solidFill>
                      <a:srgbClr val="94209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l"/>
                  <a:defRPr sz="2200" kern="1200">
                    <a:solidFill>
                      <a:srgbClr val="94209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l"/>
                  <a:defRPr sz="1800" kern="1200">
                    <a:solidFill>
                      <a:srgbClr val="94209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l"/>
                  <a:defRPr sz="2200" kern="1200">
                    <a:solidFill>
                      <a:srgbClr val="94209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Each token talk with others, and update its own representation.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Will introduce how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𝛼</m:t>
                    </m:r>
                    <m:r>
                      <a:rPr lang="en-US" altLang="zh-CN" sz="20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, </m:t>
                    </m:r>
                    <m:r>
                      <a:rPr lang="en-US" altLang="zh-CN" sz="20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h</m:t>
                    </m:r>
                  </m:oMath>
                </a14:m>
                <a:r>
                  <a:rPr lang="en-US" altLang="zh-CN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 calculate in next page.</a:t>
                </a:r>
              </a:p>
            </p:txBody>
          </p:sp>
        </mc:Choice>
        <mc:Fallback xmlns="">
          <p:sp>
            <p:nvSpPr>
              <p:cNvPr id="6" name="PlaceHolder 2">
                <a:extLst>
                  <a:ext uri="{FF2B5EF4-FFF2-40B4-BE49-F238E27FC236}">
                    <a16:creationId xmlns:a16="http://schemas.microsoft.com/office/drawing/2014/main" id="{FD0A66A1-8D2F-765D-B067-08FE32FCD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749" y="1786759"/>
                <a:ext cx="4025462" cy="3720662"/>
              </a:xfrm>
              <a:prstGeom prst="rect">
                <a:avLst/>
              </a:prstGeom>
              <a:blipFill>
                <a:blip r:embed="rId4"/>
                <a:stretch>
                  <a:fillRect l="-946" t="-680" r="-441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84102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67D86-1873-FAE3-7A28-F993B680C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D8D88EF5-6D8D-B266-28E7-5B659EFB13E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Attention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9D1C72D0-4C47-C207-55C7-E17BE3B1AE64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33</a:t>
            </a:fld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97B183A-BF3A-3987-D366-369E72DF79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8" b="12332"/>
          <a:stretch>
            <a:fillRect/>
          </a:stretch>
        </p:blipFill>
        <p:spPr>
          <a:xfrm>
            <a:off x="83884" y="1376855"/>
            <a:ext cx="12024232" cy="490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7321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6EA89-43C6-CE97-21D4-B81E4A2C0437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Measuring similarity</a:t>
            </a:r>
            <a:endParaRPr lang="zh-CN" altLang="en-US" sz="2800" dirty="0">
              <a:solidFill>
                <a:schemeClr val="dk2"/>
              </a:solidFill>
              <a:latin typeface="华文中宋"/>
              <a:ea typeface="华文中宋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538FEF-2A61-3E07-CCBB-B3AABA48B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0" y="1279008"/>
            <a:ext cx="10979150" cy="489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3602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4C4FD-A5A3-8655-BD02-93967C958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79110742-C9DF-2B6C-6763-BD7645B3BC24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Prediction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6DD3C49-5A68-9D73-9473-9E2BF78C8571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35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laceHolder 2">
                <a:extLst>
                  <a:ext uri="{FF2B5EF4-FFF2-40B4-BE49-F238E27FC236}">
                    <a16:creationId xmlns:a16="http://schemas.microsoft.com/office/drawing/2014/main" id="{71061750-4CE4-7193-3F1F-4E72AAE0DF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200" y="1429408"/>
                <a:ext cx="10415140" cy="455097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l"/>
                  <a:defRPr sz="2000" kern="1200">
                    <a:solidFill>
                      <a:srgbClr val="94209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l"/>
                  <a:defRPr sz="2200" kern="1200">
                    <a:solidFill>
                      <a:srgbClr val="94209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l"/>
                  <a:defRPr sz="1800" kern="1200">
                    <a:solidFill>
                      <a:srgbClr val="94209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l"/>
                  <a:defRPr sz="2200" kern="1200">
                    <a:solidFill>
                      <a:srgbClr val="94209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To predict next token, we need to 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h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 into probabilities.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Use a linear layer to get logits, then </a:t>
                </a:r>
                <a:r>
                  <a:rPr lang="en-US" altLang="zh-CN" sz="2000" dirty="0" err="1">
                    <a:solidFill>
                      <a:schemeClr val="dk1"/>
                    </a:solidFill>
                    <a:latin typeface="华文中宋"/>
                    <a:ea typeface="华文中宋"/>
                  </a:rPr>
                  <a:t>softmax</a:t>
                </a:r>
                <a:endParaRPr lang="en-US" altLang="zh-CN" sz="2000" dirty="0">
                  <a:solidFill>
                    <a:schemeClr val="dk1"/>
                  </a:solidFill>
                  <a:latin typeface="华文中宋"/>
                  <a:ea typeface="华文中宋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2000" dirty="0">
                  <a:solidFill>
                    <a:schemeClr val="dk1"/>
                  </a:solidFill>
                  <a:latin typeface="华文中宋"/>
                  <a:ea typeface="华文中宋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2000" dirty="0">
                  <a:solidFill>
                    <a:schemeClr val="dk1"/>
                  </a:solidFill>
                  <a:latin typeface="华文中宋"/>
                  <a:ea typeface="华文中宋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2000" dirty="0">
                  <a:solidFill>
                    <a:schemeClr val="dk1"/>
                  </a:solidFill>
                  <a:latin typeface="华文中宋"/>
                  <a:ea typeface="华文中宋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2000" dirty="0">
                  <a:solidFill>
                    <a:schemeClr val="dk1"/>
                  </a:solidFill>
                  <a:latin typeface="华文中宋"/>
                  <a:ea typeface="华文中宋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Then sample from this distribution, and turn token ID back to token. </a:t>
                </a:r>
              </a:p>
            </p:txBody>
          </p:sp>
        </mc:Choice>
        <mc:Fallback xmlns="">
          <p:sp>
            <p:nvSpPr>
              <p:cNvPr id="6" name="PlaceHolder 2">
                <a:extLst>
                  <a:ext uri="{FF2B5EF4-FFF2-40B4-BE49-F238E27FC236}">
                    <a16:creationId xmlns:a16="http://schemas.microsoft.com/office/drawing/2014/main" id="{71061750-4CE4-7193-3F1F-4E72AAE0D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00" y="1429408"/>
                <a:ext cx="10415140" cy="4550978"/>
              </a:xfrm>
              <a:prstGeom prst="rect">
                <a:avLst/>
              </a:prstGeom>
              <a:blipFill>
                <a:blip r:embed="rId3"/>
                <a:stretch>
                  <a:fillRect l="-243" t="-83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1200102B-F230-2BCD-559E-0A721E9B4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603" y="2475536"/>
            <a:ext cx="4776794" cy="110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3557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A7FD8-FA5A-FA9E-7ED7-B7EDFAEE2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2B99E233-2550-2684-4C77-4093877A1F38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Autoregressive generation 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AB13FB26-539B-646C-D07F-788B594B4CC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36</a:t>
            </a:fld>
            <a:endParaRPr/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8FB4179B-DDE1-5363-FEAE-A9DC3BF16D72}"/>
              </a:ext>
            </a:extLst>
          </p:cNvPr>
          <p:cNvSpPr txBox="1">
            <a:spLocks/>
          </p:cNvSpPr>
          <p:nvPr/>
        </p:nvSpPr>
        <p:spPr>
          <a:xfrm>
            <a:off x="646200" y="1450428"/>
            <a:ext cx="10415140" cy="455097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0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2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18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2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Start from a prompt or start token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Predict the next-token distribution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Choose or sample the next token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Append it to the sequence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Repeat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20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20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20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9E2AF7A-9A01-7346-F012-F01E8F1D7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852" y="3626070"/>
            <a:ext cx="3222295" cy="68317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B2C15D9-2AEB-2671-559C-56BE2250C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149" y="4586790"/>
            <a:ext cx="67437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5782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04E7B-E4F4-C8BD-B891-FCCECE406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0AC2EEE1-8D68-1841-97E0-C1B82024DF37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Training: Predict the Next Token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49006EC6-2352-8789-043D-E731B8A8507D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37</a:t>
            </a:fld>
            <a:endParaRPr/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26951062-FAB5-F6AD-06C4-A2B1870F5218}"/>
              </a:ext>
            </a:extLst>
          </p:cNvPr>
          <p:cNvSpPr txBox="1">
            <a:spLocks/>
          </p:cNvSpPr>
          <p:nvPr/>
        </p:nvSpPr>
        <p:spPr>
          <a:xfrm>
            <a:off x="646200" y="1450428"/>
            <a:ext cx="10415140" cy="455097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0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2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18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2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During training, the true sequence is known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The model predicts each next token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This is a classification task at every position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Use cross-entropy loss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20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20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 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0BE81E4-B8D4-6A97-D668-2C7796211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363138"/>
              </p:ext>
            </p:extLst>
          </p:nvPr>
        </p:nvGraphicFramePr>
        <p:xfrm>
          <a:off x="1569068" y="4394381"/>
          <a:ext cx="9053864" cy="14630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26932">
                  <a:extLst>
                    <a:ext uri="{9D8B030D-6E8A-4147-A177-3AD203B41FA5}">
                      <a16:colId xmlns:a16="http://schemas.microsoft.com/office/drawing/2014/main" val="864906870"/>
                    </a:ext>
                  </a:extLst>
                </a:gridCol>
                <a:gridCol w="4526932">
                  <a:extLst>
                    <a:ext uri="{9D8B030D-6E8A-4147-A177-3AD203B41FA5}">
                      <a16:colId xmlns:a16="http://schemas.microsoft.com/office/drawing/2014/main" val="36036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Input context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Target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680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cell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8263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cell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expresses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2463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cell expresses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gene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540367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F679E2FA-2022-09F2-74D0-E4AECC13E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622" y="3140402"/>
            <a:ext cx="3116755" cy="76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9487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E31A2-DEB9-6F7B-BE88-C62E2FD91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24A66977-4859-495A-BC85-E308DA0178C0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446504" y="158718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GPT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186F7EB4-8205-2F93-47D3-6CC6017FCB9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38</a:t>
            </a:fld>
            <a:endParaRPr/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FC8A0BD3-CC74-C572-6C4C-6DDF7B1C666F}"/>
              </a:ext>
            </a:extLst>
          </p:cNvPr>
          <p:cNvSpPr txBox="1">
            <a:spLocks/>
          </p:cNvSpPr>
          <p:nvPr/>
        </p:nvSpPr>
        <p:spPr>
          <a:xfrm>
            <a:off x="483477" y="878718"/>
            <a:ext cx="11414235" cy="455097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0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2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18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2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b="1" dirty="0">
                <a:solidFill>
                  <a:schemeClr val="dk1"/>
                </a:solidFill>
                <a:latin typeface="Arial" panose="020B0604020202020204" pitchFamily="34" charset="0"/>
                <a:ea typeface="华文中宋"/>
                <a:cs typeface="Arial" panose="020B0604020202020204" pitchFamily="34" charset="0"/>
              </a:rPr>
              <a:t>G</a:t>
            </a: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enerative: generates token sequences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b="1" dirty="0">
                <a:solidFill>
                  <a:schemeClr val="dk1"/>
                </a:solidFill>
                <a:latin typeface="Arial" panose="020B0604020202020204" pitchFamily="34" charset="0"/>
                <a:ea typeface="华文中宋"/>
                <a:cs typeface="Arial" panose="020B0604020202020204" pitchFamily="34" charset="0"/>
              </a:rPr>
              <a:t>P</a:t>
            </a: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re-trained: trained on large-scale data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b="1" dirty="0">
                <a:solidFill>
                  <a:schemeClr val="dk1"/>
                </a:solidFill>
                <a:latin typeface="Arial" panose="020B0604020202020204" pitchFamily="34" charset="0"/>
                <a:ea typeface="华文中宋"/>
                <a:cs typeface="Arial" panose="020B0604020202020204" pitchFamily="34" charset="0"/>
              </a:rPr>
              <a:t>T</a:t>
            </a: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ransformer: learns token-token interactions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Core is next token prediction (NTP)</a:t>
            </a:r>
          </a:p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B0A034-E639-1670-3C49-6D0F8F09D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143"/>
          <a:stretch>
            <a:fillRect/>
          </a:stretch>
        </p:blipFill>
        <p:spPr>
          <a:xfrm>
            <a:off x="1200714" y="2494191"/>
            <a:ext cx="9790572" cy="436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6644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831400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A56"/>
                </a:solidFill>
                <a:latin typeface="Aptos Display"/>
              </a:defRPr>
            </a:pPr>
            <a:r>
              <a:rPr dirty="0"/>
              <a:t> Transfer from text to biology: analogy and caveat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394960" cy="4389120"/>
          </a:xfrm>
          <a:prstGeom prst="roundRect">
            <a:avLst/>
          </a:prstGeom>
          <a:solidFill>
            <a:srgbClr val="E3F1F9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5488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1900" b="1">
                <a:solidFill>
                  <a:srgbClr val="142A56"/>
                </a:solidFill>
                <a:latin typeface="Aptos"/>
              </a:defRPr>
            </a:pPr>
            <a:r>
              <a:t>The useful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572000" cy="2468880"/>
          </a:xfrm>
          <a:prstGeom prst="rect">
            <a:avLst/>
          </a:prstGeom>
          <a:noFill/>
        </p:spPr>
        <p:txBody>
          <a:bodyPr wrap="square" lIns="54864" tIns="36576" rIns="54864">
            <a:normAutofit/>
          </a:bodyPr>
          <a:lstStyle/>
          <a:p>
            <a:pPr>
              <a:defRPr sz="1500">
                <a:solidFill>
                  <a:srgbClr val="142A56"/>
                </a:solidFill>
                <a:latin typeface="Aptos"/>
              </a:defRPr>
            </a:pPr>
            <a:r>
              <a:t>• Text is a sequence of tokens.</a:t>
            </a:r>
          </a:p>
          <a:p>
            <a:pPr>
              <a:spcAft>
                <a:spcPts val="300"/>
              </a:spcAft>
              <a:defRPr sz="1500">
                <a:solidFill>
                  <a:srgbClr val="142A56"/>
                </a:solidFill>
                <a:latin typeface="Aptos"/>
              </a:defRPr>
            </a:pPr>
            <a:r>
              <a:t>• DNA and proteins are also sequences of symbols.</a:t>
            </a:r>
          </a:p>
          <a:p>
            <a:pPr>
              <a:spcAft>
                <a:spcPts val="300"/>
              </a:spcAft>
              <a:defRPr sz="1500">
                <a:solidFill>
                  <a:srgbClr val="142A56"/>
                </a:solidFill>
                <a:latin typeface="Aptos"/>
              </a:defRPr>
            </a:pPr>
            <a:r>
              <a:t>• Context changes meaning: words in sentences, motifs in genomes, residues in proteins.</a:t>
            </a:r>
          </a:p>
          <a:p>
            <a:pPr>
              <a:spcAft>
                <a:spcPts val="300"/>
              </a:spcAft>
              <a:defRPr sz="1500">
                <a:solidFill>
                  <a:srgbClr val="142A56"/>
                </a:solidFill>
                <a:latin typeface="Aptos"/>
              </a:defRPr>
            </a:pPr>
            <a:r>
              <a:t>• Self-supervised learning can exploit massive unlabeled sequence datasets.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325880"/>
            <a:ext cx="5212080" cy="4389120"/>
          </a:xfrm>
          <a:prstGeom prst="roundRect">
            <a:avLst/>
          </a:prstGeom>
          <a:solidFill>
            <a:srgbClr val="FFF2E1"/>
          </a:solidFill>
          <a:ln w="15240">
            <a:solidFill>
              <a:srgbClr val="DE8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1600200"/>
            <a:ext cx="457200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1900" b="1">
                <a:solidFill>
                  <a:srgbClr val="142A56"/>
                </a:solidFill>
                <a:latin typeface="Aptos"/>
              </a:defRPr>
            </a:pPr>
            <a:r>
              <a:t>The important caveat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057400"/>
            <a:ext cx="4480560" cy="2468880"/>
          </a:xfrm>
          <a:prstGeom prst="rect">
            <a:avLst/>
          </a:prstGeom>
          <a:noFill/>
        </p:spPr>
        <p:txBody>
          <a:bodyPr wrap="square" lIns="54864" tIns="36576" rIns="54864">
            <a:normAutofit/>
          </a:bodyPr>
          <a:lstStyle/>
          <a:p>
            <a:pPr>
              <a:defRPr sz="1500">
                <a:solidFill>
                  <a:srgbClr val="142A56"/>
                </a:solidFill>
                <a:latin typeface="Aptos"/>
              </a:defRPr>
            </a:pPr>
            <a:r>
              <a:t>• Biological sequences are not human language.</a:t>
            </a:r>
          </a:p>
          <a:p>
            <a:pPr>
              <a:spcAft>
                <a:spcPts val="300"/>
              </a:spcAft>
              <a:defRPr sz="1500">
                <a:solidFill>
                  <a:srgbClr val="142A56"/>
                </a:solidFill>
                <a:latin typeface="Aptos"/>
              </a:defRPr>
            </a:pPr>
            <a:r>
              <a:t>• Syntax is constrained by chemistry, evolution, and experimental biology.</a:t>
            </a:r>
          </a:p>
          <a:p>
            <a:pPr>
              <a:spcAft>
                <a:spcPts val="300"/>
              </a:spcAft>
              <a:defRPr sz="1500">
                <a:solidFill>
                  <a:srgbClr val="142A56"/>
                </a:solidFill>
                <a:latin typeface="Aptos"/>
              </a:defRPr>
            </a:pPr>
            <a:r>
              <a:t>• Outputs may be structures, tracks, functions, or variant effects—not just words.</a:t>
            </a:r>
          </a:p>
          <a:p>
            <a:pPr>
              <a:spcAft>
                <a:spcPts val="300"/>
              </a:spcAft>
              <a:defRPr sz="1500">
                <a:solidFill>
                  <a:srgbClr val="142A56"/>
                </a:solidFill>
                <a:latin typeface="Aptos"/>
              </a:defRPr>
            </a:pPr>
            <a:r>
              <a:t>• Tokenization should respect biological resolution and task requirements.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66E"/>
                </a:solidFill>
                <a:latin typeface="Aptos"/>
              </a:defRPr>
            </a:pPr>
            <a:r>
              <a:t>Use this slide to prevent overclaiming: 'genome language' is a useful metaphor, not a complete theory.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511165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A56"/>
                </a:solidFill>
                <a:latin typeface="Aptos Display"/>
              </a:defRPr>
            </a:pPr>
            <a:r>
              <a:rPr dirty="0"/>
              <a:t>Protein sequence tokenization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66E"/>
                </a:solidFill>
                <a:latin typeface="Aptos"/>
              </a:defRPr>
            </a:pPr>
            <a:r>
              <a:t>For proteins, the natural token is usually one amino acid residue.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10972800" cy="1051560"/>
          </a:xfrm>
          <a:prstGeom prst="roundRect">
            <a:avLst/>
          </a:prstGeom>
          <a:solidFill>
            <a:srgbClr val="EFEBF9"/>
          </a:solidFill>
          <a:ln w="1524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10515600" cy="32004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2200" b="1">
                <a:solidFill>
                  <a:srgbClr val="142A56"/>
                </a:solidFill>
                <a:latin typeface="Consolas"/>
              </a:defRPr>
            </a:pPr>
            <a:r>
              <a:t>Protein sequence:  M K T A Y I A K Q R Q I S F V K 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743200"/>
            <a:ext cx="660654" cy="384048"/>
          </a:xfrm>
          <a:prstGeom prst="roundRect">
            <a:avLst/>
          </a:prstGeom>
          <a:solidFill>
            <a:srgbClr val="E3F1F9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834640"/>
            <a:ext cx="624078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defRPr sz="1400" b="1">
                <a:solidFill>
                  <a:srgbClr val="142A56"/>
                </a:solidFill>
                <a:latin typeface="Consolas"/>
              </a:defRPr>
            </a:pPr>
            <a:r>
              <a:t>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21358" y="2743200"/>
            <a:ext cx="660654" cy="384048"/>
          </a:xfrm>
          <a:prstGeom prst="roundRect">
            <a:avLst/>
          </a:prstGeom>
          <a:solidFill>
            <a:srgbClr val="E6F6EF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39646" y="2834640"/>
            <a:ext cx="624078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defRPr sz="1400" b="1">
                <a:solidFill>
                  <a:srgbClr val="142A56"/>
                </a:solidFill>
                <a:latin typeface="Consolas"/>
              </a:defRPr>
            </a:pPr>
            <a:r>
              <a:t>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36876" y="2743200"/>
            <a:ext cx="660654" cy="384048"/>
          </a:xfrm>
          <a:prstGeom prst="roundRect">
            <a:avLst/>
          </a:prstGeom>
          <a:solidFill>
            <a:srgbClr val="EFEBF9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55164" y="2834640"/>
            <a:ext cx="624078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defRPr sz="1400" b="1">
                <a:solidFill>
                  <a:srgbClr val="142A56"/>
                </a:solidFill>
                <a:latin typeface="Consolas"/>
              </a:defRPr>
            </a:pPr>
            <a:r>
              <a:t>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2394" y="2743200"/>
            <a:ext cx="660654" cy="384048"/>
          </a:xfrm>
          <a:prstGeom prst="roundRect">
            <a:avLst/>
          </a:prstGeom>
          <a:solidFill>
            <a:srgbClr val="FFF2E1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70682" y="2834640"/>
            <a:ext cx="624078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defRPr sz="1400" b="1">
                <a:solidFill>
                  <a:srgbClr val="142A56"/>
                </a:solidFill>
                <a:latin typeface="Consolas"/>
              </a:defRPr>
            </a:pPr>
            <a:r>
              <a:t>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67912" y="2743200"/>
            <a:ext cx="660654" cy="384048"/>
          </a:xfrm>
          <a:prstGeom prst="roundRect">
            <a:avLst/>
          </a:prstGeom>
          <a:solidFill>
            <a:srgbClr val="E3F1F9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86200" y="2834640"/>
            <a:ext cx="624078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defRPr sz="1400" b="1">
                <a:solidFill>
                  <a:srgbClr val="142A56"/>
                </a:solidFill>
                <a:latin typeface="Consolas"/>
              </a:defRPr>
            </a:pPr>
            <a:r>
              <a:t>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83429" y="2743200"/>
            <a:ext cx="660654" cy="384048"/>
          </a:xfrm>
          <a:prstGeom prst="roundRect">
            <a:avLst/>
          </a:prstGeom>
          <a:solidFill>
            <a:srgbClr val="E6F6EF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01717" y="2834640"/>
            <a:ext cx="624078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defRPr sz="1400" b="1">
                <a:solidFill>
                  <a:srgbClr val="142A56"/>
                </a:solidFill>
                <a:latin typeface="Consolas"/>
              </a:defRPr>
            </a:pPr>
            <a:r>
              <a:t>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98948" y="2743200"/>
            <a:ext cx="660654" cy="384048"/>
          </a:xfrm>
          <a:prstGeom prst="roundRect">
            <a:avLst/>
          </a:prstGeom>
          <a:solidFill>
            <a:srgbClr val="EFEBF9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17236" y="2834640"/>
            <a:ext cx="624078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defRPr sz="1400" b="1">
                <a:solidFill>
                  <a:srgbClr val="142A56"/>
                </a:solidFill>
                <a:latin typeface="Consolas"/>
              </a:defRPr>
            </a:pPr>
            <a: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4466" y="2743200"/>
            <a:ext cx="660654" cy="384048"/>
          </a:xfrm>
          <a:prstGeom prst="roundRect">
            <a:avLst/>
          </a:prstGeom>
          <a:solidFill>
            <a:srgbClr val="FFF2E1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2754" y="2834640"/>
            <a:ext cx="624078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defRPr sz="1400" b="1">
                <a:solidFill>
                  <a:srgbClr val="142A56"/>
                </a:solidFill>
                <a:latin typeface="Consolas"/>
              </a:defRPr>
            </a:pPr>
            <a:r>
              <a:t>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606040"/>
            <a:ext cx="4114800" cy="1371600"/>
          </a:xfrm>
          <a:prstGeom prst="rect">
            <a:avLst/>
          </a:prstGeom>
          <a:noFill/>
        </p:spPr>
        <p:txBody>
          <a:bodyPr wrap="square" lIns="54864" tIns="36576" rIns="54864">
            <a:normAutofit/>
          </a:bodyPr>
          <a:lstStyle/>
          <a:p>
            <a:pPr>
              <a:defRPr sz="1500">
                <a:solidFill>
                  <a:srgbClr val="142A56"/>
                </a:solidFill>
                <a:latin typeface="Aptos"/>
              </a:defRPr>
            </a:pPr>
            <a:r>
              <a:t>• Each token corresponds to a residue.</a:t>
            </a:r>
          </a:p>
          <a:p>
            <a:pPr>
              <a:spcAft>
                <a:spcPts val="300"/>
              </a:spcAft>
              <a:defRPr sz="1500">
                <a:solidFill>
                  <a:srgbClr val="142A56"/>
                </a:solidFill>
                <a:latin typeface="Aptos"/>
              </a:defRPr>
            </a:pPr>
            <a:r>
              <a:t>• Vocabulary is small: ~20 standard amino acids plus special/rare tokens.</a:t>
            </a:r>
          </a:p>
          <a:p>
            <a:pPr>
              <a:spcAft>
                <a:spcPts val="300"/>
              </a:spcAft>
              <a:defRPr sz="1500">
                <a:solidFill>
                  <a:srgbClr val="142A56"/>
                </a:solidFill>
                <a:latin typeface="Aptos"/>
              </a:defRPr>
            </a:pPr>
            <a:r>
              <a:t>• Embedding captures biochemical and evolutionary context.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1288" y="4727448"/>
            <a:ext cx="5303520" cy="914400"/>
          </a:xfrm>
          <a:prstGeom prst="roundRect">
            <a:avLst/>
          </a:prstGeom>
          <a:solidFill>
            <a:srgbClr val="E3F1F9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44752" y="5084064"/>
            <a:ext cx="4846320" cy="256032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>
              <a:defRPr sz="1400" b="1">
                <a:solidFill>
                  <a:srgbClr val="142A56"/>
                </a:solidFill>
                <a:latin typeface="Aptos"/>
              </a:defRPr>
            </a:pPr>
            <a:r>
              <a:rPr dirty="0"/>
              <a:t>Protein tokenization is usually simpler, but structure prediction is geometrically harder.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66E"/>
                </a:solidFill>
                <a:latin typeface="Aptos"/>
              </a:defRPr>
            </a:pPr>
            <a:r>
              <a:t>Source: ProteinBERT encodes protein sequences as amino-acid token sequences with standard and special tokens.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420288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A56"/>
                </a:solidFill>
                <a:latin typeface="Aptos Display"/>
              </a:defRPr>
            </a:pPr>
            <a:r>
              <a:rPr dirty="0"/>
              <a:t>Protein 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66E"/>
                </a:solidFill>
                <a:latin typeface="Aptos"/>
              </a:defRPr>
            </a:pPr>
            <a:r>
              <a:t>Use self-supervised learning to learn residue-level and sequence-level representations.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058400" cy="27432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1800" b="1">
                <a:solidFill>
                  <a:srgbClr val="142A56"/>
                </a:solidFill>
                <a:latin typeface="Aptos"/>
              </a:defRPr>
            </a:pPr>
            <a:r>
              <a:t>Masked amino acid prediction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83080"/>
            <a:ext cx="774954" cy="384048"/>
          </a:xfrm>
          <a:prstGeom prst="roundRect">
            <a:avLst/>
          </a:prstGeom>
          <a:solidFill>
            <a:srgbClr val="E3F1F9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74519"/>
            <a:ext cx="738378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defRPr sz="1200" b="1">
                <a:solidFill>
                  <a:srgbClr val="142A56"/>
                </a:solidFill>
                <a:latin typeface="Consolas"/>
              </a:defRPr>
            </a:pPr>
            <a:r>
              <a:t>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44218" y="1783080"/>
            <a:ext cx="774954" cy="384048"/>
          </a:xfrm>
          <a:prstGeom prst="roundRect">
            <a:avLst/>
          </a:prstGeom>
          <a:solidFill>
            <a:srgbClr val="E3F1F9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62506" y="1874519"/>
            <a:ext cx="738378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defRPr sz="1200" b="1">
                <a:solidFill>
                  <a:srgbClr val="142A56"/>
                </a:solidFill>
                <a:latin typeface="Consolas"/>
              </a:defRPr>
            </a:pPr>
            <a:r>
              <a:t>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4036" y="1783080"/>
            <a:ext cx="774954" cy="384048"/>
          </a:xfrm>
          <a:prstGeom prst="roundRect">
            <a:avLst/>
          </a:prstGeom>
          <a:solidFill>
            <a:srgbClr val="E3F1F9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92324" y="1874519"/>
            <a:ext cx="738378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defRPr sz="1200" b="1">
                <a:solidFill>
                  <a:srgbClr val="142A56"/>
                </a:solidFill>
                <a:latin typeface="Consolas"/>
              </a:defRPr>
            </a:pPr>
            <a:r>
              <a:t>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3854" y="1783080"/>
            <a:ext cx="774954" cy="384048"/>
          </a:xfrm>
          <a:prstGeom prst="roundRect">
            <a:avLst/>
          </a:prstGeom>
          <a:solidFill>
            <a:srgbClr val="FFE6E6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2142" y="1874519"/>
            <a:ext cx="738378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defRPr sz="1200" b="1">
                <a:solidFill>
                  <a:srgbClr val="142A56"/>
                </a:solidFill>
                <a:latin typeface="Consolas"/>
              </a:defRPr>
            </a:pPr>
            <a:r>
              <a:t>[MASK]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33672" y="1783080"/>
            <a:ext cx="774954" cy="384048"/>
          </a:xfrm>
          <a:prstGeom prst="roundRect">
            <a:avLst/>
          </a:prstGeom>
          <a:solidFill>
            <a:srgbClr val="E3F1F9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59" y="1874519"/>
            <a:ext cx="738378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defRPr sz="1200" b="1">
                <a:solidFill>
                  <a:srgbClr val="142A56"/>
                </a:solidFill>
                <a:latin typeface="Consolas"/>
              </a:defRPr>
            </a:pPr>
            <a:r>
              <a:t>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3490" y="1783080"/>
            <a:ext cx="774954" cy="384048"/>
          </a:xfrm>
          <a:prstGeom prst="roundRect">
            <a:avLst/>
          </a:prstGeom>
          <a:solidFill>
            <a:srgbClr val="E3F1F9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81777" y="1874519"/>
            <a:ext cx="738378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defRPr sz="1200" b="1">
                <a:solidFill>
                  <a:srgbClr val="142A56"/>
                </a:solidFill>
                <a:latin typeface="Consolas"/>
              </a:defRPr>
            </a:pPr>
            <a:r>
              <a:t>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3308" y="1783080"/>
            <a:ext cx="774954" cy="384048"/>
          </a:xfrm>
          <a:prstGeom prst="roundRect">
            <a:avLst/>
          </a:prstGeom>
          <a:solidFill>
            <a:srgbClr val="E3F1F9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11596" y="1874519"/>
            <a:ext cx="738378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defRPr sz="1200" b="1">
                <a:solidFill>
                  <a:srgbClr val="142A56"/>
                </a:solidFill>
                <a:latin typeface="Consolas"/>
              </a:defRPr>
            </a:pPr>
            <a:r>
              <a:t>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3126" y="1783080"/>
            <a:ext cx="774954" cy="384048"/>
          </a:xfrm>
          <a:prstGeom prst="roundRect">
            <a:avLst/>
          </a:prstGeom>
          <a:solidFill>
            <a:srgbClr val="E3F1F9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41414" y="1874519"/>
            <a:ext cx="738378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defRPr sz="1200" b="1">
                <a:solidFill>
                  <a:srgbClr val="142A56"/>
                </a:solidFill>
                <a:latin typeface="Consolas"/>
              </a:defRPr>
            </a:pPr>
            <a:r>
              <a:t>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26679" y="1975104"/>
            <a:ext cx="868681" cy="0"/>
          </a:xfrm>
          <a:prstGeom prst="line">
            <a:avLst/>
          </a:prstGeom>
          <a:ln w="25400">
            <a:solidFill>
              <a:srgbClr val="5F6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686800" y="1627632"/>
            <a:ext cx="2194560" cy="594360"/>
          </a:xfrm>
          <a:prstGeom prst="roundRect">
            <a:avLst/>
          </a:prstGeom>
          <a:solidFill>
            <a:srgbClr val="FFF2E1"/>
          </a:solidFill>
          <a:ln w="15240">
            <a:solidFill>
              <a:srgbClr val="DE8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0" y="1810512"/>
            <a:ext cx="1828800" cy="201168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ctr">
              <a:defRPr sz="1600" b="1">
                <a:solidFill>
                  <a:srgbClr val="142A56"/>
                </a:solidFill>
                <a:latin typeface="Aptos"/>
              </a:defRPr>
            </a:pPr>
            <a:r>
              <a:t>Predict: 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108960"/>
            <a:ext cx="3063240" cy="1280160"/>
          </a:xfrm>
          <a:prstGeom prst="roundRect">
            <a:avLst/>
          </a:prstGeom>
          <a:solidFill>
            <a:srgbClr val="E3F1F9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3364992"/>
            <a:ext cx="260604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>
              <a:defRPr sz="1800" b="1">
                <a:solidFill>
                  <a:srgbClr val="142A56"/>
                </a:solidFill>
                <a:latin typeface="Aptos"/>
              </a:defRPr>
            </a:pPr>
            <a:r>
              <a:t>Pretraining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767328"/>
            <a:ext cx="2606040" cy="2743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1250" b="0">
                <a:solidFill>
                  <a:srgbClr val="5F666E"/>
                </a:solidFill>
                <a:latin typeface="Aptos"/>
              </a:defRPr>
            </a:pPr>
            <a:r>
              <a:t>large protein sequence databases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0" y="3108960"/>
            <a:ext cx="3063240" cy="1280160"/>
          </a:xfrm>
          <a:prstGeom prst="roundRect">
            <a:avLst/>
          </a:prstGeom>
          <a:solidFill>
            <a:srgbClr val="E6F6EF"/>
          </a:solidFill>
          <a:ln w="15240">
            <a:solidFill>
              <a:srgbClr val="21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0" y="3364992"/>
            <a:ext cx="260604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>
              <a:defRPr sz="1800" b="1">
                <a:solidFill>
                  <a:srgbClr val="142A56"/>
                </a:solidFill>
                <a:latin typeface="Aptos"/>
              </a:defRPr>
            </a:pPr>
            <a:r>
              <a:t>Embeddings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767328"/>
            <a:ext cx="2606040" cy="27432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ctr">
              <a:defRPr sz="1250" b="0">
                <a:solidFill>
                  <a:srgbClr val="5F666E"/>
                </a:solidFill>
                <a:latin typeface="Aptos"/>
              </a:defRPr>
            </a:pPr>
            <a:r>
              <a:t>per-residue and whole-protein vectors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108960"/>
            <a:ext cx="3063240" cy="1280160"/>
          </a:xfrm>
          <a:prstGeom prst="roundRect">
            <a:avLst/>
          </a:prstGeom>
          <a:solidFill>
            <a:srgbClr val="EFEBF9"/>
          </a:solidFill>
          <a:ln w="1524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58200" y="3364992"/>
            <a:ext cx="260604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>
              <a:defRPr sz="1800" b="1">
                <a:solidFill>
                  <a:srgbClr val="142A56"/>
                </a:solidFill>
                <a:latin typeface="Aptos"/>
              </a:defRPr>
            </a:pPr>
            <a:r>
              <a:t>Transfer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3767328"/>
            <a:ext cx="2606040" cy="27432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1250" b="0">
                <a:solidFill>
                  <a:srgbClr val="5F666E"/>
                </a:solidFill>
                <a:latin typeface="Aptos"/>
              </a:defRPr>
            </a:pPr>
            <a:r>
              <a:t>structure, function, localization, variants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931920" y="3749039"/>
            <a:ext cx="548640" cy="0"/>
          </a:xfrm>
          <a:prstGeom prst="line">
            <a:avLst/>
          </a:prstGeom>
          <a:ln w="25400">
            <a:solidFill>
              <a:srgbClr val="5F6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635240" y="3749039"/>
            <a:ext cx="548639" cy="0"/>
          </a:xfrm>
          <a:prstGeom prst="line">
            <a:avLst/>
          </a:prstGeom>
          <a:ln w="25400">
            <a:solidFill>
              <a:srgbClr val="5F6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4400" y="4983480"/>
            <a:ext cx="10607040" cy="685800"/>
          </a:xfrm>
          <a:prstGeom prst="rect">
            <a:avLst/>
          </a:prstGeom>
          <a:noFill/>
        </p:spPr>
        <p:txBody>
          <a:bodyPr wrap="square" lIns="54864" tIns="36576" rIns="54864">
            <a:normAutofit/>
          </a:bodyPr>
          <a:lstStyle/>
          <a:p>
            <a:pPr>
              <a:defRPr sz="1500">
                <a:solidFill>
                  <a:srgbClr val="142A56"/>
                </a:solidFill>
                <a:latin typeface="Aptos"/>
              </a:defRPr>
            </a:pPr>
            <a:r>
              <a:t>• Protein LMs such as ESM showed that structural and functional signals can emerge from large-scale unsupervised training on amino acid sequences.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4652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66E"/>
                </a:solidFill>
                <a:latin typeface="Aptos"/>
              </a:defRPr>
            </a:pPr>
            <a:r>
              <a:t>Sources: Rives et al., 2021 ESM; ProteinBERT, 2022.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569373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A56"/>
                </a:solidFill>
                <a:latin typeface="Aptos Display"/>
              </a:defRPr>
            </a:pPr>
            <a:r>
              <a:rPr dirty="0"/>
              <a:t> Protein tokenization vs AlphaFold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66E"/>
                </a:solidFill>
                <a:latin typeface="Aptos"/>
              </a:defRPr>
            </a:pPr>
            <a:r>
              <a:t>AlphaFold uses sequence representations, but it is not merely a text-style language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11300"/>
            <a:ext cx="1920240" cy="1051560"/>
          </a:xfrm>
          <a:prstGeom prst="roundRect">
            <a:avLst/>
          </a:prstGeom>
          <a:solidFill>
            <a:srgbClr val="EFEBF9"/>
          </a:solidFill>
          <a:ln w="1524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1739900"/>
            <a:ext cx="1737360" cy="4114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400" b="1">
                <a:solidFill>
                  <a:srgbClr val="142A56"/>
                </a:solidFill>
                <a:latin typeface="Aptos"/>
              </a:defRPr>
            </a:pPr>
            <a:r>
              <a:t>Amino acid</a:t>
            </a:r>
            <a:br/>
            <a:r>
              <a:t>sequence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39" y="2041652"/>
            <a:ext cx="301752" cy="0"/>
          </a:xfrm>
          <a:prstGeom prst="line">
            <a:avLst/>
          </a:prstGeom>
          <a:ln w="25400">
            <a:solidFill>
              <a:srgbClr val="5F6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71800" y="1511300"/>
            <a:ext cx="1920240" cy="1051560"/>
          </a:xfrm>
          <a:prstGeom prst="roundRect">
            <a:avLst/>
          </a:prstGeom>
          <a:solidFill>
            <a:srgbClr val="E3F1F9"/>
          </a:solidFill>
          <a:ln w="15240"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1739900"/>
            <a:ext cx="1737360" cy="4114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400" b="1">
                <a:solidFill>
                  <a:srgbClr val="142A56"/>
                </a:solidFill>
                <a:latin typeface="Aptos"/>
              </a:defRPr>
            </a:pPr>
            <a:r>
              <a:t>MSA / evolutionary</a:t>
            </a:r>
            <a:br/>
            <a:r>
              <a:t>information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0" y="2041652"/>
            <a:ext cx="301752" cy="0"/>
          </a:xfrm>
          <a:prstGeom prst="line">
            <a:avLst/>
          </a:prstGeom>
          <a:ln w="25400">
            <a:solidFill>
              <a:srgbClr val="5F6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03520" y="1511300"/>
            <a:ext cx="1920240" cy="1051560"/>
          </a:xfrm>
          <a:prstGeom prst="roundRect">
            <a:avLst/>
          </a:prstGeom>
          <a:solidFill>
            <a:srgbClr val="E6F6EF"/>
          </a:solidFill>
          <a:ln w="15240">
            <a:solidFill>
              <a:srgbClr val="21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94959" y="1739900"/>
            <a:ext cx="1737360" cy="4114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400" b="1">
                <a:solidFill>
                  <a:srgbClr val="142A56"/>
                </a:solidFill>
                <a:latin typeface="Aptos"/>
              </a:defRPr>
            </a:pPr>
            <a:r>
              <a:rPr dirty="0"/>
              <a:t>Residue-pair</a:t>
            </a:r>
            <a:br>
              <a:rPr dirty="0"/>
            </a:br>
            <a:r>
              <a:rPr dirty="0"/>
              <a:t>representation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69479" y="2041652"/>
            <a:ext cx="301752" cy="0"/>
          </a:xfrm>
          <a:prstGeom prst="line">
            <a:avLst/>
          </a:prstGeom>
          <a:ln w="25400">
            <a:solidFill>
              <a:srgbClr val="5F6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635240" y="1511300"/>
            <a:ext cx="1920240" cy="1051560"/>
          </a:xfrm>
          <a:prstGeom prst="roundRect">
            <a:avLst/>
          </a:prstGeom>
          <a:solidFill>
            <a:srgbClr val="FFF2E1"/>
          </a:solidFill>
          <a:ln w="15240">
            <a:solidFill>
              <a:srgbClr val="DE8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79" y="1739900"/>
            <a:ext cx="1737360" cy="4114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400" b="1">
                <a:solidFill>
                  <a:srgbClr val="142A56"/>
                </a:solidFill>
                <a:latin typeface="Aptos"/>
              </a:defRPr>
            </a:pPr>
            <a:r>
              <a:rPr dirty="0"/>
              <a:t>Structure</a:t>
            </a:r>
            <a:br>
              <a:rPr dirty="0"/>
            </a:br>
            <a:r>
              <a:rPr dirty="0"/>
              <a:t>module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01200" y="2041652"/>
            <a:ext cx="301752" cy="0"/>
          </a:xfrm>
          <a:prstGeom prst="line">
            <a:avLst/>
          </a:prstGeom>
          <a:ln w="25400">
            <a:solidFill>
              <a:srgbClr val="5F6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966959" y="1511300"/>
            <a:ext cx="1920240" cy="1051560"/>
          </a:xfrm>
          <a:prstGeom prst="roundRect">
            <a:avLst/>
          </a:prstGeom>
          <a:solidFill>
            <a:srgbClr val="F0F2F5"/>
          </a:solidFill>
          <a:ln w="15240">
            <a:solidFill>
              <a:srgbClr val="5F6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399" y="1739900"/>
            <a:ext cx="1737360" cy="4114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400" b="1">
                <a:solidFill>
                  <a:srgbClr val="142A56"/>
                </a:solidFill>
                <a:latin typeface="Aptos"/>
              </a:defRPr>
            </a:pPr>
            <a:r>
              <a:t>3D atomic</a:t>
            </a:r>
            <a:br/>
            <a:r>
              <a:t>coordinates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66E"/>
                </a:solidFill>
                <a:latin typeface="Aptos"/>
              </a:defRPr>
            </a:pPr>
            <a:r>
              <a:t>Sources: AlphaFold 3 Nature paper; AlphaFold family uses rich residue and pair representations for structure prediction.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4933C59-021F-7E1B-8BB7-1EC53026BA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708" y="3000131"/>
            <a:ext cx="6797041" cy="317308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2534EE-3790-1633-7371-D8EEAE2E8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0" y="579085"/>
            <a:ext cx="12192000" cy="644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3260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紫罗兰色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formulas xmlns="https://texslide.com/formulas/2023/main"/>
</file>

<file path=customXml/itemProps1.xml><?xml version="1.0" encoding="utf-8"?>
<ds:datastoreItem xmlns:ds="http://schemas.openxmlformats.org/officeDocument/2006/customXml" ds:itemID="{A3C1B8D1-241A-C84B-87A1-CDE7FC0C071B}">
  <ds:schemaRefs>
    <ds:schemaRef ds:uri="https://texslide.com/formulas/2023/mai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21428</TotalTime>
  <Words>2466</Words>
  <Application>Microsoft Office PowerPoint</Application>
  <PresentationFormat>Widescreen</PresentationFormat>
  <Paragraphs>690</Paragraphs>
  <Slides>43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9" baseType="lpstr">
      <vt:lpstr>-apple-system</vt:lpstr>
      <vt:lpstr>Google Sans</vt:lpstr>
      <vt:lpstr>Noto Sans CJK SC</vt:lpstr>
      <vt:lpstr>华文中宋</vt:lpstr>
      <vt:lpstr>Aptos</vt:lpstr>
      <vt:lpstr>Aptos Display</vt:lpstr>
      <vt:lpstr>Aptos Mono</vt:lpstr>
      <vt:lpstr>Arial</vt:lpstr>
      <vt:lpstr>Cambria Math</vt:lpstr>
      <vt:lpstr>Century Gothic</vt:lpstr>
      <vt:lpstr>Consolas</vt:lpstr>
      <vt:lpstr>Gill Sans MT</vt:lpstr>
      <vt:lpstr>Times New Roman</vt:lpstr>
      <vt:lpstr>Wingdings</vt:lpstr>
      <vt:lpstr>Wingdings 3</vt:lpstr>
      <vt:lpstr>Ion</vt:lpstr>
      <vt:lpstr>生物统计和生物信息引论  Lecture 11   生物医学问题中的复杂模型应用 I    </vt:lpstr>
      <vt:lpstr>Outline</vt:lpstr>
      <vt:lpstr>Recap: central dogma</vt:lpstr>
      <vt:lpstr>Protein: from sequence to structure</vt:lpstr>
      <vt:lpstr>How the sequence folds to the 3D structure</vt:lpstr>
      <vt:lpstr>Protein Sequence data</vt:lpstr>
      <vt:lpstr>PowerPoint Presentation</vt:lpstr>
      <vt:lpstr>PowerPoint Presentation</vt:lpstr>
      <vt:lpstr>Multiple Sequence Alignment</vt:lpstr>
      <vt:lpstr>PowerPoint Presentation</vt:lpstr>
      <vt:lpstr>PowerPoint Presentation</vt:lpstr>
      <vt:lpstr>PowerPoint Presentation</vt:lpstr>
      <vt:lpstr>Protein Parameterization</vt:lpstr>
      <vt:lpstr>Protein 3D structure data</vt:lpstr>
      <vt:lpstr>Protein Parameterization</vt:lpstr>
      <vt:lpstr>Scientific goal</vt:lpstr>
      <vt:lpstr>PowerPoint Presentation</vt:lpstr>
      <vt:lpstr>PowerPoint Presentation</vt:lpstr>
      <vt:lpstr>PowerPoint Presentation</vt:lpstr>
      <vt:lpstr>PowerPoint Presentation</vt:lpstr>
      <vt:lpstr>From sequence to structure</vt:lpstr>
      <vt:lpstr>Model structure</vt:lpstr>
      <vt:lpstr>Progress in Large Language Model</vt:lpstr>
      <vt:lpstr>PowerPoint Presentation</vt:lpstr>
      <vt:lpstr>What is a language model </vt:lpstr>
      <vt:lpstr>Auto Regressive</vt:lpstr>
      <vt:lpstr>Token</vt:lpstr>
      <vt:lpstr>Token</vt:lpstr>
      <vt:lpstr>From token IDs to embeddings</vt:lpstr>
      <vt:lpstr>Embedding space</vt:lpstr>
      <vt:lpstr>Context changes representation</vt:lpstr>
      <vt:lpstr>Key idea: weighted average</vt:lpstr>
      <vt:lpstr>Attention</vt:lpstr>
      <vt:lpstr>Measuring similarity</vt:lpstr>
      <vt:lpstr>Prediction</vt:lpstr>
      <vt:lpstr>Autoregressive generation </vt:lpstr>
      <vt:lpstr>Training: Predict the Next Token</vt:lpstr>
      <vt:lpstr>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</dc:title>
  <dc:subject/>
  <dc:creator>Deng</dc:creator>
  <cp:keywords/>
  <dc:description/>
  <cp:lastModifiedBy>Jianqiao Wang</cp:lastModifiedBy>
  <cp:revision>172</cp:revision>
  <dcterms:created xsi:type="dcterms:W3CDTF">2020-06-29T14:27:43Z</dcterms:created>
  <dcterms:modified xsi:type="dcterms:W3CDTF">2026-05-19T10:53:58Z</dcterms:modified>
  <cp:category/>
  <dc:language>zh-CN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amble">
    <vt:lpwstr>\def\pgfsysdriver{pgfsys-dvisvgm.def}
\usepackage{amsmath}
\usepackage{amssymb}
\usepackage{ifxetex}
% Uncommenting this will make compilation slightly slower
%\ifxetex
%    \usepackage{xeCJK}
%\fi
</vt:lpwstr>
  </property>
  <property fmtid="{D5CDD505-2E9C-101B-9397-08002B2CF9AE}" pid="4" name="PresentationFormat">
    <vt:lpwstr>宽屏</vt:lpwstr>
  </property>
  <property fmtid="{D5CDD505-2E9C-101B-9397-08002B2CF9AE}" pid="5" name="Slides">
    <vt:i4>17</vt:i4>
  </property>
</Properties>
</file>