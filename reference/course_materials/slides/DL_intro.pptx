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51"/>
  </p:notesMasterIdLst>
  <p:sldIdLst>
    <p:sldId id="256" r:id="rId3"/>
    <p:sldId id="310" r:id="rId4"/>
    <p:sldId id="312" r:id="rId5"/>
    <p:sldId id="313" r:id="rId6"/>
    <p:sldId id="257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89" r:id="rId17"/>
    <p:sldId id="290" r:id="rId18"/>
    <p:sldId id="292" r:id="rId19"/>
    <p:sldId id="293" r:id="rId20"/>
    <p:sldId id="294" r:id="rId21"/>
    <p:sldId id="295" r:id="rId22"/>
    <p:sldId id="296" r:id="rId23"/>
    <p:sldId id="298" r:id="rId24"/>
    <p:sldId id="299" r:id="rId25"/>
    <p:sldId id="308" r:id="rId26"/>
    <p:sldId id="297" r:id="rId27"/>
    <p:sldId id="301" r:id="rId28"/>
    <p:sldId id="303" r:id="rId29"/>
    <p:sldId id="302" r:id="rId30"/>
    <p:sldId id="273" r:id="rId31"/>
    <p:sldId id="304" r:id="rId32"/>
    <p:sldId id="272" r:id="rId33"/>
    <p:sldId id="305" r:id="rId34"/>
    <p:sldId id="275" r:id="rId35"/>
    <p:sldId id="277" r:id="rId36"/>
    <p:sldId id="278" r:id="rId37"/>
    <p:sldId id="280" r:id="rId38"/>
    <p:sldId id="307" r:id="rId39"/>
    <p:sldId id="279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306" r:id="rId49"/>
    <p:sldId id="309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74CC68F-327B-674B-8B30-935AE1C738EE}">
          <p14:sldIdLst>
            <p14:sldId id="256"/>
            <p14:sldId id="310"/>
            <p14:sldId id="312"/>
            <p14:sldId id="313"/>
            <p14:sldId id="257"/>
            <p14:sldId id="261"/>
            <p14:sldId id="262"/>
            <p14:sldId id="265"/>
            <p14:sldId id="266"/>
            <p14:sldId id="267"/>
            <p14:sldId id="268"/>
            <p14:sldId id="269"/>
            <p14:sldId id="271"/>
            <p14:sldId id="270"/>
            <p14:sldId id="289"/>
            <p14:sldId id="290"/>
            <p14:sldId id="292"/>
            <p14:sldId id="293"/>
            <p14:sldId id="294"/>
            <p14:sldId id="295"/>
            <p14:sldId id="296"/>
            <p14:sldId id="298"/>
            <p14:sldId id="299"/>
            <p14:sldId id="308"/>
            <p14:sldId id="297"/>
            <p14:sldId id="301"/>
            <p14:sldId id="303"/>
            <p14:sldId id="302"/>
            <p14:sldId id="273"/>
            <p14:sldId id="304"/>
            <p14:sldId id="272"/>
            <p14:sldId id="305"/>
            <p14:sldId id="275"/>
            <p14:sldId id="277"/>
            <p14:sldId id="278"/>
            <p14:sldId id="280"/>
            <p14:sldId id="307"/>
            <p14:sldId id="279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306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1"/>
    <p:restoredTop sz="94719"/>
  </p:normalViewPr>
  <p:slideViewPr>
    <p:cSldViewPr snapToGrid="0">
      <p:cViewPr varScale="1">
        <p:scale>
          <a:sx n="104" d="100"/>
          <a:sy n="104" d="100"/>
        </p:scale>
        <p:origin x="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zh-CN" sz="1800" b="0" u="none" strike="noStrike">
                <a:solidFill>
                  <a:schemeClr val="dk1"/>
                </a:solidFill>
                <a:uFillTx/>
                <a:latin typeface="Century Gothic"/>
              </a:rPr>
              <a:t>单击以移动幻灯片</a:t>
            </a:r>
            <a:endParaRPr lang="en-US" sz="1800" b="0" u="none" strike="noStrike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zh-CN" sz="1600" b="0" u="none" strike="noStrike">
                <a:solidFill>
                  <a:srgbClr val="000000"/>
                </a:solidFill>
                <a:uFillTx/>
                <a:latin typeface="Arial"/>
              </a:rPr>
              <a:t>点击编辑备注格式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5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5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6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A51B4EE-1874-43AA-A316-2F5BCD9BB07E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2B899-B7FC-CAA5-0FAD-2CE888D4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97ED87E3-8AF4-0B36-E6E7-249DF0CD1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A08354B-E98D-A579-2F29-04FE72DE08E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3A94B114-2A4E-6C35-55B3-32735A93B8AF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7356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E9CA5-8955-9136-9713-573FB2C6B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A06708CA-1D92-10E6-972D-0B5513637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DAE4FD8D-5E61-EECB-D676-D547CD8C58C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83D727DA-0612-3652-37F2-DE6FD71636DB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8892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3D45-E5F1-2ABF-2361-D10162179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2CE8D32C-2140-4243-7DA0-51627DA2C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1FE92FEE-8BFC-FC58-45C9-49EB882535E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7DDDDF99-5EEC-4ECB-DB08-C838DD88E009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2265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C3AD8-18FE-55E4-A022-A91A00B4B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69BB12C9-E328-923D-6CF1-470B60EB0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B5822B1F-10CD-E99B-DF3B-B2E98B92117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FCD37164-2F7F-E595-209D-A61C060CE4C1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573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876C1-B1D9-E5B8-7F6F-C9FA34E3E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6F1174C9-51F9-50E5-48A5-CFF3986E8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D764E9E1-1D25-DA97-B0FA-DD702AFA67D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0D6C5066-85E5-9225-5191-ABBA4199E487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024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212B-AAD1-B22E-9F06-30244930C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FADC8478-0CCD-A2BE-7470-D23C0C2F4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66F63764-516E-D51D-2E0C-6BDB4C512EB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F94CC1DB-E845-FF70-D255-FED64A1213E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2882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BEC29-27F1-9226-59FD-F3F7EAF4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A5A522FE-D186-5451-7EEC-17C952344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D6EA9DC-FA27-F818-9A47-361E28811D8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A03C7825-C3E0-7906-4DFB-25F37EC11039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0456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3D939-D5E9-DCC9-16AC-CB3A4FBB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78B390FA-2383-6132-7E73-0E2775377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92C83B8D-AD26-DF75-239E-C271FDED609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B1B9100F-2F98-8442-BAC0-B8779CC42736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2876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1D780-90A4-263A-D9B9-A18F02B53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3A1BBA5F-5F0F-9B44-37DB-FAD9C9973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2C505744-1806-5366-91E9-DAF370B2D16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7BDE2059-96C0-D7DD-8700-F2B758F5DDF2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8386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983A6-BEF1-DCA8-4300-0832031F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28C1A964-02EE-C43F-0423-33F8D70AF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8417234E-D15B-623A-215E-B7867389E2F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4AB6F52B-A1C3-E588-FB4C-EE124D452ABE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20620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17ED2-C14B-D8FA-A596-53D1838A2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8015EE2E-376B-A697-CE10-A99674D71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F4B9A02F-08F1-E045-25EB-4981C2DD8F6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BA32BA83-4126-FC4F-051F-0D506EC1A806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0032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B17BF-7129-F1FC-D025-D67517176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D5239EBA-D863-599A-7E52-4789A0473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59EF02BF-8E18-0215-57EF-ECA6A922875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47805FE3-D68B-2FE9-FBE0-FD1E9E7AB26C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7260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FA269-B5CF-CDFA-379E-BE6766067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1DC6FCD5-15D1-7AC7-3DF2-DF49FBFBD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7A1C0096-38EA-7B1E-106F-0549F3587DB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2F2004D5-C775-29F9-5C7D-F9FADC4DD8AC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79800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A5DF4-1CA1-4DD3-751D-C82F6193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94347427-CBA7-628E-9D69-BFC9E3AB2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8D74B3A1-3443-756A-021A-E4A03F8956F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32C3BB2F-D102-73EA-0586-F5589A5EC57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71759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C2972-A8F5-D89B-AB45-BBD29409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EA593574-8C8B-66DC-36E8-F975223D1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9C2CE7F-763A-FC6B-D9DD-F3BE0E9AD18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8647FAA2-8AB9-D091-26A6-57FA181225C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00681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3ACE5-8258-13BF-FA57-DAF2CFAD7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9BDD45F9-FF59-9F47-A4F1-59E3A96BD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1288F226-B90A-2335-AADF-26C3912F368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53AC9F60-263D-E5B4-E6EA-3E8AF13F172E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8275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B92F9-1FC8-D440-911F-0F953AC60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1E5CE6F8-671E-FA55-F9F1-48C48F4F0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32CAC337-3DE7-FF01-9BF8-0359F8A28DD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C6EB2DCA-07E0-352F-8DF4-D4631B3C456A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7373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B4AF-E60B-53FE-AC1E-5660D7014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38DE2BA4-AC7A-186F-F9B2-029D3E536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9E63AD09-B6BE-D148-D898-ABB33354E65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C231ADDF-C9E7-FBF1-8171-8084FDA167E9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6460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3BCFD-4DEE-D26A-540F-5A976E6B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C0D74BED-D373-2243-56F6-EA9A565C6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F7936678-E6E6-75EB-08DA-84148594D4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1AB1CF3A-1E25-435E-232D-B9C5CD7EBC42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706016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76743-1D2B-CAA7-6C9C-8B38C81E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58E33A10-F913-648B-8BC6-74CC59BD0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D7BDA57E-C944-8713-C2F0-1EEFA1CFEE6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2DD11D31-B6CF-D519-677D-158483C836CB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7139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EDA24-2315-4440-69F7-9E8ACCB6F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E9094DFB-CA23-4AF4-A0B5-999A4DCE2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FF2AE11-8B98-9CE7-0093-F9C946B3869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F5D74F76-9D92-5234-60D4-731521B1E7A7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8723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3A8FB-783D-738B-2C16-D31BAE37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0FB47B4E-C3F0-58ED-B179-B7A9759C7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3DEE132B-DB85-F694-5255-89672B96886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BC4FF58A-C76C-940C-7242-F5BF80008D80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79880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6C78-5BCC-5F09-05F9-52471F18B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F35514B0-95AB-B042-DAAC-80122452B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368B3C67-6544-2D8A-8666-7A051D3120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DF32750A-7BA8-AF93-8CF2-2E77AD824E0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10903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566C-57E7-AF06-90F1-3D604D450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0EA83378-F1C4-73C3-A827-C92DAB188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FA03C07B-A3AF-BA9E-F935-A8905D5ED64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</a:rPr>
              <a:t>口头讲一下为啥叫做softmax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A3F169FC-6395-98C0-56BD-A6B28C259C07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61590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96B8B-2732-A244-B35A-A05E4F04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EB2CADB2-3714-C3F6-1D8A-916CF9306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FD645B2D-364E-3FEC-4150-E30628686B7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3CEB6FD6-4D8B-FD40-5BD1-9CC3249A7D8F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44554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C6D7B-8908-DD9D-1D0C-85FF4ABC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151C020C-3D8D-C095-641B-87254F493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86D44D28-06B6-1CF6-59FA-BC01133F96D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9C2F11D0-1953-B4B5-7F6D-A1B3FE6BD329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03202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CBB58-18A4-1B5E-346A-1F46FD39C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700601D9-7F46-7F45-9640-774CB5195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5A3614F7-4001-2CB9-3AC6-7234659B1F8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5D032657-2C3C-902B-2CBC-23CF7A26BC6D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42158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A7A45-8720-11F7-7C2C-4C79B311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17897B9B-5C27-2867-439B-DA2E01AB6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A588DF52-BB10-768B-1DB4-AF29E551BFD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05735242-DFE9-F126-603F-E023621C9D08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98656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5580-8D2E-871A-C2A1-2039D5D2D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C0FD13B1-877E-1AF6-D030-F75D882A3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1EC9DC84-87AF-CC8F-B8FC-DA8EA26CACD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582B4C12-E3CB-4184-D4CD-56069CB96980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29667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46B1B-B2C3-169E-7864-E11C4007A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5751CD95-624B-F0B4-95E6-9191D0255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394E6D81-7275-FB0B-879C-7150E36DCB7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FB1CBDAA-F11E-ADD5-40B9-8C53D10CFD2D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09682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485DB-AA92-282F-9B0B-978BF793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9548FBC6-0E9A-E7F8-C2E0-92155146E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09E9C557-7CB6-FAEB-85FC-3D1CD4C8F23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4F1081B5-0AE1-E606-1E33-B0CC31D74268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65558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7DA2E-FCF8-66F7-B07D-A42CA9C74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DBAED165-E920-65F0-891A-307FF2D6E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07498745-096E-2E73-BDE5-A11A4E1F26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64D86118-8839-95C1-248F-DE8AD6AC440D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37159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91C16-5EE2-6D70-0F2F-A40716B6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F4B2AAD1-9180-1695-231D-6D5B6541B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7CC2A154-AA72-2290-5EC5-07BD07CB046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9867B4A6-049A-39A7-0187-C8D2A0511BFD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08398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E4C12-4E9E-1FA9-67C6-2B3E9683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29851A91-698C-B3F5-D85D-720E2C715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8046558-3374-B8E5-47A8-DD4DFCA7CDA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9CA78BEE-B70D-0266-F0DF-92D7257D7F48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81543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9D68C-F908-3F26-2B02-A9A7BE8F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422B746D-E182-CE32-327A-A62681007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7E6BCCE-647F-F3D8-2F51-8C2A984AD99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D7E2D71E-F10C-83A9-2EBA-83E6F201C46C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56942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6C2F9-CF9F-9163-D186-CE01724E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C0A76135-7549-3E8F-E1A2-9D0ED0249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F75D54E9-D0E5-CB8B-36D4-448A7188163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35D0ECBD-B054-BF7D-A630-BD028DD5C1F3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47767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1FE41-725F-6D17-DD8A-532602B8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E430A096-40D6-87D7-0497-B398CD9D8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DB285B08-C22E-AFEA-A12A-6D4AA1CB133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7E4A2979-0A94-FDEB-EC49-A010224D315C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7556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A8443-84A1-5938-5D8F-78B5D4AE8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7C31EA91-4EA6-2DF2-8E9F-C4B6A57A3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A7EFE335-97AB-EF8C-9F11-41E45A52F59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03F5F625-95CA-3216-42BF-541E3B7CAC39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37627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6DC59-C538-9AC7-DF10-959159C17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33B8EB41-9DC1-C271-E049-5738A9E7D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19806853-198D-CAC8-4A5B-8ADB0AE114D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BEDA47D7-F1EC-31F4-7610-0EAD9DF320D3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89183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90F04-FF7C-1353-9030-E80A6CE53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B7D0E2AE-90AC-32E5-7A8F-E5F987CF7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81A8EA07-1B43-7F70-1BF4-A4BAF4C4E11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95264D1D-A8D1-78EE-1268-EB25CA753F4F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879521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B76EC-FE24-5229-E1B7-4BFB40CCA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DF42BDD4-E113-7F87-159E-8E3A6F2F3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EEDE4295-6E4F-4453-9555-86B0043C716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4863BB91-1129-362F-A14E-54598478FB60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61928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BA6EE-1144-9644-8A5D-D3776ED09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F4EAD1B2-D997-A7FC-4AE6-FEEDF2413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F818739E-ED41-5717-5A28-AB39A9922BC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3994E659-6E47-4CB7-4DFA-5B1E9C18631A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45526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47868-A28A-63BB-42DE-FB6CA0AC7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27E61DA4-97B6-D587-D72C-ADFE4FE86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EC10C42F-B6C5-EA84-8FBA-B28FED76CDF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D29561F7-831A-440A-70E8-4B721654ECB2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4820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C631E69-FE8D-40A5-83BC-7A40A0579DC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62696B16-10D3-9E3A-6BB0-889C587922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200" y="1447920"/>
            <a:ext cx="940356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Click to edit Master text styles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Second level</a:t>
            </a:r>
          </a:p>
          <a:p>
            <a:pPr marL="1257480" lvl="2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Third level</a:t>
            </a:r>
          </a:p>
          <a:p>
            <a:pPr marL="1714680" lvl="3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Fourth level</a:t>
            </a:r>
          </a:p>
          <a:p>
            <a:pPr marL="2171880" lvl="4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Fifth level</a:t>
            </a:r>
            <a:endParaRPr lang="en-US" sz="1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C20347A0-056D-5BA9-8169-23AC579A1A2D}"/>
              </a:ext>
            </a:extLst>
          </p:cNvPr>
          <p:cNvSpPr>
            <a:spLocks noGrp="1"/>
          </p:cNvSpPr>
          <p:nvPr>
            <p:ph type="title" idx="11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Click to edit Master title style</a:t>
            </a:r>
            <a:endParaRPr lang="en-US" sz="3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6F98EF3-F25C-4491-8E47-9A859931980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13ABBB5C-CA96-CACC-C3DC-87C591D2C8A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Click to edit Master title style</a:t>
            </a:r>
            <a:endParaRPr lang="en-US" sz="3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FA9D1A3-8910-8B0A-7CB7-D58CA93190A1}"/>
              </a:ext>
            </a:extLst>
          </p:cNvPr>
          <p:cNvSpPr>
            <a:spLocks noGrp="1"/>
          </p:cNvSpPr>
          <p:nvPr>
            <p:ph hasCustomPrompt="1"/>
          </p:nvPr>
        </p:nvSpPr>
        <p:spPr>
          <a:xfrm>
            <a:off x="646200" y="1447920"/>
            <a:ext cx="940356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Click to edit Master text styles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Second level</a:t>
            </a:r>
          </a:p>
          <a:p>
            <a:pPr marL="1257480" lvl="2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Third level</a:t>
            </a:r>
          </a:p>
          <a:p>
            <a:pPr marL="1714680" lvl="3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Fourth level</a:t>
            </a:r>
          </a:p>
          <a:p>
            <a:pPr marL="2171880" lvl="4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Fifth level</a:t>
            </a:r>
            <a:endParaRPr lang="en-US" sz="1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/>
          <p:cNvPicPr/>
          <p:nvPr/>
        </p:nvPicPr>
        <p:blipFill>
          <a:blip r:embed="rId4"/>
          <a:srcRect l="3610"/>
          <a:stretch/>
        </p:blipFill>
        <p:spPr>
          <a:xfrm>
            <a:off x="1244160" y="243828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Picture 6"/>
          <p:cNvPicPr/>
          <p:nvPr/>
        </p:nvPicPr>
        <p:blipFill>
          <a:blip r:embed="rId5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F2EFF3">
                  <a:alpha val="7000"/>
                </a:srgbClr>
              </a:gs>
              <a:gs pos="36000">
                <a:srgbClr val="F2EFF3">
                  <a:alpha val="6000"/>
                </a:srgbClr>
              </a:gs>
              <a:gs pos="69000">
                <a:srgbClr val="F2EF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3" name="Picture 8"/>
          <p:cNvPicPr/>
          <p:nvPr/>
        </p:nvPicPr>
        <p:blipFill>
          <a:blip r:embed="rId6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dk1">
                    <a:tint val="75000"/>
                    <a:alpha val="60000"/>
                  </a:schemeClr>
                </a:solidFill>
                <a:uFillTx/>
                <a:latin typeface="Century Gothi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dk1">
                    <a:tint val="75000"/>
                    <a:alpha val="60000"/>
                  </a:schemeClr>
                </a:solidFill>
                <a:uFillTx/>
                <a:latin typeface="Century Gothic"/>
              </a:rPr>
              <a:t> </a:t>
            </a:r>
            <a:endParaRPr lang="en-US" sz="11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2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0831AF0-FBC4-4993-B694-9A2B661C5DFC}" type="slidenum">
              <a: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rPr>
              <a:t>‹#›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D86A4C5-1539-7816-FE3D-F9A00E28456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571" y="6324962"/>
            <a:ext cx="3653499" cy="47495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02B91D2-A610-0EDB-D9CA-D816AFFE4754}"/>
              </a:ext>
            </a:extLst>
          </p:cNvPr>
          <p:cNvSpPr txBox="1"/>
          <p:nvPr userDrawn="1"/>
        </p:nvSpPr>
        <p:spPr>
          <a:xfrm>
            <a:off x="646200" y="406400"/>
            <a:ext cx="9403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l"/>
        <a:defRPr sz="2000" kern="1200">
          <a:solidFill>
            <a:srgbClr val="94209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l"/>
        <a:defRPr sz="2200" kern="1200">
          <a:solidFill>
            <a:srgbClr val="94209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l"/>
        <a:defRPr sz="1800" kern="1200">
          <a:solidFill>
            <a:srgbClr val="94209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l"/>
        <a:defRPr sz="2200" kern="1200">
          <a:solidFill>
            <a:srgbClr val="94209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4.xml"/><Relationship Id="rId7" Type="http://schemas.openxmlformats.org/officeDocument/2006/relationships/image" Target="../media/image1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3.pn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17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3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gif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20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 idx="11"/>
          </p:nvPr>
        </p:nvSpPr>
        <p:spPr>
          <a:xfrm>
            <a:off x="1473480" y="1063800"/>
            <a:ext cx="9244800" cy="500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生物统计和生物信息引论</a:t>
            </a:r>
            <a:br>
              <a:rPr sz="3600" dirty="0"/>
            </a:br>
            <a:br>
              <a:rPr sz="3600" dirty="0"/>
            </a:br>
            <a:r>
              <a:rPr 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Lecture 1</a:t>
            </a: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0</a:t>
            </a:r>
            <a:r>
              <a:rPr 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 </a:t>
            </a:r>
            <a:br>
              <a:rPr sz="3600" dirty="0"/>
            </a:br>
            <a:br>
              <a:rPr sz="3600" dirty="0"/>
            </a:br>
            <a:r>
              <a:rPr lang="zh-CN" alt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深度学习基础</a:t>
            </a:r>
            <a:br>
              <a:rPr sz="3600" dirty="0"/>
            </a:br>
            <a:br>
              <a:rPr lang="en-US" sz="3100" dirty="0"/>
            </a:br>
            <a:br>
              <a:rPr sz="3100" dirty="0"/>
            </a:br>
            <a:br>
              <a:rPr sz="4400" dirty="0"/>
            </a:br>
            <a:br>
              <a:rPr sz="2400" dirty="0"/>
            </a:br>
            <a:endParaRPr lang="en-US" sz="3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3" name="文本框 5"/>
          <p:cNvSpPr/>
          <p:nvPr/>
        </p:nvSpPr>
        <p:spPr>
          <a:xfrm>
            <a:off x="3366000" y="4699440"/>
            <a:ext cx="545940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28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王健桥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" sz="28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 jianqw@mail.tsinghua.edu.cn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sldNum" idx="3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rgbClr val="8B8B8B"/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DA314AF9-3C40-4DB2-885B-07A833D88667}" type="slidenum">
              <a:rPr lang="en-US" sz="2800" b="0" u="none" strike="noStrike">
                <a:solidFill>
                  <a:srgbClr val="8B8B8B"/>
                </a:solidFill>
                <a:uFillTx/>
                <a:latin typeface="Century Gothic"/>
              </a:rPr>
              <a:t>1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 xmlns:p15="http://schemas.microsoft.com/office/powerpoint/2012/main"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A972-E185-D896-100A-422097797B20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pPr defTabSz="457200">
              <a:lnSpc>
                <a:spcPct val="100000"/>
              </a:lnSpc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Motivation: Why AI in Biomedicine?</a:t>
            </a:r>
            <a:endParaRPr lang="zh-CN" altLang="en-US" sz="3600" dirty="0">
              <a:solidFill>
                <a:schemeClr val="dk2"/>
              </a:solidFill>
              <a:latin typeface="华文中宋"/>
              <a:ea typeface="华文中宋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78FCB-BF8A-E0B2-A379-3B033D4A1099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dk1"/>
                </a:solidFill>
                <a:latin typeface="华文中宋"/>
                <a:ea typeface="华文中宋"/>
              </a:rPr>
              <a:t>生物医学数据规模快速增长：医学影像、基因组、电子病历、可穿戴设备、实验数据</a:t>
            </a:r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r>
              <a:rPr lang="zh-CN" altLang="en-US" sz="2400" dirty="0">
                <a:solidFill>
                  <a:schemeClr val="dk1"/>
                </a:solidFill>
                <a:latin typeface="华文中宋"/>
                <a:ea typeface="华文中宋"/>
              </a:rPr>
              <a:t>难以处理的多模态、非结构化数据</a:t>
            </a:r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r>
              <a:rPr lang="zh-CN" altLang="en-US" sz="2400" dirty="0">
                <a:solidFill>
                  <a:schemeClr val="dk1"/>
                </a:solidFill>
                <a:latin typeface="华文中宋"/>
                <a:ea typeface="华文中宋"/>
              </a:rPr>
              <a:t>什么是多模态？</a:t>
            </a:r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r>
              <a:rPr lang="zh-CN" altLang="en-US" sz="2400" dirty="0">
                <a:solidFill>
                  <a:schemeClr val="dk1"/>
                </a:solidFill>
                <a:latin typeface="华文中宋"/>
                <a:ea typeface="华文中宋"/>
              </a:rPr>
              <a:t>什么是非结构化数据？</a:t>
            </a:r>
            <a:endParaRPr lang="en-US" altLang="zh-CN" sz="24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777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A972-E185-D896-100A-422097797B2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719362" cy="720000"/>
          </a:xfrm>
        </p:spPr>
        <p:txBody>
          <a:bodyPr/>
          <a:lstStyle/>
          <a:p>
            <a:pPr defTabSz="457200">
              <a:lnSpc>
                <a:spcPct val="100000"/>
              </a:lnSpc>
            </a:pPr>
            <a:r>
              <a:rPr lang="it-IT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Example: Multimodal AI for disease Prognosis</a:t>
            </a:r>
            <a:endParaRPr lang="zh-CN" altLang="en-US" sz="3600" dirty="0">
              <a:solidFill>
                <a:schemeClr val="dk2"/>
              </a:solidFill>
              <a:latin typeface="华文中宋"/>
              <a:ea typeface="华文中宋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78FCB-BF8A-E0B2-A379-3B033D4A109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95296" y="1263813"/>
            <a:ext cx="9403560" cy="2669948"/>
          </a:xfrm>
        </p:spPr>
        <p:txBody>
          <a:bodyPr/>
          <a:lstStyle/>
          <a:p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Input: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Imaging: CT / pathology images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Omics: Protein, metabolites 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Clinical records: Age, stage, treatment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Clinical notes: Pathology reports</a:t>
            </a:r>
          </a:p>
          <a:p>
            <a:pPr marL="457200" lvl="1" indent="0">
              <a:buNone/>
            </a:pPr>
            <a:endParaRPr lang="en-US" altLang="zh-CN" sz="16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8DA7EF-8A18-5968-AE0D-F62FA6490633}"/>
              </a:ext>
            </a:extLst>
          </p:cNvPr>
          <p:cNvSpPr txBox="1">
            <a:spLocks/>
          </p:cNvSpPr>
          <p:nvPr/>
        </p:nvSpPr>
        <p:spPr>
          <a:xfrm>
            <a:off x="603242" y="4357208"/>
            <a:ext cx="9403560" cy="266994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0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18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Output: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Survival prediction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Treatment response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Disease subtype</a:t>
            </a:r>
          </a:p>
          <a:p>
            <a:pPr marL="457200" lvl="1" indent="0">
              <a:buFont typeface="Wingdings" pitchFamily="2" charset="2"/>
              <a:buNone/>
            </a:pPr>
            <a:endParaRPr lang="en-US" altLang="zh-CN" sz="16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05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A972-E185-D896-100A-422097797B2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719362" cy="720000"/>
          </a:xfrm>
        </p:spPr>
        <p:txBody>
          <a:bodyPr/>
          <a:lstStyle/>
          <a:p>
            <a:pPr defTabSz="457200">
              <a:lnSpc>
                <a:spcPct val="100000"/>
              </a:lnSpc>
            </a:pPr>
            <a:r>
              <a:rPr lang="en-US" altLang="zh-CN" sz="3600" dirty="0">
                <a:solidFill>
                  <a:schemeClr val="dk2"/>
                </a:solidFill>
                <a:latin typeface="华文中宋"/>
                <a:ea typeface="华文中宋"/>
              </a:rPr>
              <a:t>Structured data &amp; Unstructured data </a:t>
            </a:r>
            <a:endParaRPr lang="zh-CN" altLang="en-US" sz="3600" dirty="0">
              <a:solidFill>
                <a:schemeClr val="dk2"/>
              </a:solidFill>
              <a:latin typeface="华文中宋"/>
              <a:ea typeface="华文中宋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3A8261-544B-5AE6-A5D8-C2DC159FB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4" b="30296"/>
          <a:stretch/>
        </p:blipFill>
        <p:spPr>
          <a:xfrm>
            <a:off x="3456360" y="1429900"/>
            <a:ext cx="8735640" cy="36760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AD22D0-0440-F3DD-0216-F1C7B40EF813}"/>
              </a:ext>
            </a:extLst>
          </p:cNvPr>
          <p:cNvSpPr txBox="1"/>
          <p:nvPr/>
        </p:nvSpPr>
        <p:spPr>
          <a:xfrm>
            <a:off x="646201" y="1649541"/>
            <a:ext cx="2201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dirty="0"/>
              <a:t>Structured data are easier to </a:t>
            </a:r>
            <a:r>
              <a:rPr lang="en-GB" altLang="zh-CN" dirty="0" err="1"/>
              <a:t>analyze</a:t>
            </a:r>
            <a:r>
              <a:rPr lang="en-GB" altLang="zh-CN" dirty="0"/>
              <a:t>, but may lose important information.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0B6FA6-D667-D251-5E69-E3423C0069B0}"/>
              </a:ext>
            </a:extLst>
          </p:cNvPr>
          <p:cNvSpPr txBox="1"/>
          <p:nvPr/>
        </p:nvSpPr>
        <p:spPr>
          <a:xfrm>
            <a:off x="597104" y="3508779"/>
            <a:ext cx="20067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dirty="0"/>
              <a:t>Raw biomedical data contain richer information, but also more noise and redundancy.</a:t>
            </a:r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56AA3A-4D97-BB40-AE80-0E3FF5D4833D}"/>
              </a:ext>
            </a:extLst>
          </p:cNvPr>
          <p:cNvSpPr txBox="1"/>
          <p:nvPr/>
        </p:nvSpPr>
        <p:spPr>
          <a:xfrm>
            <a:off x="8745101" y="5265471"/>
            <a:ext cx="1325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GPT image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103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Outline</a:t>
            </a:r>
            <a:endParaRPr lang="en-US" sz="3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idx="4294967295"/>
          </p:nvPr>
        </p:nvSpPr>
        <p:spPr>
          <a:xfrm>
            <a:off x="646200" y="1447920"/>
            <a:ext cx="9403560" cy="512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chemeClr val="dk1"/>
                </a:solidFill>
                <a:latin typeface="华文中宋"/>
                <a:ea typeface="华文中宋"/>
              </a:rPr>
              <a:t>Task and Data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dirty="0">
                <a:solidFill>
                  <a:schemeClr val="dk1"/>
                </a:solidFill>
                <a:latin typeface="华文中宋"/>
                <a:ea typeface="华文中宋"/>
              </a:rPr>
              <a:t>Binary</a:t>
            </a:r>
            <a:r>
              <a:rPr lang="zh-CN" altLang="en-US" sz="2400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Logistic Regression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Multi-class Logistic Regression</a:t>
            </a:r>
            <a:endParaRPr lang="en-US" altLang="zh-CN" sz="22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dirty="0">
                <a:solidFill>
                  <a:schemeClr val="dk1"/>
                </a:solidFill>
                <a:latin typeface="华文中宋"/>
                <a:ea typeface="华文中宋"/>
              </a:rPr>
              <a:t>Logistic Regression with MLP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82E1-2DED-DD3F-C5CD-CCEBB28D7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2">
            <a:extLst>
              <a:ext uri="{FF2B5EF4-FFF2-40B4-BE49-F238E27FC236}">
                <a16:creationId xmlns:a16="http://schemas.microsoft.com/office/drawing/2014/main" id="{C8C4ED51-853A-D28F-8309-23749C87449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771" y="3722914"/>
            <a:ext cx="9403560" cy="142602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3200" b="1" dirty="0">
                <a:solidFill>
                  <a:schemeClr val="dk1"/>
                </a:solidFill>
                <a:latin typeface="华文中宋"/>
                <a:ea typeface="华文中宋"/>
              </a:rPr>
              <a:t>Task</a:t>
            </a:r>
            <a:r>
              <a:rPr lang="zh-CN" altLang="en-US" sz="3200" b="1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  <a:r>
              <a:rPr lang="en-US" altLang="zh-CN" sz="3200" b="1" dirty="0">
                <a:solidFill>
                  <a:schemeClr val="dk1"/>
                </a:solidFill>
                <a:latin typeface="华文中宋"/>
                <a:ea typeface="华文中宋"/>
              </a:rPr>
              <a:t>and</a:t>
            </a:r>
            <a:r>
              <a:rPr lang="zh-CN" altLang="en-US" sz="3200" b="1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  <a:r>
              <a:rPr lang="en-US" altLang="zh-CN" sz="3200" b="1" dirty="0">
                <a:solidFill>
                  <a:schemeClr val="dk1"/>
                </a:solidFill>
                <a:latin typeface="华文中宋"/>
                <a:ea typeface="华文中宋"/>
              </a:rPr>
              <a:t>Data</a:t>
            </a:r>
          </a:p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endParaRPr lang="en-US" sz="3200" b="1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14B2F32-929F-D332-E78E-6F2D2ED8236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127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E929-83BA-C2D2-F3F3-01D502150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00D8F350-50B9-D194-E330-3703ED302E6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MNIST dataset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DE8F4688-B3B5-9D06-F4D1-F5F273B7EEB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630940" y="1558536"/>
            <a:ext cx="7255595" cy="404863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MNIST is a benchmark dataset of handwritten digits from 0 to 9.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It contains 70,000 grayscale images, each with size 28 × 28 pixels.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The task is a </a:t>
            </a:r>
            <a:r>
              <a:rPr lang="en-US" sz="1800" b="1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10-class classification </a:t>
            </a:r>
            <a:r>
              <a:rPr lang="en-US" sz="18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problem: given an image, predict which digit it represents.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MNIST is widely used to introduce </a:t>
            </a:r>
            <a:r>
              <a:rPr lang="en-US" altLang="zh-CN" sz="1800" b="1" dirty="0">
                <a:latin typeface="+mn-ea"/>
              </a:rPr>
              <a:t>machine learning, neural networks, and image classification</a:t>
            </a:r>
            <a:r>
              <a:rPr lang="en-US" altLang="zh-CN" sz="1800" dirty="0">
                <a:latin typeface="+mn-ea"/>
              </a:rPr>
              <a:t> because it is simple, clean, and easy to visualize.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Although it is relatively easy for modern models, it remains a useful starting point for understanding how models learn from image data.</a:t>
            </a:r>
            <a:endParaRPr lang="en-US" sz="1800" b="0" u="none" strike="noStrike" dirty="0">
              <a:solidFill>
                <a:schemeClr val="dk1"/>
              </a:solidFill>
              <a:uFillTx/>
              <a:latin typeface="+mn-ea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AD42C3E-ECCC-03EC-070A-F17D48CAF2EF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7</a:t>
            </a:fld>
            <a:endParaRPr/>
          </a:p>
        </p:txBody>
      </p:sp>
      <p:pic>
        <p:nvPicPr>
          <p:cNvPr id="3" name="Picture 2" descr="MNIST sample images">
            <a:extLst>
              <a:ext uri="{FF2B5EF4-FFF2-40B4-BE49-F238E27FC236}">
                <a16:creationId xmlns:a16="http://schemas.microsoft.com/office/drawing/2014/main" id="{74C7304D-BFD2-FE5B-5C44-B6AC0C1E13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99"/>
          <a:stretch>
            <a:fillRect/>
          </a:stretch>
        </p:blipFill>
        <p:spPr bwMode="auto">
          <a:xfrm>
            <a:off x="518054" y="1558536"/>
            <a:ext cx="2603517" cy="427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59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68134-C98D-0369-004A-0DE6AD14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6AB70788-E444-EA0F-1CAE-7A8B180C071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Task: 10-class classification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F89F760-D90E-6C9E-AFDD-34424A71879D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8</a:t>
            </a:fld>
            <a:endParaRPr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42CF39C7-C508-B00E-535E-0599C3DE1CA0}"/>
              </a:ext>
            </a:extLst>
          </p:cNvPr>
          <p:cNvCxnSpPr>
            <a:cxnSpLocks/>
          </p:cNvCxnSpPr>
          <p:nvPr/>
        </p:nvCxnSpPr>
        <p:spPr>
          <a:xfrm>
            <a:off x="7044136" y="3405140"/>
            <a:ext cx="99752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9F45DBE-7C0A-4204-B876-5F877DA7450A}"/>
              </a:ext>
            </a:extLst>
          </p:cNvPr>
          <p:cNvSpPr txBox="1"/>
          <p:nvPr/>
        </p:nvSpPr>
        <p:spPr>
          <a:xfrm>
            <a:off x="8140052" y="3143530"/>
            <a:ext cx="1317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0,1,…,9</a:t>
            </a:r>
            <a:endParaRPr kumimoji="1" lang="zh-CN" altLang="en-US" sz="2800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29FA2532-4804-81CD-BDCB-583F027C0F1E}"/>
              </a:ext>
            </a:extLst>
          </p:cNvPr>
          <p:cNvCxnSpPr>
            <a:cxnSpLocks/>
          </p:cNvCxnSpPr>
          <p:nvPr/>
        </p:nvCxnSpPr>
        <p:spPr>
          <a:xfrm>
            <a:off x="4645895" y="3445802"/>
            <a:ext cx="70684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224EA74-898B-BCD8-473B-12F9D4B38458}"/>
              </a:ext>
            </a:extLst>
          </p:cNvPr>
          <p:cNvSpPr/>
          <p:nvPr/>
        </p:nvSpPr>
        <p:spPr>
          <a:xfrm>
            <a:off x="5514110" y="3180938"/>
            <a:ext cx="1431636" cy="5172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7DFD21-4C2D-C41B-D5F1-02C8823E563A}"/>
              </a:ext>
            </a:extLst>
          </p:cNvPr>
          <p:cNvSpPr txBox="1"/>
          <p:nvPr/>
        </p:nvSpPr>
        <p:spPr>
          <a:xfrm>
            <a:off x="2216727" y="5467504"/>
            <a:ext cx="2082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Input x:  figures</a:t>
            </a:r>
            <a:endParaRPr kumimoji="1"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AEEDD90-A0D2-26F7-53C7-A4A1F0C31AD3}"/>
              </a:ext>
            </a:extLst>
          </p:cNvPr>
          <p:cNvSpPr txBox="1"/>
          <p:nvPr/>
        </p:nvSpPr>
        <p:spPr>
          <a:xfrm>
            <a:off x="8041662" y="5467503"/>
            <a:ext cx="2131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Output y: labels</a:t>
            </a:r>
            <a:endParaRPr kumimoji="1" lang="zh-CN" altLang="en-US" sz="2400" dirty="0"/>
          </a:p>
        </p:txBody>
      </p:sp>
      <p:pic>
        <p:nvPicPr>
          <p:cNvPr id="2" name="Picture 2" descr="MNIST sample images">
            <a:extLst>
              <a:ext uri="{FF2B5EF4-FFF2-40B4-BE49-F238E27FC236}">
                <a16:creationId xmlns:a16="http://schemas.microsoft.com/office/drawing/2014/main" id="{8FD069CD-8E2B-D3F3-B899-4AD534E631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99"/>
          <a:stretch>
            <a:fillRect/>
          </a:stretch>
        </p:blipFill>
        <p:spPr bwMode="auto">
          <a:xfrm>
            <a:off x="2216727" y="1696312"/>
            <a:ext cx="2201467" cy="3616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2319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581EC-BDAC-0068-81BE-227F4A92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18023F2E-7991-32C8-58F8-74897406B7A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What does data look like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C6ED6E6C-A294-C7AA-BD93-BAFCCAE31CA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79134" y="1548320"/>
            <a:ext cx="8628767" cy="21163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They are just 28*28 matrix, each element is between 0 and 1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</a:rPr>
              <a:t>A mapping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However, traditional methods cannot handle non-structural data.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</a:rPr>
              <a:t>We can flatten the figure as a 784-dim vector</a:t>
            </a:r>
            <a:endParaRPr lang="en-US" sz="1800" b="0" u="none" strike="noStrike" dirty="0">
              <a:solidFill>
                <a:schemeClr val="dk1"/>
              </a:solidFill>
              <a:uFillTx/>
              <a:latin typeface="+mn-ea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3BE3660F-10CF-4ADC-40B5-9F670921674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9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66A130C-02BB-91C8-C43F-29376FDEF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390" y="3429000"/>
            <a:ext cx="5803900" cy="247650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$&#10;[0, 1]^{28\times 28} \rightarrow \{0, 1, \dots, 9\}&#10;$$&#10;&#10;&#10;\end{document}" title="IguanaTex Picture Display">
            <a:extLst>
              <a:ext uri="{FF2B5EF4-FFF2-40B4-BE49-F238E27FC236}">
                <a16:creationId xmlns:a16="http://schemas.microsoft.com/office/drawing/2014/main" id="{7372ED4F-77F4-687F-403D-82E98FB0D3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53736" y="2027762"/>
            <a:ext cx="2468880" cy="27432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8DCB5DC-BDC0-1DD3-3160-BA5BA9E6B8F5}"/>
              </a:ext>
            </a:extLst>
          </p:cNvPr>
          <p:cNvSpPr txBox="1"/>
          <p:nvPr/>
        </p:nvSpPr>
        <p:spPr>
          <a:xfrm>
            <a:off x="947057" y="6220454"/>
            <a:ext cx="5160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代码：</a:t>
            </a:r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dl_intro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/01_mnist_dataset_overview.ipynb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838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4A3ED-C2FC-3E6E-0965-41B8D5CF4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69184C94-010F-A7CD-4462-60F97126D63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Training/Testing set split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7B5D9053-13DF-821E-EBEF-D0F36A25FCF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79134" y="1548320"/>
            <a:ext cx="8628767" cy="254470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We usually split all available data into training and testing set.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</a:rPr>
              <a:t>Training data is for model training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Testing data is for </a:t>
            </a: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</a:rPr>
              <a:t>model performance testing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We don’t care if the model “remember everything”, but if the model can find rules and perform well on unseen data.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8441294C-9557-8F7A-DDC9-5071D7CEFD1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10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BA9E4D-C9AB-1435-7124-56B3873AD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111" y="3975595"/>
            <a:ext cx="6596743" cy="201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10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48FAD-4600-8E56-50DE-FDDEA8F3C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F3F37AFD-BCBF-969C-FAB2-1161EA9D351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Overfitting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B18F51F6-FD87-EC89-740A-9FA1C8A994E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06992" y="1694261"/>
            <a:ext cx="6929980" cy="343291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latin typeface="STZhongsong" panose="02010600040101010101" pitchFamily="2" charset="-122"/>
                <a:ea typeface="STZhongsong" panose="02010600040101010101" pitchFamily="2" charset="-122"/>
              </a:rPr>
              <a:t>Overfitting = doing very well on training data, but poorly on new data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latin typeface="STZhongsong" panose="02010600040101010101" pitchFamily="2" charset="-122"/>
                <a:ea typeface="STZhongsong" panose="02010600040101010101" pitchFamily="2" charset="-122"/>
              </a:rPr>
              <a:t>The model learns not only the pattern, but also noise and randomness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latin typeface="STZhongsong" panose="02010600040101010101" pitchFamily="2" charset="-122"/>
                <a:ea typeface="STZhongsong" panose="02010600040101010101" pitchFamily="2" charset="-122"/>
              </a:rPr>
              <a:t>It may “memorize” the training examples instead of learning general rules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STZhongsong" panose="02010600040101010101" pitchFamily="2" charset="-122"/>
                <a:ea typeface="STZhongsong" panose="02010600040101010101" pitchFamily="2" charset="-122"/>
              </a:rPr>
              <a:t>As a result, training error is low, while test error stays high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STZhongsong" panose="02010600040101010101" pitchFamily="2" charset="-122"/>
                <a:ea typeface="STZhongsong" panose="02010600040101010101" pitchFamily="2" charset="-122"/>
              </a:rPr>
              <a:t>Our goal is not to fit the training set perfectly, but to generalize to unseen data</a:t>
            </a:r>
            <a:endParaRPr lang="en-US" sz="1800" b="0" u="none" strike="noStrike" dirty="0">
              <a:solidFill>
                <a:schemeClr val="dk1"/>
              </a:solidFill>
              <a:uFillTx/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E5CE5A0-0C55-447A-60E1-1F5198B9108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11</a:t>
            </a:fld>
            <a:endParaRPr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ED703385-309B-EDC7-3728-32CC6BDD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367" y="1694261"/>
            <a:ext cx="4162253" cy="416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050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A5B09-B342-4E52-B872-025C0206B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BBAB9E8A-4433-8FC8-9816-0ACCEC25D9C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Split in MNIST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AB7E80D5-294E-618C-2D4B-D669EC02D49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45966" y="4467054"/>
            <a:ext cx="8296748" cy="193806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Train set for learning, test set for evaluation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Keep class proportions similar across splits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Balanced splits make performance comparison more reliable</a:t>
            </a:r>
            <a:endParaRPr lang="en-US" sz="1800" b="0" u="none" strike="noStrike" dirty="0">
              <a:solidFill>
                <a:schemeClr val="dk1"/>
              </a:solidFill>
              <a:uFillTx/>
              <a:latin typeface="+mn-ea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02DB4C3A-6D7B-4C6B-AA96-5C5D7C642F8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12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391A27-577D-119F-E8E5-D75C997D7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314" y="1417604"/>
            <a:ext cx="7772400" cy="265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615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010FF-E921-F1BD-DC39-E1C71970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E93FAB5A-019C-3A7E-6299-56471422F1F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Metric 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6E03F110-9091-EE7F-C7B7-8D52EECF62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40350" y="1712544"/>
            <a:ext cx="9215979" cy="422016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Accuracy measures how often the model is correct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1800" b="0" u="none" strike="noStrike" dirty="0">
              <a:solidFill>
                <a:schemeClr val="dk1"/>
              </a:solidFill>
              <a:uFillTx/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1800" dirty="0">
              <a:solidFill>
                <a:schemeClr val="dk1"/>
              </a:solidFill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1800" b="0" u="none" strike="noStrike" dirty="0">
              <a:solidFill>
                <a:schemeClr val="dk1"/>
              </a:solidFill>
              <a:uFillTx/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Example: 9 correct out of 10 → accuracy = 90%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We usually care more about </a:t>
            </a:r>
            <a:r>
              <a:rPr lang="en-US" altLang="zh-CN" sz="1800" b="1" dirty="0">
                <a:latin typeface="+mn-ea"/>
              </a:rPr>
              <a:t>test accuracy</a:t>
            </a:r>
            <a:r>
              <a:rPr lang="en-US" altLang="zh-CN" sz="1800" dirty="0">
                <a:latin typeface="+mn-ea"/>
              </a:rPr>
              <a:t> than train accuracy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1800" b="0" u="none" strike="noStrike" dirty="0">
              <a:solidFill>
                <a:schemeClr val="dk1"/>
              </a:solidFill>
              <a:uFillTx/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+mn-ea"/>
              </a:rPr>
              <a:t>Other: recall </a:t>
            </a:r>
            <a:r>
              <a:rPr lang="zh-CN" altLang="en-US" sz="1800" b="0" u="none" strike="noStrike" dirty="0">
                <a:solidFill>
                  <a:schemeClr val="dk1"/>
                </a:solidFill>
                <a:uFillTx/>
                <a:latin typeface="+mn-ea"/>
              </a:rPr>
              <a:t>（</a:t>
            </a:r>
            <a:r>
              <a:rPr lang="zh-CN" altLang="en-US" sz="1200" dirty="0"/>
              <a:t>漏检少不少</a:t>
            </a:r>
            <a:r>
              <a:rPr lang="zh-CN" altLang="en-US" sz="1800" b="0" u="none" strike="noStrike" dirty="0">
                <a:solidFill>
                  <a:schemeClr val="dk1"/>
                </a:solidFill>
                <a:uFillTx/>
                <a:latin typeface="+mn-ea"/>
              </a:rPr>
              <a:t>）</a:t>
            </a:r>
            <a:r>
              <a:rPr lang="en-US" sz="1800" b="0" u="none" strike="noStrike" dirty="0">
                <a:solidFill>
                  <a:schemeClr val="dk1"/>
                </a:solidFill>
                <a:uFillTx/>
                <a:latin typeface="+mn-ea"/>
              </a:rPr>
              <a:t>, precision </a:t>
            </a:r>
            <a:r>
              <a:rPr lang="zh-CN" altLang="en-US" sz="1800" b="0" u="none" strike="noStrike" dirty="0">
                <a:solidFill>
                  <a:schemeClr val="dk1"/>
                </a:solidFill>
                <a:uFillTx/>
                <a:latin typeface="+mn-ea"/>
              </a:rPr>
              <a:t>（</a:t>
            </a:r>
            <a:r>
              <a:rPr lang="zh-CN" altLang="en-US" sz="1200" dirty="0"/>
              <a:t>预测准不准</a:t>
            </a:r>
            <a:r>
              <a:rPr lang="zh-CN" altLang="en-US" sz="1800" b="0" u="none" strike="noStrike" dirty="0">
                <a:solidFill>
                  <a:schemeClr val="dk1"/>
                </a:solidFill>
                <a:uFillTx/>
                <a:latin typeface="+mn-ea"/>
              </a:rPr>
              <a:t>）</a:t>
            </a:r>
            <a:r>
              <a:rPr lang="en-US" sz="1800" b="0" u="none" strike="noStrike" dirty="0">
                <a:solidFill>
                  <a:schemeClr val="dk1"/>
                </a:solidFill>
                <a:uFillTx/>
                <a:latin typeface="+mn-ea"/>
              </a:rPr>
              <a:t>, F1 …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1800" b="0" u="none" strike="noStrike" dirty="0">
              <a:solidFill>
                <a:schemeClr val="dk1"/>
              </a:solidFill>
              <a:uFillTx/>
              <a:latin typeface="+mn-ea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9F6C2C4D-D24A-7D2E-1291-72D1366FE65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13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CE82AD3-A06A-6936-096C-676584A6F4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6957" y="2309420"/>
            <a:ext cx="4278086" cy="580557"/>
          </a:xfrm>
          <a:prstGeom prst="rect">
            <a:avLst/>
          </a:prstGeom>
        </p:spPr>
      </p:pic>
      <p:pic>
        <p:nvPicPr>
          <p:cNvPr id="10" name="Picture 9" descr="\documentclass{article}&#10;\usepackage{amsmath}&#10;\pagestyle{empty}&#10;\begin{document}&#10;&#10;&#10;\[&#10;\text{Recall} = \frac{ \text{TP} }{ \text{TP + FN} } &#10;\]&#10;\end{document}" title="IguanaTex Picture Display">
            <a:extLst>
              <a:ext uri="{FF2B5EF4-FFF2-40B4-BE49-F238E27FC236}">
                <a16:creationId xmlns:a16="http://schemas.microsoft.com/office/drawing/2014/main" id="{CD452924-BC27-3A5D-C7FC-7A5CD6472BF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13" y="5246379"/>
            <a:ext cx="1902171" cy="484114"/>
          </a:xfrm>
          <a:prstGeom prst="rect">
            <a:avLst/>
          </a:prstGeom>
        </p:spPr>
      </p:pic>
      <p:pic>
        <p:nvPicPr>
          <p:cNvPr id="12" name="Picture 11" descr="\documentclass{article}&#10;\usepackage{amsmath}&#10;\pagestyle{empty}&#10;\begin{document}&#10;&#10;&#10;\[&#10;\text{Precision} = \frac{ \text{TP} }{ \text{TP + FP} } &#10;\]&#10;\end{document}" title="IguanaTex Picture Display">
            <a:extLst>
              <a:ext uri="{FF2B5EF4-FFF2-40B4-BE49-F238E27FC236}">
                <a16:creationId xmlns:a16="http://schemas.microsoft.com/office/drawing/2014/main" id="{F51BDA10-99C7-CA10-19CA-F0CC2A21BC8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776" y="5246379"/>
            <a:ext cx="2179200" cy="484114"/>
          </a:xfrm>
          <a:prstGeom prst="rect">
            <a:avLst/>
          </a:prstGeom>
        </p:spPr>
      </p:pic>
      <p:pic>
        <p:nvPicPr>
          <p:cNvPr id="17" name="Picture 16" descr="\documentclass{article}&#10;\usepackage{amsmath}&#10;\pagestyle{empty}&#10;\begin{document}&#10;&#10;&#10;\[&#10;\text{F1} = 2 \times \frac{ \text{Precision} \times \text{Recall}  }{ \text{Precision} + \text{Recall} } &#10;\]&#10;\end{document}" title="IguanaTex Picture Display">
            <a:extLst>
              <a:ext uri="{FF2B5EF4-FFF2-40B4-BE49-F238E27FC236}">
                <a16:creationId xmlns:a16="http://schemas.microsoft.com/office/drawing/2014/main" id="{82427A60-761E-B4E3-1457-A289A8FBB07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055" y="6138753"/>
            <a:ext cx="2771657" cy="486857"/>
          </a:xfrm>
          <a:prstGeom prst="rect">
            <a:avLst/>
          </a:prstGeom>
        </p:spPr>
      </p:pic>
      <p:pic>
        <p:nvPicPr>
          <p:cNvPr id="19" name="Picture 18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28F1896C-145D-2393-852F-AC7A9FB08E6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354" y="4339449"/>
            <a:ext cx="5048841" cy="111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81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8B43B-8E11-452F-62D0-BE3E750CB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2">
            <a:extLst>
              <a:ext uri="{FF2B5EF4-FFF2-40B4-BE49-F238E27FC236}">
                <a16:creationId xmlns:a16="http://schemas.microsoft.com/office/drawing/2014/main" id="{C806ACBE-6C7D-11CE-1AE7-36C8488722C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771" y="3722914"/>
            <a:ext cx="9403560" cy="142602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3200" b="1" dirty="0">
                <a:solidFill>
                  <a:schemeClr val="dk1"/>
                </a:solidFill>
                <a:latin typeface="华文中宋"/>
                <a:ea typeface="华文中宋"/>
              </a:rPr>
              <a:t>Binary Logistic Regression</a:t>
            </a:r>
          </a:p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endParaRPr lang="en-US" sz="3200" b="1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8A41BAC6-0130-30A1-1648-B1EB2740245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5731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F391F-1DCE-1817-A9BD-C0A8F05B4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148E4A51-5566-F6BD-8B68-BB57D4ECAEA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Recall: Binary Logistic Regression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8F07FE9F-A2DD-1F2E-AF4A-2CA6AA16BB1D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740349" y="1407744"/>
                <a:ext cx="10569907" cy="545025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We observe input–label pairs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b="1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Goal: model the probability of the positive class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Direct linear regression is not suitable, because probabilities must satisfy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Logistic regression models the </a:t>
                </a:r>
                <a:r>
                  <a:rPr lang="en-US" altLang="zh-CN" sz="1800" b="1" dirty="0">
                    <a:latin typeface="+mn-ea"/>
                  </a:rPr>
                  <a:t>log-odds</a:t>
                </a:r>
                <a:r>
                  <a:rPr lang="en-US" altLang="zh-CN" sz="1800" dirty="0">
                    <a:latin typeface="+mn-ea"/>
                  </a:rPr>
                  <a:t> as a linear function:</a:t>
                </a:r>
              </a:p>
              <a:p>
                <a:pPr marL="0" indent="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None/>
                </a:pPr>
                <a:endParaRPr lang="en-US" altLang="zh-CN" sz="1800" dirty="0">
                  <a:latin typeface="+mn-ea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None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+mn-ea"/>
                  </a:rPr>
                  <a:t>, we get the sigmoid form: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8F07FE9F-A2DD-1F2E-AF4A-2CA6AA16BB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740349" y="1407744"/>
                <a:ext cx="10569907" cy="5450256"/>
              </a:xfrm>
              <a:prstGeom prst="rect">
                <a:avLst/>
              </a:prstGeom>
              <a:blipFill>
                <a:blip r:embed="rId3"/>
                <a:stretch>
                  <a:fillRect l="-120" t="-46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0D49390B-550D-D6B7-3E6B-2215B9618D2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15</a:t>
            </a:fld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82FC1A-2C52-97B3-388A-E6DB35ADD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1739825"/>
            <a:ext cx="2857500" cy="4181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00BEAD1-0E7C-FEB3-0C3B-12BFECBE1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296" y="2663766"/>
            <a:ext cx="2223407" cy="3437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913D8C1-E4FA-A393-FFE0-E7A16FFDA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8127" y="3497143"/>
            <a:ext cx="1215746" cy="26471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634E555-5B8A-7B3E-1BD9-3B41B8888A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9567" y="4349105"/>
            <a:ext cx="3035183" cy="53193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EF6B69A-63BC-F572-56CC-3BAB512F73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2777" y="5497120"/>
            <a:ext cx="3666444" cy="59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11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9A94-3E38-46FC-E0BB-B3347688C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C915DD56-1EBD-D2C5-33FB-314B3FB54E1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Recall: Binary Logistic Regression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83661C4A-1557-E625-3237-C1F817C865EF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740349" y="1407744"/>
                <a:ext cx="10569907" cy="545025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Assume the label follows a Bernoulli distribution: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Therefore, the probability of observing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+mn-ea"/>
                  </a:rPr>
                  <a:t> is: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For independent samples, the likelihood is: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The log-likelihood is: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Maximum likelihood estimation: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Equivalently, minimize the negative log-likelihood:</a:t>
                </a: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83661C4A-1557-E625-3237-C1F817C865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740349" y="1407744"/>
                <a:ext cx="10569907" cy="5450256"/>
              </a:xfrm>
              <a:prstGeom prst="rect">
                <a:avLst/>
              </a:prstGeom>
              <a:blipFill>
                <a:blip r:embed="rId3"/>
                <a:stretch>
                  <a:fillRect l="-120" t="-46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B5779F59-63B4-79DD-6D5A-2EAE2F4AFE5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16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7314276-5538-8385-9DC0-CA2972BF9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711" y="1804307"/>
            <a:ext cx="2724891" cy="36853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E1903D7-7869-85A6-E85E-93008EC58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763" y="2683569"/>
            <a:ext cx="3550473" cy="3550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FF095D2-F8CC-1270-1EE1-394234D417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243" y="3356461"/>
            <a:ext cx="2864671" cy="6836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90B4D14-1DDD-2E82-9A10-BBF6CBDAF4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2442" y="4191806"/>
            <a:ext cx="4027714" cy="6219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0D3F699-5BAE-D2EA-3598-2CC54FC99D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2936" y="4879356"/>
            <a:ext cx="2908300" cy="5588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97090AF-4D84-4BC6-7BCE-2E43A8AC0D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1640" y="5942276"/>
            <a:ext cx="5468516" cy="77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581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AFF98-F432-372E-087A-27A09B424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9F0A9B5A-078E-86E8-F669-15AC8C685D8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Cross-Entropy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03160C23-6F5A-D500-7528-D12D1A30AB2F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740349" y="1828800"/>
                <a:ext cx="10569907" cy="45763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It is also called cross-entropy loss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Cross entropy loss is used to </a:t>
                </a:r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compare two probability distributions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General form: 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 means the true probability of class 𝑘,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 means the model-predicted probability of class 𝑘.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In classification problem, we use CE loss, and is equivalent to MLE assuming Multinomial Distribution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03160C23-6F5A-D500-7528-D12D1A30AB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740349" y="1828800"/>
                <a:ext cx="10569907" cy="4576320"/>
              </a:xfrm>
              <a:prstGeom prst="rect">
                <a:avLst/>
              </a:prstGeom>
              <a:blipFill>
                <a:blip r:embed="rId3"/>
                <a:stretch>
                  <a:fillRect l="-120" t="-5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2DA93435-A8B7-A046-4C35-FD0C375BD32F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17</a:t>
            </a:fld>
            <a:endParaRPr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78F81E1-B618-F1B0-ACAA-26BEC5899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542" y="945302"/>
            <a:ext cx="5052915" cy="7202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F599D47-17A7-8190-7C86-727F9F860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250" y="3002917"/>
            <a:ext cx="31115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11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F8E8A-6C03-CCDE-6E97-6C8341C0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0F2567DF-9FFC-9959-C75B-C522CF41674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Optimization: Gradient Descent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6A3D025F-1582-B9E9-49FC-79CEE232E5F0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729463" y="1349757"/>
                <a:ext cx="10569907" cy="45763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+mn-ea"/>
                  </a:rPr>
                  <a:t>There is no close-form solution for LR, we need to start from initial parameters and improve them step by step.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+mn-ea"/>
                  </a:rPr>
                  <a:t>The gradient tells us the direction in which the loss increases fastest.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Therefore, we move in the opposite direction: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cs typeface="Apple Symbols" panose="02000000000000000000" pitchFamily="2" charset="-79"/>
                      </a:rPr>
                      <m:t>𝜃</m:t>
                    </m:r>
                  </m:oMath>
                </a14:m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 can represent all parameters. Here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cs typeface="Apple Symbols" panose="02000000000000000000" pitchFamily="2" charset="-79"/>
                      </a:rPr>
                      <m:t>𝜃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cs typeface="Apple Symbols" panose="02000000000000000000" pitchFamily="2" charset="-79"/>
                      </a:rPr>
                      <m:t>=(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cs typeface="Apple Symbols" panose="02000000000000000000" pitchFamily="2" charset="-79"/>
                      </a:rPr>
                      <m:t>𝛽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cs typeface="Apple Symbols" panose="02000000000000000000" pitchFamily="2" charset="-79"/>
                      </a:rPr>
                      <m:t>,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cs typeface="Apple Symbols" panose="02000000000000000000" pitchFamily="2" charset="-79"/>
                      </a:rPr>
                      <m:t>𝑏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cs typeface="Apple Symbols" panose="02000000000000000000" pitchFamily="2" charset="-79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cs typeface="Apple Symbols" panose="02000000000000000000" pitchFamily="2" charset="-79"/>
                      </a:rPr>
                      <m:t>𝛼</m:t>
                    </m:r>
                  </m:oMath>
                </a14:m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 is learning rate</a:t>
                </a: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6A3D025F-1582-B9E9-49FC-79CEE232E5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729463" y="1349757"/>
                <a:ext cx="10569907" cy="4576320"/>
              </a:xfrm>
              <a:prstGeom prst="rect">
                <a:avLst/>
              </a:prstGeom>
              <a:blipFill>
                <a:blip r:embed="rId3"/>
                <a:stretch>
                  <a:fillRect l="-120" t="-5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8754B322-FBEF-955A-5888-0C1EE1238B16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18</a:t>
            </a:fld>
            <a:endParaRPr/>
          </a:p>
        </p:txBody>
      </p:sp>
      <p:pic>
        <p:nvPicPr>
          <p:cNvPr id="2" name="Picture 2" descr="What is the Gradient Descent Algorithm - Analytics Vidhya">
            <a:extLst>
              <a:ext uri="{FF2B5EF4-FFF2-40B4-BE49-F238E27FC236}">
                <a16:creationId xmlns:a16="http://schemas.microsoft.com/office/drawing/2014/main" id="{CCF07F76-1C12-8C1E-88FA-670C7FF56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85" y="4031354"/>
            <a:ext cx="4063787" cy="252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4DC8F1B-97F7-A2C8-4D33-B7387B9140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987" y="3902279"/>
            <a:ext cx="3222173" cy="27618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FF29E43-2DF5-D65E-37D2-1D6D7AEF4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829" y="2872877"/>
            <a:ext cx="2946341" cy="40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0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A9673-8DA3-CDDF-D31C-EECA2606D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1B74E7E2-4B18-29AB-C03D-6479E662DA47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Gradient for Binary Logistic Regression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8A0950A8-322E-74C8-CCA0-91578BE7C97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349756"/>
            <a:ext cx="10569907" cy="505536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For one sample: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By chain rule: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Firstly,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Second,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Therefore,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  <a:cs typeface="Apple Symbols" panose="02000000000000000000" pitchFamily="2" charset="-79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727BA9A-8EEB-EEEB-ABB7-B85C7296A23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19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0CB421-0D19-49BE-E574-0FA5163BE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1499506"/>
            <a:ext cx="4191000" cy="1028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C315864-2B6E-5757-DA57-60F2AB996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2768600"/>
            <a:ext cx="2019300" cy="660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B82974-0DDF-9E09-A309-626F3D26B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2200" y="3759110"/>
            <a:ext cx="2387600" cy="635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4E4100F-ABEF-8B07-7D7E-27FA0560D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7150" y="4659904"/>
            <a:ext cx="1917700" cy="660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478D257-C8E7-BE0E-6C18-AA9184761E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3243" y="5586098"/>
            <a:ext cx="77470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5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0995B-BBAD-D5DC-3AEE-EE75765E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20C480D4-1672-3250-BC14-9B86D35F3817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Gradient for Binary Logistic Regression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D24EBFFC-B615-643E-F969-F9BAB75350E2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46200" y="1407744"/>
                <a:ext cx="9804086" cy="499737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Then since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we have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8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18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altLang="zh-CN" sz="1800" dirty="0">
                    <a:latin typeface="+mn-ea"/>
                  </a:rPr>
                  <a:t>: </a:t>
                </a:r>
                <a:r>
                  <a:rPr lang="en-US" altLang="zh-CN" sz="1800" dirty="0">
                    <a:latin typeface="+mn-ea"/>
                  </a:rPr>
                  <a:t>model overpredicts the positive class.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8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18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altLang="zh-CN" sz="1800" dirty="0">
                    <a:latin typeface="+mn-ea"/>
                  </a:rPr>
                  <a:t>: </a:t>
                </a:r>
                <a:r>
                  <a:rPr lang="en-US" altLang="zh-CN" sz="1800" dirty="0">
                    <a:latin typeface="+mn-ea"/>
                  </a:rPr>
                  <a:t>model underpredicts the positive class.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The error signal is simply:</a:t>
                </a: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D24EBFFC-B615-643E-F969-F9BAB7535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46200" y="1407744"/>
                <a:ext cx="9804086" cy="4997376"/>
              </a:xfrm>
              <a:prstGeom prst="rect">
                <a:avLst/>
              </a:prstGeom>
              <a:blipFill>
                <a:blip r:embed="rId3"/>
                <a:stretch>
                  <a:fillRect l="-129" t="-50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9A4CA202-3C6C-95DF-B354-4F9767001EE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20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219918-0637-0809-C64D-DB5A51261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450" y="1573893"/>
            <a:ext cx="1689100" cy="444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E25E2C0-C7AA-0C87-0567-6E9F5CD05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500" y="2730500"/>
            <a:ext cx="2159000" cy="1397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871CA27-C8DA-6884-244B-A00E3A91E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5450256"/>
            <a:ext cx="9144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60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D1F6-A513-3BED-670D-9E9B6217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8879CA27-F960-67D4-2CEC-AE32F7614BF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Gradient Descent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7EDBFA98-3BE5-25BC-5DE3-4CAF4D802B5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407744"/>
            <a:ext cx="9804086" cy="499737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  <a:cs typeface="Apple Symbols" panose="02000000000000000000" pitchFamily="2" charset="-79"/>
              </a:rPr>
              <a:t>For all samples, the average loss is: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  <a:cs typeface="Apple Symbols" panose="02000000000000000000" pitchFamily="2" charset="-79"/>
              </a:rPr>
              <a:t>Therefore,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  <a:cs typeface="Apple Symbols" panose="02000000000000000000" pitchFamily="2" charset="-79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  <a:cs typeface="Apple Symbols" panose="02000000000000000000" pitchFamily="2" charset="-79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  <a:cs typeface="Apple Symbols" panose="02000000000000000000" pitchFamily="2" charset="-79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  <a:cs typeface="Apple Symbols" panose="02000000000000000000" pitchFamily="2" charset="-79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Gradient descent update:</a:t>
            </a:r>
            <a:endParaRPr lang="en-US" altLang="zh-CN" sz="1800" dirty="0">
              <a:latin typeface="+mn-ea"/>
              <a:cs typeface="Apple Symbols" panose="02000000000000000000" pitchFamily="2" charset="-79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8345680-C87C-DB1A-E8F8-BAA9AF83C5F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21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4EDC4CF-CC08-A81F-241F-3F2BB07AC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771" y="1196972"/>
            <a:ext cx="1734457" cy="7148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39EBD26-1DFE-72A4-E5F0-2447089FF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656" y="2068570"/>
            <a:ext cx="2728686" cy="160797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5F92219-E161-E653-4913-071B81687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594" y="3933828"/>
            <a:ext cx="3180482" cy="160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538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FF5E-AB1B-4E73-3164-6B2AF53C8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71C66C74-54C9-9B09-5BFF-E01DB6F2E3E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Gradient Descent 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472708CC-1B1D-800D-7F0F-952F378A5B55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46200" y="1407744"/>
                <a:ext cx="9804086" cy="499737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Matrix form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In code implementation, we usually use matrix form rather than for loop to fully utilize parallelization. 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b="1" dirty="0">
                    <a:latin typeface="+mn-ea"/>
                  </a:rPr>
                  <a:t>Forward</a:t>
                </a:r>
                <a:r>
                  <a:rPr lang="en-US" altLang="zh-CN" sz="1800" dirty="0">
                    <a:latin typeface="+mn-ea"/>
                  </a:rPr>
                  <a:t>: compute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zh-CN" sz="1800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CN" sz="1800" dirty="0">
                    <a:latin typeface="+mn-ea"/>
                  </a:rPr>
                  <a:t>, and loss.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b="1" dirty="0">
                    <a:latin typeface="+mn-ea"/>
                  </a:rPr>
                  <a:t>Backward</a:t>
                </a:r>
                <a:r>
                  <a:rPr lang="en-US" altLang="zh-CN" sz="1800" dirty="0">
                    <a:latin typeface="+mn-ea"/>
                  </a:rPr>
                  <a:t>: compute gradients such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altLang="zh-CN" sz="18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ar-AE" altLang="zh-CN" sz="18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ar-AE" altLang="zh-CN" sz="180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ar-AE" altLang="zh-CN" sz="1800" dirty="0">
                    <a:latin typeface="+mn-ea"/>
                  </a:rPr>
                  <a:t>.</a:t>
                </a: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b="1" dirty="0">
                    <a:latin typeface="+mn-ea"/>
                  </a:rPr>
                  <a:t>Update</a:t>
                </a:r>
                <a:r>
                  <a:rPr lang="en-US" altLang="zh-CN" sz="1800" dirty="0">
                    <a:latin typeface="+mn-ea"/>
                  </a:rPr>
                  <a:t>: move parameters in the negative gradient direction.</a:t>
                </a: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472708CC-1B1D-800D-7F0F-952F378A5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46200" y="1407744"/>
                <a:ext cx="9804086" cy="4997376"/>
              </a:xfrm>
              <a:prstGeom prst="rect">
                <a:avLst/>
              </a:prstGeom>
              <a:blipFill>
                <a:blip r:embed="rId3"/>
                <a:stretch>
                  <a:fillRect l="-129" t="-50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4DF2C723-3519-AA4E-E407-2905E385885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22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D02005-216E-D35D-1211-F065F7FD9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700" y="1600200"/>
            <a:ext cx="48006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02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32EA3-E58B-80CB-5D7C-653EE4C6E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A500F5C7-3A74-6F2A-DA01-01353E377C8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Stochastic Gradient Descent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BD02F07F-4CFA-D95B-7C08-38D010EA33FB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46200" y="1407743"/>
                <a:ext cx="9804086" cy="545025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Full-batch gradient descent uses all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1800" dirty="0">
                    <a:latin typeface="+mn-ea"/>
                  </a:rPr>
                  <a:t> samples for every update:</a:t>
                </a: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This is mathematically clean, but expensive 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+mn-ea"/>
                  </a:rPr>
                  <a:t>when the dataset is large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Mini-batch SGD randomly selects a small batch                          and computes the loss only on this batch: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The mini-batch gradients are: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Parameter update: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Key idea: the mini-batch gradient is a </a:t>
                </a:r>
                <a:r>
                  <a:rPr lang="en-US" altLang="zh-CN" sz="1800" b="1" dirty="0">
                    <a:latin typeface="+mn-ea"/>
                  </a:rPr>
                  <a:t>noisy</a:t>
                </a:r>
                <a:r>
                  <a:rPr lang="en-US" altLang="zh-CN" sz="1800" dirty="0">
                    <a:latin typeface="+mn-ea"/>
                  </a:rPr>
                  <a:t> but much </a:t>
                </a:r>
                <a:r>
                  <a:rPr lang="en-US" altLang="zh-CN" sz="1800" b="1" dirty="0">
                    <a:latin typeface="+mn-ea"/>
                  </a:rPr>
                  <a:t>cheaper</a:t>
                </a:r>
                <a:r>
                  <a:rPr lang="en-US" altLang="zh-CN" sz="1800" dirty="0">
                    <a:latin typeface="+mn-ea"/>
                  </a:rPr>
                  <a:t> approximation of the full gradient.</a:t>
                </a:r>
                <a:endParaRPr lang="ar-AE" altLang="zh-CN" sz="1800" dirty="0">
                  <a:latin typeface="+mn-ea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None/>
                </a:pPr>
                <a:endParaRPr lang="en-US" altLang="zh-CN" sz="1800" dirty="0">
                  <a:latin typeface="+mn-ea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BD02F07F-4CFA-D95B-7C08-38D010EA33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46200" y="1407743"/>
                <a:ext cx="9804086" cy="5450257"/>
              </a:xfrm>
              <a:prstGeom prst="rect">
                <a:avLst/>
              </a:prstGeom>
              <a:blipFill>
                <a:blip r:embed="rId3"/>
                <a:stretch>
                  <a:fillRect l="-124" t="-671" r="-118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DCB7883B-07E7-A534-E36D-B60FD5FD967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23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DCE4D7B-1C98-3C74-66D8-93C1261F0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150" y="1900465"/>
            <a:ext cx="4711700" cy="749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21166FE-4E3E-4EAC-B8C0-E15CA5956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615" y="3472542"/>
            <a:ext cx="1612900" cy="3048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BFC6326-07E0-73FD-E52A-5E065B48D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7100" y="3929178"/>
            <a:ext cx="2717800" cy="660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9EFEC31-79A8-20A6-2712-C06092A74D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4034" y="4822892"/>
            <a:ext cx="5438320" cy="5599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4044D00-CEEF-AD1C-75AA-D98EA8D50A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2029" y="5463426"/>
            <a:ext cx="3847942" cy="48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79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8AC78-4757-88DE-88EC-D08AB559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>
            <a:extLst>
              <a:ext uri="{FF2B5EF4-FFF2-40B4-BE49-F238E27FC236}">
                <a16:creationId xmlns:a16="http://schemas.microsoft.com/office/drawing/2014/main" id="{BE0D8E44-D5FD-AAA3-6886-0B6C13BAAE5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24</a:t>
            </a:fld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6949D9-F3DD-520A-F3A3-21A85F495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434"/>
            <a:ext cx="10080587" cy="566731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275AC44-8CDA-E92A-423C-6713BAF0B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7135" y="518434"/>
            <a:ext cx="6223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71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FCC9-5CC2-B6F4-129C-8296B8FAA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97CEF7FE-015A-5AC8-C0E5-B4933EB976B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Binary Logistic Regression: Modeling Relative Odds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3F7BEFEC-D62E-3653-A9B1-BEAC9A06D8B4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46200" y="1407744"/>
                <a:ext cx="9804086" cy="499737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For binary classification, there are two probabilities</a:t>
                </a:r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Since there are only two classes: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Logistic regression models the log-odds of class 1 against class 0: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Equivalently,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Interpretation: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zh-CN" altLang="en-US" sz="1800" dirty="0">
                    <a:latin typeface="+mn-ea"/>
                  </a:rPr>
                  <a:t> </a:t>
                </a:r>
                <a:r>
                  <a:rPr lang="en-US" altLang="zh-CN" sz="1800" dirty="0">
                    <a:latin typeface="+mn-ea"/>
                  </a:rPr>
                  <a:t>is a </a:t>
                </a:r>
                <a:r>
                  <a:rPr lang="en-US" altLang="zh-CN" sz="1800" b="1" dirty="0">
                    <a:latin typeface="+mn-ea"/>
                  </a:rPr>
                  <a:t>relative score</a:t>
                </a:r>
                <a:r>
                  <a:rPr lang="en-US" altLang="zh-CN" sz="1800" dirty="0">
                    <a:latin typeface="+mn-ea"/>
                  </a:rPr>
                  <a:t> for class 1 compared with class 0.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Since                  , 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None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3F7BEFEC-D62E-3653-A9B1-BEAC9A06D8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46200" y="1407744"/>
                <a:ext cx="9804086" cy="4997376"/>
              </a:xfrm>
              <a:prstGeom prst="rect">
                <a:avLst/>
              </a:prstGeom>
              <a:blipFill>
                <a:blip r:embed="rId3"/>
                <a:stretch>
                  <a:fillRect l="-129" t="-50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1445821F-E9F5-5721-3BC5-DDD72DF0F9A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25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1631E3-C4E7-E6CB-AC44-BC91BF976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278" y="2098060"/>
            <a:ext cx="4318000" cy="3032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FB592C-4D47-47FA-D441-D9DD04273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6274" y="2639161"/>
            <a:ext cx="1194009" cy="3379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314849B-A8E8-F7C9-F752-38F159919C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8185" y="3635046"/>
            <a:ext cx="2030186" cy="4802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FB32110-4B31-B4B6-7F49-E558435188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8128" y="4323580"/>
            <a:ext cx="1130300" cy="660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094FA9B-B067-E177-7402-B7FE52DDC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714" y="5450256"/>
            <a:ext cx="1194009" cy="33792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760118F-CF0E-1BE6-D321-750682C5D5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9874" y="5619219"/>
            <a:ext cx="33528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42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5FF19-AFED-2519-4258-820A1604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9555DD33-68F0-0508-4ABF-7EC5F13A1CA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Two-class normalization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6615DBDB-20AB-FC59-1E66-354DD6B6093B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46200" y="1407743"/>
                <a:ext cx="9804086" cy="531962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Set class 0 as the baseline: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Then the probabilities can be written as: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altLang="zh-CN" sz="1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altLang="zh-CN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 sz="1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1800" dirty="0">
                    <a:latin typeface="+mn-ea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altLang="zh-CN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 sz="18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ar-AE" altLang="zh-CN" sz="1800" dirty="0">
                    <a:latin typeface="+mn-ea"/>
                  </a:rPr>
                  <a:t>,</a:t>
                </a: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  <a:cs typeface="Apple Symbols" panose="02000000000000000000" pitchFamily="2" charset="-79"/>
                  </a:rPr>
                  <a:t>Therefore, binary logistic regression can be viewed as: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cs typeface="Apple Symbols" panose="02000000000000000000" pitchFamily="2" charset="-79"/>
                  </a:rPr>
                  <a:t>assign a score to each class; 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cs typeface="Apple Symbols" panose="02000000000000000000" pitchFamily="2" charset="-79"/>
                  </a:rPr>
                  <a:t>exponentiate the scores; 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+mn-ea"/>
                    <a:cs typeface="Apple Symbols" panose="02000000000000000000" pitchFamily="2" charset="-79"/>
                  </a:rPr>
                  <a:t>normalize them so probabilities sum to 1.</a:t>
                </a: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None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6615DBDB-20AB-FC59-1E66-354DD6B609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46200" y="1407743"/>
                <a:ext cx="9804086" cy="5319627"/>
              </a:xfrm>
              <a:prstGeom prst="rect">
                <a:avLst/>
              </a:prstGeom>
              <a:blipFill>
                <a:blip r:embed="rId3"/>
                <a:stretch>
                  <a:fillRect l="-129" t="-47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ABFDC18D-D493-7A94-D7D9-02FA4F8CB8B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26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68F28B5-1E62-0CDC-86FA-5CE90E28B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1731735"/>
            <a:ext cx="2159000" cy="368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41E58A8-1EBE-A375-6422-B8079AED3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700" y="2516689"/>
            <a:ext cx="1752600" cy="1346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579F8EB-A442-CCF9-2203-FADC522A2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421" y="4240570"/>
            <a:ext cx="21971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42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97FD8-6ED3-E0C0-DED9-8D1E71F7F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2">
            <a:extLst>
              <a:ext uri="{FF2B5EF4-FFF2-40B4-BE49-F238E27FC236}">
                <a16:creationId xmlns:a16="http://schemas.microsoft.com/office/drawing/2014/main" id="{6B2FBA9B-0FD1-0C72-3CB7-1E2CD6F9EE7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771" y="3722914"/>
            <a:ext cx="9403560" cy="142602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3200" b="1" dirty="0">
                <a:solidFill>
                  <a:schemeClr val="dk1"/>
                </a:solidFill>
                <a:latin typeface="华文中宋"/>
                <a:ea typeface="华文中宋"/>
              </a:rPr>
              <a:t>Multi-class Logistic Regression</a:t>
            </a:r>
          </a:p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endParaRPr lang="en-US" sz="3200" b="1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88E7C43-CA2F-26FE-2A4A-482539C9A3A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2546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4D60F-77A1-78DB-9753-ADE77B21D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CE68621A-A583-C009-C768-FCFCD21F1A5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From Binary Logistic to Multiclass LR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3351258B-8DCC-B794-7EDA-B32C3D278B4D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46200" y="1407743"/>
                <a:ext cx="9804086" cy="531962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1800" dirty="0">
                    <a:latin typeface="+mn-ea"/>
                  </a:rPr>
                  <a:t>-class classification, choose class 0 as the baseline.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For each other class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800" dirty="0">
                    <a:latin typeface="+mn-ea"/>
                  </a:rPr>
                  <a:t>, model its log-odds against class 0: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Since all probabilities must sum to 1: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Therefore,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This is </a:t>
                </a:r>
                <a:r>
                  <a:rPr lang="en-US" altLang="zh-CN" sz="1800" b="1" dirty="0">
                    <a:latin typeface="+mn-ea"/>
                  </a:rPr>
                  <a:t>multiclass logistic regression</a:t>
                </a:r>
                <a:r>
                  <a:rPr lang="en-US" altLang="zh-CN" sz="1800" dirty="0">
                    <a:latin typeface="+mn-ea"/>
                  </a:rPr>
                  <a:t>. And </a:t>
                </a: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None/>
                </a:pPr>
                <a:endParaRPr lang="en-US" altLang="zh-CN" sz="1800" dirty="0">
                  <a:latin typeface="+mn-ea"/>
                  <a:cs typeface="Apple Symbols" panose="02000000000000000000" pitchFamily="2" charset="-79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3351258B-8DCC-B794-7EDA-B32C3D278B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46200" y="1407743"/>
                <a:ext cx="9804086" cy="5319627"/>
              </a:xfrm>
              <a:prstGeom prst="rect">
                <a:avLst/>
              </a:prstGeom>
              <a:blipFill>
                <a:blip r:embed="rId3"/>
                <a:stretch>
                  <a:fillRect l="-129" t="-47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24A9601D-41DF-778E-22B9-8EF6EDD1580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28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03ECB9-8152-2E1B-A0B2-0528E3E98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457" y="2283278"/>
            <a:ext cx="2603500" cy="571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57813F-64D4-0B94-AD6F-9DD7D4857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450" y="2391228"/>
            <a:ext cx="1181100" cy="3556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F594DA2-01C2-A0E1-DD7C-6217D803A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6161" y="3176259"/>
            <a:ext cx="2224578" cy="10010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08C5380-470C-0E27-2366-4DBF2DBF70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2786" y="4561397"/>
            <a:ext cx="2255157" cy="67422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C5D5D40-9308-B1C4-A537-DFA6B3279B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5957" y="4556300"/>
            <a:ext cx="4533900" cy="7366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62FB4E9-5537-0646-228B-D8AB54747E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4185" y="5680997"/>
            <a:ext cx="27178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6FDB0-90C6-1907-503E-CC97ECD5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0701A84B-416B-3A29-CDAC-156850683B2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 err="1">
                <a:solidFill>
                  <a:schemeClr val="dk2"/>
                </a:solidFill>
                <a:uFillTx/>
                <a:latin typeface="华文中宋"/>
                <a:ea typeface="华文中宋"/>
              </a:rPr>
              <a:t>Softmax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C37B12E2-BDFB-E959-2AAD-68FF6512A84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40349" y="1288001"/>
            <a:ext cx="10025621" cy="511711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Softmax function turns arbitrary inputs(logits) into probabilities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Logits are not probabilities: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they can be negative; 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they can be larger than 1; 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they do not need to sum to 1.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Property: </a:t>
            </a:r>
          </a:p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 err="1">
                <a:latin typeface="+mn-ea"/>
              </a:rPr>
              <a:t>Softmax</a:t>
            </a:r>
            <a:r>
              <a:rPr lang="en-US" altLang="zh-CN" sz="1800" dirty="0">
                <a:latin typeface="+mn-ea"/>
              </a:rPr>
              <a:t>: soft + max.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Hard max: argmax just choose the largest one.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For                               , argmax gives             , , which is a hard decision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But </a:t>
            </a:r>
            <a:r>
              <a:rPr lang="en-US" altLang="zh-CN" sz="1800" dirty="0" err="1">
                <a:latin typeface="+mn-ea"/>
              </a:rPr>
              <a:t>softmax</a:t>
            </a:r>
            <a:r>
              <a:rPr lang="en-US" altLang="zh-CN" sz="1800" dirty="0">
                <a:latin typeface="+mn-ea"/>
              </a:rPr>
              <a:t> gives                                  . The max logit still correspond to max probability, but also keep non-zero prob for other classes. So, it’s a soft version of max.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34200AE-5518-A394-9BAB-2E3A1C7DEAE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29</a:t>
            </a:fld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820635-2968-8D0C-E586-CF54408C5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3429000"/>
            <a:ext cx="3314700" cy="3429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A8F1A1-BF58-C965-75FC-3DF9FC2C7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957" y="1971151"/>
            <a:ext cx="2717800" cy="7747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133D04C-2619-0B3F-9A92-C2A9033BE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550" y="4825093"/>
            <a:ext cx="2019300" cy="3429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43ABC86-16F3-19B6-B337-8F381273B6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9186" y="4846864"/>
            <a:ext cx="990600" cy="330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9DC5A8-EBF5-1C0F-B301-F054979850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1200" y="5256128"/>
            <a:ext cx="2374900" cy="2921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6B715F2-438F-7DC0-4064-438F87744B39}"/>
              </a:ext>
            </a:extLst>
          </p:cNvPr>
          <p:cNvSpPr txBox="1"/>
          <p:nvPr/>
        </p:nvSpPr>
        <p:spPr>
          <a:xfrm>
            <a:off x="740349" y="6304142"/>
            <a:ext cx="4761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Code:  </a:t>
            </a:r>
            <a:r>
              <a:rPr kumimoji="1" lang="en-US" altLang="zh-CN" dirty="0" err="1"/>
              <a:t>dl_intro</a:t>
            </a:r>
            <a:r>
              <a:rPr kumimoji="1" lang="en-US" altLang="zh-CN" dirty="0"/>
              <a:t>/02_softmax_cross_entropy.ipynb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3223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BB0C7-D5E2-6012-5E5F-D92786636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87BF11E0-BAC8-58B4-2523-0377B2E39A93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Identifiable</a:t>
            </a:r>
            <a:r>
              <a:rPr lang="zh-CN" altLang="en-US" sz="2800" dirty="0">
                <a:solidFill>
                  <a:schemeClr val="dk2"/>
                </a:solidFill>
                <a:latin typeface="华文中宋"/>
                <a:ea typeface="华文中宋"/>
              </a:rPr>
              <a:t> </a:t>
            </a: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Note</a:t>
            </a:r>
            <a:endParaRPr lang="en-US" sz="2800" dirty="0">
              <a:solidFill>
                <a:schemeClr val="dk2"/>
              </a:solidFill>
              <a:latin typeface="华文中宋"/>
              <a:ea typeface="华文中宋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2FCC2323-BC41-8612-E0CC-0A6822F8EA6D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740350" y="1288001"/>
                <a:ext cx="9927650" cy="503659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In neural networks, rather than chooses one baseline class, e.g. class 0, we usually predict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zh-CN" alt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800" dirty="0">
                    <a:latin typeface="+mn-ea"/>
                  </a:rPr>
                  <a:t>logits:</a:t>
                </a:r>
                <a:endParaRPr lang="en-US" altLang="zh-CN" sz="1800" dirty="0">
                  <a:solidFill>
                    <a:schemeClr val="dk1"/>
                  </a:solidFill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+mn-ea"/>
                  </a:rPr>
                  <a:t>It’s equivalent, since 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+mn-ea"/>
                  </a:rPr>
                  <a:t>Therefore, the baseline formulation is recovered by setting:</a:t>
                </a:r>
                <a:endParaRPr lang="en-US" altLang="zh-CN" sz="1800" dirty="0">
                  <a:latin typeface="+mn-ea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2FCC2323-BC41-8612-E0CC-0A6822F8EA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740350" y="1288001"/>
                <a:ext cx="9927650" cy="5036599"/>
              </a:xfrm>
              <a:prstGeom prst="rect">
                <a:avLst/>
              </a:prstGeom>
              <a:blipFill>
                <a:blip r:embed="rId3"/>
                <a:stretch>
                  <a:fillRect l="-128" t="-503" r="-51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E88013A4-9FD5-E73A-2AC3-821302D8E0C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30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2202F97-99FA-7A4C-DAA7-B8839ACA6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600" y="1877786"/>
            <a:ext cx="2336800" cy="1143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8922BB2-0D67-43B4-1C5E-FDDEB027F7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650" y="3510643"/>
            <a:ext cx="4584700" cy="7747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A89EF3-6E9A-A40D-9CD5-FCB09FA730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5750" y="4998499"/>
            <a:ext cx="14605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9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F9B17-50ED-80AA-82E7-5A1C80E1F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AF50C603-2AEF-F5D6-E388-728029A97EF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Multi-class Logistic Regression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92288DFE-D5AF-D92D-7493-4CAC396A33F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40349" y="1712545"/>
            <a:ext cx="10569907" cy="435079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b="1" dirty="0">
                <a:latin typeface="+mn-ea"/>
              </a:rPr>
              <a:t>Task</a:t>
            </a:r>
            <a:r>
              <a:rPr lang="en-US" altLang="zh-CN" sz="1800" dirty="0">
                <a:latin typeface="+mn-ea"/>
              </a:rPr>
              <a:t>: predict a label                   from an input feature vector  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b="1" dirty="0">
                <a:latin typeface="+mn-ea"/>
              </a:rPr>
              <a:t>Model:</a:t>
            </a:r>
            <a:r>
              <a:rPr lang="en-US" altLang="zh-CN" sz="1800" dirty="0">
                <a:latin typeface="+mn-ea"/>
              </a:rPr>
              <a:t> for each class k, compute a linear score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u="none" strike="noStrike" dirty="0">
                <a:solidFill>
                  <a:schemeClr val="dk1"/>
                </a:solidFill>
                <a:uFillTx/>
                <a:latin typeface="STZhongsong" panose="02010600040101010101" pitchFamily="2" charset="-122"/>
                <a:ea typeface="STZhongsong" panose="02010600040101010101" pitchFamily="2" charset="-122"/>
                <a:cs typeface="Times New Roman" panose="02020603050405020304" pitchFamily="18" charset="0"/>
              </a:rPr>
              <a:t>These 10 scores are converted into probabilities using the </a:t>
            </a:r>
            <a:r>
              <a:rPr lang="en-US" sz="1800" u="none" strike="noStrike" dirty="0" err="1">
                <a:solidFill>
                  <a:schemeClr val="dk1"/>
                </a:solidFill>
                <a:uFillTx/>
                <a:latin typeface="STZhongsong" panose="02010600040101010101" pitchFamily="2" charset="-122"/>
                <a:ea typeface="STZhongsong" panose="02010600040101010101" pitchFamily="2" charset="-122"/>
                <a:cs typeface="Times New Roman" panose="02020603050405020304" pitchFamily="18" charset="0"/>
              </a:rPr>
              <a:t>softmax</a:t>
            </a:r>
            <a:r>
              <a:rPr lang="en-US" sz="1800" u="none" strike="noStrike" dirty="0">
                <a:solidFill>
                  <a:schemeClr val="dk1"/>
                </a:solidFill>
                <a:uFillTx/>
                <a:latin typeface="STZhongsong" panose="02010600040101010101" pitchFamily="2" charset="-122"/>
                <a:ea typeface="STZhongsong" panose="02010600040101010101" pitchFamily="2" charset="-122"/>
                <a:cs typeface="Times New Roman" panose="02020603050405020304" pitchFamily="18" charset="0"/>
              </a:rPr>
              <a:t> function:</a:t>
            </a:r>
            <a:endParaRPr lang="en-US" sz="1800" dirty="0">
              <a:solidFill>
                <a:schemeClr val="dk1"/>
              </a:solidFill>
              <a:latin typeface="STZhongsong" panose="02010600040101010101" pitchFamily="2" charset="-122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1800" u="none" strike="noStrike" dirty="0">
              <a:solidFill>
                <a:schemeClr val="dk1"/>
              </a:solidFill>
              <a:uFillTx/>
              <a:latin typeface="STZhongsong" panose="02010600040101010101" pitchFamily="2" charset="-122"/>
              <a:ea typeface="STZhongsong" panose="02010600040101010101" pitchFamily="2" charset="-122"/>
              <a:cs typeface="Times New Roman" panose="02020603050405020304" pitchFamily="18" charset="0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b="1" dirty="0"/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b="1" dirty="0"/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STZhongsong" panose="02010600040101010101" pitchFamily="2" charset="-122"/>
                <a:ea typeface="STZhongsong" panose="02010600040101010101" pitchFamily="2" charset="-122"/>
              </a:rPr>
              <a:t>The predicted label is the class with the </a:t>
            </a:r>
            <a:r>
              <a:rPr lang="en-US" altLang="zh-CN" sz="1800" b="1" dirty="0">
                <a:latin typeface="STZhongsong" panose="02010600040101010101" pitchFamily="2" charset="-122"/>
                <a:ea typeface="STZhongsong" panose="02010600040101010101" pitchFamily="2" charset="-122"/>
              </a:rPr>
              <a:t>highest probability</a:t>
            </a:r>
            <a:r>
              <a:rPr lang="en-US" altLang="zh-CN" sz="1800" dirty="0">
                <a:latin typeface="STZhongsong" panose="02010600040101010101" pitchFamily="2" charset="-122"/>
                <a:ea typeface="STZhongsong" panose="02010600040101010101" pitchFamily="2" charset="-122"/>
              </a:rPr>
              <a:t>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STZhongsong" panose="02010600040101010101" pitchFamily="2" charset="-122"/>
                <a:ea typeface="STZhongsong" panose="02010600040101010101" pitchFamily="2" charset="-122"/>
              </a:rPr>
              <a:t>Training is done by minimizing cross-entropy loss over all classes.</a:t>
            </a:r>
            <a:endParaRPr lang="en-US" sz="1800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62E1A6E-614F-0939-9BC5-52FE7FFDE4E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31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4804F80-C626-1E5E-54F3-95EA65315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808" y="1765600"/>
            <a:ext cx="1193425" cy="27954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606902-95D0-5B43-1A9C-189F89232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008" y="2146784"/>
            <a:ext cx="1650092" cy="3230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643AE62-5337-7A51-4603-E9F9816A2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530" y="3152361"/>
            <a:ext cx="2740940" cy="70770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D4201A5-D043-85E9-54B9-7FBB27D7B0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7179" y="1712545"/>
            <a:ext cx="10033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7376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3E4E-B26A-6792-2A3E-B0484E0E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37EF6A90-D3CE-D913-0720-67FE8F31CEC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Multinomial Likelihood</a:t>
            </a:r>
            <a:endParaRPr lang="en-US" sz="2800" dirty="0">
              <a:solidFill>
                <a:schemeClr val="dk2"/>
              </a:solidFill>
              <a:latin typeface="华文中宋"/>
              <a:ea typeface="华文中宋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8EFE73C8-A86D-6327-1B9D-C9E09429686C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740349" y="1407744"/>
                <a:ext cx="10569907" cy="545025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For one image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altLang="zh-CN" sz="1800" b="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ar-AE" altLang="zh-CN" sz="1800" b="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ar-AE" altLang="zh-CN" sz="1800" dirty="0">
                    <a:latin typeface="+mn-ea"/>
                  </a:rPr>
                  <a:t>, </a:t>
                </a:r>
                <a:r>
                  <a:rPr lang="en-US" altLang="zh-CN" sz="1800" dirty="0">
                    <a:latin typeface="+mn-ea"/>
                  </a:rPr>
                  <a:t>the model predicts a probability vector: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Represent the true label as a one-hot vector: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The probability of observing this label is (one-trial multinomial):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For independent samples, the likelihood is: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The log-likelihood is: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Therefore, minimizing the negative log-likelihood gives cross-entropy loss:</a:t>
                </a: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8EFE73C8-A86D-6327-1B9D-C9E094296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740349" y="1407744"/>
                <a:ext cx="10569907" cy="5450255"/>
              </a:xfrm>
              <a:prstGeom prst="rect">
                <a:avLst/>
              </a:prstGeom>
              <a:blipFill>
                <a:blip r:embed="rId3"/>
                <a:stretch>
                  <a:fillRect l="-120" t="-93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C9B3612D-E3BF-7AAB-3284-A73C61740B0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32</a:t>
            </a:fld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3124DB-D39F-AC7F-F02D-1AD649AD2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250" y="1797957"/>
            <a:ext cx="2349500" cy="279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0967C3-2965-AA89-834A-46F319F28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385" y="2585197"/>
            <a:ext cx="5693229" cy="69429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C502BB7-84F7-0023-0340-040395E4B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50" y="3809632"/>
            <a:ext cx="2334571" cy="64731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3B50415-3207-8BA9-FB6D-B4065A63AE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513810"/>
            <a:ext cx="1998435" cy="6624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21F0CF9-2CD7-8F2F-25A2-66C938F867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9800" y="4949102"/>
            <a:ext cx="2210257" cy="53192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F4E88BA-A5E4-8D36-B418-7B068AE23F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4300" y="5911769"/>
            <a:ext cx="34417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01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7B41C-5E36-0512-C03B-590F1EB95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5B487097-3482-FA21-B496-916AF4A8362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Cross-Entropy: </a:t>
            </a:r>
            <a:r>
              <a:rPr lang="en-US" altLang="zh-CN" sz="24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one-hot case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53BAD112-E461-FBDB-9D04-9BA57B4D2238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46200" y="1407744"/>
                <a:ext cx="9804086" cy="499737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latin typeface="+mn-ea"/>
                  </a:rPr>
                  <a:t>In our case, each image has one correct label, we present the true label as a one-hot vector. (categorize)</a:t>
                </a:r>
                <a:endParaRPr lang="en-US" altLang="zh-CN" sz="1800" dirty="0">
                  <a:solidFill>
                    <a:schemeClr val="dk1"/>
                  </a:solidFill>
                  <a:latin typeface="+mn-ea"/>
                </a:endParaRP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600" dirty="0">
                    <a:solidFill>
                      <a:schemeClr val="dk1"/>
                    </a:solidFill>
                    <a:latin typeface="+mn-ea"/>
                  </a:rPr>
                  <a:t>E.g. if true digit is 3, then 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+mn-ea"/>
                  </a:rPr>
                  <a:t>Model prediction after </a:t>
                </a:r>
                <a:r>
                  <a:rPr lang="en-US" altLang="zh-CN" sz="1800" dirty="0" err="1">
                    <a:solidFill>
                      <a:schemeClr val="dk1"/>
                    </a:solidFill>
                    <a:latin typeface="+mn-ea"/>
                  </a:rPr>
                  <a:t>softmax</a:t>
                </a:r>
                <a:r>
                  <a:rPr lang="en-US" altLang="zh-CN" sz="1800" dirty="0">
                    <a:solidFill>
                      <a:schemeClr val="dk1"/>
                    </a:solidFill>
                    <a:latin typeface="+mn-ea"/>
                  </a:rPr>
                  <a:t>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+mn-ea"/>
                  </a:rPr>
                  <a:t>Calculate cross-entropy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dirty="0">
                    <a:solidFill>
                      <a:schemeClr val="dk1"/>
                    </a:solidFill>
                    <a:latin typeface="+mn-ea"/>
                  </a:rPr>
                  <a:t>Because only the correct class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800" dirty="0">
                    <a:solidFill>
                      <a:schemeClr val="dk1"/>
                    </a:solidFill>
                    <a:latin typeface="+mn-ea"/>
                  </a:rPr>
                  <a:t>, the loss becomes: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latin typeface="+mn-ea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53BAD112-E461-FBDB-9D04-9BA57B4D2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46200" y="1407744"/>
                <a:ext cx="9804086" cy="4997376"/>
              </a:xfrm>
              <a:prstGeom prst="rect">
                <a:avLst/>
              </a:prstGeom>
              <a:blipFill>
                <a:blip r:embed="rId3"/>
                <a:stretch>
                  <a:fillRect l="-124" t="-73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5A407B38-E0E1-21E1-6480-00F8FCFA9B9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33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465A74-8877-93CA-860D-DB784D58A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100" y="2360179"/>
            <a:ext cx="3225800" cy="3429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7AE2217-DE02-85F1-0D85-43D9B20E9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750" y="3263900"/>
            <a:ext cx="2984500" cy="330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3DC8742-964F-94AC-0CAB-C2D45C507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3186" y="3982197"/>
            <a:ext cx="2605628" cy="7056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9EF3396-3671-A1F7-D744-BE6FC02A83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0" y="5439370"/>
            <a:ext cx="2921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232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7F21C-DBE8-370A-1147-A1532A05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473F36C3-91C0-CA88-7961-4FEEA2C41BF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Optimization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D65713B-86D0-CC16-1BB9-3A50A0858D56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34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3C3B119-28A0-A116-DAC0-8036BB57B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53" y="1897013"/>
            <a:ext cx="4468722" cy="29064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2435279-660F-EE3D-164C-269D7638FED9}"/>
              </a:ext>
            </a:extLst>
          </p:cNvPr>
          <p:cNvSpPr txBox="1"/>
          <p:nvPr/>
        </p:nvSpPr>
        <p:spPr>
          <a:xfrm>
            <a:off x="646200" y="1248957"/>
            <a:ext cx="1851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Forward Process: 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9E599A-35B3-AB7D-CC4A-AC62204D1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476" y="1278012"/>
            <a:ext cx="2804615" cy="36933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EF7C9E4-A3F3-B552-2B77-69E4EEFBF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965" y="1560336"/>
            <a:ext cx="1767555" cy="61022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FFC26E9-589C-86E7-11A6-494B9BE0AB74}"/>
              </a:ext>
            </a:extLst>
          </p:cNvPr>
          <p:cNvSpPr txBox="1"/>
          <p:nvPr/>
        </p:nvSpPr>
        <p:spPr>
          <a:xfrm>
            <a:off x="6498067" y="1651729"/>
            <a:ext cx="1966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Backward Process: 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CBF459-A37C-D318-A573-945F80687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8028" y="2484262"/>
            <a:ext cx="1613873" cy="6367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86B100C-D0F4-11DE-B008-87CF89331F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72" y="3549894"/>
            <a:ext cx="2101893" cy="6102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DD0A002-0791-F125-49D7-A869ED96A4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9320" y="3659522"/>
            <a:ext cx="1330899" cy="56147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62CAEDE-6278-EBC7-663A-D6FA53A8F146}"/>
              </a:ext>
            </a:extLst>
          </p:cNvPr>
          <p:cNvSpPr txBox="1"/>
          <p:nvPr/>
        </p:nvSpPr>
        <p:spPr>
          <a:xfrm>
            <a:off x="2527942" y="5722986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Update</a:t>
            </a:r>
            <a:endParaRPr kumimoji="1"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3A05DE6-EADC-D9F0-0EE2-6256E43AA5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1400" y="5261904"/>
            <a:ext cx="21844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AFA46-1EAC-93A0-2F1B-7F5060290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5E354209-F12E-20D9-C4A5-31A1D9B4CAA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GD and SGD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DAEBBA24-9218-6902-4FE9-D630B3FF6D1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407744"/>
            <a:ext cx="9804086" cy="499737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Full GD uses all training samples to compute one update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This is accurate, but slow for large datasets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SGD uses one sample or a mini-batch to estimate the gradient.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Each update is noisier, but much faster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Mini-batch SGD is the standard choice in deep learning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6888226-4862-3429-F65D-3023DA55152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35</a:t>
            </a:fld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A30FB3-740A-A23D-CF48-CFDEEAA4F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7"/>
          <a:stretch>
            <a:fillRect/>
          </a:stretch>
        </p:blipFill>
        <p:spPr>
          <a:xfrm>
            <a:off x="635314" y="1176966"/>
            <a:ext cx="9746292" cy="499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273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1B364-8179-5F47-C611-EB8D04700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A77F2CF0-2345-BE2B-7A10-73935BABA53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Use SGD: </a:t>
            </a:r>
            <a:r>
              <a:rPr lang="en-US" altLang="zh-CN" sz="2800" b="0" u="none" strike="noStrike" dirty="0" err="1">
                <a:solidFill>
                  <a:schemeClr val="dk2"/>
                </a:solidFill>
                <a:uFillTx/>
                <a:latin typeface="华文中宋"/>
                <a:ea typeface="华文中宋"/>
              </a:rPr>
              <a:t>Pytorch</a:t>
            </a: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 </a:t>
            </a:r>
            <a:r>
              <a:rPr lang="en-US" altLang="zh-CN" sz="2800" b="0" u="none" strike="noStrike" dirty="0" err="1">
                <a:solidFill>
                  <a:schemeClr val="dk2"/>
                </a:solidFill>
                <a:uFillTx/>
                <a:latin typeface="华文中宋"/>
                <a:ea typeface="华文中宋"/>
              </a:rPr>
              <a:t>Autograd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F09224C8-3A66-195A-B84C-189D8438B2D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407744"/>
            <a:ext cx="9804086" cy="499737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Computing gradients by hand is tedious for complex models.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 err="1">
                <a:latin typeface="+mn-ea"/>
              </a:rPr>
              <a:t>PyTorch</a:t>
            </a:r>
            <a:r>
              <a:rPr lang="en-US" altLang="zh-CN" sz="1800" dirty="0">
                <a:latin typeface="+mn-ea"/>
              </a:rPr>
              <a:t> builds a </a:t>
            </a:r>
            <a:r>
              <a:rPr lang="en-US" altLang="zh-CN" sz="1800" b="1" dirty="0">
                <a:latin typeface="+mn-ea"/>
              </a:rPr>
              <a:t>computation graph</a:t>
            </a:r>
            <a:r>
              <a:rPr lang="en-US" altLang="zh-CN" sz="1800" dirty="0">
                <a:latin typeface="+mn-ea"/>
              </a:rPr>
              <a:t> during the forward pass.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 err="1">
                <a:latin typeface="+mn-ea"/>
              </a:rPr>
              <a:t>loss.backward</a:t>
            </a:r>
            <a:r>
              <a:rPr lang="en-US" altLang="zh-CN" sz="1800" dirty="0">
                <a:latin typeface="+mn-ea"/>
              </a:rPr>
              <a:t>() applies the chain rule automatically.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Gradients are stored in each parameter’s .grad.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 err="1">
                <a:latin typeface="+mn-ea"/>
              </a:rPr>
              <a:t>optimizer.step</a:t>
            </a:r>
            <a:r>
              <a:rPr lang="en-US" altLang="zh-CN" sz="1800" dirty="0">
                <a:latin typeface="+mn-ea"/>
              </a:rPr>
              <a:t>() uses these gradients to update parameters.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 err="1">
                <a:latin typeface="+mn-ea"/>
              </a:rPr>
              <a:t>Autograd</a:t>
            </a:r>
            <a:r>
              <a:rPr lang="en-US" altLang="zh-CN" sz="1800" dirty="0">
                <a:latin typeface="+mn-ea"/>
              </a:rPr>
              <a:t> = automatic chain rule on the computation graph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0EB4A76F-FFC8-DD31-BCDF-583D3353C8B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36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B97C1A-7CB7-919B-0B96-1CBA5C1C1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075" y="3988158"/>
            <a:ext cx="3467100" cy="3683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8AAE6E0-6A67-E696-EF49-4D8A6ED4D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133" y="5251513"/>
            <a:ext cx="2291810" cy="60310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97D5167-D16B-B508-7EF6-B963B97A1AA3}"/>
              </a:ext>
            </a:extLst>
          </p:cNvPr>
          <p:cNvSpPr txBox="1"/>
          <p:nvPr/>
        </p:nvSpPr>
        <p:spPr>
          <a:xfrm>
            <a:off x="1227303" y="4503467"/>
            <a:ext cx="3025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Computation Graph(Forward)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76F68F-3635-4B74-1D51-045539123063}"/>
              </a:ext>
            </a:extLst>
          </p:cNvPr>
          <p:cNvSpPr txBox="1"/>
          <p:nvPr/>
        </p:nvSpPr>
        <p:spPr>
          <a:xfrm>
            <a:off x="1608048" y="6061058"/>
            <a:ext cx="226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Backward propagation</a:t>
            </a:r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0F5CD29-2087-8A42-F313-094A1E1BA2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3280" y="3820024"/>
            <a:ext cx="49149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28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7DD56-A979-E662-768E-C03B67B3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>
            <a:extLst>
              <a:ext uri="{FF2B5EF4-FFF2-40B4-BE49-F238E27FC236}">
                <a16:creationId xmlns:a16="http://schemas.microsoft.com/office/drawing/2014/main" id="{25F97819-3216-F008-657F-6C7DA5823821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37</a:t>
            </a:fld>
            <a:endParaRPr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C1E9C17-B540-1396-8F36-B64EDB029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07" y="391885"/>
            <a:ext cx="10370327" cy="583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551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CC3A-D667-1378-EF3A-DE68C3B39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65C9B2E0-545F-F54F-F4EE-BC52E228301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Results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A34C44C4-576D-C0CB-8A22-FCA957C8588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407744"/>
            <a:ext cx="9804086" cy="499737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Test accuracy: 0.9222 with 30 epochs (~30s on a </a:t>
            </a:r>
            <a:r>
              <a:rPr lang="en-US" altLang="zh-CN" sz="1800" dirty="0" err="1">
                <a:latin typeface="+mn-ea"/>
              </a:rPr>
              <a:t>Macbook</a:t>
            </a:r>
            <a:r>
              <a:rPr lang="en-US" altLang="zh-CN" sz="1800" dirty="0">
                <a:latin typeface="+mn-ea"/>
              </a:rPr>
              <a:t> M4 chip)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Try by yourself!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3EDB6941-2886-3EE0-84F8-D43ED4100EB4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38</a:t>
            </a:fld>
            <a:endParaRPr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F597C0F-20C0-C0D9-55EA-68AB45597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112" y="2841446"/>
            <a:ext cx="7891775" cy="308038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00237AB-411D-FA9E-8611-493E9365BEBA}"/>
              </a:ext>
            </a:extLst>
          </p:cNvPr>
          <p:cNvSpPr txBox="1"/>
          <p:nvPr/>
        </p:nvSpPr>
        <p:spPr>
          <a:xfrm>
            <a:off x="783772" y="6220454"/>
            <a:ext cx="5719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Code: </a:t>
            </a:r>
            <a:r>
              <a:rPr kumimoji="1" lang="en-US" altLang="zh-CN" dirty="0" err="1"/>
              <a:t>dl_intro</a:t>
            </a:r>
            <a:r>
              <a:rPr kumimoji="1" lang="en-US" altLang="zh-CN" dirty="0"/>
              <a:t>/03_logistic_regression_mnist_pytorch.ipynb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1264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698AE-F64A-D24F-8F16-4498ADE8C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00CD75C3-59D8-95B3-872D-655B6B3C645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Recap: from image to prediction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8153E22-F9C6-C16F-E91E-330AA7513E0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39</a:t>
            </a:fld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6CEC596-FDAD-0500-8AAF-38BFCF007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31"/>
          <a:stretch>
            <a:fillRect/>
          </a:stretch>
        </p:blipFill>
        <p:spPr>
          <a:xfrm>
            <a:off x="646200" y="1207191"/>
            <a:ext cx="7772400" cy="519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293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3A25-E476-7AAC-60FC-2AC7D7D68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2">
            <a:extLst>
              <a:ext uri="{FF2B5EF4-FFF2-40B4-BE49-F238E27FC236}">
                <a16:creationId xmlns:a16="http://schemas.microsoft.com/office/drawing/2014/main" id="{5A8E17EF-0FB5-6875-AE90-D2D0E870C58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771" y="3722914"/>
            <a:ext cx="9403560" cy="142602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3200" b="1" dirty="0">
                <a:solidFill>
                  <a:schemeClr val="dk1"/>
                </a:solidFill>
                <a:latin typeface="华文中宋"/>
                <a:ea typeface="华文中宋"/>
              </a:rPr>
              <a:t>Logistic Regression with MLP</a:t>
            </a:r>
          </a:p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endParaRPr lang="en-US" sz="3200" b="1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4A34868-D6CB-C713-37CA-B92B0161FF8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42195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00762-536C-A787-0321-A8E7BC005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86DF1CF5-FA8C-ABAC-7533-ECA84ED0A16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Limitation of linear model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989C3321-8DA5-F5A0-1538-330F29ABA61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407744"/>
            <a:ext cx="9804086" cy="499737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linear model already works reasonably well, but its errors reveal a limitation: it only uses additive first-order pixel evidence and cannot learn nonlinear feature combinations.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For each class:</a:t>
            </a:r>
          </a:p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The score is a weighted sum of individual pixels.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It uses </a:t>
            </a:r>
            <a:r>
              <a:rPr lang="en-US" altLang="zh-CN" sz="1800" b="1" dirty="0">
                <a:latin typeface="+mn-ea"/>
              </a:rPr>
              <a:t>first-order pixel evidence</a:t>
            </a:r>
            <a:r>
              <a:rPr lang="en-US" altLang="zh-CN" sz="1800" dirty="0">
                <a:latin typeface="+mn-ea"/>
              </a:rPr>
              <a:t> only.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It does not explicitly model interactions such as: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3A64799-8897-A4F0-1F33-F98577C97DAD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41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03B0579-E54C-CED6-7403-8F6BDAFE9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121" y="2411205"/>
            <a:ext cx="1942372" cy="71670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ACBDB0A-B217-ACB9-695C-795F9FAB0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186" y="4059621"/>
            <a:ext cx="1638300" cy="32972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3321D7-BAA0-7145-F01E-475C895FAE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705"/>
          <a:stretch>
            <a:fillRect/>
          </a:stretch>
        </p:blipFill>
        <p:spPr>
          <a:xfrm>
            <a:off x="1415143" y="4392243"/>
            <a:ext cx="4963886" cy="236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0630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FD381-E677-79E6-BDC2-4F74BE119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427A9D60-D488-F19D-3335-B07B395B9CB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Why nonlinearity?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003AD52B-653D-7A9C-CD09-A4ED985CCA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407744"/>
            <a:ext cx="9804086" cy="499737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A linear model creates linear decision boundaries in feature space.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Some patterns cannot be separated well by a single linear rule.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Nonlinear models can bend the decision boundary.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More importantly, they can learn intermediate features: pixels -&gt; strokes -&gt; digits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3A30A19B-0910-BF42-C3E0-946AC8B0A7B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42</a:t>
            </a:fld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71C1E6-342C-F276-A1D4-65C03F38B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972" y="3224115"/>
            <a:ext cx="6085114" cy="336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098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47F22-67DF-0351-FF43-F478018F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EA3FD577-C426-F36E-EC44-F0674B2784F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Introduce nonlinearity</a:t>
            </a:r>
            <a:r>
              <a:rPr lang="zh-CN" altLang="en-US" sz="2800" dirty="0">
                <a:solidFill>
                  <a:schemeClr val="dk2"/>
                </a:solidFill>
                <a:latin typeface="华文中宋"/>
                <a:ea typeface="华文中宋"/>
              </a:rPr>
              <a:t>： </a:t>
            </a:r>
            <a:r>
              <a:rPr lang="en-US" altLang="zh-CN" sz="2800" dirty="0" err="1">
                <a:solidFill>
                  <a:schemeClr val="dk2"/>
                </a:solidFill>
                <a:latin typeface="华文中宋"/>
                <a:ea typeface="华文中宋"/>
              </a:rPr>
              <a:t>ReLU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FEDD2477-D321-458B-43F5-B9A0D4B81F1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407744"/>
            <a:ext cx="6606859" cy="499737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 err="1">
                <a:latin typeface="+mn-ea"/>
              </a:rPr>
              <a:t>ReLU</a:t>
            </a:r>
            <a:r>
              <a:rPr lang="en-US" altLang="zh-CN" sz="1800" dirty="0">
                <a:latin typeface="+mn-ea"/>
              </a:rPr>
              <a:t> means Rectified Linear Unit.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It keeps positive values and removes negative values: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Linear + Linear = Still Linear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Linear + </a:t>
            </a:r>
            <a:r>
              <a:rPr lang="en-US" altLang="zh-CN" sz="1800" dirty="0" err="1">
                <a:latin typeface="+mn-ea"/>
              </a:rPr>
              <a:t>ReLU</a:t>
            </a:r>
            <a:r>
              <a:rPr lang="en-US" altLang="zh-CN" sz="1800" dirty="0">
                <a:latin typeface="+mn-ea"/>
              </a:rPr>
              <a:t> + Linear = Nonlinear model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Of course, you can use other non-linear functions, e.g. Sigmoid, </a:t>
            </a:r>
            <a:r>
              <a:rPr lang="en-US" altLang="zh-CN" sz="1800" dirty="0" err="1">
                <a:latin typeface="+mn-ea"/>
              </a:rPr>
              <a:t>SiLU</a:t>
            </a:r>
            <a:r>
              <a:rPr lang="en-US" altLang="zh-CN" sz="1800" dirty="0">
                <a:latin typeface="+mn-ea"/>
              </a:rPr>
              <a:t>, tanh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8821F06-8E89-6268-EADB-34C1990ABBE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43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7CA5A87-D542-CA3F-0976-7B5EDB10A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488" y="2283280"/>
            <a:ext cx="2300571" cy="29663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42304F6-18B3-B2CA-6DD0-2234C272D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565" y="2283280"/>
            <a:ext cx="4047532" cy="244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199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23FE-5EEE-2D94-F58D-190586CCE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FC3B87B7-1FAB-01B5-864B-C6E20A573EC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From linear model to MLP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80F98E2B-23D4-E06B-4082-434B62DD1B2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407744"/>
            <a:ext cx="9804086" cy="499737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Linear classifier: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MLP(Multi Layer </a:t>
            </a:r>
            <a:r>
              <a:rPr lang="en-US" altLang="zh-CN" sz="1800" dirty="0" err="1">
                <a:latin typeface="+mn-ea"/>
              </a:rPr>
              <a:t>Perceptrons</a:t>
            </a:r>
            <a:r>
              <a:rPr lang="en-US" altLang="zh-CN" sz="1800" dirty="0">
                <a:latin typeface="+mn-ea"/>
              </a:rPr>
              <a:t>) adds a hidden layer: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The hidden layer learns intermediate features.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The output layer uses these features for classification.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Linear + activation + Linear = MLP!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Can have many layers. Must have an activation between two layers.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Gradient? </a:t>
            </a:r>
            <a:r>
              <a:rPr lang="en-US" altLang="zh-CN" sz="1800" dirty="0" err="1">
                <a:latin typeface="+mn-ea"/>
              </a:rPr>
              <a:t>Pytorch</a:t>
            </a:r>
            <a:r>
              <a:rPr lang="en-US" altLang="zh-CN" sz="1800" dirty="0">
                <a:latin typeface="+mn-ea"/>
              </a:rPr>
              <a:t> automatically do it for you.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6E25C491-B317-9E40-67BB-3D6D192A76B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44</a:t>
            </a:fld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1BE260-B9BF-44B5-FA0E-9F7D77506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421" y="1492412"/>
            <a:ext cx="975705" cy="26018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52645BA-47F9-4057-AE4B-C1E4AA8AC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295" y="2394855"/>
            <a:ext cx="2053410" cy="77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121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C50EE-1DFD-A805-0E5B-5B06109C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172BF288-4C2A-B59B-1D0F-2BE6AD5BCB5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2 Layer MLP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48A2158-0D53-8F21-BA7C-7AE87810075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45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A17D70-3359-4454-F786-D2F8ABE66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08"/>
          <a:stretch>
            <a:fillRect/>
          </a:stretch>
        </p:blipFill>
        <p:spPr>
          <a:xfrm>
            <a:off x="0" y="1743734"/>
            <a:ext cx="8505217" cy="43269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4179BC5-3C1C-A093-A280-9D44E3F9F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071" y="4310283"/>
            <a:ext cx="3448957" cy="109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483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5322B-6E65-0DEE-69B8-200A2D7E5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2">
            <a:extLst>
              <a:ext uri="{FF2B5EF4-FFF2-40B4-BE49-F238E27FC236}">
                <a16:creationId xmlns:a16="http://schemas.microsoft.com/office/drawing/2014/main" id="{20EA2AB6-9DE7-DBD5-CCDC-9672A58CC7CE}"/>
              </a:ext>
            </a:extLst>
          </p:cNvPr>
          <p:cNvSpPr txBox="1">
            <a:spLocks/>
          </p:cNvSpPr>
          <p:nvPr/>
        </p:nvSpPr>
        <p:spPr>
          <a:xfrm>
            <a:off x="646200" y="1407744"/>
            <a:ext cx="9804086" cy="499737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0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18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Test set accuracy: 0.9770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</p:txBody>
      </p:sp>
      <p:sp>
        <p:nvSpPr>
          <p:cNvPr id="264" name="PlaceHolder 1">
            <a:extLst>
              <a:ext uri="{FF2B5EF4-FFF2-40B4-BE49-F238E27FC236}">
                <a16:creationId xmlns:a16="http://schemas.microsoft.com/office/drawing/2014/main" id="{C1C8BB09-FE43-1E58-4605-49240D9EF37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Performance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7063D15-3A1C-9E48-F3DD-03CC53C341F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46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F9DF7AD-C215-CB4F-AD5A-CFF41D62F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900" y="2471332"/>
            <a:ext cx="7442200" cy="28702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9D997F1-05EB-9D34-C7BD-D16FD1164217}"/>
              </a:ext>
            </a:extLst>
          </p:cNvPr>
          <p:cNvSpPr txBox="1"/>
          <p:nvPr/>
        </p:nvSpPr>
        <p:spPr>
          <a:xfrm>
            <a:off x="903514" y="6220454"/>
            <a:ext cx="4330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Code: </a:t>
            </a:r>
            <a:r>
              <a:rPr kumimoji="1" lang="en-US" altLang="zh-CN" dirty="0" err="1"/>
              <a:t>dl_intro</a:t>
            </a:r>
            <a:r>
              <a:rPr kumimoji="1" lang="en-US" altLang="zh-CN" dirty="0"/>
              <a:t>/04_mlp_mnist_pytorch.ipynb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11524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50FE6-C53F-17CE-D84A-61ECB9238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2D5232EB-F85F-BD0B-81A6-66B7D11B987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Recap: a standard pipeline</a:t>
            </a:r>
            <a:r>
              <a:rPr lang="zh-CN" altLang="en-US" sz="2800" dirty="0">
                <a:solidFill>
                  <a:schemeClr val="dk2"/>
                </a:solidFill>
                <a:latin typeface="华文中宋"/>
                <a:ea typeface="华文中宋"/>
              </a:rPr>
              <a:t> </a:t>
            </a: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of machine learning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295B07E-EAE9-AB1B-AC9C-CAE5971AD5BD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47</a:t>
            </a:fld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3EC63F-BE0E-8E58-353D-6557AE89E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76"/>
          <a:stretch>
            <a:fillRect/>
          </a:stretch>
        </p:blipFill>
        <p:spPr>
          <a:xfrm>
            <a:off x="646200" y="1390999"/>
            <a:ext cx="9804086" cy="482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780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F8E1A-6DEF-56E6-2A5F-CF9FBBDFD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FC9E1B5D-03DD-BAEF-AECB-E7DE9B50A5E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10239514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After class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793BF500-9838-DB2C-2261-569445F32B3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199" y="1785257"/>
            <a:ext cx="10664057" cy="461986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Run all code by yourself !!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The only way to learn deep learning is read, understand, execute, modify the code by yourself. 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It’s very interesting to tune the hyper-parameters and get a good result.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The fifth notebook talks about overfitting, which we didn’t mention in our class, but it’s very important. 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The sixth notebook guide you to actually understand a </a:t>
            </a:r>
            <a:r>
              <a:rPr lang="en-US" altLang="zh-CN" sz="1800" dirty="0" err="1">
                <a:latin typeface="+mn-ea"/>
              </a:rPr>
              <a:t>Pytorch</a:t>
            </a:r>
            <a:r>
              <a:rPr lang="en-US" altLang="zh-CN" sz="1800" dirty="0">
                <a:latin typeface="+mn-ea"/>
              </a:rPr>
              <a:t> code. 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latin typeface="+mn-ea"/>
              </a:rPr>
              <a:t>If you want to learn more, follow guidance in </a:t>
            </a:r>
            <a:r>
              <a:rPr lang="en-US" altLang="zh-CN" sz="1800" dirty="0" err="1">
                <a:latin typeface="+mn-ea"/>
              </a:rPr>
              <a:t>README.md</a:t>
            </a:r>
            <a:r>
              <a:rPr lang="en-US" altLang="zh-CN" sz="1800" dirty="0">
                <a:latin typeface="+mn-ea"/>
              </a:rPr>
              <a:t> or ask TA. 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1800" dirty="0">
              <a:latin typeface="+mn-ea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B3838F3-F0A8-8380-2B1F-CF9266178C9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06203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"/>
  <p:tag name="ORIGINALWIDTH" val=" 108"/>
  <p:tag name="OUTPUTTYPE" val="PDF"/>
  <p:tag name="IGUANATEXVERSION" val="162"/>
  <p:tag name="LATEXADDIN" val="\documentclass{article}&#10;\usepackage{amsmath}&#10;\pagestyle{empty}&#10;\begin{document}&#10;&#10;$$&#10;[0, 1]^{28\times 28} \rightarrow \{0, 1, \dots, 9\}&#10;$$&#10;&#10;&#10;\end{document}"/>
  <p:tag name="IGUANATEXSIZE" val="18"/>
  <p:tag name="IGUANATEXCURSOR" val="134"/>
  <p:tag name="TRANSPARENCY" val="True"/>
  <p:tag name="CHOOSECOLOR" val="False"/>
  <p:tag name="COLORHEX" val="000000"/>
  <p:tag name="LATEXENGINEID" val="2"/>
  <p:tag name="TEMPFOLDER" val="/Users/zicho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4.7169"/>
  <p:tag name="ORIGINALWIDTH" val=" 1040.12"/>
  <p:tag name="OUTPUTTYPE" val="PNG"/>
  <p:tag name="IGUANATEXVERSION" val="162"/>
  <p:tag name="LATEXADDIN" val="\documentclass{article}&#10;\usepackage{amsmath}&#10;\pagestyle{empty}&#10;\begin{document}&#10;&#10;&#10;\[&#10;\text{Recall} = \frac{ \text{TP} }{ \text{TP + FN} } &#10;\]&#10;\end{document}"/>
  <p:tag name="IGUANATEXSIZE" val="18"/>
  <p:tag name="IGUANATEXCURSOR" val="13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4.7169"/>
  <p:tag name="ORIGINALWIDTH" val=" 1191.601"/>
  <p:tag name="OUTPUTTYPE" val="PNG"/>
  <p:tag name="IGUANATEXVERSION" val="162"/>
  <p:tag name="LATEXADDIN" val="\documentclass{article}&#10;\usepackage{amsmath}&#10;\pagestyle{empty}&#10;\begin{document}&#10;&#10;&#10;\[&#10;\text{Precision} = \frac{ \text{TP} }{ \text{TP + FP} } &#10;\]&#10;\end{document}"/>
  <p:tag name="IGUANATEXSIZE" val="18"/>
  <p:tag name="IGUANATEXCURSOR" val="14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6.2167"/>
  <p:tag name="ORIGINALWIDTH" val=" 1515.561"/>
  <p:tag name="OUTPUTTYPE" val="PNG"/>
  <p:tag name="IGUANATEXVERSION" val="162"/>
  <p:tag name="LATEXADDIN" val="\documentclass{article}&#10;\usepackage{amsmath}&#10;\pagestyle{empty}&#10;\begin{document}&#10;&#10;&#10;\[&#10;\text{F1} = 2 \times \frac{ \text{Precision} \times \text{Recall}  }{ \text{Precision} + \text{Recall} } &#10;\]&#10;\end{document}"/>
  <p:tag name="IGUANATEXSIZE" val="18"/>
  <p:tag name="IGUANATEXCURSOR" val="10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紫罗兰色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formulas xmlns="https://texslide.com/formulas/2023/main"/>
</file>

<file path=customXml/itemProps1.xml><?xml version="1.0" encoding="utf-8"?>
<ds:datastoreItem xmlns:ds="http://schemas.openxmlformats.org/officeDocument/2006/customXml" ds:itemID="{A3C1B8D1-241A-C84B-87A1-CDE7FC0C071B}">
  <ds:schemaRefs>
    <ds:schemaRef ds:uri="https://texslide.com/formulas/2023/ma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24181</TotalTime>
  <Words>2061</Words>
  <Application>Microsoft Office PowerPoint</Application>
  <PresentationFormat>Widescreen</PresentationFormat>
  <Paragraphs>428</Paragraphs>
  <Slides>48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STZhongsong</vt:lpstr>
      <vt:lpstr>STZhongsong</vt:lpstr>
      <vt:lpstr>Arial</vt:lpstr>
      <vt:lpstr>Cambria Math</vt:lpstr>
      <vt:lpstr>Century Gothic</vt:lpstr>
      <vt:lpstr>Gill Sans MT</vt:lpstr>
      <vt:lpstr>Times New Roman</vt:lpstr>
      <vt:lpstr>Wingdings</vt:lpstr>
      <vt:lpstr>Wingdings 3</vt:lpstr>
      <vt:lpstr>Ion</vt:lpstr>
      <vt:lpstr>生物统计和生物信息引论  Lecture 10   深度学习基础     </vt:lpstr>
      <vt:lpstr>Motivation: Why AI in Biomedicine?</vt:lpstr>
      <vt:lpstr>Example: Multimodal AI for disease Prognosis</vt:lpstr>
      <vt:lpstr>Structured data &amp; Unstructured data </vt:lpstr>
      <vt:lpstr>Outline</vt:lpstr>
      <vt:lpstr>PowerPoint Presentation</vt:lpstr>
      <vt:lpstr>MNIST dataset</vt:lpstr>
      <vt:lpstr>Task: 10-class classification</vt:lpstr>
      <vt:lpstr>What does data look like</vt:lpstr>
      <vt:lpstr>Training/Testing set split</vt:lpstr>
      <vt:lpstr>Overfitting</vt:lpstr>
      <vt:lpstr>Split in MNIST</vt:lpstr>
      <vt:lpstr>Metric </vt:lpstr>
      <vt:lpstr>PowerPoint Presentation</vt:lpstr>
      <vt:lpstr>Recall: Binary Logistic Regression</vt:lpstr>
      <vt:lpstr>Recall: Binary Logistic Regression</vt:lpstr>
      <vt:lpstr>Cross-Entropy</vt:lpstr>
      <vt:lpstr>Optimization: Gradient Descent</vt:lpstr>
      <vt:lpstr>Gradient for Binary Logistic Regression</vt:lpstr>
      <vt:lpstr>Gradient for Binary Logistic Regression</vt:lpstr>
      <vt:lpstr>Gradient Descent</vt:lpstr>
      <vt:lpstr>Gradient Descent </vt:lpstr>
      <vt:lpstr>Stochastic Gradient Descent</vt:lpstr>
      <vt:lpstr>PowerPoint Presentation</vt:lpstr>
      <vt:lpstr>Binary Logistic Regression: Modeling Relative Odds</vt:lpstr>
      <vt:lpstr>Two-class normalization</vt:lpstr>
      <vt:lpstr>PowerPoint Presentation</vt:lpstr>
      <vt:lpstr>From Binary Logistic to Multiclass LR</vt:lpstr>
      <vt:lpstr>Softmax</vt:lpstr>
      <vt:lpstr>Identifiable Note</vt:lpstr>
      <vt:lpstr>Multi-class Logistic Regression</vt:lpstr>
      <vt:lpstr>Multinomial Likelihood</vt:lpstr>
      <vt:lpstr>Cross-Entropy: one-hot case</vt:lpstr>
      <vt:lpstr>Optimization</vt:lpstr>
      <vt:lpstr>GD and SGD</vt:lpstr>
      <vt:lpstr>Use SGD: Pytorch Autograd</vt:lpstr>
      <vt:lpstr>PowerPoint Presentation</vt:lpstr>
      <vt:lpstr>Results</vt:lpstr>
      <vt:lpstr>Recap: from image to prediction</vt:lpstr>
      <vt:lpstr>PowerPoint Presentation</vt:lpstr>
      <vt:lpstr>Limitation of linear model</vt:lpstr>
      <vt:lpstr>Why nonlinearity?</vt:lpstr>
      <vt:lpstr>Introduce nonlinearity： ReLU</vt:lpstr>
      <vt:lpstr>From linear model to MLP</vt:lpstr>
      <vt:lpstr>2 Layer MLP</vt:lpstr>
      <vt:lpstr>Performance</vt:lpstr>
      <vt:lpstr>Recap: a standard pipeline of machine learning</vt:lpstr>
      <vt:lpstr>After class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</dc:title>
  <dc:subject/>
  <dc:creator>Zichong Wang</dc:creator>
  <cp:keywords/>
  <dc:description/>
  <cp:lastModifiedBy>Jianqiao Wang</cp:lastModifiedBy>
  <cp:revision>190</cp:revision>
  <cp:lastPrinted>2026-04-28T07:19:49Z</cp:lastPrinted>
  <dcterms:created xsi:type="dcterms:W3CDTF">2020-06-29T14:27:43Z</dcterms:created>
  <dcterms:modified xsi:type="dcterms:W3CDTF">2026-05-12T09:50:49Z</dcterms:modified>
  <cp:category/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amble">
    <vt:lpwstr>\def\pgfsysdriver{pgfsys-dvisvgm.def}
\usepackage{amsmath}
\usepackage{amssymb}
\usepackage{ifxetex}
% Uncommenting this will make compilation slightly slower
%\ifxetex
%    \usepackage{xeCJK}
%\fi
</vt:lpwstr>
  </property>
  <property fmtid="{D5CDD505-2E9C-101B-9397-08002B2CF9AE}" pid="4" name="PresentationFormat">
    <vt:lpwstr>宽屏</vt:lpwstr>
  </property>
  <property fmtid="{D5CDD505-2E9C-101B-9397-08002B2CF9AE}" pid="5" name="Slides">
    <vt:i4>17</vt:i4>
  </property>
</Properties>
</file>