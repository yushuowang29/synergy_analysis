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7.xml" ContentType="application/vnd.openxmlformats-officedocument.theme+xml"/>
  <Override PartName="/ppt/slideLayouts/slideLayout1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6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7.xml" ContentType="application/vnd.openxmlformats-officedocument.presentationml.tags+xml"/>
  <Override PartName="/ppt/notesSlides/notesSlide20.xml" ContentType="application/vnd.openxmlformats-officedocument.presentationml.notesSlide+xml"/>
  <Override PartName="/ppt/tags/tag8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9.xml" ContentType="application/vnd.openxmlformats-officedocument.presentationml.tags+xml"/>
  <Override PartName="/ppt/notesSlides/notesSlide23.xml" ContentType="application/vnd.openxmlformats-officedocument.presentationml.notesSlide+xml"/>
  <Override PartName="/ppt/tags/tag10.xml" ContentType="application/vnd.openxmlformats-officedocument.presentationml.tags+xml"/>
  <Override PartName="/ppt/notesSlides/notesSlide24.xml" ContentType="application/vnd.openxmlformats-officedocument.presentationml.notesSlide+xml"/>
  <Override PartName="/ppt/tags/tag11.xml" ContentType="application/vnd.openxmlformats-officedocument.presentationml.tags+xml"/>
  <Override PartName="/ppt/notesSlides/notesSlide25.xml" ContentType="application/vnd.openxmlformats-officedocument.presentationml.notesSlide+xml"/>
  <Override PartName="/ppt/tags/tag12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3.xml" ContentType="application/vnd.openxmlformats-officedocument.presentationml.tags+xml"/>
  <Override PartName="/ppt/notesSlides/notesSlide28.xml" ContentType="application/vnd.openxmlformats-officedocument.presentationml.notesSlide+xml"/>
  <Override PartName="/ppt/tags/tag14.xml" ContentType="application/vnd.openxmlformats-officedocument.presentationml.tags+xml"/>
  <Override PartName="/ppt/notesSlides/notesSlide29.xml" ContentType="application/vnd.openxmlformats-officedocument.presentationml.notesSlide+xml"/>
  <Override PartName="/ppt/tags/tag15.xml" ContentType="application/vnd.openxmlformats-officedocument.presentationml.tags+xml"/>
  <Override PartName="/ppt/notesSlides/notesSlide30.xml" ContentType="application/vnd.openxmlformats-officedocument.presentationml.notesSlide+xml"/>
  <Override PartName="/ppt/tags/tag16.xml" ContentType="application/vnd.openxmlformats-officedocument.presentationml.tags+xml"/>
  <Override PartName="/ppt/notesSlides/notesSlide31.xml" ContentType="application/vnd.openxmlformats-officedocument.presentationml.notesSlide+xml"/>
  <Override PartName="/ppt/tags/tag17.xml" ContentType="application/vnd.openxmlformats-officedocument.presentationml.tags+xml"/>
  <Override PartName="/ppt/notesSlides/notesSlide32.xml" ContentType="application/vnd.openxmlformats-officedocument.presentationml.notesSlide+xml"/>
  <Override PartName="/ppt/tags/tag18.xml" ContentType="application/vnd.openxmlformats-officedocument.presentationml.tags+xml"/>
  <Override PartName="/ppt/notesSlides/notesSlide33.xml" ContentType="application/vnd.openxmlformats-officedocument.presentationml.notesSlide+xml"/>
  <Override PartName="/ppt/tags/tag19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20.xml" ContentType="application/vnd.openxmlformats-officedocument.presentationml.tags+xml"/>
  <Override PartName="/ppt/notesSlides/notesSlide36.xml" ContentType="application/vnd.openxmlformats-officedocument.presentationml.notesSlide+xml"/>
  <Override PartName="/ppt/tags/tag21.xml" ContentType="application/vnd.openxmlformats-officedocument.presentationml.tags+xml"/>
  <Override PartName="/ppt/notesSlides/notesSlide37.xml" ContentType="application/vnd.openxmlformats-officedocument.presentationml.notesSlide+xml"/>
  <Override PartName="/ppt/tags/tag22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23.xml" ContentType="application/vnd.openxmlformats-officedocument.presentationml.tag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tags/tag24.xml" ContentType="application/vnd.openxmlformats-officedocument.presentationml.tags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tags/tag25.xml" ContentType="application/vnd.openxmlformats-officedocument.presentationml.tags+xml"/>
  <Override PartName="/ppt/notesSlides/notesSlide49.xml" ContentType="application/vnd.openxmlformats-officedocument.presentationml.notesSlide+xml"/>
  <Override PartName="/ppt/tags/tag26.xml" ContentType="application/vnd.openxmlformats-officedocument.presentationml.tags+xml"/>
  <Override PartName="/ppt/notesSlides/notesSlide50.xml" ContentType="application/vnd.openxmlformats-officedocument.presentationml.notesSlide+xml"/>
  <Override PartName="/ppt/tags/tag27.xml" ContentType="application/vnd.openxmlformats-officedocument.presentationml.tag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8" r:id="rId9"/>
  </p:sldMasterIdLst>
  <p:notesMasterIdLst>
    <p:notesMasterId r:id="rId63"/>
  </p:notesMasterIdLst>
  <p:sldIdLst>
    <p:sldId id="256" r:id="rId10"/>
    <p:sldId id="257" r:id="rId11"/>
    <p:sldId id="260" r:id="rId12"/>
    <p:sldId id="309" r:id="rId13"/>
    <p:sldId id="259" r:id="rId14"/>
    <p:sldId id="261" r:id="rId15"/>
    <p:sldId id="262" r:id="rId16"/>
    <p:sldId id="310" r:id="rId17"/>
    <p:sldId id="264" r:id="rId18"/>
    <p:sldId id="265" r:id="rId19"/>
    <p:sldId id="263" r:id="rId20"/>
    <p:sldId id="313" r:id="rId21"/>
    <p:sldId id="266" r:id="rId22"/>
    <p:sldId id="268" r:id="rId23"/>
    <p:sldId id="271" r:id="rId24"/>
    <p:sldId id="270" r:id="rId25"/>
    <p:sldId id="269" r:id="rId26"/>
    <p:sldId id="298" r:id="rId27"/>
    <p:sldId id="288" r:id="rId28"/>
    <p:sldId id="312" r:id="rId29"/>
    <p:sldId id="272" r:id="rId30"/>
    <p:sldId id="273" r:id="rId31"/>
    <p:sldId id="275" r:id="rId32"/>
    <p:sldId id="276" r:id="rId33"/>
    <p:sldId id="277" r:id="rId34"/>
    <p:sldId id="278" r:id="rId35"/>
    <p:sldId id="279" r:id="rId36"/>
    <p:sldId id="28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99" r:id="rId45"/>
    <p:sldId id="287" r:id="rId46"/>
    <p:sldId id="291" r:id="rId47"/>
    <p:sldId id="293" r:id="rId48"/>
    <p:sldId id="294" r:id="rId49"/>
    <p:sldId id="292" r:id="rId50"/>
    <p:sldId id="295" r:id="rId51"/>
    <p:sldId id="296" r:id="rId52"/>
    <p:sldId id="297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B3C766-C7A1-4E31-94C6-B95284457970}" v="263" dt="2026-04-19T14:55:37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6"/>
    <p:restoredTop sz="94011"/>
  </p:normalViewPr>
  <p:slideViewPr>
    <p:cSldViewPr snapToGrid="0">
      <p:cViewPr varScale="1">
        <p:scale>
          <a:sx n="97" d="100"/>
          <a:sy n="97" d="100"/>
        </p:scale>
        <p:origin x="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Master" Target="slideMasters/slideMaster6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4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2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tableStyles" Target="tableStyles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9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qiao Wang" userId="Hz8Dsxc3GAStg0nGQSQB6d2ByHI1/VIo7cv+JRmndjY=" providerId="None" clId="Web-{79B3C766-C7A1-4E31-94C6-B95284457970}"/>
    <pc:docChg chg="addSld delSld modSld">
      <pc:chgData name="Jianqiao Wang" userId="Hz8Dsxc3GAStg0nGQSQB6d2ByHI1/VIo7cv+JRmndjY=" providerId="None" clId="Web-{79B3C766-C7A1-4E31-94C6-B95284457970}" dt="2026-04-19T14:55:37.672" v="182" actId="1076"/>
      <pc:docMkLst>
        <pc:docMk/>
      </pc:docMkLst>
      <pc:sldChg chg="addSp delSp modSp add replId">
        <pc:chgData name="Jianqiao Wang" userId="Hz8Dsxc3GAStg0nGQSQB6d2ByHI1/VIo7cv+JRmndjY=" providerId="None" clId="Web-{79B3C766-C7A1-4E31-94C6-B95284457970}" dt="2026-04-19T14:54:46.468" v="171" actId="1076"/>
        <pc:sldMkLst>
          <pc:docMk/>
          <pc:sldMk cId="4087830571" sldId="309"/>
        </pc:sldMkLst>
        <pc:spChg chg="add del mod">
          <ac:chgData name="Jianqiao Wang" userId="Hz8Dsxc3GAStg0nGQSQB6d2ByHI1/VIo7cv+JRmndjY=" providerId="None" clId="Web-{79B3C766-C7A1-4E31-94C6-B95284457970}" dt="2026-04-19T14:54:43.280" v="170"/>
          <ac:spMkLst>
            <pc:docMk/>
            <pc:sldMk cId="4087830571" sldId="309"/>
            <ac:spMk id="5" creationId="{E4495F8C-A3C4-7EE3-C062-E9779463A3A4}"/>
          </ac:spMkLst>
        </pc:spChg>
        <pc:spChg chg="mod">
          <ac:chgData name="Jianqiao Wang" userId="Hz8Dsxc3GAStg0nGQSQB6d2ByHI1/VIo7cv+JRmndjY=" providerId="None" clId="Web-{79B3C766-C7A1-4E31-94C6-B95284457970}" dt="2026-04-19T14:54:24.702" v="163" actId="20577"/>
          <ac:spMkLst>
            <pc:docMk/>
            <pc:sldMk cId="4087830571" sldId="309"/>
            <ac:spMk id="109" creationId="{C1E6A506-0BB5-300B-1029-E2FA582F3968}"/>
          </ac:spMkLst>
        </pc:spChg>
        <pc:picChg chg="add del mod">
          <ac:chgData name="Jianqiao Wang" userId="Hz8Dsxc3GAStg0nGQSQB6d2ByHI1/VIo7cv+JRmndjY=" providerId="None" clId="Web-{79B3C766-C7A1-4E31-94C6-B95284457970}" dt="2026-04-19T14:54:01.279" v="137"/>
          <ac:picMkLst>
            <pc:docMk/>
            <pc:sldMk cId="4087830571" sldId="309"/>
            <ac:picMk id="2" creationId="{4DFB89C1-DF5A-C956-6FCA-F4EFD231E7D3}"/>
          </ac:picMkLst>
        </pc:picChg>
        <pc:picChg chg="add mod">
          <ac:chgData name="Jianqiao Wang" userId="Hz8Dsxc3GAStg0nGQSQB6d2ByHI1/VIo7cv+JRmndjY=" providerId="None" clId="Web-{79B3C766-C7A1-4E31-94C6-B95284457970}" dt="2026-04-19T14:54:46.468" v="171" actId="1076"/>
          <ac:picMkLst>
            <pc:docMk/>
            <pc:sldMk cId="4087830571" sldId="309"/>
            <ac:picMk id="3" creationId="{B6807A34-D367-4489-1D6F-DA6DCE932559}"/>
          </ac:picMkLst>
        </pc:picChg>
        <pc:picChg chg="del">
          <ac:chgData name="Jianqiao Wang" userId="Hz8Dsxc3GAStg0nGQSQB6d2ByHI1/VIo7cv+JRmndjY=" providerId="None" clId="Web-{79B3C766-C7A1-4E31-94C6-B95284457970}" dt="2026-04-19T13:49:51.059" v="1"/>
          <ac:picMkLst>
            <pc:docMk/>
            <pc:sldMk cId="4087830571" sldId="309"/>
            <ac:picMk id="6" creationId="{0600C042-BB89-1ACA-6263-647631CF329B}"/>
          </ac:picMkLst>
        </pc:picChg>
      </pc:sldChg>
      <pc:sldChg chg="addSp delSp modSp add replId">
        <pc:chgData name="Jianqiao Wang" userId="Hz8Dsxc3GAStg0nGQSQB6d2ByHI1/VIo7cv+JRmndjY=" providerId="None" clId="Web-{79B3C766-C7A1-4E31-94C6-B95284457970}" dt="2026-04-19T14:55:16.671" v="176" actId="1076"/>
        <pc:sldMkLst>
          <pc:docMk/>
          <pc:sldMk cId="2408701038" sldId="310"/>
        </pc:sldMkLst>
        <pc:spChg chg="add mod">
          <ac:chgData name="Jianqiao Wang" userId="Hz8Dsxc3GAStg0nGQSQB6d2ByHI1/VIo7cv+JRmndjY=" providerId="None" clId="Web-{79B3C766-C7A1-4E31-94C6-B95284457970}" dt="2026-04-19T14:37:52.102" v="90" actId="20577"/>
          <ac:spMkLst>
            <pc:docMk/>
            <pc:sldMk cId="2408701038" sldId="310"/>
            <ac:spMk id="5" creationId="{A253296F-CCDF-A47B-7012-D6B07AE8CBCB}"/>
          </ac:spMkLst>
        </pc:spChg>
        <pc:spChg chg="mod">
          <ac:chgData name="Jianqiao Wang" userId="Hz8Dsxc3GAStg0nGQSQB6d2ByHI1/VIo7cv+JRmndjY=" providerId="None" clId="Web-{79B3C766-C7A1-4E31-94C6-B95284457970}" dt="2026-04-19T14:31:35.795" v="14" actId="20577"/>
          <ac:spMkLst>
            <pc:docMk/>
            <pc:sldMk cId="2408701038" sldId="310"/>
            <ac:spMk id="109" creationId="{28CBACB0-1228-35A1-3469-DD35E881BBDE}"/>
          </ac:spMkLst>
        </pc:spChg>
        <pc:picChg chg="add del mod">
          <ac:chgData name="Jianqiao Wang" userId="Hz8Dsxc3GAStg0nGQSQB6d2ByHI1/VIo7cv+JRmndjY=" providerId="None" clId="Web-{79B3C766-C7A1-4E31-94C6-B95284457970}" dt="2026-04-19T14:55:07.265" v="172"/>
          <ac:picMkLst>
            <pc:docMk/>
            <pc:sldMk cId="2408701038" sldId="310"/>
            <ac:picMk id="2" creationId="{1D754B44-3516-F0E6-28C3-E93A99CDC2DB}"/>
          </ac:picMkLst>
        </pc:picChg>
        <pc:picChg chg="add mod ord modCrop">
          <ac:chgData name="Jianqiao Wang" userId="Hz8Dsxc3GAStg0nGQSQB6d2ByHI1/VIo7cv+JRmndjY=" providerId="None" clId="Web-{79B3C766-C7A1-4E31-94C6-B95284457970}" dt="2026-04-19T14:37:10.601" v="29"/>
          <ac:picMkLst>
            <pc:docMk/>
            <pc:sldMk cId="2408701038" sldId="310"/>
            <ac:picMk id="3" creationId="{7EF037C9-AF0B-771E-D1CA-FA8707DF1D50}"/>
          </ac:picMkLst>
        </pc:picChg>
        <pc:picChg chg="add mod">
          <ac:chgData name="Jianqiao Wang" userId="Hz8Dsxc3GAStg0nGQSQB6d2ByHI1/VIo7cv+JRmndjY=" providerId="None" clId="Web-{79B3C766-C7A1-4E31-94C6-B95284457970}" dt="2026-04-19T14:55:16.671" v="176" actId="1076"/>
          <ac:picMkLst>
            <pc:docMk/>
            <pc:sldMk cId="2408701038" sldId="310"/>
            <ac:picMk id="6" creationId="{1E9AE04D-8A2D-2A54-29BD-0B4FF45C70B4}"/>
          </ac:picMkLst>
        </pc:picChg>
        <pc:picChg chg="del">
          <ac:chgData name="Jianqiao Wang" userId="Hz8Dsxc3GAStg0nGQSQB6d2ByHI1/VIo7cv+JRmndjY=" providerId="None" clId="Web-{79B3C766-C7A1-4E31-94C6-B95284457970}" dt="2026-04-19T14:31:41.014" v="15"/>
          <ac:picMkLst>
            <pc:docMk/>
            <pc:sldMk cId="2408701038" sldId="310"/>
            <ac:picMk id="12" creationId="{2FCE7279-8613-268F-7D13-8AEB30C4FD87}"/>
          </ac:picMkLst>
        </pc:picChg>
      </pc:sldChg>
      <pc:sldChg chg="addSp delSp modSp add replId">
        <pc:chgData name="Jianqiao Wang" userId="Hz8Dsxc3GAStg0nGQSQB6d2ByHI1/VIo7cv+JRmndjY=" providerId="None" clId="Web-{79B3C766-C7A1-4E31-94C6-B95284457970}" dt="2026-04-19T14:55:37.672" v="182" actId="1076"/>
        <pc:sldMkLst>
          <pc:docMk/>
          <pc:sldMk cId="2997242025" sldId="311"/>
        </pc:sldMkLst>
        <pc:spChg chg="mod">
          <ac:chgData name="Jianqiao Wang" userId="Hz8Dsxc3GAStg0nGQSQB6d2ByHI1/VIo7cv+JRmndjY=" providerId="None" clId="Web-{79B3C766-C7A1-4E31-94C6-B95284457970}" dt="2026-04-19T14:40:30.073" v="94" actId="20577"/>
          <ac:spMkLst>
            <pc:docMk/>
            <pc:sldMk cId="2997242025" sldId="311"/>
            <ac:spMk id="109" creationId="{F5362086-98DE-2271-E8B6-CFE9EC8B4432}"/>
          </ac:spMkLst>
        </pc:spChg>
        <pc:picChg chg="add del mod">
          <ac:chgData name="Jianqiao Wang" userId="Hz8Dsxc3GAStg0nGQSQB6d2ByHI1/VIo7cv+JRmndjY=" providerId="None" clId="Web-{79B3C766-C7A1-4E31-94C6-B95284457970}" dt="2026-04-19T14:55:31.437" v="179"/>
          <ac:picMkLst>
            <pc:docMk/>
            <pc:sldMk cId="2997242025" sldId="311"/>
            <ac:picMk id="2" creationId="{C2E9CA66-C131-37A8-062F-79899365AE15}"/>
          </ac:picMkLst>
        </pc:picChg>
        <pc:picChg chg="del">
          <ac:chgData name="Jianqiao Wang" userId="Hz8Dsxc3GAStg0nGQSQB6d2ByHI1/VIo7cv+JRmndjY=" providerId="None" clId="Web-{79B3C766-C7A1-4E31-94C6-B95284457970}" dt="2026-04-19T14:40:33.417" v="95"/>
          <ac:picMkLst>
            <pc:docMk/>
            <pc:sldMk cId="2997242025" sldId="311"/>
            <ac:picMk id="3" creationId="{45CB7149-82B7-316A-1BEB-7AF17263076C}"/>
          </ac:picMkLst>
        </pc:picChg>
        <pc:picChg chg="add del mod">
          <ac:chgData name="Jianqiao Wang" userId="Hz8Dsxc3GAStg0nGQSQB6d2ByHI1/VIo7cv+JRmndjY=" providerId="None" clId="Web-{79B3C766-C7A1-4E31-94C6-B95284457970}" dt="2026-04-19T14:55:30.672" v="178"/>
          <ac:picMkLst>
            <pc:docMk/>
            <pc:sldMk cId="2997242025" sldId="311"/>
            <ac:picMk id="5" creationId="{09D0845C-96FE-137F-B8F7-48E25651873C}"/>
          </ac:picMkLst>
        </pc:picChg>
        <pc:picChg chg="add mod">
          <ac:chgData name="Jianqiao Wang" userId="Hz8Dsxc3GAStg0nGQSQB6d2ByHI1/VIo7cv+JRmndjY=" providerId="None" clId="Web-{79B3C766-C7A1-4E31-94C6-B95284457970}" dt="2026-04-19T14:55:37.672" v="182" actId="1076"/>
          <ac:picMkLst>
            <pc:docMk/>
            <pc:sldMk cId="2997242025" sldId="311"/>
            <ac:picMk id="6" creationId="{FA6A80AB-E1F9-8206-364D-C38C65988648}"/>
          </ac:picMkLst>
        </pc:picChg>
      </pc:sldChg>
      <pc:sldChg chg="new del">
        <pc:chgData name="Jianqiao Wang" userId="Hz8Dsxc3GAStg0nGQSQB6d2ByHI1/VIo7cv+JRmndjY=" providerId="None" clId="Web-{79B3C766-C7A1-4E31-94C6-B95284457970}" dt="2026-04-19T14:47:41.205" v="99"/>
        <pc:sldMkLst>
          <pc:docMk/>
          <pc:sldMk cId="1057801241" sldId="312"/>
        </pc:sldMkLst>
      </pc:sldChg>
      <pc:sldChg chg="addSp delSp modSp add replId">
        <pc:chgData name="Jianqiao Wang" userId="Hz8Dsxc3GAStg0nGQSQB6d2ByHI1/VIo7cv+JRmndjY=" providerId="None" clId="Web-{79B3C766-C7A1-4E31-94C6-B95284457970}" dt="2026-04-19T14:51:38.417" v="136" actId="1076"/>
        <pc:sldMkLst>
          <pc:docMk/>
          <pc:sldMk cId="1834817264" sldId="312"/>
        </pc:sldMkLst>
        <pc:spChg chg="add mod">
          <ac:chgData name="Jianqiao Wang" userId="Hz8Dsxc3GAStg0nGQSQB6d2ByHI1/VIo7cv+JRmndjY=" providerId="None" clId="Web-{79B3C766-C7A1-4E31-94C6-B95284457970}" dt="2026-04-19T14:50:35.696" v="135" actId="20577"/>
          <ac:spMkLst>
            <pc:docMk/>
            <pc:sldMk cId="1834817264" sldId="312"/>
            <ac:spMk id="2" creationId="{F666BD74-34A0-6381-1E1A-75A45AB8220F}"/>
          </ac:spMkLst>
        </pc:spChg>
        <pc:spChg chg="mod">
          <ac:chgData name="Jianqiao Wang" userId="Hz8Dsxc3GAStg0nGQSQB6d2ByHI1/VIo7cv+JRmndjY=" providerId="None" clId="Web-{79B3C766-C7A1-4E31-94C6-B95284457970}" dt="2026-04-19T14:49:10.865" v="106" actId="20577"/>
          <ac:spMkLst>
            <pc:docMk/>
            <pc:sldMk cId="1834817264" sldId="312"/>
            <ac:spMk id="109" creationId="{E335DF33-34EC-0B82-E1BD-C0CB74A83386}"/>
          </ac:spMkLst>
        </pc:spChg>
        <pc:picChg chg="add mod">
          <ac:chgData name="Jianqiao Wang" userId="Hz8Dsxc3GAStg0nGQSQB6d2ByHI1/VIo7cv+JRmndjY=" providerId="None" clId="Web-{79B3C766-C7A1-4E31-94C6-B95284457970}" dt="2026-04-19T14:51:38.417" v="136" actId="1076"/>
          <ac:picMkLst>
            <pc:docMk/>
            <pc:sldMk cId="1834817264" sldId="312"/>
            <ac:picMk id="3" creationId="{987A4750-6282-EDC4-3601-999C2220FE59}"/>
          </ac:picMkLst>
        </pc:picChg>
        <pc:picChg chg="del">
          <ac:chgData name="Jianqiao Wang" userId="Hz8Dsxc3GAStg0nGQSQB6d2ByHI1/VIo7cv+JRmndjY=" providerId="None" clId="Web-{79B3C766-C7A1-4E31-94C6-B95284457970}" dt="2026-04-19T14:50:20.930" v="124"/>
          <ac:picMkLst>
            <pc:docMk/>
            <pc:sldMk cId="1834817264" sldId="312"/>
            <ac:picMk id="37" creationId="{53012614-A8F1-2847-5384-AECEEE8D7336}"/>
          </ac:picMkLst>
        </pc:picChg>
        <pc:picChg chg="del">
          <ac:chgData name="Jianqiao Wang" userId="Hz8Dsxc3GAStg0nGQSQB6d2ByHI1/VIo7cv+JRmndjY=" providerId="None" clId="Web-{79B3C766-C7A1-4E31-94C6-B95284457970}" dt="2026-04-19T14:49:24.991" v="107"/>
          <ac:picMkLst>
            <pc:docMk/>
            <pc:sldMk cId="1834817264" sldId="312"/>
            <ac:picMk id="38" creationId="{F77444FA-4FD7-18AD-D8F4-AD65E7A129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zh-CN" sz="1800" b="0" u="none" strike="noStrike">
                <a:solidFill>
                  <a:schemeClr val="dk1"/>
                </a:solidFill>
                <a:uFillTx/>
                <a:latin typeface="Gill Sans MT"/>
              </a:rPr>
              <a:t>单击以移动幻灯片</a:t>
            </a:r>
            <a:endParaRPr lang="en-US" sz="1800" b="0" u="none" strike="noStrike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zh-CN" sz="1600" b="0" u="none" strike="noStrike">
                <a:solidFill>
                  <a:srgbClr val="000000"/>
                </a:solidFill>
                <a:uFillTx/>
                <a:latin typeface="Arial"/>
              </a:rPr>
              <a:t>点击编辑备注格式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&lt;页眉&gt;</a:t>
            </a:r>
          </a:p>
        </p:txBody>
      </p:sp>
      <p:sp>
        <p:nvSpPr>
          <p:cNvPr id="103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104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&lt;页脚&gt;</a:t>
            </a:r>
          </a:p>
        </p:txBody>
      </p:sp>
      <p:sp>
        <p:nvSpPr>
          <p:cNvPr id="105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D5A1675-317C-4D96-A2DA-2C23F589CFE6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B1C56-F783-6B35-D481-C15F94BBC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05FEB9AE-AF45-E26A-CC2F-B91786A1D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FACAE08C-07C0-E4B2-C1C8-09277087960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34F3AF27-99D4-7091-BE04-AA2A13A9BF32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1523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E7606-0E14-4AD1-1A84-91DEF8105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367D7736-51F0-B56E-0EDB-31B616DE3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25CC5B7A-FA83-988D-8F54-203B7ED36B1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A4640C90-EB63-DD83-ECEC-DBD67A44949D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2251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3F9A-7F64-86FB-C4D5-9FB03E88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5E349D31-5BD9-1AAE-7BEE-A7B74E07B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A901228C-A350-9614-E391-A03E0424987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B20688B0-42C2-0FB2-FFE5-5190D59D4E6F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85274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4D5CA-685C-676D-233C-EE4C30E86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AFD266AD-6E24-BA2C-D77E-2AC15B465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5566D763-38AB-2D42-D549-4B887420FEA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443599A7-C865-ECAF-FF66-654BF10BF48A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2746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7AB02-9495-4BD8-9477-5BB19E9C8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1810BF36-21D5-8878-C982-D76EF33EB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AEBD5A56-4FD8-2126-739C-5BECFE7866A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F1809D42-35C4-DD41-42D5-151CC80F5212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9687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28A84-D9C8-A02E-1F12-58A39C6C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8AFFDABA-EF61-09C4-1E80-6F4E71798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90848D85-D5C0-8091-0B30-137736FE82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CEF034D8-A655-AC9A-CDA1-5EB55C338FA6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9502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F78A9-E971-1035-E9BC-F90865D4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FF81C0B1-2931-7059-4E63-6995D807A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DC0B4B61-4523-FE1C-E95B-09C1FBC4C7C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643A44EB-0060-B8A1-CE3B-D524442AD7FC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2369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B19D3-7C1F-240D-5508-9BC6462D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6A401947-C004-974F-8769-6B61949A9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04201408-8EB8-1E5E-3734-2C17589851B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A9FFD04F-3D3A-EFCA-48B2-9DBA2C8630B8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2863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4FFAD-10F4-F070-073A-DEF3BBA1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DE02163A-5320-C640-00DD-1774498A7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D8A064E4-65DE-3D93-48E4-CE3E67AF4CF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C5E395D6-A7C2-53D2-1DCE-4EF8E51BA214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653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7874C-182F-A0C2-2AD3-63D9E490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DD4A3F84-5516-91E5-B125-A3293C8BE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B720F257-A2D2-C012-756C-7FA99F03E67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893FFE63-FC0E-3156-BC71-FA6960802F16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7159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F689-5DA9-34B3-E3BB-D8FE19B6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1E20CBA1-31BD-9424-4072-322BDF1B1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4F33D694-17BD-27C0-F483-C3441E29204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2BF4DEBF-23DD-6649-08C3-B21F394F2F40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9578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B4459-B140-7301-68D3-219668B20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932C72E5-5C21-BC64-FA3D-59E1D75DF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B77F6D83-7950-3834-9475-BA83B99E244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73C79F13-DB61-6FC3-F161-5F9C3D868819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7720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C6AF8-5116-75A8-19CE-DAD6CDD4C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F18ED1F8-410C-7B8F-C1E4-D21E04B08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60B279A1-D702-FE3D-532B-78220FA7D56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DD61235A-67B7-9179-4444-61AB9E23C2AA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2375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BF1EB-EF1B-2C8B-9FF3-D33DD0D2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C5234490-F9D3-7A73-9F68-4AB0F2EAD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4A8FC5C3-149E-05CE-4EFC-7C663C825EC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50EB06BF-E0A6-E020-8380-97EF424FAB2B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6091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1D596-F56D-6F16-6DC4-3E10B665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E05463C9-4C4E-3BFF-D4BD-AF056EEFF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8FEB6F8F-D1E2-C215-0698-7C14072065D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78F860FE-FEEB-1116-B2AD-4159E1BBACCF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6832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2C4F-7409-0878-7772-5490D3679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B5A33B74-FFAA-ABFA-D204-C1982E19F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FEE1A629-A9CC-2395-98AB-112BF5E6232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E73FC263-AF92-6A66-BB8D-4B278E5ED4FD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5010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B98D9-BF42-F53D-39E4-BCBDF9512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855EE1DA-3591-565E-6C05-60834E167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A3D25DA4-97C1-3C94-C837-249B2869546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7E161DF2-C4C5-ED7C-EB83-22E39897CAFC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86955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B8E7B-28C4-208B-3D5F-471B846EE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3CFB54D7-EB9B-3332-B94E-23F5E7312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111AD927-9979-4321-2326-4977EDC2AF0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F02FDF9D-6533-46E4-8F42-C9090F46CF92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59526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1B517-1768-F7F9-4638-7A49CAB1C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012B8B71-9389-0AA7-554C-1936B9706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CA411A9F-0521-6623-142F-F666D865156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DCC57D96-1F3A-5AF4-65BF-2952A8C49086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25378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CF826-2BF8-AD30-E836-E1DA5D8CC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BFC00EAE-ADF1-51DE-0EBC-5939EE861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0F4951E3-B348-2D77-4A4A-EB95ABB7609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2A99C904-C1C0-7A4F-2250-D353C2C60553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42244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EE7E3-342B-BB95-BF31-69ECFF060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42CDECC3-AD6A-9547-F403-7D43FB1E9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D4FBA084-70B7-37DA-28C6-F9A03C38735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27EE2D12-6FB1-307B-E1B7-0B1FC82EFCFB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608887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7EE3E-B4FE-D6F9-B595-6445E6DF6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BB403B1D-4F56-A873-0E64-4B2EDC9E4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2C9DFDBE-E351-4F97-4796-C25EEB00736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72707A80-3D2D-BECE-A733-82D36C2589F7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1660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F4B52-30E2-B235-9610-72244F0F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52745A28-29B3-6DBE-0385-C5A34E3AF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9C6D9A55-3A9F-67DE-D9DA-0014AC44366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738B781F-AF8A-2C6C-67D7-0CE2C6481219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2982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710E3-90BF-E003-EEDD-0B735D7B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C2240C75-8236-8B39-1ECE-C4C1502B0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363AD61B-9544-DB65-EF47-35FC81E87FB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C0113BAF-43D8-CF08-C6F3-70260CF5793C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60773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031F-B2F5-696A-E086-27083CCC0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AE5FC748-173A-E9B8-B4A4-D5CDE4AEC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7C6FAD97-EBA4-83CE-AB47-E59A6508311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CC305382-0840-32FF-97DC-7E10FA084A10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26383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59A02-63B2-0476-EDE8-A0BD1484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A14EA9DD-D4FD-9101-AABA-F94397FD5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36671C2B-5C16-7854-7DE1-3551ED086F6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0B44FC9C-7993-AE33-2BAE-53BFE6F6A3CA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31116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CC168-FFD4-5BCC-598C-EAC8A9191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0AD5A0CF-E2B5-1FBF-814E-4333B0373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5E6646D4-4FF4-106F-BDCD-374D31D49E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1DDB8EEA-86AE-461F-6DCA-0CCD76F3DD5E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70319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4B7B0-BD16-8856-5908-D609F239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E986F3E1-C6EE-37A9-7568-95B90ED94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6DAA6F72-9CE0-C574-745A-FE3A69EC7EC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12DEFDA2-A83C-2D17-1C1E-87A8820492A7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64204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D501F-8EDC-53B9-349A-49AAF7F7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3B19C406-6E21-D98D-2D37-F94368068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618D0277-9236-0BEC-B205-F34C32C0F55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6B7EE676-7D7E-A193-542C-DBA56D9695B8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40303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ADEBC-E5BD-ED93-F15C-ABC50A6C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B14CC032-BCE6-17F9-D64B-C121CBFF6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8A644250-C2E8-CF60-72B8-A47F6176ED2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E1A782F7-3B57-0412-65A9-0115FBF2DCD9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30422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9000-706C-F09C-21AB-EB153DEBC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EB114236-FBCF-BD50-D2DC-24ADEFECF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21C8FEAB-A515-658C-73B7-E18F5B9FE8C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63B40255-7B77-9304-BF60-C4EE4FF9B8D7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33557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3CCB-105D-D5B7-30AD-FB256533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0F3CC5D9-E0B6-FB10-35D4-6B9E43814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19415EA8-9414-7F40-EAB4-930C35AF347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18708179-85DC-7EB8-2E2B-91B1E39BF5A0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5953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99E1D-3C98-E7AF-EE46-0BE1EBE4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C8B44FCC-7DAB-805C-4346-1F8E77C4D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5F6E803D-C723-6FF8-8A3E-98F45C524D4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D64C8162-16E9-5A1C-5749-B0FADDADAE07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31915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DCDA5-3662-4CED-18B2-745229AF3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79983133-A97E-7968-A656-CA32D9ABA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5C31679C-4DFA-9E69-7015-644A3482917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F6511138-CC33-9B7D-1FC4-976F82B2A8EE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07358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AE857-7853-45FB-146A-2873B7A8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C7C07BD8-A844-3D9B-ECB7-8A49BC079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40901ADC-AEA6-EBA0-1225-7BB7AA1C774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1FEDC3BC-8D34-5821-3355-52A82632C46A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25561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6FB6B-5CA5-9F1B-4177-3268679E2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B9162016-6FE3-C474-B759-308CD7215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CFC68865-3DDB-BAC7-239F-398A47342EF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1258004B-09D3-7443-02D1-495AC0C3730A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470089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FD006-EEF7-7A1B-C6B6-083B96BD1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49CBD2EA-A796-74C6-3B96-7CB667E47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4C360B10-6274-43E0-DF34-4FB5CFEDF51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D942A5B1-CF95-9B72-3DB8-E62F9452D39B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75931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55D9C-9737-BCE0-C501-E905CE941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70BCCC1E-1F8C-C4D3-BFD7-D21418156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52091B16-F211-8E9F-8BA4-0571118A1A9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E3BD5DCD-CB28-5FC8-52E0-567D3AC687EF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8682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A9B7E-6739-E88C-DF9A-3A8E6C23B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4F254BAB-9BC4-89D2-B986-0580C0EB9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E6F403F5-7313-1719-A408-3065D521593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C688533A-B24B-B1C1-37F1-1DD8ACF062F2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94886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6B973-DBBA-3CA4-3BFB-236622729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0A5C21E9-E6E4-71ED-C493-0875D4A72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BF32AF43-0255-6BB0-7588-CBD94CC2CD5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C8EC97EA-3AB9-3FD3-9D02-E12F8E2EBB2D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10567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682A-0AE5-C51E-E03C-660015AC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D81ED6D6-2D8C-E475-2EF3-E6EE2351A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81ADAFBD-C7AD-3435-5B10-D6ADA4D2104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3DAB6503-E052-A44C-C89D-49BEB591171C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22078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2ABAD-9F99-41D8-E9AB-5FDAC4E92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F42352CF-15F9-26EB-0039-A05CE0501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C84CD5F9-15FF-D2FB-3284-1D3349AB285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1152D9D3-1E82-A452-A356-6DA11980185A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35598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1DA94-FF27-A469-4A0D-02478D89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2EC13947-A27A-7BA2-3D7B-529391B75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915A2AD8-17F9-D4B1-959D-A26A40F9849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307A5088-7B49-C4E6-287C-8E0481078334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62683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546D0-9924-F148-5DED-698E3824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7FACB96C-26DD-CB9A-8AF5-715C10782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D856FB68-FAFD-AF1E-6CD7-18ABB5A2E6D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6760035A-AEAB-FD66-1A78-CA4764A0A020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30350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CD45-940A-63B8-97C9-932B632D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A1C2C26F-AAD8-0735-E482-EB75DC728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49FA0B5F-11EE-B60D-EBFB-5AE8CBC8DDC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156CA997-1828-C645-787D-4E8E3B5DDC17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785361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9BC3-9D5C-A4AB-78C5-04D21414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AB1C7143-5C89-340E-FE36-D84231DB4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D62667E8-FFC5-D5AB-1141-B7547932ED4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462E4D9F-E2DD-2DBE-1146-254D5BF66DDE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6126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C945F-6724-928B-5DAF-11F788F6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9407C39C-9C62-E1F2-1420-68DDD347F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B30E8FF5-A86F-A3C9-9ECC-6AF3E26583A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73328CEF-DF89-0A9E-5C9D-2BE0CD2A7668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72667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A148C-8EAD-63B7-44E7-61605516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E33E9D45-CB78-5726-55D9-30162D883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E4027691-42C3-9EA7-D0C6-F4F05079212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22F8784C-0A6B-D4E3-D2E5-BE96364989C7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318062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F7E61-3CF2-96E7-4233-7795EBB9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B3BE4C57-8196-B5C7-8B70-6BDEF484D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93AAD1F7-13BA-6659-1D70-AC064999C46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5580C39B-B687-C56D-C5EE-633730363233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96479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5A26A-A5ED-BDAA-AC72-5DD6436C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5A2DCB02-7054-E86F-BEB6-3B6B6AFF3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16774501-F913-6A81-7C54-967C17D8D45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E479D26E-A9E8-2862-81D8-E89E71F754C0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65023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9D955-CA48-C643-6E0C-AADC0B47B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7ACAC346-AF2F-377C-5400-8FCAC815E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BF4A96D2-319B-425A-E4D5-568AAE4A0A0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780FBB1B-9BB1-0864-CCC9-E722764AC1C7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ECBED5-D60B-46CA-B98C-4D429D0F9FC8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2058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5186E7D-6F29-45ED-A9F9-C89B78355C3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F608194-59C5-458F-BE53-B7EBAE3785B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A28C4AA-E9D2-4EE2-A1A5-EFA2D86C229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E22105B-0EBB-4CC5-B934-54B691F4A92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默认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3E2D189F-6B95-4739-83F6-ED310754177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F654F0AF-E03B-4678-B5FB-E670A99C663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默认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DA326F57-6361-48C1-A13D-1B1E83D1410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默认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A5E61464-14C4-4979-98DF-3602B57E3DB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E9A03D6E-7CA4-43BB-962F-A6612695DBE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470BBCB9-2CAF-4172-8610-FAFE7459886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/>
          <p:cNvPicPr/>
          <p:nvPr/>
        </p:nvPicPr>
        <p:blipFill>
          <a:blip r:embed="rId3"/>
          <a:srcRect l="3610"/>
          <a:stretch/>
        </p:blipFill>
        <p:spPr>
          <a:xfrm>
            <a:off x="1244160" y="2438280"/>
            <a:ext cx="4036320" cy="41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1720" cy="23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Oval 15"/>
          <p:cNvSpPr/>
          <p:nvPr/>
        </p:nvSpPr>
        <p:spPr>
          <a:xfrm>
            <a:off x="860904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F2EFF3">
                  <a:alpha val="7000"/>
                </a:srgbClr>
              </a:gs>
              <a:gs pos="36000">
                <a:srgbClr val="F2EFF3">
                  <a:alpha val="6000"/>
                </a:srgbClr>
              </a:gs>
              <a:gs pos="69000">
                <a:srgbClr val="F2EF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2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272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Rectangle 13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4" name="图片 14"/>
          <p:cNvPicPr/>
          <p:nvPr/>
        </p:nvPicPr>
        <p:blipFill>
          <a:blip r:embed="rId6"/>
          <a:stretch/>
        </p:blipFill>
        <p:spPr>
          <a:xfrm>
            <a:off x="8382600" y="6324840"/>
            <a:ext cx="3653280" cy="47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ftr" idx="4"/>
          </p:nvPr>
        </p:nvSpPr>
        <p:spPr>
          <a:xfrm rot="5400000">
            <a:off x="8952120" y="322524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sldNum" idx="5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3373BE77-BAB5-4DF1-969B-0468A0A19F7F}" type="slidenum">
              <a: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rPr>
              <a:t>‹#›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6"/>
          </p:nvPr>
        </p:nvSpPr>
        <p:spPr>
          <a:xfrm rot="5400000">
            <a:off x="10155960" y="179064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46200" y="1447920"/>
            <a:ext cx="9403200" cy="479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Gill Sans MT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Second level</a:t>
            </a:r>
            <a:endParaRPr lang="en-US" sz="24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1257480" lvl="2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Third level</a:t>
            </a:r>
            <a:endParaRPr lang="en-US" sz="22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1714680" lvl="3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Fourth level</a:t>
            </a:r>
            <a:endParaRPr lang="en-US" sz="22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2171880" lvl="4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Fifth level</a:t>
            </a:r>
            <a:endParaRPr lang="en-US" sz="2200" b="0" u="none" strike="noStrike">
              <a:solidFill>
                <a:srgbClr val="942092"/>
              </a:solidFill>
              <a:uFillTx/>
              <a:latin typeface="Gill Sans M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/>
          <p:cNvPicPr/>
          <p:nvPr/>
        </p:nvPicPr>
        <p:blipFill>
          <a:blip r:embed="rId3"/>
          <a:srcRect l="3610"/>
          <a:stretch/>
        </p:blipFill>
        <p:spPr>
          <a:xfrm>
            <a:off x="1244160" y="2438280"/>
            <a:ext cx="4036320" cy="41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1720" cy="23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Oval 15"/>
          <p:cNvSpPr/>
          <p:nvPr/>
        </p:nvSpPr>
        <p:spPr>
          <a:xfrm>
            <a:off x="860904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F2EFF3">
                  <a:alpha val="7000"/>
                </a:srgbClr>
              </a:gs>
              <a:gs pos="36000">
                <a:srgbClr val="F2EFF3">
                  <a:alpha val="6000"/>
                </a:srgbClr>
              </a:gs>
              <a:gs pos="69000">
                <a:srgbClr val="F2EF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23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272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Rectangle 13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25" name="图片 14"/>
          <p:cNvPicPr/>
          <p:nvPr/>
        </p:nvPicPr>
        <p:blipFill>
          <a:blip r:embed="rId6"/>
          <a:stretch/>
        </p:blipFill>
        <p:spPr>
          <a:xfrm>
            <a:off x="8382600" y="6324840"/>
            <a:ext cx="3653280" cy="47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ftr" idx="7"/>
          </p:nvPr>
        </p:nvSpPr>
        <p:spPr>
          <a:xfrm rot="5400000">
            <a:off x="8952120" y="322524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sldNum" idx="8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ACAB8DFE-3E19-4A79-B699-AE3663E94D6B}" type="slidenum">
              <a: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rPr>
              <a:t>‹#›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9"/>
          </p:nvPr>
        </p:nvSpPr>
        <p:spPr>
          <a:xfrm rot="5400000">
            <a:off x="10155960" y="179064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uFillTx/>
              <a:latin typeface="Gill Sans M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7"/>
          <p:cNvPicPr/>
          <p:nvPr/>
        </p:nvPicPr>
        <p:blipFill>
          <a:blip r:embed="rId3"/>
          <a:srcRect l="3610"/>
          <a:stretch/>
        </p:blipFill>
        <p:spPr>
          <a:xfrm>
            <a:off x="1244160" y="2438280"/>
            <a:ext cx="4036320" cy="41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1720" cy="23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Oval 15"/>
          <p:cNvSpPr/>
          <p:nvPr/>
        </p:nvSpPr>
        <p:spPr>
          <a:xfrm>
            <a:off x="860904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F2EFF3">
                  <a:alpha val="7000"/>
                </a:srgbClr>
              </a:gs>
              <a:gs pos="36000">
                <a:srgbClr val="F2EFF3">
                  <a:alpha val="6000"/>
                </a:srgbClr>
              </a:gs>
              <a:gs pos="69000">
                <a:srgbClr val="F2EF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33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272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Rectangle 13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35" name="图片 14"/>
          <p:cNvPicPr/>
          <p:nvPr/>
        </p:nvPicPr>
        <p:blipFill>
          <a:blip r:embed="rId6"/>
          <a:stretch/>
        </p:blipFill>
        <p:spPr>
          <a:xfrm>
            <a:off x="8382600" y="6324840"/>
            <a:ext cx="3653280" cy="47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646200" y="1447920"/>
            <a:ext cx="4588560" cy="479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Gill Sans MT"/>
              </a:rPr>
              <a:t>点击以编辑提纲文本格式</a:t>
            </a:r>
            <a:endParaRPr lang="en-US" sz="1800" b="0" u="none" strike="noStrike">
              <a:solidFill>
                <a:schemeClr val="dk1"/>
              </a:solidFill>
              <a:uFillTx/>
              <a:latin typeface="Gill Sans MT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第二提纲级别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第三提纲级别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第四提纲级别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第五提纲级别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第六提纲级别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第七提纲级别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464800" y="1447920"/>
            <a:ext cx="4588560" cy="479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Gill Sans MT"/>
              </a:rPr>
              <a:t>点击以编辑提纲文本格式</a:t>
            </a:r>
            <a:endParaRPr lang="en-US" sz="1800" b="0" u="none" strike="noStrike">
              <a:solidFill>
                <a:schemeClr val="dk1"/>
              </a:solidFill>
              <a:uFillTx/>
              <a:latin typeface="Gill Sans MT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第二提纲级别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第三提纲级别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第四提纲级别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第五提纲级别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第六提纲级别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942092"/>
                </a:solidFill>
                <a:uFillTx/>
                <a:latin typeface="Gill Sans MT"/>
              </a:rPr>
              <a:t>第七提纲级别</a:t>
            </a:r>
            <a:endParaRPr lang="en-US" sz="1800" b="0" u="none" strike="noStrike">
              <a:solidFill>
                <a:srgbClr val="942092"/>
              </a:solidFill>
              <a:uFillTx/>
              <a:latin typeface="Gill Sans MT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10"/>
          </p:nvPr>
        </p:nvSpPr>
        <p:spPr>
          <a:xfrm rot="5400000">
            <a:off x="8952120" y="322524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&lt;页脚&gt;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sldNum" idx="11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D272F3CE-AA50-4B4E-873E-F5BFC8DD58C3}" type="slidenum">
              <a: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rPr>
              <a:t>‹#›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dt" idx="12"/>
          </p:nvPr>
        </p:nvSpPr>
        <p:spPr>
          <a:xfrm rot="5400000">
            <a:off x="10155960" y="179064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41" name="PlaceHolder 6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uFillTx/>
              <a:latin typeface="Gill Sans M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7"/>
          <p:cNvPicPr/>
          <p:nvPr/>
        </p:nvPicPr>
        <p:blipFill>
          <a:blip r:embed="rId3"/>
          <a:srcRect l="3610"/>
          <a:stretch/>
        </p:blipFill>
        <p:spPr>
          <a:xfrm>
            <a:off x="1244160" y="2438280"/>
            <a:ext cx="4036320" cy="41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1720" cy="23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Oval 15"/>
          <p:cNvSpPr/>
          <p:nvPr/>
        </p:nvSpPr>
        <p:spPr>
          <a:xfrm>
            <a:off x="860904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F2EFF3">
                  <a:alpha val="7000"/>
                </a:srgbClr>
              </a:gs>
              <a:gs pos="36000">
                <a:srgbClr val="F2EFF3">
                  <a:alpha val="6000"/>
                </a:srgbClr>
              </a:gs>
              <a:gs pos="69000">
                <a:srgbClr val="F2EF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45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272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Rectangle 13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47" name="图片 14"/>
          <p:cNvPicPr/>
          <p:nvPr/>
        </p:nvPicPr>
        <p:blipFill>
          <a:blip r:embed="rId6"/>
          <a:stretch/>
        </p:blipFill>
        <p:spPr>
          <a:xfrm>
            <a:off x="8382600" y="6324840"/>
            <a:ext cx="3653280" cy="47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ftr" idx="13"/>
          </p:nvPr>
        </p:nvSpPr>
        <p:spPr>
          <a:xfrm rot="5400000">
            <a:off x="8952120" y="322524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sldNum" idx="14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44EF476C-555E-402D-A5BF-89FE50759A8B}" type="slidenum">
              <a: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rPr>
              <a:t>‹#›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5"/>
          </p:nvPr>
        </p:nvSpPr>
        <p:spPr>
          <a:xfrm rot="5400000">
            <a:off x="10155960" y="179064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7"/>
          <p:cNvPicPr/>
          <p:nvPr/>
        </p:nvPicPr>
        <p:blipFill>
          <a:blip r:embed="rId3"/>
          <a:srcRect l="3610"/>
          <a:stretch/>
        </p:blipFill>
        <p:spPr>
          <a:xfrm>
            <a:off x="1244160" y="2438280"/>
            <a:ext cx="4036320" cy="41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1720" cy="23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Oval 15"/>
          <p:cNvSpPr/>
          <p:nvPr/>
        </p:nvSpPr>
        <p:spPr>
          <a:xfrm>
            <a:off x="860904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F2EFF3">
                  <a:alpha val="7000"/>
                </a:srgbClr>
              </a:gs>
              <a:gs pos="36000">
                <a:srgbClr val="F2EFF3">
                  <a:alpha val="6000"/>
                </a:srgbClr>
              </a:gs>
              <a:gs pos="69000">
                <a:srgbClr val="F2EF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54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272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Rectangle 13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56" name="图片 14"/>
          <p:cNvPicPr/>
          <p:nvPr/>
        </p:nvPicPr>
        <p:blipFill>
          <a:blip r:embed="rId6"/>
          <a:stretch/>
        </p:blipFill>
        <p:spPr>
          <a:xfrm>
            <a:off x="8382600" y="6324840"/>
            <a:ext cx="3653280" cy="47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ftr" idx="16"/>
          </p:nvPr>
        </p:nvSpPr>
        <p:spPr>
          <a:xfrm rot="5400000">
            <a:off x="8952120" y="322524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sldNum" idx="17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2FACB57B-627C-4CFA-8505-14E6D74EC1C5}" type="slidenum">
              <a: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rPr>
              <a:t>‹#›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18"/>
          </p:nvPr>
        </p:nvSpPr>
        <p:spPr>
          <a:xfrm rot="5400000">
            <a:off x="10155960" y="179064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7"/>
          <p:cNvPicPr/>
          <p:nvPr/>
        </p:nvPicPr>
        <p:blipFill>
          <a:blip r:embed="rId3"/>
          <a:srcRect l="3610"/>
          <a:stretch/>
        </p:blipFill>
        <p:spPr>
          <a:xfrm>
            <a:off x="1244160" y="2438280"/>
            <a:ext cx="4036320" cy="41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1720" cy="23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Oval 15"/>
          <p:cNvSpPr/>
          <p:nvPr/>
        </p:nvSpPr>
        <p:spPr>
          <a:xfrm>
            <a:off x="860904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F2EFF3">
                  <a:alpha val="7000"/>
                </a:srgbClr>
              </a:gs>
              <a:gs pos="36000">
                <a:srgbClr val="F2EFF3">
                  <a:alpha val="6000"/>
                </a:srgbClr>
              </a:gs>
              <a:gs pos="69000">
                <a:srgbClr val="F2EF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63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272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Rectangle 13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65" name="图片 14"/>
          <p:cNvPicPr/>
          <p:nvPr/>
        </p:nvPicPr>
        <p:blipFill>
          <a:blip r:embed="rId6"/>
          <a:stretch/>
        </p:blipFill>
        <p:spPr>
          <a:xfrm>
            <a:off x="8382600" y="6324840"/>
            <a:ext cx="3653280" cy="47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ftr" idx="19"/>
          </p:nvPr>
        </p:nvSpPr>
        <p:spPr>
          <a:xfrm rot="5400000">
            <a:off x="8952120" y="322524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sldNum" idx="20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1F9C35A4-3D53-4E95-9291-73CEAAAACCB7}" type="slidenum">
              <a: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rPr>
              <a:t>‹#›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21"/>
          </p:nvPr>
        </p:nvSpPr>
        <p:spPr>
          <a:xfrm rot="5400000">
            <a:off x="10155960" y="179064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46200" y="1447920"/>
            <a:ext cx="9403200" cy="479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Gill Sans MT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Second level</a:t>
            </a:r>
            <a:endParaRPr lang="en-US" sz="24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1257480" lvl="2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Third level</a:t>
            </a:r>
            <a:endParaRPr lang="en-US" sz="22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1714680" lvl="3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Fourth level</a:t>
            </a:r>
            <a:endParaRPr lang="en-US" sz="22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2171880" lvl="4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Fifth level</a:t>
            </a:r>
            <a:endParaRPr lang="en-US" sz="2200" b="0" u="none" strike="noStrike">
              <a:solidFill>
                <a:srgbClr val="942092"/>
              </a:solidFill>
              <a:uFillTx/>
              <a:latin typeface="Gill Sans MT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uFillTx/>
              <a:latin typeface="Gill Sans M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"/>
          <p:cNvPicPr/>
          <p:nvPr/>
        </p:nvPicPr>
        <p:blipFill>
          <a:blip r:embed="rId5"/>
          <a:srcRect l="3610"/>
          <a:stretch/>
        </p:blipFill>
        <p:spPr>
          <a:xfrm>
            <a:off x="1244160" y="2438280"/>
            <a:ext cx="4036320" cy="41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Picture 6"/>
          <p:cNvPicPr/>
          <p:nvPr/>
        </p:nvPicPr>
        <p:blipFill>
          <a:blip r:embed="rId6"/>
          <a:srcRect l="35647"/>
          <a:stretch/>
        </p:blipFill>
        <p:spPr>
          <a:xfrm>
            <a:off x="0" y="2892240"/>
            <a:ext cx="1521720" cy="23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Oval 15"/>
          <p:cNvSpPr/>
          <p:nvPr/>
        </p:nvSpPr>
        <p:spPr>
          <a:xfrm>
            <a:off x="860904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F2EFF3">
                  <a:alpha val="7000"/>
                </a:srgbClr>
              </a:gs>
              <a:gs pos="36000">
                <a:srgbClr val="F2EFF3">
                  <a:alpha val="6000"/>
                </a:srgbClr>
              </a:gs>
              <a:gs pos="69000">
                <a:srgbClr val="F2EF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74" name="Picture 8"/>
          <p:cNvPicPr/>
          <p:nvPr/>
        </p:nvPicPr>
        <p:blipFill>
          <a:blip r:embed="rId7"/>
          <a:srcRect t="28812"/>
          <a:stretch/>
        </p:blipFill>
        <p:spPr>
          <a:xfrm>
            <a:off x="7999560" y="0"/>
            <a:ext cx="160272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Rectangle 13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76" name="图片 14"/>
          <p:cNvPicPr/>
          <p:nvPr/>
        </p:nvPicPr>
        <p:blipFill>
          <a:blip r:embed="rId8"/>
          <a:stretch/>
        </p:blipFill>
        <p:spPr>
          <a:xfrm>
            <a:off x="8382600" y="6324840"/>
            <a:ext cx="3653280" cy="47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ftr" idx="22"/>
          </p:nvPr>
        </p:nvSpPr>
        <p:spPr>
          <a:xfrm rot="5400000">
            <a:off x="8952120" y="322524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sldNum" idx="23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19033C06-58A8-45E4-A36E-AF441E21975D}" type="slidenum">
              <a: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rPr>
              <a:t>‹#›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24"/>
          </p:nvPr>
        </p:nvSpPr>
        <p:spPr>
          <a:xfrm rot="5400000">
            <a:off x="10155960" y="179064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46200" y="1447920"/>
            <a:ext cx="9403200" cy="479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Gill Sans MT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Second level</a:t>
            </a:r>
            <a:endParaRPr lang="en-US" sz="24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1257480" lvl="2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Third level</a:t>
            </a:r>
            <a:endParaRPr lang="en-US" sz="22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1714680" lvl="3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Fourth level</a:t>
            </a:r>
            <a:endParaRPr lang="en-US" sz="2200" b="0" u="none" strike="noStrike">
              <a:solidFill>
                <a:srgbClr val="942092"/>
              </a:solidFill>
              <a:uFillTx/>
              <a:latin typeface="Gill Sans MT"/>
            </a:endParaRPr>
          </a:p>
          <a:p>
            <a:pPr marL="2171880" lvl="4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华文中宋"/>
                <a:ea typeface="华文中宋"/>
              </a:rPr>
              <a:t>Fifth level</a:t>
            </a:r>
            <a:endParaRPr lang="en-US" sz="2200" b="0" u="none" strike="noStrike">
              <a:solidFill>
                <a:srgbClr val="942092"/>
              </a:solidFill>
              <a:uFillTx/>
              <a:latin typeface="Gill Sans M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7"/>
          <p:cNvPicPr/>
          <p:nvPr/>
        </p:nvPicPr>
        <p:blipFill>
          <a:blip r:embed="rId3"/>
          <a:srcRect l="3610"/>
          <a:stretch/>
        </p:blipFill>
        <p:spPr>
          <a:xfrm>
            <a:off x="1244160" y="2438280"/>
            <a:ext cx="4036320" cy="41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1720" cy="23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Oval 15"/>
          <p:cNvSpPr/>
          <p:nvPr/>
        </p:nvSpPr>
        <p:spPr>
          <a:xfrm>
            <a:off x="860904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F2EFF3">
                  <a:alpha val="7000"/>
                </a:srgbClr>
              </a:gs>
              <a:gs pos="36000">
                <a:srgbClr val="F2EFF3">
                  <a:alpha val="6000"/>
                </a:srgbClr>
              </a:gs>
              <a:gs pos="69000">
                <a:srgbClr val="F2EF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94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272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angle 13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96" name="图片 2"/>
          <p:cNvPicPr/>
          <p:nvPr/>
        </p:nvPicPr>
        <p:blipFill>
          <a:blip r:embed="rId6"/>
          <a:stretch/>
        </p:blipFill>
        <p:spPr>
          <a:xfrm>
            <a:off x="8382600" y="6324840"/>
            <a:ext cx="3653280" cy="47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PlaceHolder 1"/>
          <p:cNvSpPr>
            <a:spLocks noGrp="1"/>
          </p:cNvSpPr>
          <p:nvPr>
            <p:ph type="ftr" idx="28"/>
          </p:nvPr>
        </p:nvSpPr>
        <p:spPr>
          <a:xfrm rot="5400000">
            <a:off x="8952120" y="322524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&lt;页脚&gt;</a:t>
            </a:r>
          </a:p>
        </p:txBody>
      </p:sp>
      <p:sp>
        <p:nvSpPr>
          <p:cNvPr id="98" name="PlaceHolder 2"/>
          <p:cNvSpPr>
            <a:spLocks noGrp="1"/>
          </p:cNvSpPr>
          <p:nvPr>
            <p:ph type="sldNum" idx="29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0C5E5BF6-628A-4DAD-9ED8-DBD09A062DC5}" type="slidenum">
              <a: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rPr>
              <a:t>‹#›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30"/>
          </p:nvPr>
        </p:nvSpPr>
        <p:spPr>
          <a:xfrm rot="5400000">
            <a:off x="10155960" y="179064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&lt;日期/时间&gt;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Relationship Id="rId5" Type="http://schemas.openxmlformats.org/officeDocument/2006/relationships/image" Target="../media/image38.png"/><Relationship Id="rId4" Type="http://schemas.openxmlformats.org/officeDocument/2006/relationships/image" Target="../media/image30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2.xml"/><Relationship Id="rId5" Type="http://schemas.openxmlformats.org/officeDocument/2006/relationships/image" Target="../media/image39.png"/><Relationship Id="rId4" Type="http://schemas.openxmlformats.org/officeDocument/2006/relationships/image" Target="../media/image3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.xml"/><Relationship Id="rId5" Type="http://schemas.openxmlformats.org/officeDocument/2006/relationships/image" Target="../media/image42.png"/><Relationship Id="rId4" Type="http://schemas.openxmlformats.org/officeDocument/2006/relationships/image" Target="../media/image3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4.xml"/><Relationship Id="rId5" Type="http://schemas.openxmlformats.org/officeDocument/2006/relationships/image" Target="../media/image43.png"/><Relationship Id="rId4" Type="http://schemas.openxmlformats.org/officeDocument/2006/relationships/image" Target="../media/image38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5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6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.xml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Relationship Id="rId5" Type="http://schemas.openxmlformats.org/officeDocument/2006/relationships/image" Target="../media/image48.png"/><Relationship Id="rId4" Type="http://schemas.openxmlformats.org/officeDocument/2006/relationships/image" Target="../media/image4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Relationship Id="rId4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Relationship Id="rId4" Type="http://schemas.openxmlformats.org/officeDocument/2006/relationships/image" Target="../media/image6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Relationship Id="rId4" Type="http://schemas.openxmlformats.org/officeDocument/2006/relationships/image" Target="../media/image6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473480" y="1063800"/>
            <a:ext cx="9244440" cy="500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生物统计和生物信息引论</a:t>
            </a:r>
            <a:br>
              <a:rPr sz="3600" dirty="0"/>
            </a:br>
            <a:br>
              <a:rPr sz="3600" dirty="0"/>
            </a:b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Lecture </a:t>
            </a: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9</a:t>
            </a: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 </a:t>
            </a:r>
            <a:br>
              <a:rPr sz="3600" dirty="0"/>
            </a:br>
            <a:br>
              <a:rPr sz="3600" dirty="0"/>
            </a:br>
            <a:r>
              <a:rPr lang="en-US" sz="3600" dirty="0">
                <a:solidFill>
                  <a:schemeClr val="dk2"/>
                </a:solidFill>
                <a:latin typeface="华文中宋"/>
                <a:ea typeface="华文中宋"/>
              </a:rPr>
              <a:t>Longitudinal Data Analysis</a:t>
            </a:r>
            <a:br>
              <a:rPr sz="3600" dirty="0"/>
            </a:br>
            <a:br>
              <a:rPr sz="3100" dirty="0"/>
            </a:br>
            <a:br>
              <a:rPr lang="zh-CN" altLang="en-US" sz="3100" dirty="0"/>
            </a:br>
            <a:br>
              <a:rPr sz="3100" dirty="0"/>
            </a:br>
            <a:br>
              <a:rPr sz="3600" dirty="0"/>
            </a:b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107" name="文本框 5"/>
          <p:cNvSpPr/>
          <p:nvPr/>
        </p:nvSpPr>
        <p:spPr>
          <a:xfrm>
            <a:off x="3366000" y="4699440"/>
            <a:ext cx="545904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28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王健桥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" sz="28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 jianqw@mail.tsinghua.edu.cn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34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rgbClr val="8B8B8B"/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06BB4D2F-DBB4-409A-B0FA-1D9C6372BDBC}" type="slidenum">
              <a:rPr lang="en-US" sz="2800" b="0" u="none" strike="noStrike">
                <a:solidFill>
                  <a:srgbClr val="8B8B8B"/>
                </a:solidFill>
                <a:uFillTx/>
                <a:latin typeface="Century Gothic"/>
              </a:rPr>
              <a:t>1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:p15="http://schemas.microsoft.com/office/powerpoint/2012/main" xmlns=""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Example</a:t>
            </a: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: Reaction Time in Sleep Study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46200" y="1447920"/>
            <a:ext cx="7583273" cy="512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lme4::</a:t>
            </a:r>
            <a:r>
              <a:rPr lang="en" altLang="zh-CN" sz="2400" dirty="0" err="1">
                <a:solidFill>
                  <a:schemeClr val="dk1"/>
                </a:solidFill>
                <a:latin typeface="华文中宋"/>
                <a:ea typeface="华文中宋"/>
              </a:rPr>
              <a:t>sleepstudy</a:t>
            </a:r>
            <a:r>
              <a:rPr lang="en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 in R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The average reaction times per day (in milliseconds) for subjects in a sleep deprivation study.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180 observations.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Reaction: Average reaction time (</a:t>
            </a:r>
            <a:r>
              <a:rPr lang="en-US" altLang="zh-CN" sz="2400" dirty="0" err="1">
                <a:solidFill>
                  <a:schemeClr val="dk1"/>
                </a:solidFill>
                <a:latin typeface="华文中宋"/>
                <a:ea typeface="华文中宋"/>
              </a:rPr>
              <a:t>ms</a:t>
            </a: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)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Days: Number of days of sleep deprivation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For details, ?lme4::</a:t>
            </a:r>
            <a:r>
              <a:rPr lang="en-US" altLang="zh-CN" sz="2400" dirty="0" err="1">
                <a:solidFill>
                  <a:schemeClr val="dk1"/>
                </a:solidFill>
                <a:latin typeface="华文中宋"/>
                <a:ea typeface="华文中宋"/>
              </a:rPr>
              <a:t>sleepstudy</a:t>
            </a: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 in 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2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3DA5D0-D718-D82B-5932-4C1A5FBA8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473" y="1062360"/>
            <a:ext cx="2884637" cy="52392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B9998-6517-D7A7-AD23-3383A1F17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27232F89-9BA6-61FC-9174-FEBCDA51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Example</a:t>
            </a: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: Reaction Time in Sleep Study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F7498F9-8CAC-19BC-972A-C69965078184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3</a:t>
            </a:fld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45E0C2-E455-BEF5-9A9D-875BFBBC1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742" y="1172520"/>
            <a:ext cx="6982516" cy="504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1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85A06-0242-E8CD-F627-EE7F7218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C1E6A506-0BB5-300B-1029-E2FA582F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Another visualization</a:t>
            </a:r>
            <a:endParaRPr lang="en-US" sz="3600" b="0" u="none" strike="noStrike" dirty="0">
              <a:solidFill>
                <a:schemeClr val="dk2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847ED3F5-117A-9515-A297-9BE7EBBBCCE1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4</a:t>
            </a:fld>
            <a:endParaRPr/>
          </a:p>
        </p:txBody>
      </p:sp>
      <p:pic>
        <p:nvPicPr>
          <p:cNvPr id="3" name="Picture 2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B6807A34-D367-4489-1D6F-DA6DCE93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81" y="2323631"/>
            <a:ext cx="6360160" cy="454152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AE143FB-9342-6D42-F2A1-D28DAEB16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74" y="1197920"/>
            <a:ext cx="6562574" cy="110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3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636DF-F65E-9D50-AE55-180043ED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61EBD87E-9AC9-F9E2-A44F-D789C5DE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What is Longitudinal </a:t>
            </a: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D</a:t>
            </a: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ata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PlaceHolder 2">
                <a:extLst>
                  <a:ext uri="{FF2B5EF4-FFF2-40B4-BE49-F238E27FC236}">
                    <a16:creationId xmlns:a16="http://schemas.microsoft.com/office/drawing/2014/main" id="{EA35DA44-88EF-7C23-9146-30B210A0355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646200" y="1447920"/>
                <a:ext cx="7583273" cy="54100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Data collected on the same unit at </a:t>
                </a:r>
                <a:r>
                  <a:rPr lang="en-US" altLang="zh-CN" sz="2400" b="1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multiple time points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Examples: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Patient follow-up measurements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Growth curves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Economic data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400" dirty="0">
                    <a:latin typeface="华文中宋"/>
                    <a:ea typeface="华文中宋"/>
                  </a:rPr>
                  <a:t>Data structure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中宋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中宋"/>
                      </a:rPr>
                      <m:t>=1,…,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中宋"/>
                      </a:rPr>
                      <m:t>𝑟</m:t>
                    </m:r>
                  </m:oMath>
                </a14:m>
                <a:r>
                  <a:rPr lang="en-US" altLang="zh-CN" sz="2000" dirty="0">
                    <a:latin typeface="华文中宋"/>
                    <a:ea typeface="华文中宋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华文中宋"/>
                      </a:rPr>
                      <m:t>𝑗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中宋"/>
                      </a:rPr>
                      <m:t>=1,…,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中宋"/>
                          </a:rPr>
                          <m:t>𝑛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中宋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dirty="0">
                  <a:latin typeface="华文中宋"/>
                  <a:ea typeface="华文中宋"/>
                </a:endParaRP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dirty="0">
                    <a:latin typeface="华文中宋"/>
                    <a:ea typeface="华文中宋"/>
                  </a:rPr>
                  <a:t>Outcomes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中宋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中宋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b="0" dirty="0">
                  <a:latin typeface="华文中宋"/>
                  <a:ea typeface="华文中宋"/>
                </a:endParaRP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dirty="0">
                    <a:latin typeface="华文中宋"/>
                    <a:ea typeface="华文中宋"/>
                  </a:rPr>
                  <a:t>Covariates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华文中宋"/>
                          </a:rPr>
                          <m:t>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中宋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华文中宋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华文中宋"/>
                          </a:rPr>
                          <m:t>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中宋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dirty="0">
                  <a:latin typeface="华文中宋"/>
                  <a:ea typeface="华文中宋"/>
                </a:endParaRPr>
              </a:p>
            </p:txBody>
          </p:sp>
        </mc:Choice>
        <mc:Fallback xmlns="">
          <p:sp>
            <p:nvSpPr>
              <p:cNvPr id="110" name="PlaceHolder 2">
                <a:extLst>
                  <a:ext uri="{FF2B5EF4-FFF2-40B4-BE49-F238E27FC236}">
                    <a16:creationId xmlns:a16="http://schemas.microsoft.com/office/drawing/2014/main" id="{EA35DA44-88EF-7C23-9146-30B210A035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646200" y="1447920"/>
                <a:ext cx="7583273" cy="5410080"/>
              </a:xfrm>
              <a:prstGeom prst="rect">
                <a:avLst/>
              </a:prstGeom>
              <a:blipFill>
                <a:blip r:embed="rId3"/>
                <a:stretch>
                  <a:fillRect l="-502" t="-11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294E5DAC-D8F2-892F-2B86-2D27E4289B34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5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BC172D-3FBD-1456-6EA0-542D157C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473" y="1062360"/>
            <a:ext cx="2884637" cy="523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1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D99C1-37E1-7058-4FF2-E61AFC05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FADCA098-7F61-1C43-4CDE-B22E8AD5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Key Features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110" name="PlaceHolder 2">
            <a:extLst>
              <a:ext uri="{FF2B5EF4-FFF2-40B4-BE49-F238E27FC236}">
                <a16:creationId xmlns:a16="http://schemas.microsoft.com/office/drawing/2014/main" id="{D9F76291-BEBF-55C5-62BD-226EAA2B2A1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46200" y="1447920"/>
            <a:ext cx="10281630" cy="512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Repeated measurements within subjects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Within-subject correlation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Between-subject heterogeneity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Time effect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Challenge: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Observations from the same subject are dependent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Different subjects may have different baselines and trends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7193496-AD45-90B2-7F0C-4212E9496CC4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0893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316E3-E5E3-A67D-885A-EB2AE62D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EC2604B4-E67E-0ED7-8736-A9F5E6DE7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Naïve Approach: Linear Regression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97072255-1221-330F-31E2-60DD21511682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7</a:t>
            </a:fld>
            <a:endParaRPr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7577EA0-A617-2ADB-7940-1C7837C38FA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2" y="1522249"/>
            <a:ext cx="8896930" cy="387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11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8DF15-A916-7DD3-DC23-3A6C6488C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7EF037C9-AF0B-771E-D1CA-FA8707DF1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171575"/>
            <a:ext cx="8896350" cy="685800"/>
          </a:xfrm>
          <a:prstGeom prst="rect">
            <a:avLst/>
          </a:prstGeom>
        </p:spPr>
      </p:pic>
      <p:sp>
        <p:nvSpPr>
          <p:cNvPr id="109" name="PlaceHolder 1">
            <a:extLst>
              <a:ext uri="{FF2B5EF4-FFF2-40B4-BE49-F238E27FC236}">
                <a16:creationId xmlns:a16="http://schemas.microsoft.com/office/drawing/2014/main" id="{28CBACB0-1228-35A1-3469-DD35E881B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Intercept only</a:t>
            </a: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61B790CD-2A2E-1944-BCD9-F1B5DC8E2429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8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3296F-CCDF-A47B-7012-D6B07AE8CBCB}"/>
              </a:ext>
            </a:extLst>
          </p:cNvPr>
          <p:cNvSpPr txBox="1"/>
          <p:nvPr/>
        </p:nvSpPr>
        <p:spPr>
          <a:xfrm>
            <a:off x="508000" y="2529840"/>
            <a:ext cx="39014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STZhongsong" panose="02010600040101010101" pitchFamily="2" charset="-122"/>
                <a:ea typeface="STZhongsong" panose="02010600040101010101" pitchFamily="2" charset="-122"/>
              </a:rPr>
              <a:t>What will happen when the records are imbalanced?</a:t>
            </a:r>
          </a:p>
        </p:txBody>
      </p:sp>
      <p:pic>
        <p:nvPicPr>
          <p:cNvPr id="6" name="Picture 5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1E9AE04D-8A2D-2A54-29BD-0B4FF45C7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680" y="1168400"/>
            <a:ext cx="676656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01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39148-A659-23B9-BDDB-2DE9E17F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9CCAB3DB-38CA-8DA4-E1C8-0CDBA61AC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Linear Mixed Models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03DB4A5-0877-CF83-1207-5F9D345D1AC8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9</a:t>
            </a:fld>
            <a:endParaRPr/>
          </a:p>
        </p:txBody>
      </p:sp>
      <p:pic>
        <p:nvPicPr>
          <p:cNvPr id="6" name="图片 5" descr="\documentclass{article}&#10;\usepackage{amsmath}&#10;\usepackage{bm}&#10;\pagestyle{empty}&#10;\begin{document}&#10;&#10;\paragraph{Linear mixed models.}&#10;$$Y_{ij}=\bm X_{ij}\bm \beta+\bm Z_{ij}\bm u_i+\varepsilon_{ij},$$&#10;where $\bm \beta$ is a $p\times 1$ vector, $\bm u_i\sim \mathcal N(\bm 0,\bm \Sigma_{\bm u_i})$ is a $q\times 1$ vector, and $\varepsilon_{ij} \stackrel{\text{i.i.d.}}{\sim} \mathcal N(0,\sigma^2)$.&#10;&#10;\paragraph{Interpretation.}&#10;\begin{itemize}&#10;\item $\bm \beta$: fixed effects.&#10;\item $\bm u_i$: random effects. The observations of the same subject share the same random ef‌fects. &#10;\end{itemize}&#10;&#10;\end{document}" title="IguanaTex Picture Display">
            <a:extLst>
              <a:ext uri="{FF2B5EF4-FFF2-40B4-BE49-F238E27FC236}">
                <a16:creationId xmlns:a16="http://schemas.microsoft.com/office/drawing/2014/main" id="{8A99AD19-D461-65AA-005F-FCF9B9D996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5" y="1522249"/>
            <a:ext cx="10411300" cy="399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54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A93DC-3586-E974-F854-66E269A4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F649F476-2DC4-37EC-1585-AA34B39ED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Linear Mixed Models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19C28F0-6C42-C686-083A-B5C0F5EB1FE3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10</a:t>
            </a:fld>
            <a:endParaRPr/>
          </a:p>
        </p:txBody>
      </p:sp>
      <p:pic>
        <p:nvPicPr>
          <p:cNvPr id="7" name="Picture 6" descr="\documentclass{article}&#10;\usepackage{amsmath}&#10;\usepackage{bm,amssymb}&#10;\pagestyle{empty}&#10;\begin{document}&#10;&#10;\paragraph{Linear mixed models in vector form.}&#10;$$&#10;\bm Y_i=\bm X_i\bm \beta+\bm Z_i\bm u_i+\bm \varepsilon_i,&#10;$$&#10;where $\bm u_i\sim \mathcal N(\bm 0,\bm \Sigma_{\bm u_i})$, $\bm X_i=(\bm X_{i1}^{\top},\ldots,\bm X_{in_i}^{\top})^{\top}$, $\bm Z_i=(\bm Z_{i1}^{\top},\ldots,\bm Z_{in_i}^{\top})^{\top}$, and $\bm \varepsilon_i=(\varepsilon_{i1},\ldots,\varepsilon_{in_i})^{\top}$.&#10;&#10;&#10;\paragraph{Interpretation.}&#10;\begin{itemize}&#10;\item $\mathbb E(\bm Y_i\mid \bm u_i)=\bm X_i\bm \beta+\bm Z_i\bm u_i$, which looks like an ordinary linear model with $\bm Z_i\bm u_i$ as an offset term.&#10;\item $\mathrm{var}(\bm Y_i)=\bm Z_i\bm \Sigma_{\bm u_i}\bm Z_i^{\top}+\sigma^2\bm I$. Here, $\bm Z_i\bm \Sigma_{\bm u_i}\bm Z_i^{\top}$ describes the between-subject variablity and $\sigma^2\bm I$ describes the within-subject variability.&#10;\end{itemize}&#10;&#10;\end{document}" title="IguanaTex Picture Display">
            <a:extLst>
              <a:ext uri="{FF2B5EF4-FFF2-40B4-BE49-F238E27FC236}">
                <a16:creationId xmlns:a16="http://schemas.microsoft.com/office/drawing/2014/main" id="{CB69DA5D-1DC0-6C3E-17D2-6E1C49C72A7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7" y="1522253"/>
            <a:ext cx="10413637" cy="471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31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5BCCC-C625-41B2-6BB2-A68B715AC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10754A97-AF4B-AAC1-46A2-CC9FD66F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Random Intercept Linear Mixed Model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9095AE83-DA1F-9D12-6AB9-677177D8E65B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11</a:t>
            </a:fld>
            <a:endParaRPr/>
          </a:p>
        </p:txBody>
      </p:sp>
      <p:pic>
        <p:nvPicPr>
          <p:cNvPr id="7" name="Picture 6" descr="\documentclass{article}&#10;\usepackage{amsmath}&#10;\usepackage{bm}&#10;\pagestyle{empty}&#10;\begin{document}&#10;&#10;\paragraph{LMM with random intercept.}&#10;An important special case has $\bm Z_{ij}=1$, $\bm u_i=u_i$ and $\mathrm{var}(u_i)=\sigma_u^2$, which gives&#10;$$\bm Y_{i}=\bm X_{i}\bm \beta+u_i\bm 1+\bm \varepsilon_i.$$&#10;$u_i\sim \mathcal N(0, \sigma^2_{u})$&#10;\begin{itemize}&#10;\item $\mathrm{var}(Y_{ij})=\sigma_u^2+\sigma^2$ and $\mathrm{var}(\bm Y_i)=\sigma_u^2\bm 1\bm 1^{\top}+\sigma^2\bm I$.&#10;\item $\mathrm{cor}(Y_{ij},Y_{ik})=\frac{\sigma_u^2}{\sigma_u^2+\sigma^2}$ when $j\neq k$.&#10;\end{itemize}&#10;&#10;&#10;\end{document}" title="IguanaTex Picture Display">
            <a:extLst>
              <a:ext uri="{FF2B5EF4-FFF2-40B4-BE49-F238E27FC236}">
                <a16:creationId xmlns:a16="http://schemas.microsoft.com/office/drawing/2014/main" id="{3F1F946C-2780-90A3-C84E-CC3A22A4D3E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1" y="1584840"/>
            <a:ext cx="10393620" cy="337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455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2ABF3-2CAD-E505-1057-785FE73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062CCCCB-E50A-5243-20B1-A900105DD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Example: Random Intercept (1)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94D7FDA-AEF3-BE4A-878B-BBB7344126F0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12</a:t>
            </a:fld>
            <a:endParaRPr/>
          </a:p>
        </p:txBody>
      </p:sp>
      <p:pic>
        <p:nvPicPr>
          <p:cNvPr id="6" name="Picture 5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C676702D-F49E-A311-48A1-3818B774B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555" y="1385445"/>
            <a:ext cx="7029450" cy="50196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A38799-2CE5-3B6E-EE4E-81B188DD4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40034"/>
            <a:ext cx="5003555" cy="3051737"/>
          </a:xfrm>
          <a:prstGeom prst="rect">
            <a:avLst/>
          </a:prstGeom>
        </p:spPr>
      </p:pic>
      <p:pic>
        <p:nvPicPr>
          <p:cNvPr id="10" name="Picture 9" descr="\documentclass{article}&#10;\usepackage{amsmath}&#10;\usepackage{bm}&#10;\pagestyle{empty}&#10;\begin{document}&#10;&#10;&#10;$\bm Y_{i}= u_i\bm 1+\bm \varepsilon_i.$&#10;$u_i\sim \mathcal N(0, \sigma^2_{u})$&#10;&#10;&#10;&#10;\end{document}" title="IguanaTex Picture Display">
            <a:extLst>
              <a:ext uri="{FF2B5EF4-FFF2-40B4-BE49-F238E27FC236}">
                <a16:creationId xmlns:a16="http://schemas.microsoft.com/office/drawing/2014/main" id="{34A71451-5F1B-9C11-D0BC-3E81AFB2F4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22" y="1653817"/>
            <a:ext cx="3745416" cy="32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79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93EE-5B5E-A3B9-A39C-DE3D66294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4AE12468-32A2-E9DE-8B1E-B9E72C536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Example</a:t>
            </a: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: Random Intercept (2)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A4AD1AF-A3F6-A98B-50EE-A7D0EF2C3541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13</a:t>
            </a:fld>
            <a:endParaRPr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5CA4C55D-89FB-1B91-60FA-44D42EC63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037" y="1172520"/>
            <a:ext cx="4040341" cy="5520137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D8B09DB9-F076-3A3B-A375-9C8FD2C174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6"/>
          <a:stretch>
            <a:fillRect/>
          </a:stretch>
        </p:blipFill>
        <p:spPr>
          <a:xfrm>
            <a:off x="270476" y="2899661"/>
            <a:ext cx="6086361" cy="103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69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CFA8C-B5C8-D546-9AC5-736903DF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C29032E6-D897-02CA-F387-68E03D76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Example: Random Intercept (2)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3DE67E1-56D5-5730-56E4-9A6EAA4BB61B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14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0D4634-8E49-D0A6-85C5-9E7A237FE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496881"/>
            <a:ext cx="5802182" cy="18642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5CB3574-E5AD-3C6D-B6BB-935B17946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182" y="1490134"/>
            <a:ext cx="6347141" cy="439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77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2278A-54B1-E9B1-4A3A-DCA72C7E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DF698BBB-5018-BED7-AB33-4DB4404A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Random Intercept and Random Slope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55C0ACF-4823-FF28-F6EF-901468E83602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15</a:t>
            </a:fld>
            <a:endParaRPr/>
          </a:p>
        </p:txBody>
      </p:sp>
      <p:pic>
        <p:nvPicPr>
          <p:cNvPr id="3" name="图片 2" descr="\documentclass{article}&#10;\usepackage{amsmath}&#10;\usepackage{bm}&#10;\pagestyle{empty}&#10;\begin{document}&#10;&#10;\paragraph{LMM with random intercept and random slope.}&#10;Another special case has $q&gt;1$ and $Z_{i1}=1$ for all $i$.&#10;$$\bm Y_{i}=\bm X_{i}\bm \beta+\bm Z_i\bm u_i+\bm \varepsilon_i.$$&#10;\begin{itemize}&#10;\item $u_{i1}$ is the random intercept, and $(u_{i2},\ldots,u_{iq})$ is the random slope.&#10;\item $\mathrm{var}(Y_{ij})=\bm Z_{ij}\bm \Sigma_{\bm u_i}\bm Z_{ij}^{\top}+\sigma^2$ and $\mathrm{var}(\bm Y_i)=\bm Z_i\sigma_u^2\bm Z_i^{\top}+\sigma^2\bm I$.&#10;\item $\mathrm{cov}(Y_{ij},Y_{ik})=\bm Z_{ij}\bm \Sigma_{\bm u_i}\bm Z_{ik}^{\top}$ when $j\neq k$.&#10;\end{itemize}&#10;&#10;&#10;\end{document}" title="IguanaTex Picture Display">
            <a:extLst>
              <a:ext uri="{FF2B5EF4-FFF2-40B4-BE49-F238E27FC236}">
                <a16:creationId xmlns:a16="http://schemas.microsoft.com/office/drawing/2014/main" id="{01844446-35AC-E305-FF82-76AE46DC92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1" y="1584835"/>
            <a:ext cx="10404020" cy="324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3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BAEC-A7DD-0306-F5F5-197D44944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2DCE4A28-492C-2FC6-7AD5-38BF7D0E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Example</a:t>
            </a: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: Random Intercept and Slope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42E3732-E897-0F9F-20FE-C5106065B294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16</a:t>
            </a:fld>
            <a:endParaRPr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79A40641-233F-7EF9-758A-E6FB9BAAF4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0037" y="1407954"/>
            <a:ext cx="4349260" cy="5379964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DC14AFE6-2194-9268-3E5A-ED89AD4FA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3" b="1033"/>
          <a:stretch/>
        </p:blipFill>
        <p:spPr>
          <a:xfrm>
            <a:off x="321276" y="2039895"/>
            <a:ext cx="6086361" cy="103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183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FAFB9-3841-2B80-D52E-6A5F94A8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80A10CCE-A565-ED8D-FB5D-B35452DC5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Example</a:t>
            </a: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: Random Intercept and Slope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2EE059B-EB71-2389-A0E2-1C425042CFB8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17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755B074-53B7-D8BD-9917-9BC44F877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" r="721"/>
          <a:stretch/>
        </p:blipFill>
        <p:spPr>
          <a:xfrm>
            <a:off x="5797921" y="1509376"/>
            <a:ext cx="6212847" cy="447129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7A0A5A9-8C09-6048-DFCC-A6C919F84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232" y="2581719"/>
            <a:ext cx="5376801" cy="169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61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734FA-9FC1-7BF3-36AE-7EC0D63F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AF6EAFD8-DCEB-A10B-AFBB-0E67B304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Comparing Two Models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C4D3FD6-2416-D4AB-8BA9-DA447E3667EB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18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07B66D-22FE-A36A-1457-990B57FDA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/>
        </p:blipFill>
        <p:spPr>
          <a:xfrm>
            <a:off x="6096000" y="1509377"/>
            <a:ext cx="5984051" cy="43066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3D868E0-93E0-E8F5-9268-F4CF82B311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757"/>
          <a:stretch>
            <a:fillRect/>
          </a:stretch>
        </p:blipFill>
        <p:spPr>
          <a:xfrm>
            <a:off x="1" y="1509376"/>
            <a:ext cx="5979300" cy="430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21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2EBD-F045-84F1-5407-47A21122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A7B1BDD5-BB1B-DB01-541E-702DD7604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Comparing Two Models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26A0C25-4D68-A34B-48CD-ABA6BE2F69B5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19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40A33BA-87A6-36ED-D6C4-15465A148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139" y="1660538"/>
            <a:ext cx="8317722" cy="353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970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3A757-0431-B5C4-28F2-50DBDE44C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E335DF33-34EC-0B82-E1BD-C0CB74A83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25" y="452880"/>
            <a:ext cx="10061145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 </a:t>
            </a:r>
            <a:r>
              <a:rPr lang="en-US" sz="3600" dirty="0">
                <a:solidFill>
                  <a:schemeClr val="dk2"/>
                </a:solidFill>
                <a:latin typeface="华文中宋"/>
                <a:ea typeface="华文中宋"/>
              </a:rPr>
              <a:t>Comparing Mixed effects vs. No-pooling</a:t>
            </a:r>
          </a:p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endParaRPr lang="en-US" altLang="zh-CN" sz="3600" dirty="0">
              <a:solidFill>
                <a:schemeClr val="dk2"/>
              </a:solidFill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378644DD-1A1E-1105-C3B9-8A4AA84588AF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20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66BD74-34A0-6381-1E1A-75A45AB8220F}"/>
              </a:ext>
            </a:extLst>
          </p:cNvPr>
          <p:cNvSpPr txBox="1"/>
          <p:nvPr/>
        </p:nvSpPr>
        <p:spPr>
          <a:xfrm>
            <a:off x="382720" y="2754465"/>
            <a:ext cx="6147434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Equivalent to computing individual correlations/regression for each person? </a:t>
            </a:r>
          </a:p>
          <a:p>
            <a:endParaRPr lang="en-US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Not really: shrinkage by the distribution assumption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6C546F-5412-7771-0959-DC72DE9D7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483" y="1372998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1B5E4F-0547-4B78-7DA6-8FA631E5A27D}"/>
              </a:ext>
            </a:extLst>
          </p:cNvPr>
          <p:cNvSpPr txBox="1"/>
          <p:nvPr/>
        </p:nvSpPr>
        <p:spPr>
          <a:xfrm>
            <a:off x="5667581" y="5916109"/>
            <a:ext cx="6094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https://m-clark.github.io/posts/2019-05-14-shrinkage-in-mixed-models/</a:t>
            </a:r>
          </a:p>
        </p:txBody>
      </p:sp>
    </p:spTree>
    <p:extLst>
      <p:ext uri="{BB962C8B-B14F-4D97-AF65-F5344CB8AC3E}">
        <p14:creationId xmlns:p14="http://schemas.microsoft.com/office/powerpoint/2010/main" val="1834817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DD5C5-B9D4-A17A-4566-00147D636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389E3C3D-1F04-6839-4C97-C0341BDB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Hierarchical Model: Multilevel Model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47CCF93-3DC8-D747-1023-3D1F840D92D0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21</a:t>
            </a:fld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3DFD1B9-56A4-5511-0053-B775AA8985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3" y="1584835"/>
            <a:ext cx="7501475" cy="385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85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F8697-78EC-47A2-16C4-2EA56140A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66F3D268-7BAF-E2F3-A428-32C176502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Example: Smoking Prevention and Cessation Study</a:t>
            </a:r>
            <a:endParaRPr lang="en-US" sz="28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65B060F7-2F24-5C53-E930-3BBBDB8B6014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22</a:t>
            </a:fld>
            <a:endParaRPr/>
          </a:p>
        </p:txBody>
      </p:sp>
      <p:pic>
        <p:nvPicPr>
          <p:cNvPr id="3" name="图片 2" descr="\documentclass{article}&#10;\usepackage{amsmath}&#10;\usepackage{bm}&#10;\pagestyle{empty}&#10;\begin{document}&#10;&#10;\begin{itemize}&#10;\item Two programs for discouraging young people from starting or continuing to smoke.&#10;\item 1,600 seventh-grade students from 135 classrooms in 28 Los Angeles schools.&#10;\item $2\times 2$ factorial design: school-based curriculum (cc) and television-based prevention program (tv).&#10;\item The schools were randomly assigned to four intervention conditions.&#10;\item Response: Tobacco and health knowledge scale score at the end of the study (thksord).&#10;\item Covariate: Tobacco and health knowledge scale score at the beginning of the study (thkspre).&#10;\end{itemize}&#10;&#10;&#10;\end{document}" title="IguanaTex Picture Display">
            <a:extLst>
              <a:ext uri="{FF2B5EF4-FFF2-40B4-BE49-F238E27FC236}">
                <a16:creationId xmlns:a16="http://schemas.microsoft.com/office/drawing/2014/main" id="{AA0AA46B-2D3C-B695-EB77-2694502588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448915"/>
            <a:ext cx="10042414" cy="476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02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19AF8-A54D-A0DC-223F-27A39BD63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9CF72563-D57A-F769-EEDB-F561470A8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Example: Smoking Prevention and Cessation Study</a:t>
            </a:r>
            <a:endParaRPr lang="en-US" sz="28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06CEF75-AA49-7CEE-6C30-C21AEB6C70B1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23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CE038F-73BE-7158-D549-2C0741585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384" y="1172520"/>
            <a:ext cx="4395677" cy="55248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4DEF75D-769B-A6E7-9261-F31159BFC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03" y="3867746"/>
            <a:ext cx="6055180" cy="22911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F7604FD-3C7B-E24E-DA64-9358A8C9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03" y="1804920"/>
            <a:ext cx="6055180" cy="143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998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E011D-8F26-586F-9E5B-3F1ADC2A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8EA43983-13D8-9268-79DC-72D491E9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Matrix Notation for LMMs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9151CB3C-C081-7D58-FE4D-5C514AFB2036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24</a:t>
            </a:fld>
            <a:endParaRPr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48D365F-24EB-C610-3D95-F0A4F88807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387126"/>
            <a:ext cx="6610811" cy="481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2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90014-C770-A1B3-7A5B-E757CBF0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D0E48F84-0341-FD2A-A800-C77814AC1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Matrix Notation for LMMs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66F180C-1B9C-34F5-209C-BC5BAC5E7394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25</a:t>
            </a:fld>
            <a:endParaRPr/>
          </a:p>
        </p:txBody>
      </p:sp>
      <p:pic>
        <p:nvPicPr>
          <p:cNvPr id="3" name="图片 2" descr="\documentclass{article}&#10;\usepackage{amsmath}&#10;\usepackage{bm}&#10;\pagestyle{empty}&#10;\begin{document}&#10;&#10;Letting $N=\sum_{i=1}^rn_i$.&#10;\begin{itemize}&#10;\item $\bm Y=(\bm Y_i^{\top},\ldots,\bm Y_r^{\top})^{\top}$: $N\times 1$ outcome vector&#10;\item $\bm X=(\bm X_i^{\top},\ldots,\bm X_r^{\top})^{\top}$: $N\times p$ design matrix for fixed effects&#10;\item $\bm Z=\text{diag}\{\bm Z_1,\ldots,\bm Z_r\}$: $N\times (qr)$ design matrix for random effects&#10;\item $\bm u=(\bm u_1^{\top},\ldots,\bm u_r^{\top})$: $(qr)\times 1$ random effect vector&#10;\item $\bm \varepsilon=(\bm \varepsilon_i^{\top},\ldots,\bm \varepsilon_r^{\top})^{\top}$: $N\times 1$ residual vector&#10;\item Model:&#10;$$&#10;\bm Y=\bm X\bm \beta+\bm Z\bm u+\bm \varepsilon,&#10;$$&#10;where $\bm u\sim \mathcal N(\bm 0,\bm \Sigma_{\bm u})$ and $\bm \varepsilon \sim \mathcal N(\bm 0, \bm \Sigma)$.&#10;\end{itemize}&#10;&#10;&#10;\end{document}" title="IguanaTex Picture Display">
            <a:extLst>
              <a:ext uri="{FF2B5EF4-FFF2-40B4-BE49-F238E27FC236}">
                <a16:creationId xmlns:a16="http://schemas.microsoft.com/office/drawing/2014/main" id="{9C8576E8-CB24-A2F0-8A62-63EAB41647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323183"/>
            <a:ext cx="8989150" cy="485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95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41B9A-5595-0CAC-EE5F-D875BE64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PlaceHolder 1">
                <a:extLst>
                  <a:ext uri="{FF2B5EF4-FFF2-40B4-BE49-F238E27FC236}">
                    <a16:creationId xmlns:a16="http://schemas.microsoft.com/office/drawing/2014/main" id="{7597FFB4-D36E-A497-B465-E9073A64916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46200" y="452880"/>
                <a:ext cx="9403920" cy="7196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/>
              <a:p>
                <a:pPr defTabSz="4572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altLang="zh-CN" sz="3600" dirty="0">
                    <a:solidFill>
                      <a:schemeClr val="dk2"/>
                    </a:solidFill>
                    <a:latin typeface="华文中宋"/>
                    <a:ea typeface="华文中宋"/>
                  </a:rPr>
                  <a:t>Estimation of 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solidFill>
                          <a:schemeClr val="dk2"/>
                        </a:solidFill>
                        <a:latin typeface="Cambria Math" panose="02040503050406030204" pitchFamily="18" charset="0"/>
                        <a:ea typeface="华文中宋"/>
                      </a:rPr>
                      <m:t>𝜷</m:t>
                    </m:r>
                  </m:oMath>
                </a14:m>
                <a:endParaRPr lang="en-US" sz="3600" b="1" u="none" strike="noStrike" dirty="0">
                  <a:solidFill>
                    <a:schemeClr val="dk1"/>
                  </a:solidFill>
                  <a:uFillTx/>
                  <a:latin typeface="Gill Sans MT"/>
                </a:endParaRPr>
              </a:p>
            </p:txBody>
          </p:sp>
        </mc:Choice>
        <mc:Fallback xmlns="">
          <p:sp>
            <p:nvSpPr>
              <p:cNvPr id="109" name="PlaceHolder 1">
                <a:extLst>
                  <a:ext uri="{FF2B5EF4-FFF2-40B4-BE49-F238E27FC236}">
                    <a16:creationId xmlns:a16="http://schemas.microsoft.com/office/drawing/2014/main" id="{7597FFB4-D36E-A497-B465-E9073A6491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46200" y="452880"/>
                <a:ext cx="9403920" cy="719640"/>
              </a:xfrm>
              <a:prstGeom prst="rect">
                <a:avLst/>
              </a:prstGeom>
              <a:blipFill>
                <a:blip r:embed="rId4"/>
                <a:stretch>
                  <a:fillRect l="-1887" t="-12069" b="-2241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79D88ED9-85DE-4CF0-9457-C793A69B9110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26</a:t>
            </a:fld>
            <a:endParaRPr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21471FF-5D68-E2F1-9C1B-788DA3E1DC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1" y="1172521"/>
            <a:ext cx="8627545" cy="524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43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CD5D3-A1EA-1CD0-48C7-F6C1F2AF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PlaceHolder 1">
                <a:extLst>
                  <a:ext uri="{FF2B5EF4-FFF2-40B4-BE49-F238E27FC236}">
                    <a16:creationId xmlns:a16="http://schemas.microsoft.com/office/drawing/2014/main" id="{E53DEE23-5209-8CE0-4A4F-629B61757D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46200" y="452880"/>
                <a:ext cx="9403920" cy="7196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/>
              <a:p>
                <a:pPr defTabSz="4572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3600" dirty="0">
                    <a:solidFill>
                      <a:schemeClr val="dk2"/>
                    </a:solidFill>
                    <a:latin typeface="华文中宋"/>
                    <a:ea typeface="华文中宋"/>
                  </a:rPr>
                  <a:t>Inference of </a:t>
                </a:r>
                <a14:m>
                  <m:oMath xmlns:m="http://schemas.openxmlformats.org/officeDocument/2006/math">
                    <m:r>
                      <a:rPr lang="en-US" altLang="zh-CN" sz="3600" b="1" i="1">
                        <a:solidFill>
                          <a:schemeClr val="dk2"/>
                        </a:solidFill>
                        <a:latin typeface="Cambria Math" panose="02040503050406030204" pitchFamily="18" charset="0"/>
                        <a:ea typeface="华文中宋"/>
                      </a:rPr>
                      <m:t>𝜷</m:t>
                    </m:r>
                  </m:oMath>
                </a14:m>
                <a:r>
                  <a:rPr lang="en-US" sz="3600" dirty="0">
                    <a:solidFill>
                      <a:schemeClr val="dk2"/>
                    </a:solidFill>
                    <a:latin typeface="华文中宋"/>
                    <a:ea typeface="华文中宋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𝐻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0</m:t>
                        </m:r>
                      </m:sub>
                    </m:sSub>
                    <m:r>
                      <a:rPr lang="en-US" sz="3600" b="0" i="1" smtClean="0">
                        <a:solidFill>
                          <a:schemeClr val="dk2"/>
                        </a:solidFill>
                        <a:latin typeface="Cambria Math" panose="02040503050406030204" pitchFamily="18" charset="0"/>
                        <a:ea typeface="华文中宋"/>
                      </a:rPr>
                      <m:t>:</m:t>
                    </m:r>
                    <m:r>
                      <a:rPr lang="en-US" sz="3600" b="0" i="1" smtClean="0">
                        <a:solidFill>
                          <a:schemeClr val="dk2"/>
                        </a:solidFill>
                        <a:latin typeface="Cambria Math" panose="02040503050406030204" pitchFamily="18" charset="0"/>
                        <a:ea typeface="华文中宋"/>
                      </a:rPr>
                      <m:t>𝐿</m:t>
                    </m:r>
                    <m:r>
                      <a:rPr lang="en-US" sz="3600" b="1" i="1" smtClean="0">
                        <a:solidFill>
                          <a:schemeClr val="dk2"/>
                        </a:solidFill>
                        <a:latin typeface="Cambria Math" panose="02040503050406030204" pitchFamily="18" charset="0"/>
                        <a:ea typeface="华文中宋"/>
                      </a:rPr>
                      <m:t>𝜷</m:t>
                    </m:r>
                    <m:r>
                      <a:rPr lang="en-US" sz="3600" b="0" i="1" smtClean="0">
                        <a:solidFill>
                          <a:schemeClr val="dk2"/>
                        </a:solidFill>
                        <a:latin typeface="Cambria Math" panose="02040503050406030204" pitchFamily="18" charset="0"/>
                        <a:ea typeface="华文中宋"/>
                      </a:rPr>
                      <m:t>=0</m:t>
                    </m:r>
                  </m:oMath>
                </a14:m>
                <a:endParaRPr lang="en-US" sz="3600" dirty="0">
                  <a:solidFill>
                    <a:schemeClr val="dk2"/>
                  </a:solidFill>
                  <a:latin typeface="华文中宋"/>
                  <a:ea typeface="华文中宋"/>
                </a:endParaRPr>
              </a:p>
            </p:txBody>
          </p:sp>
        </mc:Choice>
        <mc:Fallback xmlns="">
          <p:sp>
            <p:nvSpPr>
              <p:cNvPr id="109" name="PlaceHolder 1">
                <a:extLst>
                  <a:ext uri="{FF2B5EF4-FFF2-40B4-BE49-F238E27FC236}">
                    <a16:creationId xmlns:a16="http://schemas.microsoft.com/office/drawing/2014/main" id="{E53DEE23-5209-8CE0-4A4F-629B61757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46200" y="452880"/>
                <a:ext cx="9403920" cy="719640"/>
              </a:xfrm>
              <a:prstGeom prst="rect">
                <a:avLst/>
              </a:prstGeom>
              <a:blipFill>
                <a:blip r:embed="rId4"/>
                <a:stretch>
                  <a:fillRect l="-1887" t="-12069" b="-2241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65608ECC-F7A5-10E2-F342-CEEB5A534E57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27</a:t>
            </a:fld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8D32F1-8C4A-5913-0BA3-2BBD1DAA7B9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2" y="1703860"/>
            <a:ext cx="7615537" cy="28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70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0B86-D755-A96F-FFC0-D86D8688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6DF241AA-A8C8-A46A-83F3-890DE7E2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solidFill>
                  <a:schemeClr val="dk2"/>
                </a:solidFill>
                <a:latin typeface="华文中宋"/>
                <a:ea typeface="华文中宋"/>
              </a:rPr>
              <a:t>Recall the Results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FBD3B81-E644-FF92-9322-DB0B56B9D090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28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71F5515-5AEA-F295-431F-023ECF720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00" y="1120952"/>
            <a:ext cx="4433174" cy="573704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070FEC7-47ED-C0D7-E6D4-D3C902593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887" y="1120952"/>
            <a:ext cx="4384207" cy="573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30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D9B52-3C5D-7072-E26D-2B60B028F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PlaceHolder 1">
                <a:extLst>
                  <a:ext uri="{FF2B5EF4-FFF2-40B4-BE49-F238E27FC236}">
                    <a16:creationId xmlns:a16="http://schemas.microsoft.com/office/drawing/2014/main" id="{7C54733C-4FCB-B69D-2AA4-8E57DBF210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46200" y="452880"/>
                <a:ext cx="9403920" cy="7196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/>
              <a:p>
                <a:pPr defTabSz="4572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altLang="zh-CN" sz="3600" dirty="0">
                    <a:solidFill>
                      <a:schemeClr val="dk2"/>
                    </a:solidFill>
                    <a:latin typeface="华文中宋"/>
                    <a:ea typeface="华文中宋"/>
                  </a:rPr>
                  <a:t>Estimation of </a:t>
                </a:r>
                <a14:m>
                  <m:oMath xmlns:m="http://schemas.openxmlformats.org/officeDocument/2006/math">
                    <m:r>
                      <a:rPr lang="en-US" altLang="zh-CN" sz="3600" b="1" i="1" dirty="0" smtClean="0">
                        <a:solidFill>
                          <a:schemeClr val="dk2"/>
                        </a:solidFill>
                        <a:latin typeface="Cambria Math" panose="02040503050406030204" pitchFamily="18" charset="0"/>
                        <a:ea typeface="华文中宋"/>
                      </a:rPr>
                      <m:t>𝑽</m:t>
                    </m:r>
                  </m:oMath>
                </a14:m>
                <a:endParaRPr lang="en-US" sz="3600" b="1" u="none" strike="noStrike" dirty="0">
                  <a:solidFill>
                    <a:schemeClr val="dk1"/>
                  </a:solidFill>
                  <a:uFillTx/>
                  <a:latin typeface="Gill Sans MT"/>
                </a:endParaRPr>
              </a:p>
            </p:txBody>
          </p:sp>
        </mc:Choice>
        <mc:Fallback xmlns="">
          <p:sp>
            <p:nvSpPr>
              <p:cNvPr id="109" name="PlaceHolder 1">
                <a:extLst>
                  <a:ext uri="{FF2B5EF4-FFF2-40B4-BE49-F238E27FC236}">
                    <a16:creationId xmlns:a16="http://schemas.microsoft.com/office/drawing/2014/main" id="{7C54733C-4FCB-B69D-2AA4-8E57DBF21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46200" y="452880"/>
                <a:ext cx="9403920" cy="719640"/>
              </a:xfrm>
              <a:prstGeom prst="rect">
                <a:avLst/>
              </a:prstGeom>
              <a:blipFill>
                <a:blip r:embed="rId4"/>
                <a:stretch>
                  <a:fillRect l="-1887" t="-12069" b="-2241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C02DF566-188F-541A-7EA5-FB2F1CD74A62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29</a:t>
            </a:fld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655D907-BD73-F18D-E3A2-F53D7DC83A6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2" y="1172520"/>
            <a:ext cx="8918770" cy="462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05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5EC9F-6F02-82AE-AB07-BE8F3A6FF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PlaceHolder 1">
                <a:extLst>
                  <a:ext uri="{FF2B5EF4-FFF2-40B4-BE49-F238E27FC236}">
                    <a16:creationId xmlns:a16="http://schemas.microsoft.com/office/drawing/2014/main" id="{6E43236F-FC97-529F-CDD9-7DF614F203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46200" y="452880"/>
                <a:ext cx="9403920" cy="7196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/>
              <a:p>
                <a:pPr defTabSz="4572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altLang="zh-CN" sz="3600" dirty="0">
                    <a:solidFill>
                      <a:schemeClr val="dk2"/>
                    </a:solidFill>
                    <a:latin typeface="华文中宋"/>
                    <a:ea typeface="华文中宋"/>
                  </a:rPr>
                  <a:t>Disadvantages of ML estimation of </a:t>
                </a:r>
                <a14:m>
                  <m:oMath xmlns:m="http://schemas.openxmlformats.org/officeDocument/2006/math">
                    <m:r>
                      <a:rPr lang="en-US" altLang="zh-CN" sz="3600" b="1" i="1" dirty="0" smtClean="0">
                        <a:solidFill>
                          <a:schemeClr val="dk2"/>
                        </a:solidFill>
                        <a:latin typeface="Cambria Math" panose="02040503050406030204" pitchFamily="18" charset="0"/>
                        <a:ea typeface="华文中宋"/>
                      </a:rPr>
                      <m:t>𝑽</m:t>
                    </m:r>
                  </m:oMath>
                </a14:m>
                <a:endParaRPr lang="en-US" sz="3600" b="1" u="none" strike="noStrike" dirty="0">
                  <a:solidFill>
                    <a:schemeClr val="dk1"/>
                  </a:solidFill>
                  <a:uFillTx/>
                  <a:latin typeface="Gill Sans MT"/>
                </a:endParaRPr>
              </a:p>
            </p:txBody>
          </p:sp>
        </mc:Choice>
        <mc:Fallback xmlns="">
          <p:sp>
            <p:nvSpPr>
              <p:cNvPr id="109" name="PlaceHolder 1">
                <a:extLst>
                  <a:ext uri="{FF2B5EF4-FFF2-40B4-BE49-F238E27FC236}">
                    <a16:creationId xmlns:a16="http://schemas.microsoft.com/office/drawing/2014/main" id="{6E43236F-FC97-529F-CDD9-7DF614F203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46200" y="452880"/>
                <a:ext cx="9403920" cy="719640"/>
              </a:xfrm>
              <a:prstGeom prst="rect">
                <a:avLst/>
              </a:prstGeom>
              <a:blipFill>
                <a:blip r:embed="rId4"/>
                <a:stretch>
                  <a:fillRect l="-1887" t="-12069" b="-2241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D5732815-F186-23E7-47C8-D2AC9ADC58D8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30</a:t>
            </a:fld>
            <a:endParaRPr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04A388F-220A-2A3A-8D3E-942CC46A8CC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354022"/>
            <a:ext cx="9979314" cy="451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15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4664C-E97F-EBC7-6E66-1EDAF70F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3497A1C9-7E3B-8971-2025-D6EF4570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Restrictive ML (REML) in Linear Regression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8920DD9-5206-E98C-1770-695DB035078D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31</a:t>
            </a:fld>
            <a:endParaRPr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A5E7178-07B9-8C37-5B9E-E3794A8E8B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506154"/>
            <a:ext cx="9641978" cy="445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992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6067-46EF-2526-2808-D0340D855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41490B9B-BF1E-E42F-2C85-C449959C3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Restrictive ML (REML) in Linear Regression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C33E880-E57A-E861-E658-9614A1CF93BD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32</a:t>
            </a:fld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956A89-4B40-92E7-088F-8270A3C723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1" y="1506154"/>
            <a:ext cx="7428668" cy="364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148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4F8E1-26DA-6BAF-A1BC-4023BE771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5ECEA252-E4AC-5475-7E64-451770EB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REML in LMM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8C11B45-1A98-A47E-34FB-5680609EE94C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33</a:t>
            </a:fld>
            <a:endParaRPr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122F0F5-234B-F733-28C7-63F5FD827A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09" y="1819983"/>
            <a:ext cx="11231582" cy="397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673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636A8-ABCB-56DF-3426-7A9015809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0E756BAC-A2E1-0BD6-A9B3-9D7D9E89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Comparing REML and ML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CD0B4FD-5CC9-CA79-A965-684BF41ED98A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34</a:t>
            </a:fld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770FBEB-85E8-DBB2-E153-FBE39E8AA91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10" y="1819982"/>
            <a:ext cx="10641851" cy="374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29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BEB11-65E8-93CB-0E8B-0D2C49893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PlaceHolder 1">
                <a:extLst>
                  <a:ext uri="{FF2B5EF4-FFF2-40B4-BE49-F238E27FC236}">
                    <a16:creationId xmlns:a16="http://schemas.microsoft.com/office/drawing/2014/main" id="{5084AD36-9793-2828-7E89-F85B15D04E1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46200" y="452880"/>
                <a:ext cx="9869400" cy="7196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/>
              <a:p>
                <a:pPr defTabSz="4572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altLang="zh-CN" sz="3600" dirty="0">
                    <a:solidFill>
                      <a:schemeClr val="dk2"/>
                    </a:solidFill>
                    <a:latin typeface="华文中宋"/>
                    <a:ea typeface="华文中宋"/>
                  </a:rPr>
                  <a:t>Estimation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sz="3600" b="1" i="1" smtClean="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𝒖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3600" dirty="0">
                    <a:solidFill>
                      <a:schemeClr val="dk2"/>
                    </a:solidFill>
                    <a:latin typeface="华文中宋"/>
                    <a:ea typeface="华文中宋"/>
                  </a:rPr>
                  <a:t>: BLUP</a:t>
                </a:r>
                <a:endParaRPr lang="en-US" sz="3600" b="1" u="none" strike="noStrike" dirty="0">
                  <a:solidFill>
                    <a:schemeClr val="dk1"/>
                  </a:solidFill>
                  <a:uFillTx/>
                  <a:latin typeface="Gill Sans MT"/>
                </a:endParaRPr>
              </a:p>
            </p:txBody>
          </p:sp>
        </mc:Choice>
        <mc:Fallback xmlns="">
          <p:sp>
            <p:nvSpPr>
              <p:cNvPr id="109" name="PlaceHolder 1">
                <a:extLst>
                  <a:ext uri="{FF2B5EF4-FFF2-40B4-BE49-F238E27FC236}">
                    <a16:creationId xmlns:a16="http://schemas.microsoft.com/office/drawing/2014/main" id="{5084AD36-9793-2828-7E89-F85B15D04E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46200" y="452880"/>
                <a:ext cx="9869400" cy="719640"/>
              </a:xfrm>
              <a:prstGeom prst="rect">
                <a:avLst/>
              </a:prstGeom>
              <a:blipFill>
                <a:blip r:embed="rId4"/>
                <a:stretch>
                  <a:fillRect l="-1797" t="-12069" b="-2241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0653593A-B107-E6EC-7B08-D922CD900F53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35</a:t>
            </a:fld>
            <a:endParaRPr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811B1E4-4EB5-1C70-4DCA-7D839A48DD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3" y="1172524"/>
            <a:ext cx="9938058" cy="493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31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B570E8-D1EF-9DA7-5F5B-BC397919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81232EEC-D97F-38EB-7044-771E30C42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Example: Reaction Time in Sleep Study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F621584-5CAE-645E-5111-691E83DF468C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36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4E76B24-5530-FCD9-28E5-FF0EF07A7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484" y="1041400"/>
            <a:ext cx="2095500" cy="58039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9A85451-DBB8-E1FA-DC26-FC7196C62F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54"/>
          <a:stretch>
            <a:fillRect/>
          </a:stretch>
        </p:blipFill>
        <p:spPr>
          <a:xfrm>
            <a:off x="7005234" y="1041400"/>
            <a:ext cx="3347286" cy="58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25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5B9AE0-2F4D-B96C-ADCF-2660A1645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13E90EED-3ABE-61D7-C2C3-7B7B61D2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BLUP</a:t>
            </a:r>
            <a:r>
              <a:rPr lang="zh-CN" altLang="en-US" sz="3600" dirty="0">
                <a:solidFill>
                  <a:schemeClr val="dk2"/>
                </a:solidFill>
                <a:latin typeface="华文中宋"/>
                <a:ea typeface="华文中宋"/>
              </a:rPr>
              <a:t> </a:t>
            </a: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and BLUE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DF06B5E-980A-9E37-2CB2-5098AF15783C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37</a:t>
            </a:fld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52D8F1-F675-DC28-7EB8-F319537F92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1" y="2762822"/>
            <a:ext cx="9392011" cy="154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92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7B74-AFB0-08A1-AF06-B6C02388A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56F88207-1309-2322-B771-05B5B7AB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Generalized Linear Mixed Models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ADE38C7-387D-E03F-165A-3B4E7D08CA4A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38</a:t>
            </a:fld>
            <a:endParaRPr/>
          </a:p>
        </p:txBody>
      </p:sp>
      <p:pic>
        <p:nvPicPr>
          <p:cNvPr id="3" name="图片 2" descr="\documentclass{article}&#10;\usepackage{amsmath}&#10;\usepackage{bm,amssymb}&#10;\pagestyle{empty}&#10;\begin{document}&#10;&#10;\begin{itemize}&#10;\item Model:&#10;$$&#10;\bm Y=\bm X\bm \beta+\bm Z\bm u+\bm \varepsilon,&#10;$$&#10;where $\bm u\sim \mathcal N(\bm 0,\bm \Sigma_{\bm u})$ and $\bm \varepsilon \sim \mathcal N(\bm 0, \bm \Sigma)$.&#10;\item Generalized linear mixed models (GLMM):&#10;\begin{align*}&#10;g\{\mathbb E(\bm Y_i\mid \bm u)\}=\bm X_i\bm \beta+\bm Z_i\bm u_i.&#10;\end{align*}&#10;\item $g(\cdot)$ is the link function. Common link functions:&#10;\begin{itemize}&#10;\item Normal distribution: $g(\mu)=\mu$.&#10;\item Binomial distribution: $g(\mu)=\log\{\mu/(1-\mu)\}$.&#10;\item Poisson distribution: $g(\mu)=\log(\mu)$.&#10;\end{itemize}&#10;\end{itemize}&#10;&#10;&#10;\end{document}" title="IguanaTex Picture Display">
            <a:extLst>
              <a:ext uri="{FF2B5EF4-FFF2-40B4-BE49-F238E27FC236}">
                <a16:creationId xmlns:a16="http://schemas.microsoft.com/office/drawing/2014/main" id="{0283166E-58C0-D51A-053C-A6BDFDA1F70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329840"/>
            <a:ext cx="6999110" cy="481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7882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16DB-9944-B79B-7FE1-D7A0C553F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2C457E5A-2C49-6FB1-7924-A71865270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Why GLMM?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819BF7B6-D8E1-6216-5345-B7CB4B2261F7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39</a:t>
            </a:fld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68AFB2-2CC9-0B92-A5D8-E48AB71B3BB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2378163"/>
            <a:ext cx="8350880" cy="210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117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94EAD-CEBE-5912-7425-228D1251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E9949551-AF2B-CAE4-66C8-07FCF147B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Example: CBPP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D69B815-2E1C-ED5B-EBFF-8C37698B50DB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40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laceHolder 2">
                <a:extLst>
                  <a:ext uri="{FF2B5EF4-FFF2-40B4-BE49-F238E27FC236}">
                    <a16:creationId xmlns:a16="http://schemas.microsoft.com/office/drawing/2014/main" id="{5A833F7D-2E86-0134-A97B-DE7340D8ED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200" y="1447919"/>
                <a:ext cx="6446577" cy="521237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lme4::</a:t>
                </a:r>
                <a:r>
                  <a:rPr lang="en" altLang="zh-CN" sz="2400" dirty="0" err="1">
                    <a:solidFill>
                      <a:schemeClr val="dk1"/>
                    </a:solidFill>
                    <a:latin typeface="华文中宋"/>
                    <a:ea typeface="华文中宋"/>
                  </a:rPr>
                  <a:t>cbpp</a:t>
                </a:r>
                <a:r>
                  <a:rPr lang="en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in R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Contagious bovine pleuropneumonia (CBPP) </a:t>
                </a:r>
                <a:r>
                  <a:rPr lang="zh-CN" altLang="en-US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（牛传染性胸膜肺炎）</a:t>
                </a:r>
                <a:endParaRPr lang="en-US" altLang="zh-CN" sz="24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15 commercial herds in the Boji district of Ethiopia in Africa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24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Cluster: Herd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Period: 1–4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Incidence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𝑌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: Number of positive cases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: Total number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𝑌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∼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Bernoulli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华文中宋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华文中宋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华文中宋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</p:txBody>
          </p:sp>
        </mc:Choice>
        <mc:Fallback xmlns="">
          <p:sp>
            <p:nvSpPr>
              <p:cNvPr id="2" name="PlaceHolder 2">
                <a:extLst>
                  <a:ext uri="{FF2B5EF4-FFF2-40B4-BE49-F238E27FC236}">
                    <a16:creationId xmlns:a16="http://schemas.microsoft.com/office/drawing/2014/main" id="{5A833F7D-2E86-0134-A97B-DE7340D8E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00" y="1447919"/>
                <a:ext cx="6446577" cy="5212373"/>
              </a:xfrm>
              <a:prstGeom prst="rect">
                <a:avLst/>
              </a:prstGeom>
              <a:blipFill>
                <a:blip r:embed="rId3"/>
                <a:stretch>
                  <a:fillRect l="-589" t="-1217" r="-137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CB114A3D-411B-742D-0C3B-ECB4B01BA7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242"/>
          <a:stretch>
            <a:fillRect/>
          </a:stretch>
        </p:blipFill>
        <p:spPr>
          <a:xfrm>
            <a:off x="7599877" y="1172520"/>
            <a:ext cx="3590003" cy="563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CCF79-6A7B-28C1-75B6-6FCADEFB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0AEA3220-7B18-11E8-F392-3CE24223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Binary Data and Count Data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416EBC2-58A1-278F-6DD8-295EBA79C426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41</a:t>
            </a:fld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7F49932-0F17-27BC-2174-C4EFB82BE54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2055389"/>
            <a:ext cx="8969733" cy="274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419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7F8A4-D8FE-1C38-8637-FBFA397A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006B1D8C-4EB7-CFA3-E179-6C6DCB6F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Logistic Mixed Model for CBPP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6C1D74D9-0C34-FFDC-16E5-EEB17C7587BB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42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00BE48-BBE2-C90C-D3C3-E4B50CF09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84" y="1172520"/>
            <a:ext cx="3865396" cy="56854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52A7223-9FDB-EB51-D495-E035DE531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49960"/>
            <a:ext cx="73279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83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CEF9-35A5-C43A-A4D6-2E452DE2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81E889DA-7C6C-2DB3-FA74-1ABB12A9F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Example: Seizure Counts for Epileptics</a:t>
            </a:r>
            <a:b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</a:b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1F58340-0E56-EE64-B767-921CE3B6F0BA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43</a:t>
            </a:fld>
            <a:endParaRPr/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CA89F5B4-AE01-14C6-44BB-E51352D9D3A6}"/>
              </a:ext>
            </a:extLst>
          </p:cNvPr>
          <p:cNvSpPr txBox="1">
            <a:spLocks/>
          </p:cNvSpPr>
          <p:nvPr/>
        </p:nvSpPr>
        <p:spPr>
          <a:xfrm>
            <a:off x="646200" y="1447919"/>
            <a:ext cx="7089130" cy="521237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MASS::</a:t>
            </a:r>
            <a:r>
              <a:rPr lang="en" altLang="zh-CN" sz="2400" dirty="0" err="1">
                <a:solidFill>
                  <a:schemeClr val="dk1"/>
                </a:solidFill>
                <a:latin typeface="华文中宋"/>
                <a:ea typeface="华文中宋"/>
              </a:rPr>
              <a:t>epil</a:t>
            </a:r>
            <a:r>
              <a:rPr lang="en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 in R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Seizure Counts for Epileptics</a:t>
            </a:r>
            <a:r>
              <a:rPr lang="zh-CN" altLang="en-US" sz="2400" dirty="0">
                <a:solidFill>
                  <a:schemeClr val="dk1"/>
                </a:solidFill>
                <a:latin typeface="华文中宋"/>
                <a:ea typeface="华文中宋"/>
              </a:rPr>
              <a:t>（癫痫发作次数）</a:t>
            </a:r>
            <a:endParaRPr lang="en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59</a:t>
            </a:r>
            <a:r>
              <a:rPr lang="zh-CN" altLang="en-US" sz="2400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patients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y: the count for the 2-week period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 err="1">
                <a:solidFill>
                  <a:schemeClr val="dk1"/>
                </a:solidFill>
                <a:latin typeface="华文中宋"/>
                <a:ea typeface="华文中宋"/>
              </a:rPr>
              <a:t>trt</a:t>
            </a: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: treatment/control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base: the counts in the baseline 8-week period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age: subject’s age, in years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V4: 0/1 indicator variable of period 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A36F67-8DBE-8EFF-7AFD-8897DDB39B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767"/>
          <a:stretch>
            <a:fillRect/>
          </a:stretch>
        </p:blipFill>
        <p:spPr>
          <a:xfrm>
            <a:off x="7932253" y="1172520"/>
            <a:ext cx="2743985" cy="568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404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66189-6476-5D02-97D5-B4BED41FD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74D8F856-52BA-03AC-D67B-30B85B9B9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Poisson Mixed Model for </a:t>
            </a:r>
            <a:r>
              <a:rPr lang="en-US" altLang="zh-CN" sz="3600" dirty="0" err="1">
                <a:solidFill>
                  <a:schemeClr val="dk2"/>
                </a:solidFill>
                <a:latin typeface="华文中宋"/>
                <a:ea typeface="华文中宋"/>
              </a:rPr>
              <a:t>epil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3371A39-3FAF-4D41-02DE-C511E5526E16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44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7553FD3-BE8E-13EC-86A0-2B2B950CF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93950"/>
            <a:ext cx="6845300" cy="20701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B956E8E-0F0E-88BF-2902-39FAB4717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983" y="1062360"/>
            <a:ext cx="3150537" cy="579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06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1E396-C8C6-D3F5-0E53-81C8FF84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6943176D-94BD-D0D4-B6E7-AD424E4AE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Introduction to Missing Data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E6847E2-7178-7196-FC8D-7968B93C63BF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45</a:t>
            </a:fld>
            <a:endParaRPr/>
          </a:p>
        </p:txBody>
      </p:sp>
      <p:pic>
        <p:nvPicPr>
          <p:cNvPr id="22" name="图片 21" descr="\documentclass{article}&#10;\usepackage{amsmath}&#10;\usepackage{bm}&#10;\pagestyle{empty}&#10;\usepackage{pifont}&#10;\usepackage{booktabs}&#10;\begin{document}&#10;&#10;\begin{minipage}{0.45\textwidth}&#10;\textbf{Intermittent missingness}&#10;&#10;\textbf{(Arbitrary)}&#10;&#10;Subjects have missing values in the middle of a study, e.g., miss an appointment, but come back later in the study.&#10;&#10;\centering&#10;\begin{tabular}{cccc}&#10;\toprule&#10;Unit &amp; $Y_1$ &amp; $Y_2$ &amp; $Y_3$\\&#10;\midrule&#10;1 &amp; \ding{51} &amp; \ding{51} &amp; \ding{51}\\&#10;2 &amp; \ding{51} &amp; \ding{51} &amp; \ding{55}\\&#10;3 &amp; \ding{51} &amp; \ding{55} &amp; \ding{51}\\&#10;4 &amp; \ding{51} &amp; \ding{55} &amp; \ding{55}\\&#10;5 &amp; \ding{55} &amp; \ding{51} &amp; \ding{51}\\&#10;6 &amp; \ding{55} &amp; \ding{51} &amp; \ding{55}\\&#10;\bottomrule&#10;\end{tabular}&#10;&#10;\end{minipage}&#10;\hfill&#10;\begin{minipage}{0.45\textwidth}&#10;\textbf{Dropout}&#10;&#10;\textbf{(Monotone)}&#10;&#10;Subjects stop participating in the study during the followup period and never come back. If $Y_j$ is missing, then so are $Y_{j+1},\ldots,Y_n$.&#10;&#10;\centering&#10;\begin{tabular}{cccc}&#10;\toprule&#10;Unit &amp; $Y_1$ &amp; $Y_2$ &amp; $Y_3$\\&#10;\midrule&#10;1 &amp; \ding{51} &amp; \ding{51} &amp; \ding{51}\\&#10;2 &amp; \ding{51} &amp; \ding{51} &amp; \ding{51}\\&#10;3 &amp; \ding{51} &amp; \ding{51} &amp; \ding{55}\\&#10;4 &amp; \ding{51} &amp; \ding{51} &amp; \ding{55}\\&#10;5 &amp; \ding{51} &amp; \ding{55} &amp; \ding{55}\\&#10;6 &amp; \ding{51} &amp; \ding{55} &amp; \ding{55}\\&#10;\bottomrule&#10;\end{tabular}&#10;\end{minipage}&#10;&#10;&#10;\end{document}" title="IguanaTex Picture Display">
            <a:extLst>
              <a:ext uri="{FF2B5EF4-FFF2-40B4-BE49-F238E27FC236}">
                <a16:creationId xmlns:a16="http://schemas.microsoft.com/office/drawing/2014/main" id="{3D3C6D1A-26A1-3B40-8BC2-02F06A5EFC1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773" y="1329839"/>
            <a:ext cx="8337297" cy="419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359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3EB1-5806-CCDC-C0C1-C908D1D2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BCA8C0AB-BDE7-B3C1-663E-159683CC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Analysis of Missing Data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8BF57BA2-58E9-E694-2455-770A80998C02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46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laceHolder 2">
                <a:extLst>
                  <a:ext uri="{FF2B5EF4-FFF2-40B4-BE49-F238E27FC236}">
                    <a16:creationId xmlns:a16="http://schemas.microsoft.com/office/drawing/2014/main" id="{F38C4518-6962-9F54-D762-9FE7BEFE5D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200" y="1447919"/>
                <a:ext cx="10326600" cy="521237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Missing data may cause biased estimates if handled incorrectly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24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The presence of bias and the degree of bias depend on the nature of the missing data process and the analysis methods.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24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Analysis of missing data in longitudinal studies requires specification of the missing data mechanism and often requires joint modeling of the outcome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𝑌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and the missing data indicator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𝑅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.</a:t>
                </a:r>
              </a:p>
            </p:txBody>
          </p:sp>
        </mc:Choice>
        <mc:Fallback xmlns="">
          <p:sp>
            <p:nvSpPr>
              <p:cNvPr id="2" name="PlaceHolder 2">
                <a:extLst>
                  <a:ext uri="{FF2B5EF4-FFF2-40B4-BE49-F238E27FC236}">
                    <a16:creationId xmlns:a16="http://schemas.microsoft.com/office/drawing/2014/main" id="{F38C4518-6962-9F54-D762-9FE7BEFE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00" y="1447919"/>
                <a:ext cx="10326600" cy="5212373"/>
              </a:xfrm>
              <a:prstGeom prst="rect">
                <a:avLst/>
              </a:prstGeom>
              <a:blipFill>
                <a:blip r:embed="rId3"/>
                <a:stretch>
                  <a:fillRect l="-368" t="-1217" r="-110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43546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6BD6C-E98E-FCD9-3798-AD0A98532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E4FF0616-D21A-E863-24D6-CF54E664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Example: Hedeker and Gibbons (1997)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1E4DFF5-642C-AAE2-4236-C16A3DAB4028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47</a:t>
            </a:fld>
            <a:endParaRPr/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C0955E39-8FFF-F52D-E775-13AF09048AB1}"/>
              </a:ext>
            </a:extLst>
          </p:cNvPr>
          <p:cNvSpPr txBox="1">
            <a:spLocks/>
          </p:cNvSpPr>
          <p:nvPr/>
        </p:nvSpPr>
        <p:spPr>
          <a:xfrm>
            <a:off x="646200" y="1447919"/>
            <a:ext cx="10326600" cy="521237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Randomized psychiatric trial.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312 patients received drug therapies for schizophrenia; 101 patients received a placebo.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Measurements at week 0, 1, 3, 6.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Missing data primarily due to dropout.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Outcome: severity of illness (1=normal, …, 7=extremely ill); treated as continuous.</a:t>
            </a:r>
          </a:p>
        </p:txBody>
      </p:sp>
    </p:spTree>
    <p:extLst>
      <p:ext uri="{BB962C8B-B14F-4D97-AF65-F5344CB8AC3E}">
        <p14:creationId xmlns:p14="http://schemas.microsoft.com/office/powerpoint/2010/main" val="28001118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0EFB6-331B-46F4-2B2E-F1A74437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445FD1DF-3542-0496-263D-FB6F62051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Example: Hedeker and Gibbons (1997)</a:t>
            </a:r>
            <a:endParaRPr lang="en-US" sz="3600" b="1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32F2316-FD8C-F0BD-0E29-069B6C62BADB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48</a:t>
            </a:fld>
            <a:endParaRPr/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5853D17D-521A-B948-610B-E37533B5F7E7}"/>
              </a:ext>
            </a:extLst>
          </p:cNvPr>
          <p:cNvSpPr txBox="1">
            <a:spLocks/>
          </p:cNvSpPr>
          <p:nvPr/>
        </p:nvSpPr>
        <p:spPr>
          <a:xfrm>
            <a:off x="646200" y="1447919"/>
            <a:ext cx="10326600" cy="521237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Note: the drug group combines three treatments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Dropout rates: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Placebo: 35%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Drug: 20%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28D5DA-5754-53C6-68D4-9861EEBB1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1250897"/>
            <a:ext cx="72009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16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3C20E-2EC5-F0B0-57A5-1087558AB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29C537EA-8D0B-6F8E-AB37-B8CA6E0B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360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Missing Data Mechanisms</a:t>
            </a:r>
            <a:endParaRPr lang="en-US" sz="360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449519A-16B4-BA92-CCC4-1332FCDE0B91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49</a:t>
            </a:fld>
            <a:endParaRPr/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E4A5870F-50FA-76D2-1DE8-4F9FF58FDCEF}"/>
              </a:ext>
            </a:extLst>
          </p:cNvPr>
          <p:cNvSpPr txBox="1">
            <a:spLocks/>
          </p:cNvSpPr>
          <p:nvPr/>
        </p:nvSpPr>
        <p:spPr>
          <a:xfrm>
            <a:off x="646200" y="1447919"/>
            <a:ext cx="10326600" cy="521237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Missing Mechanisms (Little and Rubin, 2002)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Missing Completely at Random (MCAR): Missingness does not depend on outcomes and covariates.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Missing at Random (MAR): Missingness only depends on observed outcomes and covariates.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Nonignorable</a:t>
            </a:r>
            <a:r>
              <a:rPr lang="en-US" altLang="zh-CN" sz="2000">
                <a:solidFill>
                  <a:schemeClr val="dk1"/>
                </a:solidFill>
                <a:latin typeface="华文中宋"/>
                <a:ea typeface="华文中宋"/>
              </a:rPr>
              <a:t>/Informative/Not </a:t>
            </a: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Missing at Random (NMAR): Missingness depends on unobserved outcomes or unobserved covariates.</a:t>
            </a:r>
          </a:p>
        </p:txBody>
      </p:sp>
    </p:spTree>
    <p:extLst>
      <p:ext uri="{BB962C8B-B14F-4D97-AF65-F5344CB8AC3E}">
        <p14:creationId xmlns:p14="http://schemas.microsoft.com/office/powerpoint/2010/main" val="6951971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48D4A-1FDA-BB55-BE9C-6D9F4936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0CF57CCF-E08B-6E26-28B7-86598757D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360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Missing Data Mechanisms</a:t>
            </a:r>
            <a:endParaRPr lang="en-US" sz="360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E4154F9-79C8-E83F-114A-C2B034F080BC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50</a:t>
            </a:fld>
            <a:endParaRPr/>
          </a:p>
        </p:txBody>
      </p:sp>
      <p:pic>
        <p:nvPicPr>
          <p:cNvPr id="11" name="图片 10" descr="\documentclass{article}&#10;\usepackage{amsmath}&#10;\usepackage{bm}&#10;\pagestyle{empty}&#10;\begin{document}&#10;&#10;\begin{itemize}&#10;\item $Y_{\text{obs}}$: Measurements observed.&#10;\item $Y_{\text{mis}}$: Measurements that should be available but are missing.&#10;\item $Y=(Y_{\text{obs}},Y_{\text{mis}})$: Hypothetical complete data.&#10;\item $R$: Indicator of whether $Y$ is observed or not, or the time when $Y$ is missing.&#10;\item Assume the covariates $X$ are fully observed.&#10;\item Na\&quot;{\i}ve approach: only use complete cases in the model.&#10;\begin{itemize}&#10;\item Advantage: easy;&#10;\item Disadvantage: waste data; bias unless MCAR.&#10;\end{itemize}&#10;\end{itemize}&#10;&#10;&#10;\end{document}" title="IguanaTex Picture Display">
            <a:extLst>
              <a:ext uri="{FF2B5EF4-FFF2-40B4-BE49-F238E27FC236}">
                <a16:creationId xmlns:a16="http://schemas.microsoft.com/office/drawing/2014/main" id="{FE4C7048-F768-9615-186D-49E4FD7B3EE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792123"/>
            <a:ext cx="8327136" cy="397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733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105A2-70C7-0FA6-11DB-B08D4FD9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F2BD26B1-121B-9CB2-51F4-0466B2AB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360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Likelihood-Based Mixed Models</a:t>
            </a:r>
            <a:endParaRPr lang="en-US" sz="360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87B3B63-16C5-D309-C6FB-A7D17ACA3366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51</a:t>
            </a:fld>
            <a:endParaRPr/>
          </a:p>
        </p:txBody>
      </p:sp>
      <p:pic>
        <p:nvPicPr>
          <p:cNvPr id="9" name="图片 8" descr="\documentclass{article}&#10;\usepackage{amsmath}&#10;\usepackage{bm}&#10;\pagestyle{empty}&#10;\begin{document}&#10;&#10;Notation:&#10;\begin{itemize}&#10;\item $Y_{\text{obs}}$: Measurements observed.&#10;\item $Y_{\text{mis}}$: Measurements that should be available but are missing.&#10;\item $Y=(Y_{\text{obs}},Y_{\text{mis}})$: Hypothetical complete data.&#10;\item $R$: Dropout time.&#10;\item Assume the covariates $X$ are fully observed.&#10;\end{itemize}&#10;&#10;Data structure (monotone missingness):&#10;&#10;\end{document}" title="IguanaTex Picture Display">
            <a:extLst>
              <a:ext uri="{FF2B5EF4-FFF2-40B4-BE49-F238E27FC236}">
                <a16:creationId xmlns:a16="http://schemas.microsoft.com/office/drawing/2014/main" id="{8A234F8C-80BC-243F-E4C6-4C7EB5E874C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172520"/>
            <a:ext cx="7038848" cy="32715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6F38F5-6661-0609-AAAC-A3680ED62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450" y="4583035"/>
            <a:ext cx="47371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37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3022F-11FD-EEC3-AB93-9AFC71EED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DE4C972D-0FB1-56B3-818A-3C410E97C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86940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360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Likelihood-Based Mixed Models</a:t>
            </a:r>
            <a:endParaRPr lang="en-US" sz="360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D072CFA-4797-EF92-2444-0FBAD21DF01F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52</a:t>
            </a:fld>
            <a:endParaRPr/>
          </a:p>
        </p:txBody>
      </p:sp>
      <p:pic>
        <p:nvPicPr>
          <p:cNvPr id="18" name="图片 17" descr="\documentclass{article}&#10;\usepackage{amsmath}&#10;\usepackage{bm}&#10;\pagestyle{empty}&#10;\begin{document}&#10;&#10;\begin{itemize}&#10;\item Joint distribution:&#10;$$&#10;f(\bm Y,\bm R;\theta,\gamma)=f(\bm Y;\theta)f(\bm R\mid \bm Y;\gamma).&#10;$$&#10;\item MAR (or MCAR):&#10;$$&#10;f(\bm R\mid\bm Y^{\text{obs}},\bm Y^{\text{mis}};\gamma)=f(\bm R\mid \bm Y^{\text{obs}};\gamma).&#10;$$&#10;\item Observed data likelihood:&#10;\begin{align*}&#10;L(\theta,\gamma;\bm Y^{\text{obs}},\bm R)&amp;=\int f(\bm Y^{\text{obs}},\bm Y^{\text{mis}};\theta)f(\bm R\mid \bm Y^{\text{obs}},\bm Y^{\text{mis}};\gamma)\mathrm d\bm Y^{\text{mis}}\\&#10;&amp;=f(\bm R\mid \bm Y^{\text{obs}};\gamma)\int f(\bm Y^{\text{obs}},\bm Y^{\text{mis}};\theta)\mathrm d\bm Y^{\text{mis}}\\&#10;&amp;=f(\bm R\mid \bm Y^{\text{obs}};\gamma)f(\bm Y^{\text{obs}};\theta).&#10;\end{align*}&#10;\item If $\theta$ and $\gamma$ are distinct, likelihood-based inference using only the \textbf{observed data} is valid under \text{MAR and MCAR}, i.e., missingness is ignorable.&#10;&#10;\end{itemize}&#10;&#10;\end{document}" title="IguanaTex Picture Display">
            <a:extLst>
              <a:ext uri="{FF2B5EF4-FFF2-40B4-BE49-F238E27FC236}">
                <a16:creationId xmlns:a16="http://schemas.microsoft.com/office/drawing/2014/main" id="{82BE4AD1-B042-65E2-0F1F-874AE91F7B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062360"/>
            <a:ext cx="8325105" cy="54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558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6E87A-F8D0-B753-764C-F1803BEAB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2FD568EF-1DC4-5262-8E18-518978A3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200" y="452880"/>
            <a:ext cx="940392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Summary</a:t>
            </a:r>
            <a:endParaRPr lang="en-US" sz="3600" b="0" u="none" strike="noStrike" dirty="0">
              <a:solidFill>
                <a:schemeClr val="dk1"/>
              </a:solidFill>
              <a:uFillTx/>
              <a:latin typeface="Gill Sans MT"/>
            </a:endParaRPr>
          </a:p>
        </p:txBody>
      </p:sp>
      <p:sp>
        <p:nvSpPr>
          <p:cNvPr id="110" name="PlaceHolder 2">
            <a:extLst>
              <a:ext uri="{FF2B5EF4-FFF2-40B4-BE49-F238E27FC236}">
                <a16:creationId xmlns:a16="http://schemas.microsoft.com/office/drawing/2014/main" id="{769E3C29-6D8D-9989-1370-F411A5F0B04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46200" y="1447920"/>
            <a:ext cx="10281630" cy="512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Definition and features of longitudinal data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Linear mixed models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600" dirty="0">
                <a:solidFill>
                  <a:schemeClr val="dk1"/>
                </a:solidFill>
                <a:latin typeface="华文中宋"/>
                <a:ea typeface="华文中宋"/>
              </a:rPr>
              <a:t>Random intercept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600" dirty="0">
                <a:solidFill>
                  <a:schemeClr val="dk1"/>
                </a:solidFill>
                <a:latin typeface="华文中宋"/>
                <a:ea typeface="华文中宋"/>
              </a:rPr>
              <a:t>Random intercept and random slope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600" dirty="0">
                <a:solidFill>
                  <a:schemeClr val="dk1"/>
                </a:solidFill>
                <a:latin typeface="华文中宋"/>
                <a:ea typeface="华文中宋"/>
              </a:rPr>
              <a:t>Hierarchical model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Inference for the parameters in linear mixed models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600" dirty="0">
                <a:solidFill>
                  <a:schemeClr val="dk1"/>
                </a:solidFill>
                <a:latin typeface="华文中宋"/>
                <a:ea typeface="华文中宋"/>
              </a:rPr>
              <a:t>Likelihood-based method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600" dirty="0">
                <a:solidFill>
                  <a:schemeClr val="dk1"/>
                </a:solidFill>
                <a:latin typeface="华文中宋"/>
                <a:ea typeface="华文中宋"/>
              </a:rPr>
              <a:t>Restricted maximum likelihood (REML)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600" dirty="0">
                <a:solidFill>
                  <a:schemeClr val="dk1"/>
                </a:solidFill>
                <a:latin typeface="华文中宋"/>
                <a:ea typeface="华文中宋"/>
              </a:rPr>
              <a:t>Best linear unbiased predictor (BLUP)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Generalized linear mixed models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Missing data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3C71F82-174E-A9B9-CBDE-058E18D8D077}"/>
              </a:ext>
            </a:extLst>
          </p:cNvPr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91C2F56D-B86C-4D81-AA8B-C6E19692706F}" type="slidenum">
              <a:rPr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98128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96"/>
  <p:tag name="ORIGINALWIDTH" val=" 3666"/>
  <p:tag name="OUTPUTTYPE" val="PNG"/>
  <p:tag name="IGUANATEXVERSION" val="162"/>
  <p:tag name="LATEXADDIN" val="\documentclass{article}&#10;\usepackage{amsmath}&#10;\usepackage{bm}&#10;\pagestyle{empty}&#10;\begin{document}&#10;&#10;\paragraph{Linear Regression.}&#10;$$Y_{ij}=\bm X_{ij}\bm \beta+\bm Z_{ij}\bm u+\varepsilon_{ij},$$&#10;where $\bm \beta$ is a $p\times 1$ vector, $\bm u$ is a $q\times 1$ vector, and $\varepsilon_{ij} \stackrel{\text{i.i.d.}}{\sim} \mathcal N(0,\sigma^2)$.&#10;&#10;\paragraph{Why Na\&quot;{\i}ve Regression Fails?}&#10;\begin{itemize}&#10;\item Ignores within-subject correlation&#10;\item Incorrect standard error&#10;\item Cannot capture individual differences&#10;\end{itemize}&#10;&#10;\end{document}"/>
  <p:tag name="IGUANATEXSIZE" val="20"/>
  <p:tag name="IGUANATEXCURSOR" val="137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48"/>
  <p:tag name="ORIGINALWIDTH" val=" 4290"/>
  <p:tag name="OUTPUTTYPE" val="PNG"/>
  <p:tag name="IGUANATEXVERSION" val="162"/>
  <p:tag name="LATEXADDIN" val="\documentclass{article}&#10;\usepackage{amsmath}&#10;\usepackage{bm}&#10;\pagestyle{empty}&#10;\begin{document}&#10;&#10;\paragraph{Linear mixed models.}&#10;$$Y_{ij}=\bm X_{ij}\bm \beta+\bm Z_{ij}\bm u_i+\varepsilon_{ij},$$&#10;where $\bm \beta$ is a $p\times 1$ vector, $\bm u_i\sim \mathcal N(\bm 0,\bm \Sigma_{\bm u_i})$ is a $q\times 1$ vector, and $\varepsilon_{ij} \stackrel{\text{i.i.d.}}{\sim} \mathcal N(0,\sigma^2)$.&#10;&#10;\paragraph{Interpretation.}&#10;\begin{itemize}&#10;\item $\bm \beta$: fixed effects.&#10;\item $\bm u_i$: random effects. The observations of the same subject share the same random ef‌fects. &#10;\end{itemize}&#10;&#10;\end{document}"/>
  <p:tag name="IGUANATEXSIZE" val="20"/>
  <p:tag name="IGUANATEXCURSOR" val="122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43.007"/>
  <p:tag name="ORIGINALWIDTH" val=" 4290.964"/>
  <p:tag name="OUTPUTTYPE" val="PNG"/>
  <p:tag name="IGUANATEXVERSION" val="162"/>
  <p:tag name="LATEXADDIN" val="\documentclass{article}&#10;\usepackage{amsmath}&#10;\usepackage{bm,amssymb}&#10;\pagestyle{empty}&#10;\begin{document}&#10;&#10;\paragraph{Linear mixed models in vector form.}&#10;$$&#10;\bm Y_i=\bm X_i\bm \beta+\bm Z_i\bm u_i+\bm \varepsilon_i,&#10;$$&#10;where $\bm u_i\sim \mathcal N(\bm 0,\bm \Sigma_{\bm u_i})$, $\bm X_i=(\bm X_{i1}^{\top},\ldots,\bm X_{in_i}^{\top})^{\top}$, $\bm Z_i=(\bm Z_{i1}^{\top},\ldots,\bm Z_{in_i}^{\top})^{\top}$, and $\bm \varepsilon_i=(\varepsilon_{i1},\ldots,\varepsilon_{in_i})^{\top}$.&#10;&#10;&#10;\paragraph{Interpretation.}&#10;\begin{itemize}&#10;\item $\mathbb E(\bm Y_i\mid \bm u_i)=\bm X_i\bm \beta+\bm Z_i\bm u_i$, which looks like an ordinary linear model with $\bm Z_i\bm u_i$ as an offset term.&#10;\item $\mathrm{var}(\bm Y_i)=\bm Z_i\bm \Sigma_{\bm u_i}\bm Z_i^{\top}+\sigma^2\bm I$. Here, $\bm Z_i\bm \Sigma_{\bm u_i}\bm Z_i^{\top}$ describes the between-subject variablity and $\sigma^2\bm I$ describes the within-subject variability.&#10;\end{itemize}&#10;&#10;\end{document}"/>
  <p:tag name="IGUANATEXSIZE" val="20"/>
  <p:tag name="IGUANATEXCURSOR" val="354"/>
  <p:tag name="TRANSPARENCY" val="True"/>
  <p:tag name="CHOOSECOLOR" val="False"/>
  <p:tag name="COLORHEX" val="000000"/>
  <p:tag name="LATEXENGINEID" val="0"/>
  <p:tag name="TEMPFOLDER" val="c:\temp\"/>
  <p:tag name="LATEXFORMHEIGHT" val=" 426.65"/>
  <p:tag name="LATEXFORMWIDTH" val=" 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92.576"/>
  <p:tag name="ORIGINALWIDTH" val=" 4282.715"/>
  <p:tag name="OUTPUTTYPE" val="PNG"/>
  <p:tag name="IGUANATEXVERSION" val="162"/>
  <p:tag name="LATEXADDIN" val="\documentclass{article}&#10;\usepackage{amsmath}&#10;\usepackage{bm}&#10;\pagestyle{empty}&#10;\begin{document}&#10;&#10;\paragraph{LMM with random intercept.}&#10;An important special case has $\bm Z_{ij}=1$, $\bm u_i=u_i$ and $\mathrm{var}(u_i)=\sigma_u^2$, which gives&#10;$$\bm Y_{i}=\bm X_{i}\bm \beta+u_i\bm 1+\bm \varepsilon_i.$$&#10;$u_i\sim \mathcal N(0, \sigma^2_{u})$&#10;\begin{itemize}&#10;\item $\mathrm{var}(Y_{ij})=\sigma_u^2+\sigma^2$ and $\mathrm{var}(\bm Y_i)=\sigma_u^2\bm 1\bm 1^{\top}+\sigma^2\bm I$.&#10;\item $\mathrm{cor}(Y_{ij},Y_{ik})=\frac{\sigma_u^2}{\sigma_u^2+\sigma^2}$ when $j\neq k$.&#10;\end{itemize}&#10;&#10;&#10;\end{document}"/>
  <p:tag name="IGUANATEXSIZE" val="20"/>
  <p:tag name="IGUANATEXCURSOR" val="306"/>
  <p:tag name="TRANSPARENCY" val="True"/>
  <p:tag name="CHOOSECOLOR" val="False"/>
  <p:tag name="COLORHEX" val="000000"/>
  <p:tag name="LATEXENGINEID" val="0"/>
  <p:tag name="TEMPFOLDER" val="c:\temp\"/>
  <p:tag name="LATEXFORMHEIGHT" val=" 426.65"/>
  <p:tag name="LATEXFORMWIDTH" val=" 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4.2332"/>
  <p:tag name="ORIGINALWIDTH" val=" 1543.307"/>
  <p:tag name="OUTPUTTYPE" val="PNG"/>
  <p:tag name="IGUANATEXVERSION" val="162"/>
  <p:tag name="LATEXADDIN" val="\documentclass{article}&#10;\usepackage{amsmath}&#10;\usepackage{bm}&#10;\pagestyle{empty}&#10;\begin{document}&#10;&#10;&#10;$\bm Y_{i}= u_i\bm 1+\bm \varepsilon_i.$&#10;$u_i\sim \mathcal N(0, \sigma^2_{u})$&#10;&#10;&#10;&#10;\end{document}"/>
  <p:tag name="IGUANATEXSIZE" val="20"/>
  <p:tag name="IGUANATEXCURSOR" val="138"/>
  <p:tag name="TRANSPARENCY" val="True"/>
  <p:tag name="CHOOSECOLOR" val="False"/>
  <p:tag name="COLORHEX" val="000000"/>
  <p:tag name="LATEXENGINEID" val="0"/>
  <p:tag name="TEMPFOLDER" val="c:\temp\"/>
  <p:tag name="LATEXFORMHEIGHT" val=" 426.65"/>
  <p:tag name="LATEXFORMWIDTH" val=" 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38"/>
  <p:tag name="ORIGINALWIDTH" val=" 4287"/>
  <p:tag name="OUTPUTTYPE" val="PNG"/>
  <p:tag name="IGUANATEXVERSION" val="162"/>
  <p:tag name="LATEXADDIN" val="\documentclass{article}&#10;\usepackage{amsmath}&#10;\usepackage{bm}&#10;\pagestyle{empty}&#10;\begin{document}&#10;&#10;\paragraph{LMM with random intercept and random slope.}&#10;Another special case has $q&gt;1$ and $Z_{i1}=1$ for all $i$.&#10;$$\bm Y_{i}=\bm X_{i}\bm \beta+\bm Z_i\bm u_i+\bm \varepsilon_i.$$&#10;\begin{itemize}&#10;\item $u_{i1}$ is the random intercept, and $(u_{i2},\ldots,u_{iq})$ is the random slope.&#10;\item $\mathrm{var}(Y_{ij})=\bm Z_{ij}\bm \Sigma_{\bm u_i}\bm Z_{ij}^{\top}+\sigma^2$ and $\mathrm{var}(\bm Y_i)=\bm Z_i\sigma_u^2\bm Z_i^{\top}+\sigma^2\bm I$.&#10;\item $\mathrm{cov}(Y_{ij},Y_{ik})=\bm Z_{ij}\bm \Sigma_{\bm u_i}\bm Z_{ik}^{\top}$ when $j\neq k$.&#10;\end{itemize}&#10;&#10;&#10;\end{document}"/>
  <p:tag name="IGUANATEXSIZE" val="20"/>
  <p:tag name="IGUANATEXCURSOR" val="118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89"/>
  <p:tag name="ORIGINALWIDTH" val=" 3091"/>
  <p:tag name="OUTPUTTYPE" val="PNG"/>
  <p:tag name="IGUANATEXVERSION" val="162"/>
  <p:tag name="LATEXADDIN" val="\documentclass{article}&#10;\usepackage{amsmath}&#10;\usepackage{bm}&#10;\pagestyle{empty}&#10;\begin{document}&#10;&#10;\begin{itemize}&#10;\item $i$: center; $j$: patient; $k$: time.&#10;\item $Y_{ijk}$: $k$th outcome for the $j$th patient at the $i$th center&#10;$$&#10;Y_{ijk}=\bm X_{ijk}\bm \beta+u_i+v_{ij}+\varepsilon_{ijk}.&#10;$$&#10;\item $u_i\stackrel{\text{i.i.d.}}{\sim} \mathcal N(0,\sigma_u^2)$.&#10;\item $v_{ij}\stackrel{\text{i.i.d.}}{\sim} \mathcal N(0,\sigma_v^2)$.&#10;\item $\varepsilon_{ijk}\stackrel{\text{i.i.d.}}{\sim} \mathcal N(0,\sigma_{\varepsilon}^2)$.&#10;\end{itemize}&#10;&#10;&#10;\end{document}"/>
  <p:tag name="IGUANATEXSIZE" val="20"/>
  <p:tag name="IGUANATEXCURSOR" val="522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62"/>
  <p:tag name="ORIGINALWIDTH" val=" 4138"/>
  <p:tag name="OUTPUTTYPE" val="PNG"/>
  <p:tag name="IGUANATEXVERSION" val="162"/>
  <p:tag name="LATEXADDIN" val="\documentclass{article}&#10;\usepackage{amsmath}&#10;\usepackage{bm}&#10;\pagestyle{empty}&#10;\begin{document}&#10;&#10;\begin{itemize}&#10;\item Two programs for discouraging young people from starting or continuing to smoke.&#10;\item 1,600 seventh-grade students from 135 classrooms in 28 Los Angeles schools.&#10;\item $2\times 2$ factorial design: school-based curriculum (cc) and television-based prevention program (tv).&#10;\item The schools were randomly assigned to four intervention conditions.&#10;\item Response: Tobacco and health knowledge scale score at the end of the study (thksord).&#10;\item Covariate: Tobacco and health knowledge scale score at the beginning of the study (thkspre).&#10;\end{itemize}&#10;&#10;&#10;\end{document}"/>
  <p:tag name="IGUANATEXSIZE" val="20"/>
  <p:tag name="IGUANATEXCURSOR" val="281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84"/>
  <p:tag name="ORIGINALWIDTH" val=" 2724"/>
  <p:tag name="OUTPUTTYPE" val="PNG"/>
  <p:tag name="IGUANATEXVERSION" val="162"/>
  <p:tag name="LATEXADDIN" val="\documentclass{article}&#10;\usepackage{amsmath}&#10;\usepackage{bm}&#10;\pagestyle{empty}&#10;\begin{document}&#10;&#10;\begin{itemize}&#10;\item $\bm Y_i$: $n_i\times 1$ outcome vector&#10;\item $\bm X_i$: $n_i\times p$ design matrix for fixed effects&#10;\item $\bm \beta$: $p\times 1$ fixed effect vector&#10;\item $\bm Z_i$: $n_i\times q$ design matrix for random effects&#10;\item $\bm u_i$: $q\times 1$ random effect vector&#10;\item $\bm \varepsilon_i$: $n_i\times 1$ residual vector&#10;\item Model:&#10;$$&#10;\bm Y_i=\bm X_i\bm \beta+\bm Z_i\bm u_i+\bm \varepsilon_i,&#10;$$&#10;where $\bm u_i\sim \mathcal N(\bm 0,\bm \Sigma_{\bm u_i})$ and $\bm \varepsilon_i\sim \mathcal N(\bm 0,\bm \Sigma_i)$.&#10;\end{itemize}&#10;&#10;&#10;\end{document}"/>
  <p:tag name="IGUANATEXSIZE" val="20"/>
  <p:tag name="IGUANATEXCURSOR" val="637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000"/>
  <p:tag name="ORIGINALWIDTH" val=" 3704"/>
  <p:tag name="OUTPUTTYPE" val="PNG"/>
  <p:tag name="IGUANATEXVERSION" val="162"/>
  <p:tag name="LATEXADDIN" val="\documentclass{article}&#10;\usepackage{amsmath}&#10;\usepackage{bm}&#10;\pagestyle{empty}&#10;\begin{document}&#10;&#10;Letting $N=\sum_{i=1}^rn_i$.&#10;\begin{itemize}&#10;\item $\bm Y=(\bm Y_i^{\top},\ldots,\bm Y_r^{\top})^{\top}$: $N\times 1$ outcome vector&#10;\item $\bm X=(\bm X_i^{\top},\ldots,\bm X_r^{\top})^{\top}$: $N\times p$ design matrix for fixed effects&#10;\item $\bm Z=\text{diag}\{\bm Z_1,\ldots,\bm Z_r\}$: $N\times (qr)$ design matrix for random effects&#10;\item $\bm u=(\bm u_1^{\top},\ldots,\bm u_r^{\top})$: $(qr)\times 1$ random effect vector&#10;\item $\bm \varepsilon=(\bm \varepsilon_i^{\top},\ldots,\bm \varepsilon_r^{\top})^{\top}$: $N\times 1$ residual vector&#10;\item Model:&#10;$$&#10;\bm Y=\bm X\bm \beta+\bm Z\bm u+\bm \varepsilon,&#10;$$&#10;where $\bm u\sim \mathcal N(\bm 0,\bm \Sigma_{\bm u})$ and $\bm \varepsilon \sim \mathcal N(\bm 0, \bm \Sigma)$.&#10;\end{itemize}&#10;&#10;&#10;\end{document}"/>
  <p:tag name="IGUANATEXSIZE" val="20"/>
  <p:tag name="IGUANATEXCURSOR" val="292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163"/>
  <p:tag name="ORIGINALWIDTH" val=" 3555"/>
  <p:tag name="OUTPUTTYPE" val="PNG"/>
  <p:tag name="IGUANATEXVERSION" val="162"/>
  <p:tag name="LATEXADDIN" val="\documentclass{article}&#10;\usepackage{amsmath}&#10;\usepackage{bm}&#10;\pagestyle{empty}&#10;\begin{document}&#10;&#10;\begin{itemize}&#10;\item Model:&#10;$$&#10;\bm Y=\bm X\bm \beta+\bm Z\bm u+\bm \varepsilon,&#10;$$&#10;where $\bm u\sim \mathcal N(\bm 0,\bm \Sigma_{\bm u})$ and $\bm \varepsilon \sim \mathcal N(\bm 0, \bm \Sigma)$.&#10;\item Marginal distribution:&#10;$$&#10;\bm Y\sim \mathcal N(\bm X\bm \beta,\bm V),&#10;$$&#10;where $\bm V=\bm Z\bm D\bm Z^{\top}+\bm R$, where $\bm D=\bm \Sigma_{\bm u}$ and $\bm R=\bm \Sigma$.&#10;\item Log likelihood function of $(\bm \beta,\bm V)$:&#10;\begin{align*}&#10;l(\bm \beta,\bm V)&amp;=-\frac 12\log|\bm V|-\frac 12(\bm Y-\bm X\bm \beta)^{\top}\bm V^{-1}(\bm Y-\bm X\bm \beta),\\&#10;\hat{\bm \beta}&amp;=(\bm X^{\top} \bm V^{-1}\bm X)^{-1}\bm X^{\top}\bm V^{-1}\bm Y,\\&#10;\mathrm{var}(\hat{\bm \beta})&amp;=(\bm X^{\top} \bm V^{-1}\bm X)^{-1}.&#10;\end{align*}&#10;\end{itemize}&#10;&#10;&#10;\end{document}"/>
  <p:tag name="IGUANATEXSIZE" val="20"/>
  <p:tag name="IGUANATEXCURSOR" val="770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77"/>
  <p:tag name="ORIGINALWIDTH" val=" 3138"/>
  <p:tag name="OUTPUTTYPE" val="PNG"/>
  <p:tag name="IGUANATEXVERSION" val="162"/>
  <p:tag name="LATEXADDIN" val="\documentclass{article}&#10;\usepackage{amsmath}&#10;\usepackage{bm}&#10;\pagestyle{empty}&#10;\begin{document}&#10;&#10;Recall:&#10;\begin{align*}&#10;\hat{\bm \beta}&amp;=(\bm X^{\top} \bm V^{-1}\bm X)^{-1}\bm X^{\top}\bm V^{-1}\bm Y,\\&#10;\mathrm{var}(\hat{\bm \beta})&amp;=(\bm X^{\top} \bm V^{-1}\bm X)^{-1}.&#10;\end{align*}&#10;&#10;Approximate Wald test:&#10;$$&#10;\hat{\bm \beta}L^{\top}\{L(\bm X^{\top}\bm V^{-1}\bm X)^{-1}L^{\top}\}^{-1}L\hat{\bm \beta}\sim \chi_{\text{rank}(L)}^2.&#10;$$&#10;&#10;&#10;\end{document}"/>
  <p:tag name="IGUANATEXSIZE" val="20"/>
  <p:tag name="IGUANATEXCURSOR" val="284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04"/>
  <p:tag name="ORIGINALWIDTH" val=" 3675"/>
  <p:tag name="OUTPUTTYPE" val="PNG"/>
  <p:tag name="IGUANATEXVERSION" val="162"/>
  <p:tag name="LATEXADDIN" val="\documentclass{article}&#10;\usepackage{amsmath}&#10;\usepackage{bm}&#10;\pagestyle{empty}&#10;\begin{document}&#10;&#10;\begin{itemize}&#10;\item Recall log likelihood function of $(\bm \beta,\bm V)$:&#10;\begin{align*}&#10;l(\bm \beta,\bm V)&amp;=-\frac 12\log|\bm V|-\frac 12(\bm Y-\bm X\bm \beta)^{\top}\bm V^{-1}(\bm Y-\bm X\bm \beta)+C,\\&#10;\hat{\bm \beta}&amp;=(\bm X^{\top} \bm V^{-1}\bm X)^{-1}\bm X^{\top}\bm V^{-1}\bm Y,\\&#10;\mathrm{var}(\hat{\bm \beta})&amp;=(\bm X^{\top} \bm V^{-1}\bm X)^{-1}.&#10;\end{align*}&#10;\item Profile log-likelihood:&#10;$$&#10;l^*(\bm V)=-\frac 12\log|\bm V|-\frac 12(\bm Y-\bm X\hat{\bm \beta})^{\top}\bm V^{-1}(\bm Y-\bm X\hat{\bm \beta}).&#10;$$&#10;\item Numerical maximization method.&#10;\end{itemize}&#10;&#10;&#10;\end{document}"/>
  <p:tag name="IGUANATEXSIZE" val="20"/>
  <p:tag name="IGUANATEXCURSOR" val="301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60"/>
  <p:tag name="ORIGINALWIDTH" val=" 4112"/>
  <p:tag name="OUTPUTTYPE" val="PNG"/>
  <p:tag name="IGUANATEXVERSION" val="162"/>
  <p:tag name="LATEXADDIN" val="\documentclass{article}&#10;\usepackage{amsmath}&#10;\usepackage{bm}&#10;\pagestyle{empty}&#10;\begin{document}&#10;&#10;\begin{itemize}&#10;\item Recall: in linear regression &#10;$$&#10;\bm Y=\bm X\bm \beta+\bm \varepsilon,\quad \text{where}\quad \bm \varepsilon\sim \mathcal N(\bm 0,\sigma^2\bm I_n).&#10;$$&#10;$$&#10;\text{MLE: }\hat \sigma_{\text{MLE}}^2=\frac 1n(\bm Y-\bm X\hat {\bm \beta})^{\top}(\bm Y-\bm X\hat {\bm \beta})\quad \text{is biased.}&#10;$$&#10;\item Unbiased estimator:&#10;$$&#10;\hat \sigma^2=\frac 1{n-p}(\bm Y-\bm X\hat {\bm \beta})^{\top}(\bm Y-\bm X\hat {\bm \beta}).&#10;$$&#10;\item Idea: Find a ``likelihood function'' free of $\bm \beta$ to account for the \textbf{loss of degrees of freedom} from estimating $\bm \beta$.&#10;\end{itemize}&#10;&#10;&#10;\end{document}"/>
  <p:tag name="IGUANATEXSIZE" val="20"/>
  <p:tag name="IGUANATEXCURSOR" val="603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36"/>
  <p:tag name="ORIGINALWIDTH" val=" 3973"/>
  <p:tag name="OUTPUTTYPE" val="PNG"/>
  <p:tag name="IGUANATEXVERSION" val="162"/>
  <p:tag name="LATEXADDIN" val="\documentclass{article}&#10;\usepackage{amsmath}&#10;\usepackage{bm,amssymb}&#10;\pagestyle{empty}&#10;\begin{document}&#10;&#10;\begin{itemize}&#10;\item Idea: account for the \textbf{loss of degrees of freedom} from estimating $\bm \beta$.&#10;\item Find a matrix $\bm A\in\mathbb R^{n\times (n-p)}$ such that $\bm A^{\top}\bm A=\bm I_{n-p}$ and $\bm A^{\top}\bm X=0$.&#10;\item $\bm A^{\top}\bm Y=\bm A^{\top}\bm \varepsilon\sim \mathcal N(\bm 0,\sigma^2\bm I_{n-p})$, which is free of $\bm \beta$.&#10;\item Restrictive maximum likelihood (REML):&#10;$$&#10;l_R(\sigma^2\mid \bm A^{\top}\bm Y)=-\frac{n-p}2\log(2\pi\sigma^2)-\frac 1{2\sigma^2}(\bm A^{\top}\bm Y)^{\top}(\bm A^{\top}\bm Y).&#10;$$&#10;\item REML estimator&#10;$$&#10;\hat \sigma^2=\frac{(\bm A^{\top}\bm Y)^{\top}(\bm A^{\top}\bm Y)}{n-p}.&#10;$$&#10;\end{itemize}&#10;&#10;&#10;\end{document}"/>
  <p:tag name="IGUANATEXSIZE" val="20"/>
  <p:tag name="IGUANATEXCURSOR" val="745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03"/>
  <p:tag name="ORIGINALWIDTH" val=" 3061"/>
  <p:tag name="OUTPUTTYPE" val="PNG"/>
  <p:tag name="IGUANATEXVERSION" val="162"/>
  <p:tag name="LATEXADDIN" val="\documentclass{article}&#10;\usepackage{amsmath}&#10;\usepackage{bm,amssymb}&#10;\pagestyle{empty}&#10;\begin{document}&#10;&#10;\begin{itemize}&#10;\item Another property: $\bm A\bm A^{\top}=\bm I_n-\bm X(\bm X^{\top}\bm X)^{-1}\bm X^{\top}$.&#10;\item REML estimator&#10;\begin{align*}&#10;\hat \sigma^2&amp;=\frac{(\bm A^{\top}\bm Y)^{\top}(\bm A^{\top}\bm Y)}{n-p}\\&#10;&amp;=\frac{\bm Y^{\top}(\bm I_n-\bm X(\bm X^{\top}\bm X)^{-1}\bm X^{\top})\bm Y}{n-p}\\&#10;&amp;=\frac{(\bm Y-\bm X\hat{\bm \beta})^{\top}(\bm Y-\bm X\hat{\bm \beta})}{n-p}.&#10;\end{align*}&#10;\end{itemize}&#10;&#10;&#10;\end{document}"/>
  <p:tag name="IGUANATEXSIZE" val="20"/>
  <p:tag name="IGUANATEXCURSOR" val="490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37"/>
  <p:tag name="ORIGINALWIDTH" val=" 4628"/>
  <p:tag name="OUTPUTTYPE" val="PNG"/>
  <p:tag name="IGUANATEXVERSION" val="162"/>
  <p:tag name="LATEXADDIN" val="\documentclass{article}&#10;\usepackage{amsmath}&#10;\usepackage{bm,amssymb}&#10;\pagestyle{empty}&#10;\begin{document}&#10;&#10;\begin{itemize}&#10;\item Find a matrix $\bm A\in\mathbb R^{n\times (n-p)}$ such that $\bm A^{\top}\bm A=\bm I_{n-p}$ and $\bm A^{\top}\bm X=0$.&#10;\item $\bm A^{\top}\bm Y\sim \mathcal N(\bm 0,\bm A^{\top}\bm V\bm A)$, which is free of $\bm \beta$.&#10;\item Restrictive maximum likelihood (REML):&#10;\begin{align*}&#10;l_R(\bm V\mid \bm A^{\top}\bm Y)&amp;=-\frac 12\log|\bm A^{\top}\bm V\bm A|-\frac 1{2}(\bm A^{\top}\bm Y)^{\top}(\bm A^{\top}\bm V\bm A)^{-1}(\bm A^{\top}\bm Y)+C\\&#10;&amp;=-\frac 12\log|\bm V|-\frac 12\log|\bm X^{\top}\bm V^{-1}\bm X|-\frac 12(\bm Y-\bm X\hat{\bm \beta})\bm V^{-1}(\bm Y-\bm X\hat{\bm \beta})+C.&#10;\end{align*}&#10;&#10;\texttt{lme4::lmer} uses REML as default (\texttt{REML = TRUE}). &#10;\end{itemize}&#10;&#10;&#10;\end{document}"/>
  <p:tag name="IGUANATEXSIZE" val="20"/>
  <p:tag name="IGUANATEXCURSOR" val="791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4"/>
  <p:tag name="ORIGINALWIDTH" val=" 4385"/>
  <p:tag name="OUTPUTTYPE" val="PNG"/>
  <p:tag name="IGUANATEXVERSION" val="162"/>
  <p:tag name="LATEXADDIN" val="\documentclass{article}&#10;\usepackage{amsmath}&#10;\usepackage{bm,amssymb}&#10;\pagestyle{empty}&#10;\begin{document}&#10;&#10;\begin{itemize}&#10;\item ML: maximizes $l(\bm V\mid \bm Y)$ with respect to $\bm V$ after plugging in $\hat{\bm \beta}$.&#10;$$&#10;l^*(\bm V)=-\frac 12\log|\bm V|-\frac 12(\bm Y-\bm X\hat{\bm \beta})^{\top}\bm V^{-1}(\bm Y-\bm X\hat{\bm \beta}).&#10;$$&#10;\item REML: maximized $l(\bm V\mid \bm A^{\top}\bm Y)$ (which is free of $\bm \beta$) with respect to $\bm V$.&#10;\begin{align*}&#10;l_R(\bm V\mid \bm A^{\top}\bm Y)=-\frac 12\log|\bm V|-\frac 12\log|\bm X^{\top}\bm V^{-1}\bm X|-\frac 12(\bm Y-\bm X\hat{\bm \beta})\bm V^{-1}(\bm Y-\bm X\hat{\bm \beta}).&#10;\end{align*}&#10;\item When $N\to\infty$, $\text{ML}=\text{REML}$.&#10;&#10;\end{itemize}&#10;&#10;&#10;\end{document}"/>
  <p:tag name="IGUANATEXSIZE" val="20"/>
  <p:tag name="IGUANATEXCURSOR" val="704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034"/>
  <p:tag name="ORIGINALWIDTH" val=" 4095"/>
  <p:tag name="OUTPUTTYPE" val="PNG"/>
  <p:tag name="IGUANATEXVERSION" val="162"/>
  <p:tag name="LATEXADDIN" val="\documentclass{article}&#10;\usepackage{amsmath}&#10;\usepackage{bm}&#10;\pagestyle{empty}&#10;\begin{document}&#10;&#10;\begin{itemize}&#10;\item Model:&#10;$$&#10;\bm Y\sim \mathcal N(\bm X\bm \beta,\bm V),&#10;$$&#10;where $\bm V=\bm Z\bm D\bm Z^{\top}+\bm R$, where $\bm D=\bm \Sigma_{\bm u}$ and $\bm R=\bm \Sigma$.&#10;\item \textbf{Best Linear Unbiased Predictor (BLUP)} of $\bm u$.&#10;\begin{itemize}&#10;\item Linear: $\hat {\bm u}=C\bm Y$.&#10;\item Unbiased: $E(\hat {\bm u})=\bm u$.&#10;\item Best: minimizes the unconditional mean square error.&#10;\end{itemize}&#10;\item $\hat{\bm u}_{\text{BLUP}}=\bm D\bm Z^{\top}\bm V^{-1}(\bm Y-\bm X\hat{\bm \beta})$.&#10;\item \texttt{lme4::ranef} gives BLUP (or EBLUP, since $\bm D$ and $\bm V$ needs to be estimated).&#10;\end{itemize}&#10;&#10;&#10;\end{document}"/>
  <p:tag name="IGUANATEXSIZE" val="20"/>
  <p:tag name="IGUANATEXCURSOR" val="698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636"/>
  <p:tag name="ORIGINALWIDTH" val=" 3870"/>
  <p:tag name="OUTPUTTYPE" val="PNG"/>
  <p:tag name="IGUANATEXVERSION" val="162"/>
  <p:tag name="LATEXADDIN" val="\documentclass{article}&#10;\usepackage{amsmath}&#10;\usepackage{bm}&#10;\pagestyle{empty}&#10;\begin{document}&#10;&#10;\begin{itemize}&#10;\item \textbf{Best Linear Unbiased Estimator (BLUE)}: for \textbf{fixed effects}. &#10;\item $\hat{\bm \beta}$ provided before is actually a BLUE.&#10;\item \textbf{Best Linear Unbiased Predictor (BLUP)}: for \textbf{random effects}.&#10;\end{itemize}&#10;&#10;&#10;\end{document}"/>
  <p:tag name="IGUANATEXSIZE" val="20"/>
  <p:tag name="IGUANATEXCURSOR" val="255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85"/>
  <p:tag name="ORIGINALWIDTH" val=" 2884"/>
  <p:tag name="OUTPUTTYPE" val="PNG"/>
  <p:tag name="IGUANATEXVERSION" val="162"/>
  <p:tag name="LATEXADDIN" val="\documentclass{article}&#10;\usepackage{amsmath}&#10;\usepackage{bm,amssymb}&#10;\pagestyle{empty}&#10;\begin{document}&#10;&#10;\begin{itemize}&#10;\item Model:&#10;$$&#10;\bm Y=\bm X\bm \beta+\bm Z\bm u+\bm \varepsilon,&#10;$$&#10;where $\bm u\sim \mathcal N(\bm 0,\bm \Sigma_{\bm u})$ and $\bm \varepsilon \sim \mathcal N(\bm 0, \bm \Sigma)$.&#10;\item Generalized linear mixed models (GLMM):&#10;\begin{align*}&#10;g\{\mathbb E(\bm Y_i\mid \bm u)\}=\bm X_i\bm \beta+\bm Z_i\bm u_i.&#10;\end{align*}&#10;\item $g(\cdot)$ is the link function. Common link functions:&#10;\begin{itemize}&#10;\item Normal distribution: $g(\mu)=\mu$.&#10;\item Binomial distribution: $g(\mu)=\log\{\mu/(1-\mu)\}$.&#10;\item Poisson distribution: $g(\mu)=\log(\mu)$.&#10;\end{itemize}&#10;\end{itemize}&#10;&#10;&#10;\end{document}"/>
  <p:tag name="IGUANATEXSIZE" val="20"/>
  <p:tag name="IGUANATEXCURSOR" val="334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66"/>
  <p:tag name="ORIGINALWIDTH" val=" 3441"/>
  <p:tag name="OUTPUTTYPE" val="PNG"/>
  <p:tag name="IGUANATEXVERSION" val="162"/>
  <p:tag name="LATEXADDIN" val="\documentclass{article}&#10;\usepackage{amsmath}&#10;\usepackage{bm,amssymb}&#10;\pagestyle{empty}&#10;\begin{document}&#10;&#10;\begin{itemize}&#10;\item GLM: non-normal responses.&#10;\item LMM: correlation and heterogeneity.&#10;\item GLMM: account for both.&#10;\item Example: Contagious bovine pleuropneumonia (\texttt{lme4::cbpp})&#10;\end{itemize}&#10;&#10;&#10;\end{document}"/>
  <p:tag name="IGUANATEXSIZE" val="20"/>
  <p:tag name="IGUANATEXCURSOR" val="296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32"/>
  <p:tag name="ORIGINALWIDTH" val=" 3696"/>
  <p:tag name="OUTPUTTYPE" val="PNG"/>
  <p:tag name="IGUANATEXVERSION" val="162"/>
  <p:tag name="LATEXADDIN" val="\documentclass{article}&#10;\usepackage{amsmath}&#10;\usepackage{bm,amssymb}&#10;\pagestyle{empty}&#10;\begin{document}&#10;&#10;\begin{itemize}&#10;\item Binary data: logistic mixed model.&#10;$$&#10;Y_{ij}\mid \bm u_i\sim \text{Bernoulli}(p_{ij}),\quad \log\left(\frac{p_{ij}}{1-p_{ij}}\right)=\bm X_{ij}\bm \beta+\bm Z_{ij}\bm u_i.&#10;$$&#10;\item Count data: Poisson mixed model.&#10;$$&#10;Y_{ij}\mid \bm u_i\sim \text{Poisson}(\lambda_{ij}),\quad \log(\lambda_{ij})=\bm X_{ij}\bm \beta+\bm Z_{ij}\bm u_i.&#10;$$&#10;&#10;\end{itemize}&#10;&#10;&#10;\end{document}"/>
  <p:tag name="IGUANATEXSIZE" val="20"/>
  <p:tag name="IGUANATEXCURSOR" val="420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064"/>
  <p:tag name="ORIGINALWIDTH" val=" 4103"/>
  <p:tag name="OUTPUTTYPE" val="PNG"/>
  <p:tag name="IGUANATEXVERSION" val="162"/>
  <p:tag name="LATEXADDIN" val="\documentclass{article}&#10;\usepackage{amsmath}&#10;\usepackage{bm}&#10;\pagestyle{empty}&#10;\usepackage{pifont}&#10;\usepackage{booktabs}&#10;\begin{document}&#10;&#10;\begin{minipage}{0.45\textwidth}&#10;\textbf{Intermittent missingness}&#10;&#10;\textbf{(Arbitrary)}&#10;&#10;Subjects have missing values in the middle of a study, e.g., miss an appointment, but come back later in the study.&#10;&#10;\centering&#10;\begin{tabular}{cccc}&#10;\toprule&#10;Unit &amp; $Y_1$ &amp; $Y_2$ &amp; $Y_3$\\&#10;\midrule&#10;1 &amp; \ding{51} &amp; \ding{51} &amp; \ding{51}\\&#10;2 &amp; \ding{51} &amp; \ding{51} &amp; \ding{55}\\&#10;3 &amp; \ding{51} &amp; \ding{55} &amp; \ding{51}\\&#10;4 &amp; \ding{51} &amp; \ding{55} &amp; \ding{55}\\&#10;5 &amp; \ding{55} &amp; \ding{51} &amp; \ding{51}\\&#10;6 &amp; \ding{55} &amp; \ding{51} &amp; \ding{55}\\&#10;\bottomrule&#10;\end{tabular}&#10;&#10;\end{minipage}&#10;\hfill&#10;\begin{minipage}{0.45\textwidth}&#10;\textbf{Dropout}&#10;&#10;\textbf{(Monotone)}&#10;&#10;Subjects stop participating in the study during the followup period and never come back. If $Y_j$ is missing, then so are $Y_{j+1},\ldots,Y_n$.&#10;&#10;\centering&#10;\begin{tabular}{cccc}&#10;\toprule&#10;Unit &amp; $Y_1$ &amp; $Y_2$ &amp; $Y_3$\\&#10;\midrule&#10;1 &amp; \ding{51} &amp; \ding{51} &amp; \ding{51}\\&#10;2 &amp; \ding{51} &amp; \ding{51} &amp; \ding{51}\\&#10;3 &amp; \ding{51} &amp; \ding{51} &amp; \ding{55}\\&#10;4 &amp; \ding{51} &amp; \ding{51} &amp; \ding{55}\\&#10;5 &amp; \ding{51} &amp; \ding{55} &amp; \ding{55}\\&#10;6 &amp; \ding{51} &amp; \ding{55} &amp; \ding{55}\\&#10;\bottomrule&#10;\end{tabular}&#10;\end{minipage}&#10;&#10;&#10;\end{document}"/>
  <p:tag name="IGUANATEXSIZE" val="20"/>
  <p:tag name="IGUANATEXCURSOR" val="786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4"/>
  <p:tag name="ORIGINALWIDTH" val=" 4098"/>
  <p:tag name="OUTPUTTYPE" val="PNG"/>
  <p:tag name="IGUANATEXVERSION" val="162"/>
  <p:tag name="LATEXADDIN" val="\documentclass{article}&#10;\usepackage{amsmath}&#10;\usepackage{bm}&#10;\pagestyle{empty}&#10;\begin{document}&#10;&#10;\begin{itemize}&#10;\item $Y_{\text{obs}}$: Measurements observed.&#10;\item $Y_{\text{mis}}$: Measurements that should be available but are missing.&#10;\item $Y=(Y_{\text{obs}},Y_{\text{mis}})$: Hypothetical complete data.&#10;\item $R$: Indicator of whether $Y$ is observed or not, or the time when $Y$ is missing.&#10;\item Assume the covariates $X$ are fully observed.&#10;\item Na\&quot;{\i}ve approach: only use complete cases in the model.&#10;\begin{itemize}&#10;\item Advantage: easy;&#10;\item Disadvantage: waste data; bias unless MCAR.&#10;\end{itemize}&#10;\end{itemize}&#10;&#10;&#10;\end{document}"/>
  <p:tag name="IGUANATEXSIZE" val="20"/>
  <p:tag name="IGUANATEXCURSOR" val="604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10"/>
  <p:tag name="ORIGINALWIDTH" val=" 3464"/>
  <p:tag name="OUTPUTTYPE" val="PNG"/>
  <p:tag name="IGUANATEXVERSION" val="162"/>
  <p:tag name="LATEXADDIN" val="\documentclass{article}&#10;\usepackage{amsmath}&#10;\usepackage{bm}&#10;\pagestyle{empty}&#10;\begin{document}&#10;&#10;Notation:&#10;\begin{itemize}&#10;\item $Y_{\text{obs}}$: Measurements observed.&#10;\item $Y_{\text{mis}}$: Measurements that should be available but are missing.&#10;\item $Y=(Y_{\text{obs}},Y_{\text{mis}})$: Hypothetical complete data.&#10;\item $R$: Dropout time.&#10;\item Assume the covariates $X$ are fully observed.&#10;\end{itemize}&#10;&#10;Data structure (monotone missingness):&#10;&#10;\end{document}"/>
  <p:tag name="IGUANATEXSIZE" val="20"/>
  <p:tag name="IGUANATEXCURSOR" val="411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82"/>
  <p:tag name="ORIGINALWIDTH" val=" 4097"/>
  <p:tag name="OUTPUTTYPE" val="PNG"/>
  <p:tag name="IGUANATEXVERSION" val="162"/>
  <p:tag name="LATEXADDIN" val="\documentclass{article}&#10;\usepackage{amsmath}&#10;\usepackage{bm}&#10;\pagestyle{empty}&#10;\begin{document}&#10;&#10;\begin{itemize}&#10;\item Joint distribution:&#10;$$&#10;f(\bm Y,\bm R;\theta,\gamma)=f(\bm Y;\theta)f(\bm R\mid \bm Y;\gamma).&#10;$$&#10;\item MAR (or MCAR):&#10;$$&#10;f(\bm R\mid\bm Y^{\text{obs}},\bm Y^{\text{mis}};\gamma)=f(\bm R\mid \bm Y^{\text{obs}};\gamma).&#10;$$&#10;\item Observed data likelihood:&#10;\begin{align*}&#10;L(\theta,\gamma;\bm Y^{\text{obs}},\bm R)&amp;=\int f(\bm Y^{\text{obs}},\bm Y^{\text{mis}};\theta)f(\bm R\mid \bm Y^{\text{obs}},\bm Y^{\text{mis}};\gamma)\mathrm d\bm Y^{\text{mis}}\\&#10;&amp;=f(\bm R\mid \bm Y^{\text{obs}};\gamma)\int f(\bm Y^{\text{obs}},\bm Y^{\text{mis}};\theta)\mathrm d\bm Y^{\text{mis}}\\&#10;&amp;=f(\bm R\mid \bm Y^{\text{obs}};\gamma)f(\bm Y^{\text{obs}};\theta).&#10;\end{align*}&#10;\item If $\theta$ and $\gamma$ are distinct, likelihood-based inference using only the \textbf{observed data} is valid under \text{MAR and MCAR}, i.e., missingness is ignorable.&#10;&#10;\end{itemize}&#10;&#10;\end{document}"/>
  <p:tag name="IGUANATEXSIZE" val="20"/>
  <p:tag name="IGUANATEXCURSOR" val="760"/>
  <p:tag name="TRANSPARENCY" val="True"/>
  <p:tag name="CHOOSECOLOR" val="False"/>
  <p:tag name="COLORHEX" val="000000"/>
  <p:tag name="LATEXENGINEID" val="0"/>
  <p:tag name="TEMPFOLDER" val="/Users/yuhaoya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紫罗兰色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ill Sans MT">
      <a:majorFont>
        <a:latin typeface="Gill Sans MT" panose="020B0502020104020203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on">
  <a:themeElements>
    <a:clrScheme name="紫罗兰色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ill Sans MT">
      <a:majorFont>
        <a:latin typeface="Gill Sans MT" panose="020B0502020104020203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on">
  <a:themeElements>
    <a:clrScheme name="紫罗兰色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ill Sans MT">
      <a:majorFont>
        <a:latin typeface="Gill Sans MT" panose="020B0502020104020203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on">
  <a:themeElements>
    <a:clrScheme name="紫罗兰色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ill Sans MT">
      <a:majorFont>
        <a:latin typeface="Gill Sans MT" panose="020B0502020104020203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on">
  <a:themeElements>
    <a:clrScheme name="紫罗兰色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ill Sans MT">
      <a:majorFont>
        <a:latin typeface="Gill Sans MT" panose="020B0502020104020203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Ion">
  <a:themeElements>
    <a:clrScheme name="紫罗兰色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ill Sans MT">
      <a:majorFont>
        <a:latin typeface="Gill Sans MT" panose="020B0502020104020203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Ion">
  <a:themeElements>
    <a:clrScheme name="紫罗兰色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ill Sans MT">
      <a:majorFont>
        <a:latin typeface="Gill Sans MT" panose="020B0502020104020203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Ion">
  <a:themeElements>
    <a:clrScheme name="紫罗兰色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Ion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formulas xmlns="https://texslide.com/formulas/2023/main">
  <data formula="F(t)=\Pr(T\leq t)_false_pdf" depth="625">JVBERi0xLjUKJdDUxdgKMyAwIG9iago8PAovTGVuZ3RoIDE3NSAgICAgICAKL0ZpbHRlciAvRmxhdGVEZWNvZGUKPj4Kc3RyZWFtCnjalc49D4IwEIDhvb/iRhg8elfKtYOLiQxMGrshk4RJBo2Jf9+KXzXBwXS4S+7Nk54UgY6PgNB7A84wlmLhMKq209DHUwMaCa5TNgKjMzZuR9iprVoFVdTM4NFXXEEYUoYthB7arM670BQ1+SQTFB+V6b7XVj+SL8mgk/LVXGYMg9a7BKF8weKy5X1Itjn/cgmF3nB4FjYp4ibmA3M5o5BGS9V/34uNWgd1A6slUhAKZW5kc3RyZWFtCmVuZG9iagoxMiAwIG9iago8PAovTGVuZ3RoMSAxNDIyCi9MZW5ndGgyIDY1MzIKL0xlbmd0aDMgMAovTGVuZ3RoIDc1MDIgICAgICAKL0ZpbHRlciAvRmxhdGVEZWNvZGUKPj4Kc3RyZWFtCnjajXcHVJPb0jbSpKhUkU5QQIpAQu+9916khhAglCQkkQ7SO0rvTbpI7yBNqQKiFFHpSJGi0rvAFz2ee++5/7/W962sleyZeWb2zN7P86437Kx6hrzy9gg7qAoCjuEF8QElAIra2uogIAAIFOQDAgVI2NmNYBhX6N9+EnYTKAoNQ8Al/gOhiIKCMVifEhiDBWoj4ACNR64AkCAAJCIBEpUAAgECQKD430AESgKgBPaA2QO0+QAaCDgUTcKuiEB6o2COThjsPn8vAZwQLgBIXFz0we90gLwbFAWDgOEAbTDGCeqG3RECdgUYIiAwKMb7HyU4pZwwGKQEP7+npycf2A3Nh0A5ynA9AHjCME4AAygaivKA2gN+jQzQAbtB/4zGR8IOMHKCof8KGCIcMJ5gFBSAdbjCIFA4GpvyCG4PRQGwuwMM1bUAukgo/C+w1l+AB4A/hwMA8YH+Ve5P9q9CMPjvZDAEgnBDguHeMLgjwAHmCgXoqmjxYbwwDwBguP0vINgVjcDmgz3AMFewHRbwu3UwQEVeHwDGTvhnPjQEBUNi0HxomOuvGfl/lcEeszLcXhHh5gaFY9Akv/pTgqGgEOy5e/P/uVwXOMIT7vu35QCD2zv8GsP+EZLfGA5zfwRVV/qDwbpI/u1zhGIAwkAxUUExYQDUHQD1gjjx/9rAyBsJ/R0E/XJjZ/D3RSKQAAfsGFB/mAMU+0PiiwZ7QAEY1COov+9/Bv5pkYBAAHsYBAOwgzrC4CT/ro51Qx3+srH3j4J5ASyAWPqBAMBfn3+trLAMs0fAXb3/Df99xfwmCiYm+ho8f0b+V1BBAeEF8OUVFADwCggDASCgkBhAFLvw/2cdPTDsTx//kasOd0AAfhX71S/2oP7u2eMPCTj/KIQL8M9iOggsdaEAzn8z3RIoDIRgv0D/Z77/Tvn/0fxXlf+V6f/dkcojV9ffcc6/AP9PHOwGc/X+g8BS9xEGKwNtBFYM8P+GmkL/0q421B72yO2/o+oYMFYO8nBHLKV5QUJ8QKG//DC0CswLaq8Hw0Cc/qLNX37jX4JzhcGhegg07NcjBpsFBP5XDKsyiAv2MYLGcvOvEBiNlRzm90X+sqFYUf2zD2U4BGH/S30CwiIAMAoF9ibBXj7WEgb4grAytYd6/WY3gJ8PjsBgUwDYmf0BDggUya+LFgUC+FV+uX5bYkIAfqN/WSCQCIAf89v8x56QRygUtqnfZME29Lf9W/5QqBcUQvJ5CgGRDHWuC20/qZFn8ORdHZUi2E4/MRPgHS2yJsL0KY/bLCUa5mRPa5arfO4FqVg7d+kouJ/kzn/c912pZ2nwFjriZVFZd2Sxi5+6Oro2meR7zHh3iqwF55lpqgKzRCmqD0ePKYa8m1jW3rHPkJ3M735dz6ckTw7qMhVRjbB2nc7umrJsLRpGcZNvXwwwrXaDRqvCB7T38764PQ1ZjrWMStPJvKsp1XlKkuhZTb44MDQ4S9HL9ComSMMjeHWHLRxDoSw5yKgkdL3aZLbg1s+8Uo+tTEpfO1UquS37vhcLXKkndTp7Tit7W1asnMndok62yQ6xoG8+p0wUyFlqhXRUfuFatP1MbgQLXvOATNIx2qQnA6b2er7yC5OLRkSYpvf0ZM/Y4s9HmmnqFu/6QzkfaCdKX1asfPNvZO+I83AIx227X5NKsaLMQ5PNtenvEFLQz+aaM3vEGTZpKmAhlu7UbiRTMise2hZoRiEoeNMDll5lfIu/8evA9WLzI18focuC/c5OBY5p9+oYeBxlrM9i/axfZtGzs20Q/5sGSEZtrKKPp9vSkV+115KV1oAboti/0qfdTfj74keKJ7EICQBL7vPNrujQOFq+tqi7lTPLvZGHzBW48fY4ZTr5L84Ogmje9iPacQRJPMqCYs+2fC62cDMBOiTIBh+Ccr3bkibjXY4iAwV9pLgynx9c7cq0pekGagi5yQNHLgwEm6ZauakHfTt5CmjaVijFKZbCYI9W32knr+jKkTn581LNcD65GUytPxiykfg0tl1+8aA1L4ZropZh8vuN9jLpICI+8edfs7cOBB0Z6PezpW+xWHTasFzZXSFsbu8oMJoULZz1Bw9fb9ozvcvynQ53pSkn6/UieG8D8VAFrZvAFZpcxL5tL7DX6hmr87JyQk3mUMn/cIdoJiehzzzlVvv3hlqQ88OqEMeyW4RdILvO1myNcrCfbadTXKndY65XnuYh2xALDqBz8k6dGY6o94kjCVW6E51hc1gBB8Fjf0rkJe/4psOUNQB8PmVD0sfgKuRjsrG/DjfYX+xisomDylXXc+P6+KUmpJjC+JrFR7ieDGRkKYQbPllAC757+tQl/4F1rF1i5o7PcCsRmHQ4TMhGgXB5k4qAcva8f/QMtM0zNk0xcY3sm2ljncAQEpGtdJ79Igqv00tmyOGjWv2ZBYuVkfLRK+dMg8HoAH6ec9KVFZpNQGY6+Zyr2IqP2Wwisu4gLytHjdXkeDbIvom1KVDSXqig0KiY7LOwxIPlMw/qexDNp9yzU5I8Pu9uXzeLrab0uekCuFOkP7Hg2ScDdu+3E1kFxamftY5qknOEyULffzhOkI7cdGhtktpx1vz5ZILNpcX1aJ7d5sCNzYo8Q3yZtzckf/WOC1hr+DH97Gm60Ts9kO/7ICp6anh+1JMPuSrTvnZGHSPtDoThX77nV/pGaY1vcUR2d5MMmeWILw+VLJ4d/2hckJENoppeaTDK/zSI+GHgmTmxJEESwZwFbd0m4d8jjmpbZ2J8RUvjff695ZZ/aH4EZm3arCCk7a5o4J47JnTR4cy/m3JtLJmrJlwM39BgwizF+w6lVDa6QcA5Rde6fSmkjZy9+8ZT45y2sEVfmck4/vyK6ueKboiFVeAoe4X/M+TMHfuvvk40QjLRlNHXrT2VSnbkoPoH9rd68TbBMHvzMetFua5GWSLkDZigJGNdkEJfqzwT9PyceeDg8Abe2N1KTcjGmg0JyYHMzzc/jRBj0kXcjFQtb4bPvIsCP99DUhGyZRiPMoJLAusCc4T1BR4KStDmNDMMSpmrjvmCTq4gJup0NXginDYo7bsnUZgw+8DAkLlyna1wASsIDLx0JLR/Jb3N9BaV8dLDe6bayZr7lZrm51o/y4NP5lGeVI302luFgg+4G3ujPYT9+cqLxUvu1OTdFQG3N1DcgppvZPrH44k8F/DXDAH+sDGpoRl9GXt9ZoS/VKQ7YDgKuOeikBjZf+n6Q8Yzcd5sU+qLmnlcTT++lwdlB5V/4IoKL1vW3Sw7albORh8XJX0DO4xk/cCtDeeilt4cF9IVHbojocoJQqHTjIOF+tkrZ3nuLFvH8Qj98to6Ys6Sr5LDQTX6N41ZQhWRdutv5SRPehRxxKEbHCoWnDEkBT/DTuNPS2RHaeNQONHf09vbbA6qwq5TjDvoEpnOv8ddLssre3QKnDtOiHPhT6ziqBY+vPFmvOy08cMn4qBa3gUtc5OH5XbfhMxyLUaAj0acaWSUJ13qAutYzfq6teI7m06eDSQYp9UcZS0DtCNcz4zUGAfh45feWb1Q4/7+q5/oMHn82exoRJggy6ifFQug2ipjZY3BpzVoTqeKI4U+WfWDMUiuMZyPXxxXcmBM/drmOxWfZLaSzkDjT/yauHiuHx1EvNwX85mIvUnqPP1rg9XU+Ou52c9m7FJckqp/mtd6I7zeNzlX/UjzKqwz7EjHs/Ru5ILfkW3LNVkP1miiYz4l5GEZZHABh+Vb0PjMjjik1wZSpn10UOees3Cgk8bVpqQRnOBib999XkWe5F5e1aTLSdBlyfuQNZaOOXdLo4dEjYsRpX8U38ikL3xU+NiI1k7Ln19mVNiF8hvtsbS+Z4HupSiN8M/IewwSKR8fFBjb0GjpySY0Dgzd0VGsWjPUPvoA2/5wc1om5RZF/7vjyNUbq7uC3B+d75n25Chtiq3HsO1N+O3lsjarRC8MjUS3XNJvTGslSdo8JrHXT9VQZ2tqS+0xH+T8REvjZuC+TnVcqGFBmxjgMEWOJ/4g9YVI/Zc7NqCzwokATwDpy63njIYPCGRBT2VDiEj3p+Qn+xa8XTmDl7Wutb7DvMxnwds2jqf88W2duJvuhZvcODfNebwRtXj8jHIrbrGpriPvdOrUq1iyGrUN5BrtLbAaIfNdIkufoovX5PzjE8yhys4mBL45oKh90EiIUW2KidbFuLC3qaafT+D4/nLajt90E+Z6kbOC/UaYiXSVz2fB6W6jKY2A9jWLus7Gyw+Cthce+ZdIOCrE+Ia2iWl51hHfVypzXsx6RvpGTWWdgE/Oh92E0GKcCBIpQxEMqNG1d872pV3mWjROXhuO+hbNGJMNV87DjP1JGyi58i1DzM1iY4jwt7eKS3IxwYg+YfIBLy2lt13y6dFNjy/6dEqY3hsQAbRivmc79HutCShxpgaPwPPrpqeyZ2CzceXvxp7Hom/2fG6PC/lyxoeaJ6rBY95XtnjOi1dx0fzt8NZ6SFmQT0fq6lNUFQHZ5uI4W7FCOakWLn90/FeJFgWaQ8DU/EeOQFWG3PFR0CMRoBXaNogk8SDFL7MtibOWRihvoZRzY0eh7oKXwqX9ZWtuf6pL8dLB+UtN5iq3mDm5eZsi+ftrH7sftk10UxI9YDOAErtNKlngVcZ1xyEDhneqdqJICc1mk+QvxNzkfT4ffs3Gt+/Ukby7khFASziWWNaJXGg/SrvdQqeoWnIrMEnnfV7Nk94FP0mA5vUfIuTd8gvHkwO2tiudzhL8pLh3cB7WPw28ujQuYec+E2Gw/LTfpLC2lDSdIDW0uaoXy4bEc64M7O7f8OzBhPHAyuZhVUUa5ZO5zT8nAR3GxX3DO+h187Yc5zD/AhLL1xg1xc3r20OnzBn8JEpLq4CXQ8S+MGjv8o0MvAqpZ9UMnZvvLvxe8/mmQWoiXE+ATwojOUtpph8rEqXz/HjL2ML4+WHLJZINwLFLDi4la2BTLk9UUYtzw+FauDNfJEhQgVkwWIVlubIB2b1cWC8UMyQCxTe+2ozyvvR3CdAak/v6veL1zWFV6V7rF06fNrlcqrNaYcRidhMJJ3Jo6zsnXqpXfAnhRGRbtLrH4ZkPY344Vy+rUBvNtr+/+YANvB1CbzBTc4Z2SG4oLPpk6RYIcQEhannWHhNFjKwt4Ae+Ut6MsNuOeaBY5b7fwxF+YUa1pV6Y1T+Zjo/qsJxpeh385urLuQEUYeuRuNSGsr+DlP32brKqOtvhg+LobcLa51OtpgRHyPDJfRfCgpDRQfl8FnLOz1baK3QfKciIyamPZuOtgyrHPuim1LrOvXvvLc14UGbtI6wcG0Tnw3YZPAz5Pg8cdjGMRj7tkN/BdSpFoUnDOiJtCTTeJl26xLS3jqgqO01yrMveDgkDFFItVjHYpuQsy4nHsKYjLOW0ksBGaVYGGNJvZD5d1ffpuV8dG0uG8yqP0a+GJSFeGtl9mesSXqlu7vrZIZDcKfPim6aXu2BP8eIbG0wpU2XWRvx7vzHTj+yRwMIR6TXlBLnqtmS+bQHrRVR9sUQeJ5OaTAV0fVpvZK5+UrL6+NPAx2eh/m6m2Ru8u43aS/KjPmhbtJ1/fG7s54sedIsctU0Sup0fNy13WSWyK5RMN1H59Ys01x8x806WqrZ2147AzGJFmc1snPN7g9bGglTV7pkNk4fby/uKBHdfXHl0xbQcOl9S4MTJpuedzQ7LM000rwnzlaElOq0GGCTVBKrCOupkXbsa6iDUlCuXOHrFxwesUKLCmU1eDOjJJ356/oEEO6nwlKTZC5dz/lXfBcKNsWRE1mg+VejTt/14y9+KxVTZKaKQo+1vtvqbtXclJlLO4Bev2SCGgVsMwqzlibltwJToL9NyYaypTQErSsQT98Qkbzx+ttdwtY/GZ8qz3qyRdlTcKUhoCJqTPV3f+uhzXTLOxiqpHRWA/R+ollQdxY/5Sdqzvy6i+FxU1fFJa/rpGwYJslMFaXG2w+u7A1u0bFnczSIJh2eDTiiyQ9YQYhZoheT68K3AcdM+vjL7gGPVS6By+tIoMU7RvBxopak4zgtWE21S7n4jYaSl+kVyJfkU8qtjkc41T2+rhSnL7Fm0gLvbj0vZXL5PxZpNZ0eSvoeHRq1CweTh3Xmvn5bqFGxPki8SdrpsLfbaL3q9UndSlh4IKY0stkq0QgGMErv9b7b9UA8+/54lMEdXde9mcQR+xuVmnwVxTRrJh0TIowvvVmODIJdFvHjsG0njUBTDi7dBXeGhfu1mepP5Jh19nBs+82Obbr4eHU96dDDceSO7mRByHKWM2hH6RFIbSYzL5DxvVs6mEBN7aWkTgUrZ6XYG3Y2Tue919Nfw5HXzOKvC0W8catk5Z8+Ro0ozancFOAjSeZHRpJrbATVRdssHgqzSj5T39TeS04g4t5SkJOuda3qHms8WPquvngqgqZkKmhbO5Rscw1WT3uoYDkRD+gUmf7Z9RFHyhc8ti35QfGKtqJC/FLNeQy09h4ofs03do852da/kFLCa68rQgTLkaK4nA+uZvsmWjiNBqce7pNZx6Xu3qG9T2OoFGF6xSGvOXckqn65pMmRlcdTz7EcVoizZBIjZLD7G8ntNIQU7cba+mBs/q3APIWjkxrXNRwGeH8uTViYZi/UP9CHiuZHoG4ynN5WLj1xdSu3k4Po8+yOSBgmx8NzEKAHvd+HVNKGfm/yZX65rbnzSNDEKufdCjH4pNjcFqSzR6TmUkztGowyhJE3K66nokVY/3Igq1Riw3XmTbMZl4LU9n7gRj9frRSw8xjftVHaPqE1JjW4z7zNwEBfSGPCqlUaj+MZyeMt2ULGEOz5N/6CTt+Zcw6WKpJT5Vd77sJ8BPX57L5oXiCcpqA6M+FFdFyUs1dvyvXab7QOFDecrrhXsrj4HwExwAPprkpKeoo6QpmXT3N6arPK9XQP4+HHK3c0ll3tzeQeJcob5Z34apFxXB2qW+AyE1P4Pksc9jGWVpLgCh1O3rYqyLop+pLzcSaz4Mr+h+n6A4lUSAU5zphHburr20ZJ3DE6mGI0QvzaTX01z1708aVsR+n4CXIIEzE2qUTGXIWZYwTqhlN1pSnZe6zWS5TzaSB5mSembWfiqM48f+4iRixqikBzhdWxRLocrb+WWiRpL0mPA2oGRr1PvUN8bqoP6nacf2FV/Yc4gvYHRihAbqwWmDUX6vZvY7NRl5lpwf79KrpKCIU7VzcMtlPaqK27rI4iZvvmpxGatT/oqifyCJ616XFd8NVzef4T2mSXpkrc12QNpL5vYVy+MCV4+7V54JqJLFOGsML0sJhsmG/p1VYngZRxOAqPFkwNvpeTPXdfdTEts7iXaxYCvUv08uSjUbRfJKntgYLAfuB/dwcunkWOEvCs4KC/HseYt1/Gd5stEMD8hYRhudyqC/+gpZoye1Is0Zf+QZ4SGW7RpW+2dzYm+1AEtyAOtG9gaYnStfsblg3CavRn6LFXtSW2IvYspUnTV3dtgXGqAecmLVPqAN9sjEv+n6jtq/xrz1h8+kIzJg+p3vFww3F03k6kFzgqtzNRlU8eY59cuUaPS/LVkXRwgFSN/ZavddsFnC6WG7Iwc2i3ecYXmikXJxHanyy0lcTzE8p63NQtJjjsAjJUJ2cSFyiIrTK6mqAgpQqHLE+0hG3oro8iMgPvpHtVM57L63iTOi2Hvc4uWkh+/Ik33462BaJHjhx40GOFT5P3wCRikoMDNvmLQOqMPF50srlTledg9nKcQW7sQ3bUp3ULEzTESZCT6QizgcUT8vfTxxf4u15TXYiy3m1jq+jpanDTOm0te5TMWcDrHXdmtctNI+2FiGR5AxpOAlH1A1+btmoa3aCmTNk+cigHQePLxMxZulqcqdCF7abxlPTP1pxSPfRDCIYPFsy/q7SvwyJUfJ50PcfRQB38i7C8tOnms1conC2yY4/2wPG1oq3gDJ1jUHWqUWURTKmVXTIpEYuqa58drMEamurbhjOM7Qny6XmxeiV5fKXafnJi10OVXDDuKaapS2/wA1rMGTSEOfEpMQ3ZGhmESA4Sm7Tx7+Gma9e1dP6eM8D2/Pke7RxhVdDoFi6CmN/e0kjgkTM2je9szEgDLjuVFjVr2MrFREbia17Nuyp0LfrD8YagjIfaskOa+I/5GyQKRsew818qkgR372Pk0IrY5MH1dJlrk5nLvQABXOrFuIsmL5wNmnsJv+e8OL/m5ZJRxQunY+GnnNV50qpK2LCYxDxy+ymUEah8i7jkhx4w22Hv3Vq/xGuRzyhRzj54Rj5d9GxQQjnRqX99u81PnE370ylZfr/B4KpjLdvd5mr7+QNMG58/rx0JJwrQp9dalIfOhwdTaC9WISCYiYVVuW9m3BiraZTcXewIvP4w4Lj/ZRHY7TC/gwvEucTqF+0Fk9hVFrQnfNXu3KC20SLxb3IkbFLqb2Hrk7tNFDolssJpuLZKMxp8p327qV2/dFjl5cK5u9IotIu5y1Dvrc8SPpGtqqUhY69qVCcQp14rWlWNm4ZlKz5xE62ty3aINtnuD0USsShJlODEUOGHsXLjXqcG0y1naXkkXgwN3bbTSzmQZX9tTcp9JREwBtwWsRL04v7UJIUmr9MTauRn58D2EmXLRw3ZSh0/qrbT0w4Hb3CdNmt9TPvI0y8lA+XinEeUTT9cvFemq6MjwU5/1B7oOkW/3j1kG0Bnw3Gbz6EGkKhVnTDuGLxBdegedbuavg1kib3xV0oGj1rm3R46qfPKrnE5CPp9YBHGU9HFEdF+tTf5056uKGTph6pp7Xxxxp3e0eGvANdnES/DQKKf8xhG7lp0PPaGdoc9EgxRCIv6DYQc8IPQOzNNPj0/7w3nMbUV6cGUWx1tY48fxugiP6zq+vlvs07wWscu5vOk8ea2UfAg5xllPuct93O/fg2Mjxa31ZoXU7dgLsq1GWJUuj9lk1Dwq428fZ47TjpU04xhCuHyCzI2Qz+m25D+ut5PC11e3OU59Z8hmb0iK+VkZG8peu+xNzwqeMSGq4ErVWiO33eOMoDs2xPER0veu4W26RqB5DnGYaW62KnAaNeMpZ6rjLaws4Slae3lMR3W3MuilZ8X3bjccy2DzxYfS3wK2rjuKeiJDcWPIOEzfcAR0mVDEGNygaNCjVEOPJcQPlhPFXu5q3eCs0YSaQRjbDCqp0oAK4QbpA1z7Y3fIng7wUuX4FM7JNjqdIQ2u56QzBUsHqbf5NtiSTPenVZE6K5gWWWUT6BXKKhxULIjwQd/U0e5weifkR78RC0sosnyxe+ION8smfyzD2XLLfY3Rc9Nzmr1ada/0B9f7xtmiiPuONoFCh6cFw3ENGrNJTt9Zx3eog8eW2/ElJrUI5R3P3hMvrI3FnDjEpxA+w5uVqbvXx6ezL8VHpkAM46K8mb44wVu6sqRwOcWVZgdcaOixV/70XhWZ4ug4xAqwfvbFhgau0Nv6MU71zRkOmtKoKVzs/OJIWriNcHm24Gm7YkdnASv9G3xWhi+tgRrMyvf1B6eBKyWEY4StA4srA5qZd5mfsXQwQLw8JOtV/T+xvSrvcXWjDzWR7oswxX8jkLT4aFzzuWegAfLdAb2B6EXzZgUj2ar3Yyobm7he85/2pRK+BBWUdBu7rWbe1l8nd5WEi9EFwfviZweo5Thmi9f+MpZ4p6BZ0icU4NovdYZZwRAq0QqMXg37mm6lUeSiNg0fkG3Zn6Wk+NGHz6yV9Ne+aYGCckI/Lb7Er1f0ARZW9yg7Ai6yg62ydiCjJv5TohY7TFSPKFVHjCRvWc8uxN8i2BQQh5dVrMX0fRculCB6gfjEUO62+bFNP0gEb8k/r2n3lepFcgQ7i5rOYNB9SMdn0hi84eHBD8SgidznJKPF/cUhbGvOcE/vN+d8pWviJRMreLsqHBdkpFZVLMAuJsojycH25x3EOjO1qtm8xqcFqG+7w3d0clAO6gZSY4HfYj557R2Iuq7qfySnXYoKxoNqz4hGtAkLPbwjPI+yvn51XhtaLmyXnDZYT3/eC3MjpFlQ/R9/aIy6CmVuZHN0cmVhbQplbmRvYmoKMTQgMCBvYmoKPDwKL0xlbmd0aDEgMTQ0MQovTGVuZ3RoMiA4MjI0Ci9MZW5ndGgzIDAKL0xlbmd0aCA5MjExICAgICAgCi9GaWx0ZXIgL0ZsYXRlRGVjb2RlCj4+CnN0cmVhbQp42o10BVTU7fYuDdLdMSApOXR3d3cNMMDAMEMM3Y0gIKAI0hLS3aFIg4Ag3QgIqDRKxx/9vu+c/zn3rnXvYq3ht5/97P3u/e5nvyyMugbccg5wO7AyHIbgBvLwiQMUtPSBfAA+PgEePj5+bBYWQwgCCv4bxmYxBnt6QeAw8f9FUPAEgxAPmCII8cDTgsMA6t5QAFAAABQWB4qI8/EB+Pn4xP4hwj3FAYogH4gDQIsHoA6Hgb2wWRTg7v6eECdnxMMx/3wC2O05AEAxMRGuP+EAOTewJ8QeBANogRDOYLeHE+1BUIAB3B4CRvj/Rwp2SWcEwl2cl9fX15cH5ObFA/d0kubgAvhCEM4AfbAX2NMH7AD43TBAG+QG/qszHmwWgKEzxOsv3ADuiPAFeYIBDwAUYg+GeT1EeMMcwJ6Ah8MBBmqaAB13MOwvsuZfBC7A33cDAPIA/5Xu7+jfiSCwP8Ege3u4mzsI5g+BOQEcIVAwQEdZkwfhh+ACgGAOv4kgqBf8IR7kA4JAQXYPhD+VgwDKcnoA0EODf7fnZe8JcUd48XhBoL9b5P2d5uGWlWAOCnA3NzAM4YX9uz5FiCfY/uHa/Xn/mqwrDO4LC/zbcITAHBx/N+Hg7c5rBIN4eIPVFP+mPEDY/8acwAiAEB8fn4iYAADsAQD72Tvz/k5v6O8O/uME/oYfOggOdIe7AxwfmgAHQxzBD/+wA71APmAAwtMbHBz4vx3/aWEDgQAHiD0CYAd2gsCw/539AQY7/mU/DN8T4gew4HvQHhDA9/vvX19WD/JygMOg/v+m/5kvr6mugq6SIudfHf/LJy8P9wMEcgvyAbj5hfgAwN8iE3n4CP7PNLogyN9l/K9YNZgjHCD2V7UP1/RPxT5/C4D97+XgAPxnLm34g2rBAPZ/i9yST4jP/uEH+P8t9T8h/zeF/87y/xL5fxek7A2F/nGz//H/H26QGwTq/zfhQbTeiIcF0II/rAHsv6km4L+WVgvsAPF2+2+vGgL0sAhyMCfov64R4qUM8QM76EIQ9s5/qeUv3Oj3lkEhMLAu3Avy+1kBcD+M5r98D6tl7/rwdHg9SPKPC/ywOf95pBLMHu7we8X4hYQBIE9PkD/2w5AfLCFAIPBhFx3Afn9EDODlgcERDyGAh/aCAY5wT+zfExXlA/Dq/ob+WMJAAC/Yw/thCv8gD7LhdX94IWBQsCPi3yjwb/Sv6f4DA4GCAF7PP+Z/FGnv7fnARfyR0UMH/9h/HgUw2A9sj70wC7eXiHKpj+q8qJWj8eX+Oi41xfLVJIODO3DBs8v7Ch/zJUdNdsSa55ncy+EewuVNJfZfsosMt4E/2hoxY9vT9Dqug25sUvQnv3Zgz0+QD3wq+iHX0E/3iJbbUHY76NYjyDjcFbUN+b06S76Htyi+7huSC98+Fb+G/vKl0ZjZr3rbNcIaODfln7kTjZ5Zhr+dZimwy5mhZMJAcNNhPSE+8iOY/nU2RZz36Z5BPYUTO3gvUaA40HydP+lyJmCl0pDfq5uKmcqckg71F/HoJGug/G66OsVcYGnx8sC8X5tkMUMeHterZW5Cnl3+rBqIfgKspbfOZ3ThHXAr/yUgio1mgGQrra6shdTGk0mHrKbDJoEEUSfgCqbbfecov9J5ZvzB0eUV7aLY54Z7wDSemfOPsNYPgdeNHivDIwPc5zGv2i+GW0Y2PwSbvJXpl6F18gU+UXK2iF9eEs+ie4VejhhD6TYBq5ESci36vBS9QQdFSwZGHMtfUQM3ivj4zEXRe5FHaQ+E8oOOk4Krmo60361PE81BfYmtIu8jhbXv7d6/OjoqonIWULLNjmEvyFL68LRgNZlNT6Ie3DQdWc57tF5FzqNY5s+gmbohNH88yFwsqKbS+3WuejjeMsLf5VKskOfAuMqo47lQoR7j1l4C99huU/iQfGR0n9iZw+7GWUWFvDXZN7jx5VGVb5z8cNIXQ5Gogqfv9MPyur10MlXkElBKzjdneh/ZPd43lPdhdGtJJjAxlLraHOsuufHlKldTZGErXtDq1/gmGRu0YDWvWNxLVRsmS/70V0sYf32XzgU7Em424UoSS/b2Eupjm67hFuPjO2p5GgPDizePA9aReuc+j20yfpzcZA6EVlm+FexrBUgIPctEhaawMs5thr0+XZNifxZ/5xjfumrkK9e4SFuXNT0AXtsbGkWTf4zZJcBHKj2+pwooKmPLXtUs5iS9n03LddkIyJG9Ykhular2sqxfJf0lGV0hZdlthsy8pigTZ/T90cT2jfDLvM9+KgV6sMEKmtfxVFuQGpbZF7mMc5PYmvxIFHUWua+Jfm4Wh3IwPnOMNo3Ast8lSsBC2pScYSMdqk9OP9Yn0RVQKmCM4havI2IjWr+bkMNXJ6jhQV/oq1dQH0dSR5QjsfYGimA8F67DfhxuPNE70f1jZlZ1hibtNIG3bARfec7Jl0lZ6EWy77FBHHNQzX04XE9yfGf8FQ7OpG1Is2QOPZCvLAgr816y45vbYWPL5Xz26rDz0Wp+1FrVtzCspqba2iyZYSpbmVOR9B/kODaj+egWL9+divrpSgoCZ+hOpRCfLlSRFgnwJIQz21qDPTW8gd8Erl8bKSChQ16TN6oiquonp4LP/CnpZ+9C7OlZLNc8DsMs29u3BXUEfRgtsmzO1drf1B421NyQDWzbJ1DzrdFVnGipX2rlmfFVjib7BAqvUb6YtbzoBaB45nkMv2YSoJI6R32RY/jZTINnWYPy+zDHBy4KlRGNQFCcgrm8Sm4XNj2d/xI7frwGW0wvvw7flPGramE1XWZm6PW3q8pW7jSKdYtuyh/T4LHhhItBaiwqjdE5Vn4Wpxd2NQGx5+qjVJlc3vAQrUr+PsqAVe/UzPzYaeEnrzuelOD19+BVTN6LvR8vXZPpK9R4QW7PQfnx0/kXyyOnPEQVq0zZZtKnvp/XMAzDH75dadudzPkO2pYKrVlF44s6Z7OfZItN+P0YdkU9GDUdPldv0sB/hGwBjXmfDclLydb9vNpn5Ev9YFYAD7hk3r+cOB8MY+mrej85TOb7ZfULvxW8vHcNUG1zK6Pm/JHAe7dA3u1AGYNCvAmIjzWf7oBVNuQvfB7RvbgKoFPGK42i1IQJGZz4spZx/5iqrclVCbgoFftOKTXElrrFPnrbqXbjrH3VOBu4pUMMwM8Aomr62M+4kaFDmkq6WYeYtPa+u/XJtpjMxFRRFlW5Ldux8C1koD+5sn39A7OvIG0tjdfxV28OtItFV4m/QJzeWI7DQF6Td1uynPxAiKRcIVeucO08BypRHfixG4f9cfu8KTpMGSOVCSsBKQMpSjRQfx6eSvShz5CCfcvG5AjFTu4uVCMIroVjQzI79cqEaO2ONqULz39La/deOKwiv8666xyEyGXAktUB/ijgzUFSPmZ40SzgT/84c9OeQEtrbkKl3/x2xQLVrfK+PeDTM+VQjEfE0PLLCqYedelqMNq8sXyyiTxt8I4xx3O0ZYOhJQgVV8Fh+OrbQ31i8lby4q4O5cRB1PIu3Rye3S5NtMkwvwu0Ekobi3FT4zgiisHTn3r5NXiGuve/fCLzL7HBI1yp7neL1JGeoc5pV61p3uTHz6Oe2XJCA6mxzsF657PPbWQdKYQFqFXXdEE+kwFURmNkNrV5Y6QD5hVA+iflW4OJxDXJWpyDdu5hMRKBK+Wjj8Kr9ATId42NJeYLOsfipvDxiKt1eHRy1yFcnaKiFbP0kXu9MdFOeVKWUuuyTMrrVxrKF4YFdtcZKe+Mw5Og7FCn6g85i3afqxJXGFt3y2fSZz5afrm9BAnqASlqR0MAFWIbHsbFrW9HiwGpXtau+2+8HJKyYPgBKR+wMKsKd4rEZ2k1cwOorJKIjso9ceKL35RH+mgrvkvQUhERY1bThNyxpsnNO9F8gUGF/ZFj1R8lK+s0nUhqPPr6Q3esSCdJTo5yxCcmLXT1M/QN607ThdnXuUa2hXEkk8WJr5Gs3W/4wjUAd1Rkr3khjyALn70f2eVS9yhgiw72BcipFs/kCSBj+/OcWOT7tW2sIIBy3lXlObjucp94LAQLDeb57XxfcNoDEGVFB9pgakpnWsXR+hWcfqZMRvqQrQoJThF3yyJfPypisw0VbOsVIaXqseXdNDJi2jyb5bZ0labzL0ffwtjp5XChLSSTB0DbZVFvnlNvzoPNBaarU2mJI67QgOHGSRZseEfNWr4f6hBfhlcE0ewQFbEJUNnv08H07qs1gNOdW0pik5+x/6+mRaLJHCarxwEhlK/euvucfMDLoYtJyTyb7y/l8ZQXe8pMBms1U6hSAF71IcodZB+fl4oiTbhqx04naNQi509JFHZ/n06DhitfsWPgzD/TPo0vQZZY/1LscFfZc72PnFpFeLP2pDNecqCk4OVmP0kUSTmqV3eJmGSTSjKegpJttPG3N87rXcN9LGR6aePKxXDdrr6NSaLIUOby511MkwICnee6YnNie+aJXmKxyGy2m1X0eHueiyaX4toviveGvKZ+Db5oYZDFcIzEzbamM1mJZuUX9CUugwbgbDNP85scktT7rkQP7OmI2d0XfmXSKckjGRkz6X2iTGy1wlti61/+TK/uUdzwC0u9lz00yk/KlyGG5MeJu9bagDMHm0It28iiGAMWwwbtdg2R5BosTv3M2T0Lz+KsmyGzX/0k+2Ye4ODOunla3OKE83mzWN2rn9jjyshGSm/2Tu+eHU1pRHbPEKg+Y6tvkkY215MdJ1BbWEewFG7dp2d3W5RyiPSxvrvJdx6H5eDWUX0zY5teAvU0G/Yes5l6hk6vZfLCbGAvUdU1C8hxsNjTZbHrd/I/TrzGrmrSpgvUUG5aWzqyds2yW+2BfQ8h37fVrCm0wloCFRkVILf1B97EEftsHGquLbdvvxFM+wnMYA4l8XSTuz/weknaM3B6AjNfQ32S2SFVdj7i9esInkVqJxuY4j+Lg8WooMCQEEhhj8VjEmrevHdIv81HAcNZt3OPdvLSzXBg5p60PKsZn85i1ZR0f49G3EoAJcENagvJahTdveIZ7ktv5nQcHwzwL/WJZPhiUy8fUD0Smxfzk1/GZ7oTCwPl+2nnr7nYXlNkUCGjKNVMkRt2+lIspZPvAiMmNtaFyFflR2ay/gZWIcfReSiZVZdQuPzst8q0RwzpOT6MfJe7LfHKLyJwV9auDsqU1kAWcRGOF7p+gmGq0flkQd8xTW4aJZZU6GdJCc1ImATkfwotnN5sX3xRtWSaqrDAuACmj2fu2wtpX4iVu0vzi6h3yN+eNnnxoh7ENzux/yzzI9PjwkdIW1RviI6lqXj1t4aLM+gzi1kJk7LGXbn5V3NAmqjifYa/ufScmZQmaPbpy1vT6cuDoO9/+DXY5M+Z5YjXC2m9rUFb2z5YIj2MxyRJ6qgiaKIJLb3mdSmKXu9fKGAMXrV9cfBDkdWENmyofGtWz7SNGUN17e0OwShCraiq81Ho0AzPghntsew8jKzCM53Q5ucebDm8Bwvvnc7NJkJOG51bEw+WnvBKBt1mldzaJnrJiTS1KSSXfCBZItGWvnZiv1RDPnb1SBjc1/xhmaEmpRVb+sUu9L2ee0oMdcWb0CmO7pjmnMum4hPeRAlMAyo2XOu2X+JbCDT1OhfZ76R+FQ2RSux8KiMS4+1kS3oeKEllgy9cDdnajnIJJXIln3vQwOa3vMMRUE0FYJppH0BojPoVtkfKXJ/H5+Jwma2EiQCgggFnN22hLrA3hB48jGLAP4YjUKGerrU4EvUSyn481cSMRd8OHtb7yuvmri2kIYJscguOD+LoXZpfBcWrpletm7dN1Qh6JxoFv+/v2+n9WYpBagSYZPyYbvZy7zvSJeM0shrWtNnX0qk8Kg2WXftipZrWPfrrLCn5hVE1K5owAwzgOeDx6VQ7kTP+qIVejKZzuRn314gQA887f5AQQEvXTKVsZkKCXgwtkdYKrWySwgyJPCFaVigsdWVtkp0a+yI7RRonpzeyZVhR1SX2DeGmF5knWYTfcjr2Nk+P9OLEbE1NwSfXV9WL0D4J1vSax5I7i69rT8DPORwnt5QDsmxbBltk3myq2SPJGqiypkveo3emHqCBfWBIoiThOcoRtJabxnXlAv2noCo5Rn//zk3x4ylO0lx7xkK/I/T0CLtPWnezT7/wOgYLrKVn/fhYMrjJpFKWTlS1w+ao5TWJOc1gamJ0G3xz1tTSatbXlGiNEzY9x+IyNsio+u4wQUf1Hmt4LInB5rI5QWI3tn78JDRlQ73VpwC/Ptxq+TE28wJmOcESm4KzTLhQpmSUAeUtXcf+x9oPx7JpVZQ5j16DKhvDuEkz5ULt42O+QeEmyI1a7CfJGJ5ILW8fL9nOTcDMAl2WbAWCoCg+dNW27Wxq0Pzb0PU6xq+NNwW/pnR7RvYCX7zBUKrJOJQadwftWuOEzzv/0HFFtc1pOcjadL+4wq0S9fZfZvY8SV85femN7Rhs79HLKfTBP4TxdsVqJueK5qJ7D9+Iqwr5HSKfYxsirnqS/04num+JvdoGrBP+jU7Z+N2dxwQGuXSl9+56H7eKeNyX476AyNzoLFVzS5Zko32f+W4keryJgE1ryvWP8on+LGHahhutzQJSlNWmP9ZlOt1I1VMvyLmnBKLO6SCbc6qyy8/DHT9F3rq26vP8yPp168MWNujGQ8w2ZrDZo9gxugD1v2GgFEkjf4Nr9mtWoaGq3+1bk3VzjYq3kI1KFuZF0wKw5JoAwftsGuduPXF04wh7XfBpHbAKFmdzrSgd7I7Bue1Y7iTmzEx3VdqPbCV7qHVpO2/9uU1F40xCqAKjyHfwRwfalpqnx6FcqYCjXMSaGRHEuzKsZ2Wr96Rr8nDvM7GZJ+E3OsVfZ+LJiYsO9Jj6xagrgDQ5BBHuD+7y51ykHBvtoPKi4XbnjU9iFtNvve+xDHYoxTRSqaKI+gw1ykCmzFu+TsNpzTqRFhsofgk0HoORhf5oauzp950uhEKab8vVuu2bgoOc6buZUwIUN0iMPvU89+0wS+Tsuq00Fx8/3On7VNSfDXx/0gQNXQB30wwi23pfyKJQB6FV7jGQzS7H7Ta+HrBeFKY54M31n7y2BR0VEJcM4cVb1IzHE9p+fjeqlFvY40v9AX0PRE+DWxCwDTnRBEVREAe7jNTuDMteF8Z/De4P9SPYPjRpRsfM/AqL9UrK4IM9wQ/Er4HKmJcFnCa8HCFOkG7dEd1ncOfWnGQdKrxGPdSwlQbYNpay9NimvzlYeT/sVS7T7vOxY8Da8ubpk1Sy2Vu9kS+l2naO0ZxLne9Wo3LhTI8SF94aPeoMmDx1+u40BtpKeu7dqJw/mSnZS2J65b/SWl45gXL1pBNlyOnsXlDGlN+q57lgqerrsTdZcyevrT9MeGiC4fXZGUb7pyG458WpqRMi0nscA0Wnmaqw57ko7aVVciJM3wIVY/QlefkRt1r9gz8vvb6WhF27iqmZ/kx1LCzLnkTduP90e81JslBiqrT3Np1wiOf7F8buiV6mJ+pLBiL43Ytm9DVYtLvohy5LeHSsnxfkdtVxOSu24963dWARLxJL/UrXLvjKLOxTb0BtaEb09PESZbXmq3vB8bcHOzJZSJ/YzvbOey9DlSkcjFU0Z7k4d8i9yCpV7orWrXlbyzwae9GGz5Cdn/UTVF5emtNXBkQpliFkcQXOwcSvs/J2teZlpV04JE2cbbe0OuOk7+feDN+HfAGv7xsrqs8EvWpvNyUInnyr4Bk/RDFgOCQ3tIvjSHmLklGY+kI3WAI9nmmqU+Ns6vF4imF+C77y+ZXlDvXtufV0GiodNSqOROaj7qDv+gBFy74IPFXvaeF7vf7biQy2HD2BITsJv8etSQwCpwwGo+LlLnZE+0ssrQj1FExe6ZECnfuDbDpP49XwHio/q9o2jE5pjo3DvA9NVmHQnEtUIfg7QoudggllCUIubdZSNhJIWbxlnbbeB7UT1emxnxMM3TKG4vuy88qHFDva9ziYBqYfVvjqJCs5OpzXTWYxwrsEHduUFVuck5d45hsMUTisDdAnuemjYb7Bt1w4cebarUpkEwrIP2vOccxwEvXRwU0BPdNnRwKdny2xm+cR+3d3Zl+EbJMplENssvw+JEaiGuUGJbCZpjYNxkapyBIYzRIKq+FYMmRG7SyfSd+IDxvbXKMMS8+UiD1R4wsmn2qyZAqcJ8M6FDBaDBg4HvbeUs52RB1dKIr+pbtWOsKh9DxOlCDixqg4+8qXo/rIiST+I5nHtPi6g8vj4raaZbI4Z0yPQZzi7E4vOB53m2wqtgaqikjyJlNVkN5ELMp2+dVXgPlJgFdQdERwYZ/mTKMBSXyxeJhj+Yxb59seOYHD5NkjAxz+PimqlFmLBoeW+bQb9WzL5QZy+iraE3L7vUXKsJtLgiCMj4h3LsDJgSy5Hc+7eLLq7snqO6pRdZ8eLg2GIORHJ43Rn14arz5/no2dcZOlF9VosbwqafTBVJwWLWJxScae84xlve7RvnbHsryBkFjMReSHBuTE8lym3tm+7AanXcNvnStb1nZlJv1YGEvs9U+YAc98MSovdjnI4p+lbUZbk2ozelb1mgUUSxbHsFJ4vpKQc1BToLHljQsPxuZ2ASALB1h+hJ4QjN7GZ2sIUj8ZC9fgpppbMSk2+KqbMFYtV67CFtlH3rd8RdEw8XlU6ZB/fkJVV+QDRQ39vtmWyTB3vXL3jL3fo3bOJ0XbKRh7Vm0pWrRIdmMlh5aTkYMKo5klwV+p/GT8TMM6oeF0ci6RuRyJGIcHST+mAspX/GLuRyiPo6JrVxpvv/s5Uc/cfo3neP/+q+DZbDIepNWiIG7kqRZFaMfxYvBjIobsdd0iN4pF0jJr6Od5ETk36egxvJyUBOLo4PSr9VJMjkWftPcSxTvYY1HaAk6rWi0kxB9bzVcYZ0qO/W3WI+WvdYovBFIbm7QVKqp76kfFREQ3x3cp8KXNKJ4/lq3GuNetrqjEHihBH6BXAwCz2wSfU7+Zx569SxiYp3IPR+1Il4HjLIJoXjx799HYvc8fbfW1jqs+Lv30D1qnnS/Q70oD246Uda9z2dm+aXVp7F7sqaB1oV+l6DRcKq2XNky0SzVzO2N/W6NlmtzA3x3gKKZ8ubIJssijBwkaqAMtz/gfd96Xu+WjlREY7CToNXJoS42nuJ2FVAmkhbnGnMVzMmcmAapDPkasIuH2Mmrgys6BljZtY13P3bNoHKJiWB0GMSMQafdvyly3oyKNTBeugLXZm2Dpn7wy0HfmaFaER7we6S1UgvYe6YrMHt4DfBajt8Qu9GAxt7hwhWdvHgvAc5n7HSM0479lf8LP7yTFrEc5HaN+QSb50sgU/VhcWQD6mYLhRsgM3DWDQ0r2UsGrwnFUHmdNwl4oOLJ3EG/1LmOtWOzjW5nK/gk5+VWOEPmCVD31BDkKqHos1SKXd+E44U1P7tI3gKWUVOFC6aHAakbylLs3Dh2nCIZHP9dBt4FUVM1JTAVSDFK4ygaMRBqZDXNr54lrX20bSfTYcJdRSDzOXNnbheakouVIg2Hzano/71TyqA6Cwh/gySuc2qZV95dhqkci/VDS287tFLQoSKfqU/9Qu7ySZtcbZxePLeTeucPCs+eugobqhsWwuBAP1RSay77krjIXXbqMIsrAX+MlxSD9FK0gFJth+rafEXvFydJR15vaybP75zjEIldz2WKduBkUuSLBYTcjZ4LVAXSMzfrh8RUbKv0zjjTNgEahDxdDGM0n9VDwuzbOVweWRkI5nvUSN1RtGAmojuLELvM6UR3DtyG3LUk0MFpnzjQC1ffY7Hw0yuLWjyT29q/JnBRen1NOtdQyk69Z7VWU7GYKt+7sNdXjtw83X3f79KK7MF3Ma1dm7qAxoah7EC2UhMPIra61Bsgv8qI6gUhhY1FRpaZsWsfFb/jrDcTZMhl1sWiLKH3VG9OStjqUhj5wmqJUZNF8smkTNHqrGYIs3q87GMF3ucoc4ZSgSHu8oxiC5y/M2zg3tbrOa/6065sQqWUNOZZ+EkJW3Kz4+C74U8zC3s11ouqEToYahycky9ip+/NnjJ9+pvd1ZRHF47HgDWd6h9Z59aA5XW3TcTY8mXXpbVpfLbEvJ4VTiAqWBskJKcAu9g8Kky8pi/42ax6T+HRWRF3mQpRCC9kEpPIgMRrtVZzxLBYrygaz1ZLr3rtdlrqlcSxpqyldwtagtOrb4CmOUjeC9Edsp584U8a9CO3xkHtZ12rG0LPwcIp5inVXuPHetzuwZQ15dwQrq3+vM1zr6U5+Rpjx3oPK1ddSvWXa6Us+zFxja1nVfhi3iUPNVhKT7Y3boYCmkYpIVbDZi8dOr37yJaOGOnhuSpXGiAxR1n2CJKB/P6IxkG/15uxcVLnZPAlLL7N4Pc7cEthJfUdFbvPsmlkcVT/S7HIEZ/A2xJfVUG6pNTvvvPLIKVuET/KiPTPvFM6kIhlPwi9jlcXTi7/SwZ5Uar3NABIQjGeVflYS35eyhca1L+lguKZkvmvYQlddUdft/NFbMD5uVJjhCJahGVODX8SxWByr+5UvU87nUj6CjhOomnbSBgz9pG7NoD/MRB0tWACKQRt7AgzFoan15OzUUCK8ko8njA4WapRSUDlbuiHAIt1/lCXFOU10nVU0wHgiwjwnQeh/foVGds6ppItwSrx9N4dn6Dq40Y8/vawvf8alZKJtCCVjWW+0xZLFliienetMqhg6eyOw/sTDonlDWe/pjUrbuVYo8I6LH87xCBNtwqVYwtts9DNUnBjxtjgNXYjNXbda6HaBlFPRH+m2bhF9lOw+08ha0F5D/6i1VfrQckSv3gHzinw92sLHvDcAz8tMxqpJefnwC30JXh4Al/DAw7ErUZqP1gQkx7CuEbEhZsdCh5IXyitZM7ji5VrbF5vO7IWE0+uyApx++VHZf5XoVzRYsBWfiLm0KzHR++niBWmiKJ7vxc6qVjXS5LMX1DkNESeU9N3YKFjrSgyuuIXC2AuvDt/2DFDf0YbORKGNnn3xmoEnSkn2BEtm5cdjBbMP3892ZgJFhgICRUjSG0yC+TI6d0LERyrVqgnuOUza0wlLsr+w5D/uiYEobUHC/RtYJo5o4425fdoo2wxD2ahkMT0EOI+oWwQ9xzDo32LwkJP3Y7NUGIUXVaPoGVovqLf3aG7/0skI1BFWb80TratpP/spXzCJi0vWfTygEC4qul7FEldM690oOEZqI2ctPO6XWT7xrsFAmYHhWWHE55i8T8lHDaKOzgcsYV1m3AmfKSNX85hiow1jGtRf2zDF5tWaUjaEMgsbRXx+NiXKmSOllF812SeweOg8TBW4QPrROQAPri2QzaL90X+Trb6nCCWxn05CO8g7k+G6VkoM46mKWkZc85TYQgp2JMP6dHfy/iBVWuM+BBwBEZwTSnM7UJVxzRIvNl7QMc/IIWrcfNM3cjgFUoixkzj4EdrFH332tNRC7cAcbt8dsnQqJfiNvU1BbzDKXC45LPh42muvRv62u/82qdB2kfn2fZVRs4hmai4Ok7gwJ5mmnEet62a8JXKb2fJ3rrYOKxTasgTolD+/vKZA8PUdc0v2YgW6YvGvcGh6YSNsT8+/RzbPd5jWrMb2pMSgRazqqKnO1Y7xSV0/IXhTHzNSuEApO5eX0eLJq8Zb9YXHm+7toXb+L7fYFbg7Ph/bZSS8ZnWkBgytl4RnyQ5U4x2g+i4fNTXYKL2sgMps25l2OtkbgDNbJM4ImDHtjxhlq8tkPlEDR+C7UO4a5By7r5bOhatJdpDBpNi45Nj8jbg1GsGY8641nONfS9b2hxszAbkFz55VO7Db+++y6Da/LzlOOGOTTYbRTXSd29M2RLDMnAr0ilbXSe7HLFynPDEIcjt0v+bb4Z9H/masE5k8Wvq62TRXqXg02kvz9luDVd+rI9mGs6zjt12qFHnkW71ERnpn4/ARL+Hws9Ty6GlC+DfEnbAi4vL6q2EXm59r7Fv6GCTyUrovGUbU6RVBMR+hIb1bi43HAqo8ZjGeohbNuqHjTuhF9DQlkcxZ0tFFHzX7cBlLZdtJn1+pDv6iM9bBc4/VpKvkmuMyIFXbm2Y/in2pdb5WabyAz24Ygod8aMH582VRvMrrX4addfOY7UOnMU8s7ZFs3Q8YE+RrDepHLnB4v6d5LSXv7Lep8ZqOXH98uSIr6ezXI/Cd2awS3bPWSOMOAzJ1bYYeT3oocvOcP/3Vd7E6IO2IFlrTEbNH6F3T40SnKw875M+9PjSjTfvTvh3fh1j3fApTXt11yShq0afGkq717uJVzECF/gc9FeDTCmVuZHN0cmVhbQplbmRvYmoKMTYgMCBvYmoKPDwKL0xlbmd0aDEgMTM4NAovTGVuZ3RoMiA2MTMyCi9MZW5ndGgzIDAKL0xlbmd0aCA3MDg0ICAgICAgCi9GaWx0ZXIgL0ZsYXRlRGVjb2RlCj4+CnN0cmVhbQp42o14BzRc7dq2IIio0aIP0esgCKL33lt0M4NhzGBGJ3qN3lsI0UsQvQdBED1ECaJFL0GQRPkmefOec97z/2t935q19uznvq+7Pc917Zm1WZl09HllwQhbiBICjuIV4AOKA+Q19U0FgAAgUIgPCBTEZ2U1gKJgkL/t+KxGEDckFAEX/w+EvBvEBoW2Kdig0EBNBByg5g4DCAgBBETEBUTFgUCAIBAo9jcQ4SYOULDxgIIBmnwANQQcgsRnlUe4eLtB7R1Q6Dp/3wI4QJwAATExUZ7f4QBZZ4gbFGQDB2jaoBwgzuiKIBsYQB8BgkJQ3v9IwfHYAYVyEefn9/T05LNxRvIh3OylOHkAnlCUA0APgoS4eUDAgF8jA7RsnCF/RuPDZwUYOECRfzn0EXYoTxs3CABtgEFBEDgSHeIOB0PcAOjqAH1VDYC2CwT+F1jjLwAP4M/mAAT4BP6V7k/0r0RQ+O9gGxAI4exiA/eGwu0BdlAYBKCtpMGH8kLxAGzg4F9AGxgSgY638bCBwmxs0YDfrdsAlGR1ATboCf/MhwS5QV1QSD4kFPZrRv5fadDbrAgHyyOcnSFwFBL/V38KUDcICL3v3vx/DtcJjvCE+/69soPCwXa/xgC7u/AbwqGu7hBVhT8YtAn/3zZ7CAogDBQTEREWAEBcARAvkAP/rwIG3i6Q387fZvQM/r4uCBeAHXoMiD/UDoL+wvdF2nhAACg3d4i/7386/rnCFxAAgKEgFMAWYg+F4/87O9oMsftrjT5/N6gXwAyIpp8AAPjr8687CzTDwAg4zPvf8N9HzG+sbSyvpcT9Z+R/OeXkEF4AX15BMQCvmAgQICAgIAIQFRUG+P8zj44N9E8f/xGrCrdDAMT+ahe9T3+37PGHAxx/BMIJ+GcuLQSauRAAx7+Jbg4UBoLQF4H/M91/h/z/WP4ry/9K9P/uSMkdBvvt5/gL8P/4bZyhMO8/CDRz3VFoFWgi0FqA/zfUGPKXdDUhYKi78397VVE2aDXIwu3RjOYVeMgHfPiXHYpUgnpBwDpQFMjhL9b8ZTf8pTcYFA7RQSChv54w6Cgg8L98aJGBnNBPESSamr9dELSG/llXEQ5CgH+JTVBYBGDj5mbjjY8+a/RKGOArgFYlGOL1m8wAfj44AoUOAaBn9AfYIdzwfx2sIBDAD0MXgLi6o48A7cL/R3qQu5sbWmu/eYCu/ff6t7AhEC8ICH9uBgGSCHV8Hdp+USNL68m7MYKzvNIZlWDaFymMYvv4wtdBAzdLedJVzhpcdX84XWe2LHxixo+W6+Bi1Mu8OydoKU0lD4Wh2Lcmd8SbP/j9pNsewgBG0NiPiaZHrZEeJurSE1ubYZuxJxvPXIaJ9ghtvvpSeNWJ3HwitgtwBhSfkTCl0aJiZXM7dzGfmTKxrKCGTM1J4u65mWW4G6gajl1hPoPGncu1x1B/914zi8scWlx8l9Pfly50XKDeWy1SFU5GTe6jxpQ7nDRATZGYo9aExGCTEz6TL0tNYKYucg5nW8KyFl36OVXQ35Y4IOTeYK8lH3RX++n7Rvc6hPCMZG7P0jGd1Xq2wXd+wvvNSVEOPDXpLHKs1WCMs6GMw2ohWF4vNiUDAKeuc+FGcwpRUnpuqoE53xiD+zREyPLL+P0L69isRAFBi1RJ2KOBzy/lRHRgDC7Ddsbzl49TAWQ0rGQ6qlhaTI4r7sMPePi+veyDVpgwJsNPt5rftQ/1RBwhWA7oKSaDEkw6snbf7iQ2qQqffSA14lIUQdWqf0R0WXHG58ZPBejl5WLrtHUqSzyREZsdZ443EiLONyD9aKCxiZGhdcdUPEw2cIqEiMzpoIz+1XylyPsXksHNkqmPAoFPF8aPbino7sWT1K7d1e35ftsywdbtiF8Qz1I9r/OJg3WJFrsa6mECtHE34XJLznQy6Eh0ZilP7towwIqs9Kl5nl3sz7hvm6cNh3kmsnWRT2BRKV2TAWtWL9/Tdzzpj6PLeDO+19vBnrrppdLw4wz7iMx2SFl8gDm0CFbRGC/cKr/YTxFlaNZvo9F+2ozn1vPervH0O4GA2bnEw/UgF8utBq1Dl5/lrnIKgHvE7LNhYkJrVZqBbGK+2ASRRgEKhN8e3SO0GW8IFpyB82E42DXir8Ok1ecpC3bNWJ41R5PW/VB2OTrrpVska62l41cb8AGdYxUFKz366aEj9Okzv4m2yDtvWURX7cHT3U0LY1dahWDNFpxI04fLJSfhzaQFpvHT7wtMdBSPNK4E16wEW+5WtZQhVFJ98QWovCapyQd32Lva3an92hCEF2c/jLUY6fWyFFOOi/czW+KnME9/sqWsZcAYlW4ozQM0SDH1HAReMSjl2n4trhrz546AEcpfWACKixZ6OPBC6TzsphEh3HZj93M0d/cZ6/zPYdJ0IK6lSOaDKssAvcovFuXO4eskH6Aloerl2oOTcUyqd2NeT73+uXn/mx7ptRVqylgis+v914wBdxmOB+UorvclZFN3DV/k+Pqtffum628jtKFUCsNK7Tx55IVdSYtbOIlKUjGWLe2pWpWoY5o3Whq/JpRvHSIPMULUpS94tObuJUn31KUwSqTk1EoOf5LiCe1fK6noNGeu+N6YmkU1obd/20NPPnW2CDtHV8EBn5poSsaKJ3eAcjiHuMPpHmWsrR1sU1b1QscSs7wu03Mui6wYrDqo4uPEAToXCvH6mcAQPRi0pz9kqKNaZ+erPlo2gqQJIzgYMa1uz9/n3/Pojh8zy2/5OcvQrMGqnS+zm6kSEp587/GSDnuc2svhhQCPxGmefpZ6ZgfDEk3p07pd6ZVkF66ZUFEPoo9Ukgs6Akj/NWXiZJlCrSRhyyOh1CiDjbpHdq3hABpv3eKIkBZtztB6wkqg6NSXSVaisDuhygSFP5L0fF6SnZzYbftGjFuSKjh8On28XuCbmbkqlzq8M+P/403/XC5S0I5d/sR7abXGauDV1CsZCxDDo+RaOI2oK3sI9Zdb6pGXD520Jan2rytkZgwBSaWfYDyLOgjFZ0tUX5wwP2RyEYniuWKZzTPh7J3/aBqd3ZoyR7QFW35kaWKL2Tg5tiB9BEuNX29CtrCFhnbzJ6yuWnJmMRlsvA20ITzBXKk8mBuvW6EM6tBnzpeI30q9dLfE0I/ClxU+zhSRkyRdKPCAL2QarOFVZcbXjrUzh02cl5FZ8OOM8Ab4+0ZO9A/K5E2lcT+jy4IS3boqA9mMusAHF9bqpz5P+5YTapUFYxw6sCK/l28f5QIwWj6uaBVSBq9vVBrNr48OhHTZlGVZnG5JT/MQYO4f26LyYckZDiQiiTfakR49ViU4etvv68QS9AGWWDr7TLou53e6E2jPW9xEztu7JYrqnqRtdfWve8wyiDkReJPGUTaoJHm7SNAoDH5cAyQ7Uu8L5IyLH+mFWlQuZtv6KMtLM7MG+0EWizyZtmrTRkRih4v0dLZYvjS1iN90fOAc7IhTfDC7VQRmr+zd6KLlbWkkeCeIwU/bB2D9GucfMddFGzP7iYrAeTis+sklzdsCDaJHY29O52JBwycNYwjyOczK6GwNlaIPreqfTk8aczkzvuG65nJ/XACZeqf2jbQV5WXfwiez0nwfc2XNK1OHC7xnhHNFy36aM1Y7flaG0i8dLCQGSy/WmlBgk3GEmIaEvT130jJuMH2zrzT7eEvOvy5t26luoRd3WW+fY356zFJwlpUEiCl7ebXnHNqGETNKvA3zcw5BTL3bK3tIrbvRSlEVmu/9nMwvOX7eg/HeIffThMI8hrcpig2guA+v57CSNPt3P/JXndFT7qJmw7AuVSBZ4XM68vXbHloHm8zKIv4ExXuEB7h5uRYNAvmyVAlvYlK4/TZrONZbjKa/Lkcrl1bCRIPV7WiNyX2W3PKs9iV/KjP7spc/HA430QQUc3Td702tDT+k9uH/VNc45zOp0fsk1K8lSuEWQ/9DXuLvK0DFfZfGaJon+j+aT2QHViIq8SLr3q1QzzbLrqe0dHegYJ21oypX+WYYBkFeyFHNAvownSiu+hcQSFl8sV1xJ4an03zEfYYLFQFOUbzSeChz7HjvYTALkH72Oqi+otdIGtp1716Uz8nmo/4+v64iKfCNo7dBVmxQb4OR88CX9BVq15L39vJD1IkniYezb1qzbon53G7bMIiUXwrgf4t62prYlxF+uwRBz7WfLhbT7zY2rfosH+FYbbivfkbm5ZjfyneHB2fkgttWoGbm9VeCXtVsmILGoe4TLKGg80YdXjjitP24g/3xuGnHMg6Ed0+A/4IoJk80KIZLUfhBOjjiayEiLs3XQr5ciuUaS+mOjz3TeCTXS0QrxtRtx+gPvFo/g/ZHikaqEMeP4vvUPXXtF2NdcrgELMmIgvlmoiOfj/bs1hJoGEU9PX13c3nhTEgOsxkltGAl3+NjLrZOaCuzeqXbBKULoFl3eXPWF8cwhIuLTMIU9uYzCYnHopscecX59QtdgUH+PkbxGVhAPa/AqaLifbTjYkBFAR4tHOhDVa78in6F0TWqKX7XpsxYd5vVJ3TqvtrrllmTQpqCHiGUqjfwbedLPuypB1F9ZskPCulDFB4ofghOcnGpVuKqKP1Wu5ThceimPQUehYvC7xaSTmLZiYVwVdPumYh/69yUGmjPEucaWdKgt8MciaXoFUtis0lylOCm96VoA0bc4Ryfl02y761R59oJMlHvwVwwamT3mXty8l6Wfp7zDvzgbOxu3bRBewppb2bCgsboMpHa7uHxtqUCtPTKrPhIHPn4+admwR6mr+RLhhE//LIx0h7gfBc2Ct21mzCM3nHVCfI/v5z0k7yJyUL/n+kR1vbT6cXZQmaJfS1hiPNf30jmwqfntneRDeSp4emW9HOsEBQmlR8MFs3+Nk2QdJhW3ZA+S0cSwLfNr1RKSzvYMgwsSEPp5ay0RmPyMdN5QggcaKi7iHQCX0DWZ5xdjg/UIhD1MjW1q2lBN1ZHO7KTAUIlq7oU211yDEanT1mOxBQLWikTHCXxn1lIAyq2nvt63q62IhYWOi9SOrCf6qp7+Fwuc2s9e0+2tOLeSofr67GjYWLG5TdLEw8bcKMZIgoTxg8EXunY3f9wp/KEZ0a/L0/kdK39Nt0Lt8ISs8TFbg/rzwTtDbU/Y6lOuwK8zpVZbvJoQ4t2xvj881tG775PaSql+jTWqTSSmQKqqc1KDJa8X9Vtx0R1i5FruKOcD4d/0xPnbZTeo1YOmbm5Z1k+hKDmDpleLTZV5/TcxZdSJkzvnFMhX4dkRmGURMY3zJNG8ipbF88ffXCimk68/dj7IkfLndAmBXenqLSjj6+4/xATpVVf9DYSJviapNlJVtUigpNK84I4oFG/4MuNadocvIEmOBYHJzN+mq2UyzKOfiCR/RIkg0G8ev+SrWnQ7/HyaF9h+nknwwTNfs29m525cu4UEFFVYOPj/Kfe7M57yMeZhttBYi5MVp2YJbrt89/W2Yu1spXrD1duZ0gRYfaVjrxxtKi/Bz8RMpFSy/eRnlPYD5TUugi71WELJ6SP9XWlsjXlkGKee8S19axzcMSp1FvoArEafYHxCRB4EqWy1kMYr+C52nJhURhI0EGbQLELfuGrmEQxVNT7zDNojnolk5SPhcJoZdOBBpVz5uPE4uTEYvFwt5oC+whk15z/o5qkTR7bOE3mePjkp9Dzs3QXRphu9Ytk3S+ZUdi2K6UU/C4ntxpOXtAZJLt2Kk08wra6npYlTeqC75LpfsC9KXBWj/Nl85F4PN2VixPkfLxmBhV9P0ZZv5vz8is7F+WVq0mgwS34Meox7XSM0zE/nnSZoDM1Z+7wmN1pS/V+6spqwYX3A461amvWed9yWpISpnZdhhx+IBty2avl1G5TroK7ctrt2aHi8qEZamLeXludLlb3JcsPlteS5DSfgz/mSO+AZYRAnCQWQuU0aUQ703TTGKxcmv4qdL00mdtFuRLy4JcrGbcH3Vw6qGsEyB2v8pRIaUi6IkFhSHpU6r4y+/mqvHlaqwsndhXnGc51jhVjFmkBZ+00R8uP7KKGu5qarfgNdaGErv0ebI3VQ+fyyxtCWhiNGk+QdZ4GOu6+iZTI9taxmgud3GfcvM+ryvINn6XXKn0zvNBhblMfDQ/nrmifNO2EiJJJAys4Us/woGBa2iyNegl7J1yx7nscpqq8CTEw61ffDiSspyk2v8iO46mI1796sWKqQm8rkNyw2qYy4NvsGTKgZ2k6kUVNxIP/gkWp9EOaisLcsRGNtMsxrvdEegu5zhKrkmRbcM9Av1wEztncWb6y+qyOQ91TrXqzZmzVIaudyEB5vCMDSp+lSbs7m3ceT6WlxFwG3bJ+iP5VVhSYUWNvv1pZZLH217uDQxyMOx9gXhpIuqol6GRXYHOCcFcTFXoeQLJTf+yxstN1GqC+YOybozm1JCT9MT62TPPY4ru4MbUEOakHY0IYScZtk1WJ26FyjEl3okpMyOL5dFZUJaTzmAwKIwF8d5uQlHtYZ4YW669CkiQnTKKv714lCde/iQ50C9RESXlLVodzrQXZymN1PrUk7ED10cq61ebD2Bsv+opTL09umZ+ez+YN0mkEYe6G5Osks4miUMSYZ+7KPhLq9g/nTyZiGSSa3DmZt+skfnzST03r8egYPrr8Jv+0TrpLLaSNP0mJWcSQrwYotYmDecr9SV13KhRIzTw0VTEhuRv0Fbm9tB/ihVCzWPlYzvTe81JEe5HP/1luIGp3OECY9KjAaHW4rI67krSoqbLqzSW9aHSdITI469VMWb/35sbQ22Rcg7wYeeFLZTf7VUOctyTC71niI9Jj2Pxq4hu6ovGepi4ql6/PPspN3yHMr8bR9NhY5nCkQpWErC0DCL+OFcC/7mdbjFr06WK+N74fpj2bSBPpTMQX8zKu6uiOnlkn1XgGQuux44MveNfswZtv2wWqyGaJ3kj4MxIfhZlrBjwHzXCIz0Lia6XPwsLXyJ5kPmRQj7SPwC7r2yrsKdskJpOJyTGoTAFMs9ucMbP2q/tZ66r7fy54t3bsrhCekxxF5H/CFnj19pEY39VMSdumLY2HHIg7QLGLW5pgULg4kg0mdmrSoiM1Drc/vaOqtCku3YNKmU3A0TfUHgX1EzkKyjubFX2u0BaVCnIy/uFUVFDWgTlsUs0e8vqAvpgyh5ii57FhyeuPWguPNBBgxwXkRyIhkggpgswHtDRf0yZQ7CapYAoxbkXR2iOtdRy8THDMI98+i+MY55bn/BHUd/u/kuS2fYyjKALTeFA/M8UMxzFNO7tm9ES4kJ1uZzJlKr7VeS6qJI24P/bWUYdYbPW4ijm72z5ZLvp5zGjfnM5B3KmEnKVuvHZZstD3Li65u0J1Ie7wNiyWpmXVfqKdmzwrbRzItfUHfMYMljfL1sH+vGIUuvxvizY06yCBudKz3QODO5M1DbcYSPYc1rEsoottj7ruXG237VRY7Qg+nrgYSevnxibZQ9H1lNeYjeXURlKr5V+XacsUsmomqgYvbROiihtmPXBCwqfNaVr4bdcmeo81jZQohoDCN6PcTqobgsZiUnZp/mVNAJLxi7eNp0KoiMaKm9Z8x/Lw4l4/5pL6L6cHCTP4eQODZhRTGtEOeZhxpvco6jhnEcKiThTL18kPWANwVZLMMXgqvUb9TpHVSK/9IpXcx0rqpGvrEbO3R/YdSu62PBEZvx+G4cyzNOGgz2v85F48Edao2n32pprzIcnS9U+eWhvP62xg5eJRLBfawss666GevVbjUYrAaCb1JaGo8WFmy42J7/au12LAWjvFfg4JF2bJ6yE70Ee+bCdl5P60/PBu0Fr0He3vX3et7w3hlbgkZfg2L5eqilDJp6lfyWPxe9Y8dybHrfg0pP+B5ZXuT4YJeY3TgpPEZkqvDM87nzuL6cOUmpeyb7MRPmUOXVdMlhoJ92uUsMYm7iPw+Ml6wThfbWC2D5rBsTgMhmBGMyunG9I4xi5X4IR6Rx+hPLymxd3BuomU7k+8rchfG4CZk8tf2nJvdmuHW8zCqr0+s4t4Hq+JmLyWJ+lSUGfQxqXujrDL5rCX8bSwKzbKHO4x2wl4uhsjoPR9m8GSWFbIo/LOwKp2tsdkNV2j4C0PAnyfHxsGzUs/hoFzi+S2D86yb5ll+3iPJU2zYEMEKhecpoXTwXqye9YcfWEyvgmSt72NpbqOItelfiRWb3rLfOm7aTFc+YH3+5VCr4rEAMg37eixt5ytaBmMic0rvvXotkxZxIfDVDxecD72Qof7+o45Rs8I5hfmjIBzdveDIT8KJqkFoZ/A+liq3vaXltOvUu5zTmfy+jZpx7fUaM/8ECTRK+2pJ/Z6t7WLxxip24d36ilnP5642n6lf9WWm838sRyWbXt05iPRUpuh6j1trvjxdvfwTpSLW6mTJkGTDI5MD4TtzQuh1AxY71AUSv/8y1tW+qB9zi1+F72Bi6W5N+XM9wUb3PEzFCFJwhfcb+dqkCVPjtlp8MhrW0q+ZXzetI3UfU1zelSjD7uX59h3BkigpvHB9aDGIFkKXH3Kykem7mOuRZ4fHbp5uXZOqbiDy7MGMRKcJJXUpEKQcZLzBqmBBow+F4pP0hjOCU40Sw0KRH58l8xM3KVr3PoiRPvq20TiQy5tn5+tfKDmE0dQSoUp2+Xyp9nZMbL4vR3JXdF7Kab3M+vPLt4d7fDICsOHVJeVolP5c6Qv30dnrhBa2CD56rX4r+Wn2zCJUFSfrlTClIWBXv4QelsxvHR9arbvOZV420HADbfOzxVqJQwqgYm3g04xtarMu6QtH7If5GzZlg22jTG+YRdXn7T2dAGNGZClxTN9WrC6IThTyaCtuYhuiV2MDk88uab3TeujnPe/VulyfoJCpHxOWNoRHaroXE7M080daOqcs4VKfcp5ol1YwvAiNDoZ3ApWmu4CgfBZmCsy7vodkTkwqOl64Mmx05g/x6obIWd9L9Kz/lpoq1qNE1c22J7qNbdBz3FU+ZuDkguM9vChWDf4MvGaxl6ydma3VkKKTIOiz6aKG0sZmMOv9by7gQvHJ/ITCqrUiUWAOx2Z3cpWMXNdEeM7JexmYFbDSS9/TiiJCn9cAA+yeUZWH4h9KLSRXmdbQe18x1++63CWbaJpncr5pi2tkjuecGlk17zQcbE7tkeS+3ksFvZCusG9ExEZ8m9dMhVrrh1pbiM4idvJR41lZpKfOTgky8vDQ3+GGrS51r4MQlrNak+8K4+0epd/ib9oX9fsqVkJgwa3l2gRcbzYaprawMfTYiJ3GWD0M+PCPkSdmOxlxc56jTItqtxe37oOe+Poui0dK5h7M6fZG4MSFJBMYbkisOt2SrZ3p7JvdDUP2xcsC90yZLXGAOcmdXPf4i/S6jR5p/UCbKXCwvqWWvZ7sYtPVzcCtLfwXvObxfNjVnGVkQwMadjdV3K+yIcix2RU8/y3nEW8Ppwi7aSNMVxOqxjgrZZO/wMP8bctCmVuZHN0cmVhbQplbmRvYmoKMTkgMCBvYmoKPDwKL1Byb2R1Y2VyIChwZGZUZVgtMS40MC4yMikKL0NyZWF0b3IgKFRlWCkKL0NyZWF0aW9uRGF0ZSAoRDoyMDI2MDEyMjE0NDM1OSswOCcwMCcpCi9Nb2REYXRlIChEOjIwMjYwMTIyMTQ0MzU5KzA4JzAwJykKL1RyYXBwZWQgL0ZhbHNlCi9QVEVYLkZ1bGxiYW5uZXIgKFRoaXMgaXMgcGRmVGVYLCBWZXJzaW9uIDMuMTQxNTkyNjUzLTIuNi0xLjQwLjIyIChUZVggTGl2ZSAyMDIxKSBrcGF0aHNlYSB2ZXJzaW9uIDYuMy4zKQo+PgplbmRvYmoKNyAwIG9iago8PAovVHlwZSAvT2JqU3RtCi9OIDEzCi9GaXJzdCA4OAovTGVuZ3RoIDgxMCAgICAgICAKL0ZpbHRlciAvRmxhdGVEZWNvZGUKPj4Kc3RyZWFtCnjapVXbbhMxEH3fr/AjCHV9v0kVUpsSUaAQ2qotivKwpEsaKTRldyOVv+eMvZBLqaDwEMeeOTNnztheKyaYZNGxyKSXTGLlMZXMBsWkZsEGJi3szsHDpALUwCICg9VpXZDdegZYCIjGf1Sq2N8v+Pn3u5rxUTWrCz5Y3nb1bdcyDcLTgp/W7XLVTOsW7MlwUl/Pq8PlPRsLGGy0pfKOBSPLECcFsjQIBwuBX75M+YfIyfb3GR8qhaLgwVRGFJanyjKXpsDzUbOcntUdG6OioyHj5/V9xyaUauy9L8OkGOsQysjyaIVgyc5UGrXWpe7n5Pvbn9rIkcec1XhVqn7MFm/BKAJYvEpWp1GHC6J0zFlFiGBKn3DayRJbJAmRox3ERul6f29LsX127SjCWrLk/ITDTwr1ix4/Jyn1WujubKMFKZkxpjRbcy1ovkb0DcxWtc4RUkszZo3OCB1l6bElzmhU44MDMmiJ0ehIKGtKi9MRYckyoxdABqFh947a5QxExtQCm3Bol8K5phpdIIQNVEFMVQcVEGlzu+F1bPM45FEKIfJgUqstYqBaRdpKnTIqgSzGpW4EqtR44LwDQhuq2aC/GYfOxEDMHrUKQTnSBltBmo1x8Bkrye4C9YQ2fbJxs+j8H9XttJnfdcsm34f31Vd4Lg4vLj6+eTE4OTmWAo5FNWuZyYjDdMn2tGJ7Km2/SZuPO3bQTumOuQjkoLp7Xc9nN1gGXXCiId+eJOdxVy3m04Pb2aKGBYazrv56gXNV8Ks+ymiJJDdVQ3fuGR/yc949zwUM5wiTavMm/0nP1WgwenUEPaePyTHipxwR/0eO+CnGxUfFjHj9bVUt+B19kxb1ly7PGsLyZkuleYrKyw+Xg/dDqDz79JhMFdledJApJd1su5YJzf+2a0Y8KnRRt22SuqXJ/V4T8q0+d2lJRiQ6rNo6faMfnMetFtAzk56A4bxpO2LHd7Dg76p+AakFv5xfdzctPUxPJt85PDvcdpfbbHObNbd4Ovfulu6Q+11ytUlOi547PqSmd7Wlh3UFIpC+nV+3bJyu1WQbOaiw88tZkUPWb+gPY2r5BQplbmRzdHJlYW0KZW5kb2JqCjIwIDAgb2JqCjw8Ci9UeXBlIC9YUmVmCi9JbmRleCBbMCAyMV0KL1NpemUgMjEKL1cgWzEgMiAxXQovUm9vdCAxOCAwIFIKL0luZm8gMTkgMCBSCi9JRCBbPENDMTlBM0JFNEQyRDk0REUxNzUxOTc0MkY0NDVFODIyPiA8Q0MxOUEzQkU0RDJEOTRERTE3NTE5NzQyRjQ0NUU4MjI+XQovTGVuZ3RoIDY5ICAgICAgICAKL0ZpbHRlciAvRmxhdGVEZWNvZGUKPj4Kc3RyZWFtCnjaFcjJDYAwFAPRcQKEVXSQZqAPOCBxoVoaAv/D08gGvkSRIVbc3gYbdT6xJ0uWrZGW+FrVN9pp26PFZh03ujI/zLYFVwplbmRzdHJlYW0KZW5kb2JqCnN0YXJ0eHJlZgoyNTYwMwolJUVPRgo=</data>
  <data formula="T_false_pdf" depth="625">JVBERi0xLjUKJdDUxdgKMyAwIG9iago8PAovTGVuZ3RoIDk5ICAgICAgICAKL0ZpbHRlciAvRmxhdGVEZWNvZGUKPj4Kc3RyZWFtCnjaTYyhCoBAEAX7fsWLWtbbW5TbKmi4Jm4Tk2LSYPL3PUzyysAM7yZBKBMImymSKosatouWNWAvKiOw4PmyC5GTtoVOzDRR79SMMcLYutjBj99NSAbfsVRer55pcHoBwV0WtAplbmRzdHJlYW0KZW5kb2JqCjggMCBvYmoKPDwKL0xlbmd0aDEgMTM5MwovTGVuZ3RoMiA2MDk0Ci9MZW5ndGgzIDAKL0xlbmd0aCA3MDQ0ICAgICAgCi9GaWx0ZXIgL0ZsYXRlRGVjb2RlCj4+CnN0cmVhbQp42o13B1ST67I20oSgUkU6QYFNJ6H33qtAABURQggQShKSSAfpHaT3plSl9yJNqQKCVBWpUqSoKL1zY9nnnH3+f617V9ZK3pl5pr3zzLe+cHHcNhFUtkXZwDVQSJwgWAgkA1TV19cGg4AgkKgQCCQC4OKCIHDO8L/1AC4zOAaLQCFl/gOhioFDcXidGhSHB+qjkECdh85AsCgQLCEDlpQBgYAiIJD030AURgaoBnVD2AL1hYA6KCQcC+BSRaE9MQh7Bxw+z99HIA+MFwiWlpYU+OUOVHaBYxAwKBKoD8U5wF3wGWFQZ6AJCoaA4zz/EYJHzgGHQ8sIC7u7uwtBXbBCKIy9Aq8A0B2BcwAaw7FwjBvcFvizZaAB1AX+pzUhABcQ4oDA/jaYoOxw7lAMHIhXOCNgcCQW7/IQaQvHAPHZgSbaekBDNBz5G6z3GyAA/HM5QLAQ+F/h/nj/DIRA/nKGwmAoFzQU6YlA2gPtEM5woKGGnhDOAycAhCJtfwKhzlgU3h/qBkU4Q23wgF+lQ4EaykZAKL7DP/1hYRgEGocVwiKcf/Yo/DMM/prVkbaqKBcXOBKHBfysTw2BgcPw9+4p/Ge4TkiUO9L7b8kOgbS1+9mG7UO0sCkS4foQrq32B4NXAf6ts4fjgOIgKUlRKXEg3BUI94A5CP9MAPFEw38ZwT/V+B58vdEoNNAO3wbcF2EHx/8AvLFQNzgQh3kI9/X+T8M/JQAYDLRFwHBAG7g9Agn4d3S8Gm73W8bPH4PwAFqA8PQDA0E/P/86WeIZZotCOnv+G/5rxMImOmq6eib8f1r+l1FFBeUB9BYUFQEKioiDgGCQmBRQEn/w/Wec21DEnzr+w1cbaYcC/gz2s178Rf1ds9sfEvD82RBe4D+DGaDw1IUDef7N9PsgcRAM/wX+P/P9l8v/j+Y/o/yvTP/vijQeOjv/svP8Bvw/dqgLwtnzDwJP3Yc4/Broo/DLgPxvqDn89+7qw20RD13+26qNg+LXQRlpj6e0IFhMCCT2W4/AaiA84La3ETiYw2/a/Nab/lw4ZwQSfhuFRfx8xOC9QKD/suG3DOaEf4xg8dz8bYJi8SuH+zXInzIcv1T/rEMdCUPZ/tw+EXEJIBSDgXoC8MPHS+JAbzB+TW3hHr/YDRQWQqJweBcgvmdfoB0KA/g5aCkxoDDkpwrwj7CwhxgMPu8vPuBz/i3/2nA43AMOA3yYQsFkgx1rglsPq5SZ3QVXhuVIttIO74gIDhc8IMP1qI9ZLSaYZGdN6z7X+NAN1njg2GGg4nqYM/dux3u5lr3OU2xfkF1jzZ7dJm7qYv/SRKL3AcvNKcomgifmKSpsMsWYHoLbrFFUneSKtvY9JlyUPn/VdL1PdOemK9GQ1AlpNWjvrCrJ0qNnkTb78skY12zTD1kR32X4K/eTy+Ogpej7EakGGTd15dqPAAnulVQLfQP9M9TdrC+jAnTcAle+c4biqNVl+1nUxC5Xms08vXaaW+y2mUHjbaNJq7Rp21M6z5tyWGOw7bC8vWnJwZPUKelgnWQXDf7idcRKjZ6hU0nD5OWvRtp+zAljJ2rsU0g8wJp1pSO0Xs2Vf2J10gkL0fWcnugaXTh9qJuqbTHSG8wjoJ8gf162/MW3nqstxs0ulLDlr6oU6mV1fvos3g1fu6CnvZzO2TP7PCET5iIWUmkOrRCFohnp4Bb/O9SiolfdEGkVpteE6z/3XS68u+/tJXb+dKe9XYV72rUyChlDE+21UDvjk1Hw5HgLLPy6DpZeHa3q5e6yuO9T6bFoqdfngir0LfdqdRH/uvCOOjYaJQNkz3m20REZHMMg1BJxs/zjUnf4HlsZYZwtQYlBXunxbgD9m15UK4EowK0kIPp40+tskzADaABA13mRPL99XdZsrMNeou9pDwWhwgeBix8KLamG/jpiLsqgoTNj0YapZj66fu92/qf0Lcs00tSLIYiHKyP6ScuGSpQOvoK0H3lirwbSGfUHrSc8jm5VXthtzo3iHa9mnvh6pbVEPoBMSPrZ56zNXVF7ZqadLPlr7BbtVuwXNhcoq+vfVVjMCuaPewMHLzdsm99k/8pIuNyQnflqAbq9jrqngTWM5w1OKuDashXZbnaPNnhRPq6lsKfmu/ed7GN2fM/d5GutX+uqwY73KoLsS66RdoBt2puzdJ5DfazbHWKKbR7xvnS/G7QFs+AGOSZ9r7lDIOl5aA+gTXNgNGkMecpN8siXBn0uOLZhN/UACD2ZsgL0MDuLeZmt76whjXcWOlitYuBKlbV8hF4+KfHJ5gihRukh3ti+9EyVUJPYeazoyOPHTnkCD6JtEjK+ew02k0EpBkPErFRIlzZoSWhmTnqHj8Fb/KPT1OOXKL+Y19eIDKBRWWonWaURRO0eCgN277Rqjy3YLSHq+y8dM4z7I/2E+U8olpfpN4AZaVSzzlLLXndmEtA1u7mZ2VocZgczAbYNHA3+srZiT/MhhZQfxGUElo7d6G7BdB/zzUzJ8nuNXL98J7qSxuuqE/BGgdH4vHuPAtS110ZiBRyjfdw8rEvFHaIIfzt5EC8fvmHX3CD33VH3NHac06nJeX+Oy2rXhdOSKl16SbA7KG/lhhNUb/AR08xRGmTkNtj7bQAtEx0yLyJ2Mkdj2tsG0jbUakca+ulrXrl3hN7YJnd4Zydg4E629NJA0cLxwbf6eQXFANrp5TpI3vt+1Ddj94zxRRlAGFsmvHkLILxNHtGyxsrykoHe8+Rr0zXf4Lww3Or0nadBLTcl/bddccELdse+nTSro0m8VaFSxCbG43eSPW/QyGVh60Qckw0ftC4GtVBxdV55bJrdErLgrTARI5xXVvlM1QU1vwIa5irzfYL+eMP2s7cDvZhCJE3k5QfuakXfleBGu7bXuok2oAjbu6MPFpQ66hXJ0FcQorIsNQEqPc3KrPCTE7a+3b0rRKM3y3Vh66tWAMCuwunrUwhqVL6Aj4W26fXgsWeB/4dbaFpSznTTYRZokX+Nf7a4kcg9URmG7Ebmfrm7mqPe4MMLmJk2YxWRBI8VRv/mYQQuxNbfP2j2ucFmqIglDAFd3BfbuZDfYn2DSX/h5vmx0uEB30st3Q/VPvd339+NcKetZ9LfzBcV4KvvjnQT9xV6XihddKMq96YEtLWO+hr87nqGbxyRxDMRX90g0Dcrsyr64RfRlz8OCRdLdPoNRoC2nVQSwnvPnb8puCfM3dmQ+6R1N6aql9jDjaaN1td/WUOQM/Nmpg0dB0+9l5OakbENTra279q6Y0FTd7YTxbIB475Y+Tip2FH67nztzIWjMl+mtf1YmNHz6hpynqLPsoMBVUZXTdmDVdE2a2+UZA+7VAmk4evcGhY8UYCnpyFHcUdFisMMMRiCyK9prS1WuxUhl6nH7AzJzOfeEi6V5JY8PALNHsTHOAknVHBXiu9deT1WclQ/+Z48oFpwXu+u2b3nNl/E7uRYDIEeDjnSK6hPONX413Dc6enUi2tvOHzSF2+aWrWfuQTUD3M+hmix9CPHzj0zu+Gmvb0Xp9gQZeKZrEhUiCj7sI8lO7DSMn15ldmrOWDWoII7mSlJc9IUrFQfKiQsTSjbN6p9aWNEwyuJs6jd3/S9sC4hkfM7OwkP14U8VnJPQI27b3WglpZwLR/X8UebZKfEytO71Z4oj7cNjhXfUj3ya0za0ojue9bzIm8otuSYrQXqNDCyHZHys/czO0FD8izovWaG7NKq/WlS39lp881a2DHKE+rT0IuO83K1/nhWQZXo+ryiwZCHpOO+4D2OaEa2nE2dLoAWLwvGaD+untVIfD//EYTBRs9XWGFY3InmC8OBvJH7U8NzSXrx0/BbzDLJ7wSemlrR691WjK/vG7hhoFqxaqK/P4nYmrw6rZB8jbp35CB85crKD1G+d463zLuy1Tak1qI4t8d9tnM4GjUi5weGIpvOmdan9RJlrR4BbI1SdLQ5G1pSuu7287xnoHcxdl2jPcjXsWBI8LOboiKSFkgplaj9dMMKfJw/7ucOpHix+YzFRIBEEfxYMYiMYmdKeaJn3tOZJ3BJ71LzCO5FHjvRlmkczbcva+SdjKUuSmN89CdxEDrpuI/qzYSF5ob2gtMpUy+jKau01tGrDNegWqRsN8nuexWcvaISHhtnC1Z3NCPxzgZH7ICHgiDVyWZ6Z2Pinua6Pl7+YztLqd99phtwlwscVWzXQ8zkK7w+iE53QqZ0/FpXLWra688nRa3P3PLO0UhMkOkVfTPz55n7Qp9p7wri1tLT1qvKa0S8sid/xAcXEoQB5EwkcOB65+5Z6xc2GauRBLktBNqb9KOsVrzZ99J3JqzgVOrXTHBXC01h4l/eqC4qRQWiesSp+jz01N50KKdFNjw66zEoYn1rTAbUi/qaZdfrsSqixpMSOITMq5meyvqImIl5PjL6LBp7tetDa0zQp2MhzBxZFRHbjrrFM0GisrPGL3vX1oJKArzaUlYeYypIKDcWxjgLVZ5T6BEKR8Z9lmlSod8DTs294/bXZM4ZGwY/lABZYq0DAAm7yT4ZLYk81fRiufPFPOvfVWrOBKmdWl805/SmOBUu7p680GWrcImaVZqzKlD+a/Vd572W8U4aMgFOYzi5y4SaBVF5TGcM2m/we8X3CArSOzOJymdSLspeH/Y+ZxHbthvI3lxO92MgHU0oaUfPt+6nXm9iVNUsuuafaPA2tyq2e95HFqh7+ZsEVafy/MFEn7X1crujjDAF4Q2Ce7WP/S/OTYu4+I4lmO+/32lQWV1MnI6XG9hYuR3NiSZyLPfv7F1378KF8CNK5hAVBTrPJ3IaTyeAbaaFPYPfsWt3W7IdQ3yfAu6/wmmpblzeGjhiSxcGqC2uAF8MkHsj4N1LV9KJyuSeVDK3b4yc+bwS8k6FVYU5H4Ji88N5iumnH6mSpfF/e8PSxPLhXtM5mhPI/YMKWkxZx6n+PEFDK8aFgHf+xlyBKEkZbt54BZHpzAni8nDiOFNNl/GXXv9sNSz4wtfJT29U6fPXsldXBzXlux+UOrzf4HWqzGxGkEvZjMcfKmEf3Dj00LwQig8lo9xkMDwIzbgX9c2xckmDDjLT+vaqACd0K4jJ+GPVMdYuqS6/4P19F3+YExhVzb/6iCxsaHWe2P+l+kaYzVaUgGqF604Xd+jZHdpN7fzM3ok0Ykzb/Y8NrwJfX3w6MYajrN0SFlswtjfQil9GJioqs+wmVYevk1Y/m2o2J9lHh07sOJE+DRruV85jp+L5YKm/zPiOmpKcim5/Ju5BQPnopGFytfPsyFtPeZbdkgde4urRAYxenOeBg7Cvc6BBJ5NI9OM25e+EDsUYLEVIW7g1ic6bxHOnqNbmIU11hwnuNcXrQSHAfNqFCmbr5OwlJekojjTUfSW9RCgk1dIYR/GF0quj8i8mvpcHprKhguqjTCshiagXEJtPsx3iy5WNHadtIkntCqVfdD1cRbsKF15b4YpZyzPX4976jJq/4woH5Q/Jr6rHK1W2JAltiTxYwNQWyuTysGoplMHXpm8PzdZOyFYevO979yTY18U8a13wR73+ovKwF9Yaa+MblxP94awL26REZ5WIbRUmTM1Z0gjvCKY0TFB/VZrq/C1qzuG+prXNpX0om1RBRiMnz9x2/wNTUdpK14y6ib2tpR1VkpulF24dUU17jufUBDGKabnHM4PKrOONq+JCJViZdss+ZlktkYqQthpF5466GhgdzfI5we3Cg10OOFn+xw1BHDj2vTCTcF+8jVxocuLMmdOJ8Ir3POn6aBIqcziPNvjxm16ipS+FUppc1BHo4dbXm72N+j9kxpOPkWevOGEm/pvM4hzPE3JaQMmRn6aVQjhSGvyW1cjHb0nJXnn0ZLvuYgdLzJr7YKNK3l71+9P4uoBZxaO1zXdel2VjrCwTWzF++L96WomVEcK4U4qunTUJ1WeSmvaxzWlHr5llKI9U5KU59y7/6Ntk4Mzka5SI3zvud8BQ7nEEkbPDy2TXBq/5j5n3CJXY+h1onoPU0xaHyQkK5pTAyw2FMR6Iqkiz565X4oeaKkuTyqmm0J/tCwwuuXtazk/dz5rBiri6fDtXzBF6X6jbcLwv6723B2kWC6QK7cx99bjY4OnWBNUCabvT5kK37YLHS20Hdfm+oOLwQssESwwQktDpe7Xlm3bgyddMkVnGiltXC8OI0883eizIq1IBkwmwh2eezabGAU4LRHH4N5L6gQjm0jcBHaHBPq13bk/kmbX18Kx7zY1uuHi7tcV2GeD4cod+ZMCoCNTSq4eYEiisZHFOE3OCmdkbYqxcxcUNJBolR1vpjFcOZ7/WMF0iUjbM5akIxb62q+bimTlBD6t91Lopwk2SJoiOpNDd8quKsFnaFeWQf6i+Y7SelErGs6kmJ1vrWNU90Hg8/0F75UgES8f6tGH+RLnOPlQz8Y2BSV8krFdk4rTlHYZGKHR2SXJSNfaBqkreYtRaFZ38LCZu1Dplmy7L2bWcR8RytiPdAM6crbuWBKpl/aJYPIYGpxz8oHgQk7Z9je46tfVtP5MLdnnd2QtF9aNVXebMTO5a/p2IfMx9ThFyTot30cIeU2jRdoLNT3dNn5S5BpHU8xFa52GAzw6UKcoTTaV6+3pQcXxo7BWWo6vqhfvOTsU2Skgj/p0hWeP4aGROQoSI50hoJX3whwZfthdruuvvdc0gQbdKpZgWo3OS0eoy7e4D2Tmj9OowGorE3K6yLnntvfWIYp0+6++vk+7wGntszSWsxxF1e5CLjwpNO5TcImtR02LcyP0A6ieE1fu9bKbXKbyyFNq0FVAo40pM39vv4Kk7W3euISt39yL3bcipX5fPdmnjPPkENe0uRBjTcVbEXrml3G2z0dqXX3ey7FzG5ey1C8qA+mE/J6rdVjUQ073fMLu9qqh+64cxcuwg+ebGotOt2dzdBCWTvGMfHQrei12t+8TMpHS+AkljbqaKanK8/oMpW5YFmWcF35JffE8o+zS3rvm2j/plIglBYwaEc01bf3/RM4ogQ4peTFif1aeqseNWrry1BFMvCSFJPO4q7bCU0wAb4ukaqZzNUXJWbvMlwFIuQzg/m6z81UxizY+PHnlJUUmaYNDcoTWcEU57y2+Ulsjqi9KioPr+4a9SbtDdGqiB+5yk7dpUfmJLp7iC0wuTGq0GpQ6E+4yMb7QbsvHOu75dodJIxpGnGOYS5st71BS29JBETV99X2S12iN/kUh1xp9aOWYovRKq7DvE8OQ+xaLnA0oBeQ+r6JelpiQvHnfOP5EwJAtzVJleklIMUQz+vKJG8iKGIJ7FInbXUy3pQ8dlF/Miq1sJNlHQixQfd15qbesFyvIuBBTqA+3FtgkK6WRD0DdF+5WVuFc9ldq+0n8aDxQmJQ0h7ExBCe8/xo0yUXhQJO/s8Q/R80k2bGmNWB0aye0ygN2whv7NQZBLtR+dJsVTbe9gj1O0YquDbJ3M0ZIrrp7GY3J9bIseFPK7gllu4cSnmiN0vlV3m795wdInditHBHkRhD9czKbmecr0MlKWzO2jnl06xwzLC1dTdnCDNSC+6pY/WkWfzBebcLFw6zd5xuTfVS1IIrc5WmoqiuEnV3a/rpsPOGgDspTHZ5Hnq0ssszqbY8LkSMXOD/UHrJgsIeHpfn+luVWynigaeQIcF0Le5hQsJj16SZHmI1gF06MiDt6tgxBT537z8uunpibMumDWO2YKlZwoLNfkv9c5mKsSXT0f2bEh30TGxz0UAJEslfJ7FBZ3K21sobfDOfmVFPv1BvaanrYmB52TxqKXeSxPeRxjLmxW+OjlfXDRzAKwsUQQTQ/IuXGrqu4NVs6sxZ2grA88lnTwhJ2P/bEGY9B2qmBJ18faI+pHXijxoP7CmdJa2zIiKvVHiScD3F10ge9Je4sLDh/pNQspgupmBSeXpk2sVa8QBEq6wiEZBfTFcjaFFGg0rqZxbqwKBzE3tA5lGfsuJmTowemR4PGZ+kfs4Z0mxryyQXspXU06q2+gWo6AKdSuV5F50PehQYRMH6l5K/82capubWvH6RSE2P3zM6xrGKSs3SFQAjO9sa2XyC1jfjeyuzU9Hrhk/7ygXs9WIToijFD3cuZVpRPRyfvfTAxkpJ7k0/9lT7xeNE9mqjjHuzxhbMM1ejKNim70T1tTiJS4utTd58ebRm6YACh91nfHXfyN8M3BRR+n9BIeOCOnMMOcTmm7JkXTQiJb397LHBaQ/h7qlgN6FLLO1b29cknQOI9HoZBv+Jh8rORLv4h4uEPr2laLj7aQ+MOX1ka38w+mAnmtfzxLNTLqa1jnOb18IJYozpBc+6A4aC44kE5/vhIVzkomrslnrfjGWEO/5OpCl//55JD9UuwGutNuep4QSXRO0C7eC6a0LStojv+q271JY6EH8GxyJa9T6Wzg7FL6izF8QGKdw3xzATAcd6x+vaFXu3lL4lDgRBvykjMs5nzYM/ND2LfES1opaETz6oUZzCHHksGZ++P8E42uWZnmV1SGBeuct/ojyTjUZEoIoqgJQrh4CS/TQRmWMvU9Es/6+25a6aUeK7K8sqXhO5YJmwJtiVhKevB8aRFDU1TclmrlYxEidhNnzcEO2sjtxdZa6hmFgrb4Dht0vya/429UUoALCU6jno8/XjtXZaxgpCROedLr7zxAtdU7et+P0Zj/OqdbFypFrTB92j50nuzcM+BoI28Nyh5+5bOaARKzxrc1tF/hlVfhcBj04dAigLuohzus82J14tRVqCJq4JC1Y/ZtYdiN7uHCzT7nJDMP0T1I9vMr+1x6Nl5MpDYmXuN1ciiZuEmTNqRf8A2Eu89tIf3Jk6jrqkzQ8kzuN4j6d2M1YW6XDby9N7mmBS2il3IE0/hzm2mEUEos0xl6sZXDfmrhLOPorzhe5dyU7csPG+pzs8aUCMXGUXvMZd0lG3SDi08pyIDF5LrZdYlR9caUwQzxBUlcFXlvaL9t7JC+XKTzGC/nor8e09bM5Ot9kMvqOPK8LV/HTmNIL8V0f0o+aUllQhZAkgkJ9z5onLMWpK22Kb1093TYlA3GVTSDKJVXL0nKdA5/a/WJxz9s0o2PnsohTlhLqj0+QeymgpxvfvenqsVQ4RPJtMDt9dfsTw4FrneyRnJEj8sahtAUu/DEXq5BSXZLofTzNHo3qrYbvmQQy5y6Ae6Qvm+NDDIkbxrO7qTsl0baFZJ2U1uwUv7olel1UXusVLDehckO5hDTFCzdZ0xD7yKa6A1HLUlax4E/XhvWve+a0TklfORoWzeIkwe8phJA+Uh4rpSMsOjEyBQQw/an6lbDmntNKvnJRzjDKbfiewyzbm3ZCh3UTPKSPsxumi/Yv2JKUMY+FxtgseDxWCX8FT/ZZGDyW5f3JuRuilZLu5NSdnMDDq/vNVH7niPyhPTuqX39HzgmrlkKZW5kc3RyZWFtCmVuZG9iagoxMSAwIG9iago8PAovUHJvZHVjZXIgKHBkZlRlWC0xLjQwLjIyKQovQ3JlYXRvciAoVGVYKQovQ3JlYXRpb25EYXRlIChEOjIwMjYwMTIyMTQ0MzMxKzA4JzAwJykKL01vZERhdGUgKEQ6MjAyNjAxMjIxNDQzMzErMDgnMDAnKQovVHJhcHBlZCAvRmFsc2UKL1BURVguRnVsbGJhbm5lciAoVGhpcyBpcyBwZGZUZVgsIFZlcnNpb24gMy4xNDE1OTI2NTMtMi42LTEuNDAuMjIgKFRlWCBMaXZlIDIwMjEpIGtwYXRoc2VhIHZlcnNpb24gNi4zLjMpCj4+CmVuZG9iago1IDAgb2JqCjw8Ci9UeXBlIC9PYmpTdG0KL04gNwovRmlyc3QgNDAKL0xlbmd0aCAzNjQgICAgICAgCi9GaWx0ZXIgL0ZsYXRlRGVjb2RlCj4+CnN0cmVhbQp42mVRXWvCQBB8v1+xjy1FL3e5fEEQ/CDUWosYaQshD9d4xAM1kjvB/vvuJQUVH3dnZ2Z3h4MHDJIQImAigQRYEIEAP/QgBBFzYB4EXJA0JXTze1JAV7JWhE6bo1VHa8BHgTWha2Wac1spg2pdY6m2Wk6aCxQeNoIkGPIohFiwYZyUBFVapKOHGx6NOv0MNSFNgWac4w6IACJ01TZVriwU6D3LgG7UxULpSEUQi6Eob5ZzEjNlqlafbNP2kh/ygEj+Nlu85y/T5XLOPAT2sjYg+olJt+fA5zDgAf7DEzFEgYdrjk3VrZng5FSeXpWud1jGPqHOxmED5sC5lXtdjY/1XmEHG7lVh0+IOKHf/yzhMxTZydYd80Q3z715ppES3/7hegrKnH9sV7om8ifSqO5PDwfdXY5BdilkujXWeeLnCX2XN8WX3tqdwdwfnF3CxkV8Rh/0XOitgYK7wfJ+cirx7KYmPeWa5h+nfKEZCmVuZHN0cmVhbQplbmRvYmoKMTIgMCBvYmoKPDwKL1R5cGUgL1hSZWYKL0luZGV4IFswIDEzXQovU2l6ZSAxMwovVyBbMSAyIDFdCi9Sb290IDEwIDAgUgovSW5mbyAxMSAwIFIKL0lEIFs8QUMzRjBEQzhDNzZGRjVBOTI2QkIwRDAwMTkzRTFFRTI+IDxBQzNGMERDOEM3NkZGNUE5MjZCQjBEMDAxOTNFMUVFMj5dCi9MZW5ndGggNDkgICAgICAgIAovRmlsdGVyIC9GbGF0ZURlY29kZQo+PgpzdHJlYW0KeNoVxsERABAMBdH9Ia4aYLStFxcqIw5vdoFruAKiEs3q+9eDifM/haK20Jg8aQwEhgplbmRzdHJlYW0KZW5kb2JqCnN0YXJ0eHJlZgo4MDg4CiUlRU9GCg==</data>
  <data formula="S(t)=1-F(t)_false_pdf" depth="625">JVBERi0xLjUKJdDUxdgKMyAwIG9iago8PAovTGVuZ3RoIDE3MiAgICAgICAKL0ZpbHRlciAvRmxhdGVEZWNvZGUKPj4Kc3RyZWFtCnjarY49C8JADIb3/IqM7WB6yfW+BhfBDt2kt9VOFic7CIJ/3/O0cEJHyZBAnjxv7sCoUjEyhaDRa6HWGbwsME4K57TqURHjM2MLCnlt0nTDAU5wiNB0IhgoWLEYr6VGDMYZx2qop9g3HYcCs2S9TpoMnJVRH+ZHpcm7dmUeGxJNJvhCwvVOnK/27+Yq/ipNcSEtaVPkqq3cPK1Mt5HryAX+//OJgWOEF8B7WKwKZW5kc3RyZWFtCmVuZG9iagoxMiAwIG9iago8PAovTGVuZ3RoMSAxNDIyCi9MZW5ndGgyIDY0OTYKL0xlbmd0aDMgMAovTGVuZ3RoIDc0NjkgICAgICAKL0ZpbHRlciAvRmxhdGVEZWNvZGUKPj4Kc3RyZWFtCnjajXcHVJPb0jbSi0oVQVpQ4FAEQkd6770jNYQAoSQhiZRQpIMUpfcmXaR3kKZUAVGKoHSkSBFQeueL5dx7z/3/tb5vZa1kz8wzs2f2fp53vWFn1TPklbeH20FU4DA0rwAfUAKgqK2tLgAEAIFCfECgICk7uxEU7Qr520/KbgJBoqBwmMR/IBSREBAa61MCobFAbTgMoPHIFSAgBBAQlRAQkwACAYJA4IO/gXCkBEAJ5AG1B2jzATTgMAiKlF0RjvBGQh2d0Nh9/l4COMFcAIEHD8Tu/0oHyLtBkFAwCAbQBqGdIG7YHcEgV4AhHAyFoL3/UYJTygmNRkjw83t6evKB3FB8cKSjDNd9gCcU7QQwgKAgSA+IPeDnyAAdkBvkz2h8pOwAIyco6nfAEO6A9gQhIQCswxUKhsBQ2JRHMHsIEoDdHWCorgXQRUBgv8FavwH3AX8OByDAJ/Cvcn+yfxaCwn4lg8BguBsCBPOGwhwBDlBXCEBXRYsP7YW+DwDB7H8CQa4oODYf5AGCuoLssIBfrYMAKvL6ABB2wj/zocBIKAKN4kNBXX/OyP+zDPaYlWH2inA3NwgMjSL92Z8SFAkBY8/dm//P5brA4J4wn78tByjM3uHnGPaPEPzGMKj7I4i60h8M1kX6b58jBA0QAYqLCYmLACDuAIgX2In/5wZG3gjIr6DATzd2Bj8fBBwBcMCOAfGDOkCwP6Q+KJAHBIBGPoL4+fxn4J8WqYAAwB4KRgPsII5QGOm/q2PdEIffNvb+kVAvgAUQSz8BAPDn518rKyzD7OEwV+9/w39dMb+ymqaxih7Pn5H/FVRQgHsBfHiFBAG8giJAgABQWBwghl34/bOOHgj6p4//yFWHOcABP4v97Bd7UH/37PGHBJx/FMIF+GcxHTiWuhAA57+ZbgkUAYKxXwL/Z77/Svn/0fxnlf+V6f/dkcojV9dfcc7fgP8nDnKDunr/QWCp+wiNlYE2HCsG2H9DTSG/tasNsYc+cvvvqDoahJWDPMwRS2leAWE+oPBvPxSlAvWC2OtB0WCn37T57Tf+KThXKAyiB0dBfz5isFlA4H/FsCoDu2AfIygsN3+HQCis5NC/LvKnDcGK6p99KMPAcPuf6hMUEQWAkEiQNyn28rGWCMBHACtTe4jXL3YD+PlgcDQ2BYCd2Q/gAEeS/rxoMSCAX+Wn65clLgTgN/yXJSAgCuBH/zL/sSf4ERKJbeoXWbAN/W3/kj8E4gUBk36egIMlQ5xrQlqPq+QZPHlXhqUIdlKPzQR5hwusidE9yqM2i/GGWZlTmqUqn7sFVKydO3QU3I+z5yb3fJZrWeq8hQ95WVTWHFnsYieuDq+NJ/gcMd6dIG/CeW6arMAsUYzswdFjiqLoJJG1d+wxZCf3/aum61OCJwdNiYqYRmirTntnVUmmFi3jA5NvXwzQzXb9Risi+3R/5Xxxexa8FG35JEUn/a6mVPsJabxnJcVC30D/DGU30+uoQA2PoJXvbGFoSmXJfkYlYaJKk5m8m+c5xR6b6VQ+dqrUcpv2PS/nuZKPa3R2nZZ3N61YORM7xZxsEx2iBb5hTpgoETM0CqnI3PzVSPvp7HAWvMY+mYQjlElXGlTtzVz5FyYXjfBQTe+p8a6RhfNHminqFu97Qzjva8dLX5Ytf/OrZ2+L8XAIw235qyqZclmZhzaTa8PPITivl801a+aQM3TcVNBCPNWp1UimaOZBSEuAGaWQ0A0PaGqF8U3++q99RIXmhz4Y4cu8vfZ2BY4p98ooWAxVNGahdsY3veD56Y4A/9s6cFp1tCLG023x0LfSa9FKq88NXuhXjml1E9lamKR8Gg2XALBkv9joiAyJoeNreXK3fHqpO+KAuQw31h6nRCf35el+IO27XngrjhCpR0lg9Okm5mITNx2gQ4qowxCU6t2SNBntcBTty+shw5X5fP/qh0xLim6AhrCbPHDowkCoYaKZm6bfp50nj7ZlmeoB5WIo9NHKe+3EZV05cic/Xuppzqc3gmj0+4PX459Ft8ov7DfnRHGNVTOMb11vLZEOJOZ78OJr5ua+kCPDnb1M6ZssFu02LFd2V3CbW98VGE0K5k97gwaJGnZN77Js0eMuN2RlvFkA7a7DH6qgdOO4QhIL2HfsBXebPaN1XpWPqckcKPkdfCeezorrMU+62bpVVy3g/LAi2LHkJmGHgF17c6ZGKcjXtt0pptjuMddrT/PgHbAFB9A58XuNGY6Y97EjKXWqE71hY2geB8FjPyrEJe/ohsOENQB0NmFD2sPgKowxWd9bgxnsLXQw2cRA5CpruXExvslxSaZQvsYHQ1xP+9IyFMIMn86jhN4/e+aSe9862i4+/TtmsJkYRDYYKmyjQLi0QU1ANXPWO3wqsMMzMkU5do38m2l9jeAAAp6pdJb58gleu5fMgMOkWu2pBYuVkfLha+d0g/5If36eM7LlZdoNQHoqxayr+DLGbCYeUbOfk5GlxmpyNBNo38DaECBpL5yXb1RI/llE4v7SqQfNPbDmM+6ZCUkezPtbRGbRlVSYGy6A2wX6Y/OePTIg91470RWBGPXT5mFNCo5QWciHj0dx0hEbDs0NUt+dNc+fjrG5NLkezrHb7LuxWVGkPVji7Q7OXbntAtIafHxn5iTV6L2egM+HQOo7NLDcJ08/ZqtM+dgZtQ21OhCGfdnKLfd5ojW6yRHR2Uk6YJb1YGmgaOH0aLt+XkY2kHpquc4o91M/fNvAM31sUYI0nDkD0rxDyr9L8qRljYnxNR2t99lW002/kNxw9OqUWV5wy12xgF13dMiCw6lfJ9XqSCJXVZg4vqHBmFmS920qqUxUnaBzkq5162JwCwV75/VnxlktoQs+MuMx/LlllS8U3eDzK8Bh9jK/54jp2/ZffZxohWUiqSKJrD2Vir7LQfT37W92422AoPbmI9YLch31ssSI61AhScaaQIWeZnkmyNkZc9/+wXW8kbvlmuD1VRtS0n2Z87fnRvAR6QJuRuqmt4On3gUBn+8hqAnZ0oyHGUFFATUBWSL6gg+FJOiyGhn6pcxVR3wEjq/AJur0VXiinDZI7bvHT9Ch9gEBwbOlOpthglZgKGjxUHjvSnqH6R0y7ZWH93SlkzX3azXNz9W+lvufzJ94Utff0d7MF7rPXd8d6SHix1da+KDodlXOXVFQax3lTYj5erpfLJ7oC0E/zWDgto1JFe3wq2ii6SH+YtFO/8EnwF0XhfiI3kvXbRnP+DmzDakvauYxVb34Xh5UbdR+AcsqvGwZdzPsaFg56zEuSvoGdmjJ2r6b684FTd1ZLmTLOvSHwuVjhMInafvztTNXzvLcGbaOo+H6pdU1JJxFXyUHA6v0bxizhCgi7NbeyUkedyniPICsc6hYcEaR5p2HnsSeFMkO08UgcSK3UltbbPYrQokoRx10iU3nPuAuleSUPDoBzh7Fxbjwx1dwVIocXH87WnJS//ETSWA177yWucnDUrtvwmbZFkPAR0POtDLK4y41ATWsZj2dWrHtDcfP++KMU6oOM5YA2uGup0ZqjP2w0UvvjG6IcW/v1TkqVB5/JjMSHirEMuxrxQKotEpbXmXANAfO6lRwJN1JVP1oLCBXH8bH/wBXsm9E/drGexVMIltRe4DxJ35NXDzXSQdRL/eFXCYSb9IaT7/qIDU1/lpu9tNpuySXhMpz82pvuNeHBueK7RSv/BrDtlQ8S+96Ltht2ZZsk7UgjQZ65hNCHpZ+BhdQaK4FLWZmyCG1OoAqZdJBnXvWwoFeGlebilZojIu99ceLCooE99KKBl1Ogg5L3oes0fTM2ZsaXaRqXIxI/cPYeiZ9kcP8x0Z0dlp+/DLDIi5U3+iOpPU983QvxWhFziPuMUgkTd7PM7ah1dKTjavvG7ito1ixaqh9+BG68/HGlEzSTcre90cRK9dXfghxTzrfM+3KUtoQX4ti2x3z3c1mbVSJnB8Yimy6vLM+pZUgafOY1F4/WUOdraElucu8n/MTHa2bgfsa9VG+hgVdvL/DBAXeg/vJL0Vrv9y2ETjNH/P3BJC92nzBaHifQFbgmWwwMdnehPx4z7y3K2fQkta15vfoV7kseDvGsVTb39ZIOulfusmNctOexRrRPIidVm7GLTTVdeSdSp54HU1epbaOWKW7CVIjZL5LbIkpuHhDwT86xhyi7GxC4JMl8GRPYCjYqDrJROtiVMTbVNMXEzC6t5Ty3XeqAU1U4Kxgvx5qIl2B+Sw01Wk0oeHfumpR015/+VHI9sIj9xIBQwYbX9c2MS3NOOT7Sm3Oi15LS12vKq8RxGR9/BEXUogTTiplKIoWqHftnrV9ZZe+GomT04Kjvkk7wmTDlfUwbW/cBkKhfNMQfaPQGCzy7Z3iolxUELxHhKLPS0vpXYd8amTD44senSKmDwbEAK2orUyHXq9VQSXO5KAhWG7N1ETmNHQmpvT9yIto1I2uz60xwV9O+ZBzxFV4zHvKFi948couGr8d3FwLLgnEtCWvPENWEJBvLIyyFSqUkmnh8kfGfpVoUqA9AEzMTXIEqDJkjw4LPBIFWqFsA0nj95N801sSOKtphXPmiznXvyvUXPBSurS+as7uTXYpXNw/e6XJXOEWNSs3Z1Mg/9fqZOfDlrFOKuL7bAYQErdxJQu88pjOGIT/4PeK70/ICM1mEuQvxN3kMZ8Pvmbi27frSN5dTvOnIxyJL2lHzLceptxqoldULboZkKDzIafqafe8ryRAk2hblKJTfv5ovM/WdrndWYKfDPc2zsPaZwFXl8ZF7NynogyWn/YaFFYXE6bipAY2VvSi2RB4zuUBnb3rnl3oUB5oyRy0okCjdDy78Xwc0GZc2DP4HbVm3pLlHOqXR2r5Bq2muEG0M3DCnMZPqrS4Ang1QOIDhXQvXU/DK5N6XsnQvvH+wvcNn08KuCrc9Rj4ND+Cs5h26rEicSrP9jvGJsbPD5suEWwAjh8UoGLyOjbl0ngVtRg3HK7523MFQgRl6HmDFWiGKxuQ3cuF9UIxTSLgwfpXm2HeV34u/lojcl+3yt7cGFSV7rZ+6fRpg8ulMqMZSiJuNxZ3LIeyvn3spXrFFxdGTL5Jp3sUlv4watu5ckmFxmim9cON+2ygneA7BtNVpyiHxLr8gk+WbgFgFwF4Nc/qY+LwodV5/IDXyhvhdjtR9xUr3Pe6OMIuzKg31fMzesdT8ZFtltMNb4LeXn05M4DAbT3iF1uQ9rcRst/ej1dUZjp8VBy+RVj9YqLZlOAQETa+50KYFzzcL5/LQsH52Up7mX6SkpyEguZwJtY6sHzko25Stevs+w/e0oz7JdYYEeXoQHoM22XQIHhrDjjoYhiJeNYm/x3XqRiJIgtti7Al0HiXcOkS1do8pKrsNM6xJnsrOBSQT71QwWCblLUk9yCKNRVuKaeVADJKsTJAk30jx3RU/nWH+/WRsWQYr/LInZXQBPgrI7svsx0iy5WNHedtgontMi+/aXq5C3UVLry1QRczlWesx37wHTGdZI8A5g9JryrHyVW2JPLtCFovIGsLJXI4mdRkyiBrU3pDs7XjkpVHn/omn4f4uZlmrvP+qNdelB/GoGxRdn6x2dGfL7pQTXI0NgmoVn7clOwllYiOEHLdeOU3L1Nct6PmnCxVbe2uHYKYxQvSG9k453b7rY2FqCvd0+vGD3aW9hQJ7r688uiIajpwvqTEiZFNzTmdGZRnGmtcFeErQUm0W/UxSKoJVoS21ci6dtTVgGmoli9x9AqP9lkhxPnTG7xogaef+O/w98XZSYUlJcxcuJzxr/jME66PJMIzhnOpQ56968Vb+lYorspO+QQx3Pp2s7dR+4fEWNIp7OING9gwYJNBhLU0PrsFmBT5ZUoulDW5wX9ZiWTsnrjk9cfPd+uu9lD4TDnWG1XSjorf8+LqAmdlT9Y2JzFEkjE2VgmtSH/s/0C1hMon/Ohzsq69NVHFF2Kqjk+bU0/eMkiQnyhIP2A7IPrRt0nHlsHdKBp3cNrvhCQ/YA0mYYGUSa4N3gwYNe3hK7H3P1K9BCqnLg6T4BTMyQksNxTGeEGrIk1K3a/HDTVVvkwsp5hAfHUs0Lnm6W01P2GZOYMSdHfbvpTN5vtUqNlweijpc3Bg1CwcRBHWmfPmWbFO3s44xQJhu8vmQrf9gtdrdSdl6b7g4ohCq3grJMAovtPvRsu2etDZVobgLH3FvRuF4fhplxs9FiRVKaQf48GPLrybjQ0CXRbwYrFvJPUDTxhevgvsCAvxbTXTG881aevhXMfMjWy4+Xi0Pe3SQXPnDP1IB1PgKKVVD92JJ7ORRLuMz/FmZG0IM7EXFzcQqJSc7KTRXz+e3aq5cw1PXjeHsyIM9dahmp1z5gwxrDStdleQgyCVFxFJprnjX/XEbmlfiFX6kfKe/npiCjHnppKUZK1zVfdA4+n8Z/WVE0EUDVNew/yZfJ1jmGrCOx3Dvkhwr+D4ecskkoovbHZJ7KPiU2tFhdzFqLUqGulZZOyIbfIuTaarezmnoNVsR5oOhCFLcy0RWMv0TbZ4FCGQfPSDzDomdfcmzS1KWz1/wysWac3ZK1nlk1VNhowMjlqevSf5SEs2QRI2i8lofq8JhFA7zuYXc+PnZe7BBPXcuLa5SMCLI3my8gRj8d6+HngsNwJ1nfHkhnLhoatLsZ0cTJ9nb0jSIC4alh3/RND7fVglbcjnBj/mV2ua6580TYyC770Uv7MYnZ2EUJZo9xzIyh6hVQZTkSXkdJV1SasfrD8p1uiz/f420YzLwGtnLn49Fq/bi0RkhG/KqeQecYuSGv1GzmdgPy643v91M61G4fWlsKadwEIJd3za3n4nb83ZuksVSSnzq5wPoef+Xb67LxvnScYpqfeN+JEdF0UslTvy3XYbrX35dWfLrmXsrph9YDrIH/U1QUlPUUdY07JhdndVVvneDwPY6FHS3Y1Fl3uzOfvxcoa5p74aZFxX+2qW+AyENH73E0c9jGWVpLgCBpN3rAoyLgq2k159jy/7Mreu+qGP8nUCAU5juhHbmrr24aJ3FE66OK0wvzaTb1Vjx70caVvRO70EuARx6BvUw+IuA8zQvDVCKbuTpMyc5mukSzl0ETzMktI3MvBVpx8/xohTiBkiERxhNWxPXA6W38ktEdcXpUaBtAMi3iTfprk3UAPxPUvdt6v8wpxGdh2tFS4+Ug1MGYjwfT+20a7LzDXv/mGFQiUJTZKsm4ObL+1VU9jSQxA1deNTkc1qj/RVAsUFT0rlqO6DlTB5vyG655Zki97W5PelvWyiX780Jnj1rHP+uagucbizwtSSuGyobMjXFSWCVzE4cYwWT/e9lRI/dxC5mRbZ3Iu3iwJdJft6clGq2y6Ql3dBQSBfUC+qjZdPI8sIcVeoX16OY9Vbrm2L9stYED8hYShuZzKc//AZeuQOmRdZ0t4BzxAtt1jDjtp7m2N9qX06AQ+UbkBzsNG12mmXjyIp9mao02S1p9XB9i6mCLEVd2+DUak+5kUvMul93kyPCPxz1fc0flXmzdsYcNr4fuV7Xi4o7g83k4l5zjKt9OQlU8eoF9cukcPS/NXkHRwCKkZ+ylY/WoWezxcbsjNyaDd5x+SbKxYkktidLDUVxfCQyHve0swnPWoDMJbHZZLkK4suM7maIsOlCIUvj7UHbO5YGUWk+f+V6lHJdCar703qvBD6IbtgMfHxa7JUX94qsBYFfsh+nRE+Zc42xr+fkhI384pB6/ROmNh4Ybkqz8POwRyF6Or5yI4N6SZibo6hQCOxl+L+j8Nj76WOLvR2uCa9EWe51cBS09PW5KRx1lj0Opcxj9M55spuhZtW2hcdzXAfPJoApOoBujbuVNW9Q0mZtHjilPUJjCYePWfhZnmmQh+8m8Jb0jVde0L5GAMXCe4vnHlZa1+GR6H8OOFsgKOLJugTYW9xwfFjrWY+WWDdLO/HpSlDW8XrOEFi7hCj9ALaYim7QjIEAl3TODdahTYy1bUNYxz9Lsyn68XmFe/1lfLH02OzJvrcskFHcU1VGpttYC1r4AR8H1NkGvx9aBAq0Udo2sqzi5+iWdvacT5hhO/59QXKPdyorN0pSBQ5tbGrlcAhYWoe2d2aFgdYciwtqNeyl4l+Eo6rSZRxQ+5M6KPltqGOhPjzfNq/HPHXi+aJjWXnuJbHDezYR86m4NGNAalrMpGiN5a6+/y5Ukl040lfvugz8xR5x393cNHXJa2EE0LPxk83p/GyXZWsaSGBue/gdTYjUPsAfs8JMWK0zt69u3KN1yCXU6aQe/iUZLTkW7+gSIRT69pOi686n8ij17b6evlHE0Fctj9epOjr9zWsc54THQkniNAl1VoXB8+FBNFoz1fCI5iIRVS5bWXfGahol9xY6Aq4/DjkuPR0A9HpMDWPC8O7xGkX6RUgty8raI7b0uzepLLQIvVuciepU+hsYOuS+4s+YkB0ndV0c4F0OPZU+VZDr3rzjujx/TN1o9ds4TGXw94Zn8O3E66pJSOgzatXJmCnbCs6V47p+ecqXbMSzW8odAvW2e71RxKzKkmU4ERR4oSyc+ES0YDoljK0vRIu+vvu2milnMoyvrGn4j6VCJ8A7ghaiXlxfmsRRpBV6Im3cjPy4XuIMGWjBu2kDp7WWmnphwF3uI8bNLeSJnka5WQgfLxT8NKxZ2uXivQV9OT4yc97A1wHKHZ6Ryz96Q14brF5dMGTlQrTphzD5okvvQNPNnLXQCwR178q6cCQa9w7Q4cVmNwKp+Pgz8cWgRxFPRzhnVer4+fufBVRA8dMHbMfCsNvdw8Xbva5Jpp4CR0YZZVeP2TXssPcIbQzxIzVScElYj8atsH8Q25DPX31+LQ/nkXdUrwDKs/geAetnxytCfcg0vHx2WSf4rWIXsrmTeXJaabig8sxznjKXe7hbm0FRUc8sNabEVa3Y8/LtBpiVbo8YpNR8yiPvXWUPko3UtSIYwjmwgSaGyFe0G/KT661ksHWVnY4TnymyWeuS4r7Whkbyl677E7NCJo2IS7jStZapbDd5QynPzLEwQjre1fxNlwj0DwDO0w3NlrlOQ2b8ZQy1fDmlxfxFKy+OqKnvlse+MqzbKvTDccyyHzhofQ3/00iRzFPRAhuFDmH6VsO/w4TyiiD65R1elRqqJG42P5S4ujLH1rXOas0IWZgxhaDcuoUoEKYQWof197IbfJnfbzUWZj8Wdl6p1OEAVFWKlOQdKB6i0+dLelUb0oFmbOCaYFVJoFevqzCftm8KB/kbQ3dd07vuNzIt+KhcQWWL38cu8PMMikey3A23XRfZfTc8Jxir1TdLd7m+lA/UxD+l6NNgPDBSd5gTJ3GTILTFuvod5qgkaVWfIlxrWvemkuPiHtuXkUZCOozf/iS4cgueTcI9VnZOUztMT0PzFJSFdxJSBYlO5UsCD2au/9VMUgoSTU8PeTmPlsFvX8PsFpVYcuSVovxWf/DT5onzx17X/ba3qh7KiypzqZW/d75c2CUf/S371/CJnfQyZNZbM2yHKehj5FrMXWzC/aHdbjbkbcVWFM5xe48vAkq1ajFV7mXbabDeULsDgJ6EDdr4HMFbV06E5RyFB6OpVCGMfzYtb+7KThJqHR/BR9NUcVw/jaXpIpbCa8tLstlqqYNEUCUuq9JffEmEngYshzHGXl+3I1zi5ATKX7StnwOIh/QtRUey5y4ixxHeXk4cZEHbT/T1L3xodg6QQr3BTWZgcSBDKMceUm4kNPNQ/1zmXxdcg7nbuPx4ZTF6a0beDbTFjXbriO4nULvZ0GZmk73CJ9+iLOpNI6JQi6NUWgxv0kh0ktxfaykF6P+6AMJfUGajNeew9QPjJ2o3oOov/iv7rmITfAR5pH5lTtjoidP8rcklzpgx44+2eZjKhJiuRQkY/23PMFASU+Mi0Rsgma475sYjtWWaT5x8/QcokfkQBx9sXiFhCyegooMBj9hlsOHl0vqhpYuBJdLocksMuFV/wOlkGzCCmVuZHN0cmVhbQplbmRvYmoKMTQgMCBvYmoKPDwKL0xlbmd0aDEgMTQyOAovTGVuZ3RoMiA2Mjk1Ci9MZW5ndGgzIDAKL0xlbmd0aCA3MjY0ICAgICAgCi9GaWx0ZXIgL0ZsYXRlRGVjb2RlCj4+CnN0cmVhbQp42o10BzSc7da2EqJERC9RHqL30VtEHb33qIPBJGOGmdEJor5EBCFRo0cXQvREDRKE6F0QJTpRo3yTcs573vP/a33fmrWeufe1y73LtW9ONgNjQSUnpAMUjERgBEFCIrKAiq4RSAQQERETEhERJeHkNIFh4NA/MAmnGRSFhiERsv9hoIKCQjBYTBWCwdrpIhGAliccAIkBIElZkJSsiAggKiIi8y9DJEoWUIV4wZwAXSFAC4mAokk4VZDuviiYiysGe82/jgCPIy8AkpGREvjlDii5QVEwRwgC0IVgXKFu2BsdIXDAGOkIg2J8/xGCR94Vg3GXFRb29vYWgrihhZAoFwVeAcAbhnEFjKBoKMoL6gT8LBjQg7hBf1cmRMIJmLjC0L9xY6QzxhuCggJYAA5zhCLQWA9PhBMUBWAvB4w1dQB9dyjit7HObwMB4E9vAJAQ6N/h/nj/DARD/HKGODoi3dwhCF8YwgVwhsGhgD5YRwjjgxEAIAinn4YQOBqJ9Yd4QWBwiAPW4FfmEACsZAhAsAX+KQ/tiIK5Y9BCaBj8Z4nCP8Ngu6yGcFJBurlBERg0yc/8VGEoqCO27b7Cvyd7H4H0Rvj/EZxhCCfnn0U4eboLmyJgHp5QTdU/JliI5G/MBYoBJERERKRkxACoBwD1cXQV/hnexNcd+ksJ+gljKwj0d0e6A87YIqCBMGco9o/EHw3xggIYlCc00P8/Ff+USEAgwAnmiAEcoC4wBMnf0bEw1Pm3jB0+CuYDWIlguQcCRH7+/n2ywdLLCYmA+/5t/mu+wkZ376rqWfD/rvjfOmVlpA/gLyguAgiKSogAoJ8kk8IeAv8ZxgAC+5PGf/hqIpyRgMzvbLFt+lfGXn8IwPNnOXiBf8bSQ2JZCwV4/ia5tYiEiCP2A/o/U/2Xy/+P4T+j/G8k/++EwJ5w+C81zy/9/6OGuMHgvn8MsKT1xGAXQBeJXQPEf5uaQ38vrS7UCebp9t9aTQwEuwhKCBf4v9sIQ4NhPlAnAxjG0fU3W37jpj+3DA5DQA2QaNjPZwUQxI7mv3TY1XK8j3060FhK/lJBsZvzzyvVEI5Ip58rJiohCUBQKIgvCXbIWEkC8Adhd9EJ6vOLxICwEAKJwboA2PICAWckiuTnRCVBgDDUwxPbdyz8CxGXAYSxz9Xfsggg7I59IxBwqDPmbxT0B/0935/wP/Jy9ERhlZhfzMEm/S/51zsAhfpAHUkmRpGOcmH3qsKajl8p3fQW/Np/e4jzq/lzXkH/CVSz5+n1q0m8FekP51CHSkk9bTemF9V4DhQnWc/91+urr0Y2JBo2/gg4s4s3GvzaSDI+QPv+U9660utOZmImQRPF5YBzjwCzkPv49bjvtDizPDylrxvkUB17d6j7vO4snuqNGP1quFwhqU16VvxZMNb0kXXIy2HObIeMEXp2QowgMxEf5Y4P+fDB4RDli0+XrFrx/CSBG7Fi+f5350Ufn4z4zZSaiKJbGDgY7tIz4x9Q9g5y+SuvJmvRjfkX5k+/H/epl89nfUEm8Gxa8IbQqmhaBcwoBlHbXunVO/EWtJSVBIRx33xPtZRYWVRLbYdi16epaLSLocJUit2HMq++dVaeaTo0a3W+94xpUubz60tgmMzSdT24rtX/R7XHTM+H94JHEc8ajntqPyy2Bpq/vNN5h8nFG8Sn5moVPT0lm8b8jKAY04fXYg7VpL4hMOmVJH1GAAmX93+4q3zKCFrIExG5K03QjtvLtCWRFbD7OLCsZkfv7fwwxRjcm9Im9DJUUu/S4d2znZ08BlcxNfv0CJ7sNLXWv7Jn47gN5aqgNcOhxcI782W0QqpFvqw6CQsS47tdHPnimurtX8fKe6KtH/reO5HJFdoyKzNtfCKRa8i2tBEj2LdaE9KtHBreIXPotLpwWFKibEuzhjQ72SnzjlLuefzFRCos+6+3RsEvWtD6KepKMXgFR4sj7cQOtzZNlL3Y3GrjyM1Nbp8u9rUUnHkLFGuqcnLnT+h2aq/JRwZM2Iyr5rczvApWpP3roDZYtKpZ/5gH51r6jZnHnOnLU/i37Jp7as12LxiVbxqbHOfc8pvHaR/73LfI9nFwkcMfXmb9UryjDpCTeJSCD4/nYhtbDE7dn7vN8yj6wjm6btbUW6l6kqkybfg9dG6ju/eK8q2rzWIi1Ar9GxpAXhF3+qxOPj/15Whi5r0FvwzFU9a4utvlaOuqWeoD+fCS29Ytlrgcc6p3oky/EQ8sn0kmvfjso55tiOgquZkazbAEq+AcfZrJNjZIoiOKQ1dplZlK8X0xP4iX7ZFzuMVDIsdVihginEX5EW7q7qq45F0jKgMxtWy2MEHZSgpuivmLAaXrWuQVQgQTHVUqWv04WphiHK52fynCJ5KVJLdCzAbaB1rWR0Y1Rm4m7scIF324Dh5z8WYHSzyN8941juIIqLgMQRrK96/0PyMlHbR/8EY+gwUkUhRAlHIp37jmtl1dezKePtvjujObFTZXthZMVFPz6lXanR4G+zv7UsnrtKR2vVkEVklv96V9DOTFQSPM+7cxn441cCbJyeQkU+rrAlHanqA1sR+ppio4BLBU2moNTFnV4FDgoS89y+jFA0cWTus5j+1g64aGZXF9cS82qzS7I82GnFfbryvOaN4vO8Ywiswxl+zpap3ovrAUKe2N8/KXnKN/Omp93A7goV549KSyizHcPsJ/mmHy2VJbaFqb/lsPb6sAnfoHbX9IlMpdZfXMZhIWZt8pnuvR2twR7aL6IkNmz8olNQ04OOA/1k5L6wQT6eatWujXh6F9PTHHXYxEDNq9Y1yinC5PHSr8Io+0ehlSBDyRD3RLRTvo/WY9E1KyIocl+VIb+QrIOtvISgYvZd71F87d6cjVfkrryEv/8dPRF+sdlxeYMq47RYuPP3V8/4EgNFn3bk5cbuLIctKzVqlLy+uf1D8c/aSYby7qw7oq7cGm4/S5fPEmcv3BEshM+FG38m3Fyu+nm2wiCa2W2Ui/E47Nk4GjrmDOjrJ3gz003l9mv4jaIIvb54Byu/M7mq4fyT1Xs5XdtsCEdLI1oOtE48lOREXdvpJHD1smZwFmMFlhGL0OQsJ4z5urSHB96FVFprrfcaHMN/rb3dwJSzy9502aZ656p9Wj/kv6lMD15yB8HS/HETcaAlhNQQtXN7vuxje3DsVa85GIMvq8MrdpB06RiecEfKf2qetXO7IT5xKFnQ/aM+DNnAZqotmyLGZKvMbKOsLL8sW0WxJUxSqZSrlzRxlwuXL/jy2kPLcaxi0IEGDCBHaiGJznOGHS/kbjyASK1g4TOp4lO/MdPAeliyDtAKQuqR3V6NAzc4q5C6b4ZjLfJd3VS8ngkqxK2+YjCCaTlUhRH7SeLZyBA95lffpGzJflVsqiI7mu7tiAeufd8xkrfLfSywa/T4/AQYTElPDikxL2Ni2FcuiVcTPlOHNlpsAVM94nV6aNu6dgDALZ2yGzL7eNKGnraPObG8GxXfjFzQYZQqvNOlcGg32OrxTQ21n1W5hFUdB17X83zKogMzG4PPAKzTohgX4QSHC/mGQMRQW5Jp7WJXrS7j4Je2TPD/dnJDqCGh6NPrFTdKaTFGPUmDOAeA36MZj20di9etFH/f5uCYiFr3ipK5ayIk6Xv8vBPThCzn+muJc4pMxQjHbVzExuPLupL2roOhllub6QfuY8TKBJWrpklCV0oz0i3OXFbevb84rs4PlTbfCxSbbDj+fxb81CHsN54C7lrRmTDp/LYmfY6laLR5JHPlp/OT+BiBuC6F71PgBKZBY8zPLrXvbmAwlo2/ubOWinx2mI637xrURXy3JX8mRHmXQy/RhsHlPsFKNIo/NzikO99FTfxuiqS8lwaOrALrgSlcZdbn5BwCV9cSO1iOPA+jV78trEX9cN+vL0Hysp0X/wikgMmv0Mz+FaqTm2/DpWzT3Rj2M+OfA1lKslRyREG7hgoEkVhhHDJj57EjtkMrapkEh3dfgpaeSPvBDDJfEV2rPK8qlfmMGAlDzLijOuuSt9ErISzzUeF3XwfsrvCGCK8rb0oIz0rkyqvVUzpJ3sKWwsD5ZK5Pil3K3zvH0YKC0X1ElsZyTUyvumVxNpKJle2E3XJ6vXHH3ZWQvmYVG6Bq+lGtwC2U9Lewrte/JvLU6wn+4ryO0IBPn1VA9ykiAbK+ayfPC7RZ6jH1KMdjNQmoPAPp+2hlefzQEuF27xsTU+Zr4HNZMUgxnsNrf8HtA/e+nutddKlsEcEZ9yON5ZKIRSlvmLgwZRZ6lSpgI67cAUOyneOiqUxhm4rxc5HKP9CjdrSC635dtwIjwEfMpDSDr+SG8/ugBXbv5LvtNFaduPTdyEshtnc3xN0fLvC7KTFjupwqiK8dEtBTLyNepxZCpq9uFmazmu8809HZw0hon94HykQXPHwiBFaBBH8ZNm9kExsaYjA5kxmY27sWiZSFxu+8UyFrIN1KT5iaze0/yNbvTQQdfTWlZFQufQa+m2zOYz4Vyi4t6URXA/0mWOYVHzbaoq75nw9xv6Mg6XuV/Z9QteUH3oM2/nA1PazAgX2PsWPzKsJI7qeWptmNR2E8xXPA0zod2NXbXVAw6d7HJ17UPzIow5TV7rNWhLxVUQ8RuljG5YofLTzrotDzqpNi09oIFNleNM1/JjjsYtIw1Ov5P0g3FN1XI29i8e7Qxph7aMkGs84q6qUcC9a6jYT645MY/hzF26TE5vsSrklergenuW5dqPyLhWybBmyT08BWl7Y9K+y22BChqeSxFG2CGS8LV0smlJiXiSFUmqVrI+DqSSlNXoMftrg2vmpnZs76c5zLYhvj2g3bTXqci1IZqC5Jlm49Z3+p9FUXotbOvMTTcs54gnfgc95wiiQrkpXW6hk6jb3u/vIe7O4fOlNN4uOvqAPthBplE7KPrH+46SErGpqLDG+NM5EgmZB919s7HNsixChyCdd3APd0EbPHfiEBy0PqzoH07j0pF3f3eFso4cTnUtoP5BWrX06qlQT0fyG37n/i4/30KvUNYvdlXKfuUfIl9EfBe94zXcRESI922/6WAsst0CF5LLJs0wkudGkjwVSe/iPcF2lYToWOormNhS0dfY5sFu+Au8lLITOFJ5dK00kZg1OcOLTeRktTYa/PThtZm5060itTmIVdRD52MDH/FgjfAsmoBvV83PquWm1FlGqW9YUrGLKX+XmNg/Wz7+omHNPlRiRXgMSu5P2XSU0DuWKXZXEJXSalQ+369BC+NvRb9x4fle5ENjKHAdo2BVviDdl6iO7qwLkWU14pCxkaTmijp18y3nhdUwRHv1rN1rOzQvjNHpMFK2ZTZShsDfrfu8tssas8yQrZLQfVlxZW55a4p6O/oq1ePGMvKam0GFP4Tv5YXPd05kswXO2j/dWlflMmcK7i5eGjW0qOcg1Jh7uULei9HMK2siDuoeEZqwZNpVHEfQlKCSb9h930BMh7QRkb3VP1vEKOkRCOqQIZJjnt0hsJultbULn3KhTqh5kEn7Pk4u1p7l1cBmobZy5OyOJLTjTes0a0V8HYnC01X4O0P3+AjGkpygId6WiDcZJzX5e8KxcleNGbiv2dYfyC5hrmhV3lP8Ru1T8jpUjUdE/YNcfwPNlKEH3uOirqf3TbjrdzJvyGXKP/G4iRhf8gzBwHVUQIkWHYBEH+MzEo/4sQ6Pz/khd5ZiBvxAKsb8LUy5BqD2ByzQHjxj0T5SsRKtZN3JD2FJcJ7doRoOIpYGaI/hV2E3dz0JbSlc83NodABv+9T4LCRaI7ls/m79UIW4Z6xp4LvOjpX274WE1KbAINvHZMukjW84J2zDuJpEw5ZfC4deMGhzrjrmq1XUbbD8SLutPNGraXMz2JgQdATc2h9qoHC93mtlGKHjWmwp+PXhA2PUhS9EAtA1sFQvGhmQY5G5Estkc6VokM4ShzYmXFEiOGFmbpCHkeQ4PV6BNKM9tLZHVeNeZM6NRTQNiuahz3QyybJQm8LkwGhFRfan+8/KJ+EdclzJFbfkVyZTX+1Bn/A6Dy6B/dLsa7tq7+QsajriKBprcCXLXxI0JWxdgXohcKSpQjLAD5msF80qi8U69yFlSmy+vk2LsrtD/NSZjmy5PjsEyQ8dPulejP71Rdg5UGwuOW39Y0HXIrt6UTJF2Qq3sy568Oowq4W56Xng2WFNbZ1lR02sLWnw8Bjnvb4uNo232zH6GpdEPX2PWe1O3sTIrUZW9e8FxS9o1XllX68KsZm+RcIxcbWYfIpbxfVOiESKfJgx/Tlz4+bHV627ioll9BnEqZDS6mBB6hSlIMfoiDU40hy3WpdnL44QhVP78taU/dgAwtL/3pS9WAAcz4u53L6BWxOedR40X8n2tfos+2DIoO3Dhv/THEK1iufbt/vdIau2pCHjruv69/HtM2q30hbdj0+vlUl7+k5zoPaSZ/aTPEmcAx092vklWn0fsJ3P2IxknN48btm4bipQhvsWk8W7DJPV2Mt6qx/eMcVTbgfVD1ljBpu9vfAYIKRVKPVcne8QVJeN+rLb4ReaGZ6mcdeaM85002u8BYeFbMBv0ZZ+/qNyrC9nsJ7JQt0bsdv05Rbr83ea3Ki1Eo5pBYfEwo6YYYtjGorTT0KcP4We368zElpPOzj34g7uchOi5O4zXmxTbeydgPuesdJLJdLmXLM8GFV5XdbptlZj+6ZC3VPCTj3t6nHNBKjgBzlG+NEw6cV8bO/CDsm8+F+VoDJElN0PVYVAd0L+ZediFxlXDubTwk5cG8Vt3RP7cdvP9erah3ISJYR53l3rjVeWNFEe20qFYs5KD+csKWCepcFtM0vte82D2xufKS1RN9aYVQ8OZeNiJ51Yrhrl488AiUoYimvrgsVPBKh5FxogxXk9Da4Ln2Sshl96XhIZr9DLaCcwhFF0mGgXQSw4lrxdehLf6IdaLeD5xNz06ArN9b2iyZN82XTvhoTOy2LNFseawABXlhaOeD/VBSrTT21PvBstY/mbz0vvyvZvr3R8yutMB73bq4EHTUBbbnbh2nseK+IxBlwp3WClGZ2OWq1OfW87KXlzSzjTd/CHPWQnm7KgmyzaqqI/+ob957e9apm5bd6MrQQbEJab17L9lmF7OpAwOsrAex9erfQo/siN/hrYGeRDvrxt/obgaspXRCT68XMRBN91/+sV8Dt3i/z2Y5I+UMYo1K1Ib7K6C+oMcnXn/sDf1rZXAOyrCznb7JNztmbe9aCL7zR4fWx8b2t99hdfAs3oueGHL4V6Ds7h/FNNb2fDMpHsxLETL02Jm/wG912+ufRBlh4/8awGZw2myLdTWZz6ztQVlw7gnfI14XW7HF6K37EQtWl7Il6okdqXkza2l2rbOuChA0VWpT833dx/cO0oPyFhQEphg/d93n6KBuJJJl5DYZmSFPuav2qEkbywKOZct7Pr+wn6a0Hwj/symhbfE5xzi9IH8RcuP53/4KeaKLBQ23iZfKNb6NsXtpaBdnY+rSljqestk5YsFURMqwTb96bImLk+Tyital3jL1mOelffSEQ5SXn7IFkv+yuHpFeVMaOJJcVft6boy3WeXYr3v9xauZOG84n7cOOo/SQITOdkpq4zKsC/QoumKVW/yJu3Fa4r8qhuv9JziOv6qJO89OTkLkupX5hqEUbxmtgRlDI17cWq7riiwj1eeXNX+yXdpiiFy7GcnssHX6Dzm2aqWiMBzxoaLMgDB1+qoKK76d6bdCt1r5I605/jPc9NeGoQKEcQzT7UpH04dKs/3iSr9jr46NR6hfH8yHY4EZ+ZEZ9ULoW4JeCbEaBq3fGQTMNzWPLSsPN84Dl3hqFYt4Ocz626x6xi+6zGvbLF9xwoNqc46zBa8VeFFT5k619upTOjzGZD2hh8bF7VEzYp8C5sv2itsQmGZ5zgSyDf3rBayR4Ay90Q0OMq5KaCFUVbV+oZtmruaQz3fR9gbbljIrupOA7eplvRuyS9amzROiNSKV/K2+g6bz5KGNIs7lwPVq11jZsSGn9tgsdra0wwKMgSjvAOPBcgjbqrV6dGM6CC+73iiNSSNNaIAFrj1zZ8uCPW9Nma5M04ZvPiwvKLhH0cHfiBXZpPa2wovmlmQAy3RUJNV2SYuiK56egNSU1Sa9aUsJXpQ4Uz2R4zux94PQojBTJ8miKBtEM11uz+4zRE22Kmk37vd3s8l8Dpzvi9E3nhBwZzhR941Z5ESZM/PDPNTz/15i3fcaGK/kjjMSw773TvVn59xTRNlOtVjy7S/PQmNJJMsF4xgUQbX10qbpG9LMBwIBJvufj0K3B3zw8dEP4wMLdDZ6TamCo6XzbYuXjErellm5LYdtzojjGpaMdthvhRq9dOteOJZ1rp1tOvaVnKmPZoHTcm6YPPTsgDCD9i3t4DDb5PU1pBXUTTlLcMll8w9Gp5tQloswbgEu9Vh39KMpt98iSd5PlZmmFYtdX0rLxpq4Us05WHk1N3HPkPOecriTf1GqeVjSVkIo5DW1/jxhZnsrePdqS/dlk1WWuaWbJ1KDLvJCKc4qni4wAeeROWHq/y0kQ/SlwMt6XWY0OVtVv65cvnR3DRoZ7JKTlpqty0F44KCSQRvAfgSvpZf4TvkfeeR6drizPy9YVoCzKMzZjnG381iOkrVypW5w7toO2YPqV7PfC5V21bdHxAw0Cqla6CZdNyybxHsArcW2bbGKncJOk979aZc0Sercb7lvZkZVddIqxhlZCs/POjWSdGgVPS3qTFi0KNvYYgp9Rjv3yzz5thSyg5uZIo7TeEkgIhjyLDN8FVgE2aFq+oukvmFaejDEMLVa9zoxjhdq166jbX7kg98R2Rs8Bu13gBVoPLJz7uiAex1sUYi8S2lFTKA+vltVXjnQrokbcMKOph3MPvFVqvODXEnx/DXz76yxunJT0bIZOepCA/hqBAmaORgVJER+mUN3xQ7ogwN7yDIPpFDXcwZ63a1FJswRIbR2pJVMNCv9EjJi3Pld3NKFl9l2ipLt4c5TRF/R9O9M5+WxPqIpmc/dTkFKU3v0SwMnsy4jEVOKLFq7bDVXKsgvgjRzOyyhypTppL3QevkXpdqUBPsbp7O9A1JgI+KP9Sdn335ie7ZB5s6xiL9MGKQILT6smyNM75e2uyRJ/t5AqrKR7FvbUiluPzMn1zIV2tQrmm+BpabgOWN1XBf8MXaUJdIhG532/DteZm85deNcFr91ELKwlpvpYrC5VGEaStWyMmpOIVDjqicvN4D9ASRZTV7wZcWlNLCriUGZ5qmmqCGxw+vZBEXdVjSvqeV/v4nf9WVGTeXOh6BD4SqkV3ThtVo5A10dcwI6D8zlO5AFWFM9Z1/xuFW16+pILqNZYBMQ4qacM3BtH87xrE4yui0FJbCjaHWrskt2hqj8FXp7mkHkhkVxRIgNRYWuRunLcMpn98yLCNvMRZ+OBEQ1nPwuSW/kahtz1O6cM6H/ov1xY33a60+frmnPWICnlGKRImIlcz2hop+c0Cey/C/eu2mfbXQbfSBO1z2sQAdiv3Pqub2kL2cdNq2c4zjj7S3yL0SiB6qOZXob0DLxU+Pb/6lALvOJAlz3QjzOKVBGElaQude5LcVlqvolwZAbuaDYIUJPdiL9W9+opxi7col7eI9140367yNoFHhhgq5yCgJrW6I+kexxbfY8fisDQDFIx/t3GAzYpPh/jFFGZysE/vfwAoSQ90CmVuZHN0cmVhbQplbmRvYmoKMTYgMCBvYmoKPDwKL0xlbmd0aDEgMTM3OQovTGVuZ3RoMiA1OTAyCi9MZW5ndGgzIDAKL0xlbmd0aCA2ODQ4ICAgICAgCi9GaWx0ZXIgL0ZsYXRlRGVjb2RlCj4+CnN0cmVhbQp42o14BVRU7do2AgIi3c2AdA4g3d3dIjnMwMAwg8zQIJ3SJY0gHQLSSCgpXdIKEkqHgIAI+o2+vuec9/z/Wt+3Zq09+7nv667nua49szY7i4Exv6IjwgGshoCj+IUEgFIAZV1jSyEgAAgUEQAChfHZ2U2gKBj4bzs+uxnYAwlFwKX+A6HsAbZHoW0q9ig0UBcBB2h5wgBCIgAhMSkhcSkgECAMBEr+DUR4SAFU7L2gjgBdAYAWAg5G4rMrI9x9PaBOzih0nb9vAVwgboCQpKQ43+9wgKIb2AMKsocDdO1RzmA3dEWQPQxgjABBwSjff6TgknFGodylBAW9vb0F7N2QAggPJzluPoA3FOUMMAIjwR5eYEfAr5EBevZu4D+jCeCzA0ycoci/HMYICMrb3gMMQBtgUBAYjkSHeMIdwR4AdHWAsaYOQN8dDP8LrPMXgA/wZ3MAQgJC/0r3J/pXIij8d7A9CIRwc7eH+0LhTgAIFAYG6KvpCKB8UHwAe7jjL6A9DIlAx9t72UNh9g5owO/W7QFqioYAe/SEf+ZDgjyg7iikABIK+zWj4K806G1WhTsqI9zcwHAUEv9XfypQDzAIve++gn8O1xWO8Ib7/72CQOGOkF9jOHq6C5rCoY88wZoqfzBoE/6/bU5gFEAUKCkmJioEAD8CgH1AzoK/Cpj4uoN/O3+b0TME+rsj3AEQ9BjgQCgEjP7C90fae4EBKA9PcKD/fzr+ucIXEgI4QkEogAPYCQrH/3d2tBkM+WuNPn8PqA/ACoimnxAA+OvzrztrNMMcEXCY77/hv49YUM3CwtRMg/fPyP9yKikhfAD+/MKSAH5JMSBASEhIDCAuLgoI/GceA3vonz7+I1YTDkEAJP9qF71Pf7fs9YcDXH8Ewg34Zy49BJq5YADXv4n+ECgKBKEvQv9nuv8O+f+x/FeW/5Xo/92RmicM9tvP9Rfg//Hbu0Fhvn8QaOZ6otAq0EWgtQD/b6g5+C/p6oIdoZ5u/+3VRNmj1aAId0Izml/ovgDw/l92KFIN6gN2NICiQM5/seYvu+kvvcGgcLABAgn99YRBRwGB/+VDiwzkin6KINHU/O0CozX0z7qqcBDC8ZfYhEXFAPYeHva++OizRq9EAf5CaFU6gn1+kxkgKABHoNAhAPSMgQAIwgP/18ECAYJuULgn8pcV/x+ZQZ4eHmiZ/aYAuuzf69+aBoN9wCD8xTkESDrc5WV4x2WdIr03/6cxnNW1rpgky/5oURTH/DN/Zx3cbPXpR0p2jjU0I08NFioip+YC6HkOL8d9Hr7JDVnJ0ChAYaj2bygd8xcOfTt94wRmckTQOU2IP43ZID1KNmQktrPCtuJMNZ+7jhDvEdl68bn4pgu59UByD+AGKD0nYcmgR8Ur5nftYT6xZGFbQw1bPiRJIPOwyvQ00TSduMF8Ak24UOqIo/3mu2GVkDX84cPb3IH+pyInRdq9tWI1keS0FH5aLPkjKYO0lMm5Wi1IDA4l0XPlivQkVtoSt0iOFSw78ZXvM0UDr5IHRTybnPSUQ+7qPx5t9mxAiM7J5vesnDDYbuaYfBMkpGlNiXHmq3vKpsRe64hxPpx5VCsCK+jFpmIC4DR0Lf/UnUGUlV9Y6mAuNcfhPg4Tsfk8SXNpF5+dLCRsnS4Lkxj8+FxJzADG5D4CMV+6lkkHkNOxkxtoYumxuKx5jtzjE/j6vB9aZcGcCj/bbn3bMdwTdYxgO2SknA5JsujM3uvbTW7RFD1/R2rGoyqGqteeR3TbcifmJ84EGRXkYxu86lKXfqAguTDJmmgmQlxoQjpvorOFkal3x1IqQjF4hoSI3PWwgvHFUrXY6DPZ0FbZdIlg4OPlyeNbKob7iST1G3cNe77dtkly8DgWFMaz0S7oeuBsV6bHqYW6nwRt3ku63laynA45Fp9bKVD6YRpkS17++GEBJP57wtets6ajAgvFhugHsJi07umgDdvno4ydDwYSGDJfT+73dnKmb/loNF2dYx+TOwyrSw2yhpfAqpoTRduVPwxQxphaDdjrdJy14nn0jEKaz74RCFldSN/fDHG32W7SO3L/XvlISQVARsy5ECEpslGjG8wh6Y9NEG0WpEL4VYKM0H6yKVR4Di6A4Qxpxt+EyWsvURXtWbE9aY0lbbhSdz8+72X4QN5ezyCoNegHusAqCVWT+O5lIPL+o6CFvthbX0VEd/3h470ta/NH9Cqhum040Zb3V8tOI1tJiywTZ0eLLAxUj3VuhDdshdvu1rRVIDTS/fGFqH2maSmGdjm7OzxpA14hCC/Pr8z1mBmNslXTTkoPstoSZzDPvnOkbWTCmNV+Uj0M0iHFNHIWesGklu/wpbRmIpA3CkaofGkNKC1Z7uHCC2fwgswiwnghEzS5unsHzA2BFzB5BhDPSjTrYY1NkFH1Z+tKt8hNknfQsnDtSv2h6QQWzbtxL2deft+i+WpE+sMWNWMundU9+iVz0FOB614lime0jHzmrumzXP+Aja9fDQPtRT6plcOw0rtOJXywq+lxi6dRKRrmiuU9NevSDSxLZiuTPwiV24cpwswQDU+Xvdrz91PkexrSmKXTcutlR97L8YUPbJRVdT1krfrWnJ5NPWV0cNvLSDl9oQQ711DFGZ+WaEbBli9/kGokl7jTlYwq3gEC21LUvDSwwaxsyPJezCYvddQc0vBz5QJdiIT5fE9iih0K2TceNjXQbID4a49XjCHpIggOxyxrOwoPBPe93iROWBW2fV9gatVh1y9U2MvSCItMJZNZMeBM0Ho+shzklTzLN8DWyOpsWqYrf9awJ7+W6s4zFy7uRTRPLbtsIIQM3FAnTlUo1ksRtTkWSY8x+dQgAWmPBND5GpZGhbXpc4c3ElYDxWc+T7MTRdwJVycovkox8ntOfnoK2fGPmrQhVXF+fyazWeSflbWulD6yOxd49XpgMR8pDOFUPvVdWa+zHXwx80LBGsQkkVoPpxN/xBlG+/mWdvT1fVd9WeqDH1UKc6aAlPL3ML4PBgjVJyvUn10x32XxEInjPcKyWmLB2b+4ahlf2J55iHgVajPP1sIR9+n0xJpUApaeuNmCbOMID38jmLS+bsOdzWLyqS/YnvAUc636cHGyYY0qpNOYtVA6cTv92tMGwzgGX1H0JEtMSZZ0ucgLvpxlsoFXk5VYP9HBGjF1UUFuLYgzxh8U6B89NTCkUDCTwfuEIRtKdOumAmQ/7g4fWt5onPk4619JqFcRinHkzI78VrlznA/AaJtf0yumCt38VG22tDk+GNZtX5FtfbYtP8tHgHlw4oAqhKVmOpOIJf/Uj/bqsS3DMdoZbZBMMgbYYBkcsBi6X9x5k0R/0eYhdtHxRrqk4UHGdvfAptcCk6QrgS9pAlWTRoqvuzSdytD8BiDVhfZAKHdS6tgo3Lr6Q46Dn7qyPCt7aAD4Q4k3y3Z9xphY/EiJkcE22+eWNqmfne+4hzoTVO8tbJc4clb3fuqm529rJngrjCFI3w9g/5IQGLXYTR+38J6awG0kovbBNV1fkQ6RxMTrs8V40Mhp0wSCYhGzOjZHR6PkXbv2+7PT5nzuzK+4j/J555dBlr7p/WOvSgpybuGT2+qOxt3Y8Ss04ALJzHBu6DnPcifqJ88rUMblQ8XEjvIf6i0oscm5wizDIvouXPXMmyxfH6gtyGwrBTZk7Lg2LPfirhodcC3NTtgIL7CTADEVr2/23cJfYcSNE+/AAtzCEDNv9yvu0xp+aqesCS/0zSMPSE1c8mImO+J9nFRcwNSXptoESnj3chErRXdgb16w5pyRag+1EIF1rQHOjlw0UG7c8dI73GJVFwskKN0nPMQtyLduEipUpE56HZfGG7BVx7XZZjb7ZTVWvbwaJh6qDaE3p/Bb8SiwPZD9rs7qz1l5fyTSQhdQytVN05teH3lE6yf4vqF50W9ap/dBeEBbjMotpoH7/MTf1oCqB+7NsXQPjK9aTxUH16Kq8aIb3q7RLrQqbqa1velEwbrqxzVuCq0wTEJ8kOO6RYwRBjE8jc/A4IrEUkhpF4a361IUDdOlhhC3OF55IpQ1frL3KJQNyLjwI6SxqtdMHtpNRhbjd7olMdAf0F0i5/jTxdckOz6kt8nMbfDz0zXaR2WjTsrDtMmnyUcLr9uzb0n63X71ySRaeSVIsA/1uD25PzPydhmCkefgqWTcgMfErOaTQoRLremB9jm5j0thu8AdPpyxS14Hobq5l18IejVzYCo6R4YPsERCLpoN+OGIs46TTk6ZScvOVRww/76Q4CVRXIF4SByPqui9p45RX4oRCRn+1sqVcmw/sNTu+DmxTEbzPEe0Y8zcdol9x6/3PeRgrGSsBnEikdiv7W3o9CHePZdHyIacKFRgLjY6b7xnr55Axyzm8dnbn9eXboQUMPtxQmt2in0B1lK7pFcVti8MW6AMQXSb7q/P+xOYhnFxkSmYor4CFmGJWAzTYy+4v3xmKDIpPMAoPXcU0i4ocq2qGo11+RBUVYRHDwf6UVeqv2BcY34U05K4Z19hbrjD7hc+Q6P1sm3BopiuqEcEpekL7Ot6LoA9cy+m3yr1XjFjmMo91XehKe7utWo8VeVf61cyvY489Gccx+Hi8LvFpNNYEMkwnlr6fQupr11bcoMd2VI8Yys6jBDMsXjKXskUDvsUF2leRn/KV8CoO9yTS4opTr112jy7IRbaPZjLZs2cfosPTkcVGZe478APzyfuNsyadKSR9mYlLeuMrxJp7R2d7NioQMtvrEqPpZAyee9bhXtYvlCsmEZdBeRgZNzD+SZqFr4HmTKN3X1kEBJ4cT0dIPszLhv9f6ZHVD/AoBdnG5kt+aWMKSFw81MqDz4jr5O7YjBfHd8b2QCXKmFRUuWhUPGcr7MEKUcZtU1PFxhIggR2BNXK6emH2kaARRkoo9y19lhMAVYGbzCBMx1tN5FB8DPw5pyb+8mhVhSiUaGufj0j5Kft8a7idJBI2boh5U63EpPZ2WO2Y0nVonaqJBdZ/CfW8oCq7Tx/79u1tsSiIhclaodOM90N9/OUsrY3c/YVy6vI1jofvZw4HiFmXn29MnW/CTeWKao4afJQ6IUBhObdnepTvjnj/gKxs42O2wzPPIrLrJI/vPGy+0jQ0VT/PZ76rDvI50Kd7WcBfXjJ7oRAYGHb+N3RtJZy6vcTXWpjWWmguvrs5FBZmpo3EBbqW8w8I52VAjiCW944fTFGEu1cCouLT7L9CEGtnQq9ehyabk/zPzyXs2B565YO/jKsMA6jIjL/yTptpqyxfZkn8c6Vejb5tozvZa6eJ6F9Gu5uSXlnv0DpwBEmSq+xpC8aJvySpNVVUdM6ipta95I4qNm46PNPy4xFeBNdaDwOTlbiLEc5j00C42Ay5zVIAYN4neaao2UoQGZ1vL/46UUX0xTdQR3Zz93FSt40EFFNcLNM4WNfTrd9pEyW6U6IpDuLbRdmmWHH0tdNzlK9HPXGo7XbmXJEmP3lY69drBvJ4KciFnJahX7yiyoHwbJ6lxG3Oh3ghIzx/o+oHSy55FgXJXi2n3QNjbmW+4pcItZjLzHeA4JPYzQ2eggTVbzX2y6ti4MJOumTKPccn/mrplAOl/Q+8Q5ZpF3LIhVgozRb23KmQ+We+7myubqyWd/fq6XEPgZBWguvakleKWObZyicjJx+F8k7f+rODDOsfZZq+DkrBtthrZxS0P30VtPpMwaT1EddalMS2LY/ZhVJU7rhe+SG73B/FrlpJ/hz+EnLzHbn44S4nWxYQcVHJ6ga93Kff+Hkobp5ZBFscgt+gpKhn41zPRHEk68QdqPlzh+ZgJy11R6kr60XXfre49qotWNf8q+kJylj6TBkyhUEciBXfdrOIFtKVbzVsx5PjlRXj6xQU0tO+toM8YbP2a7YXspS0H0Mnc+V33VUEAFxk1iLVNJlEO3OMsxisPPoBmow9NJl7ZTkSys7Pl/LvD3k4d5JWydE4XJToEZKR9IdDYpAMqLSD9Q5L9aVH2a0u3Nj13Cf4/zItWXOJi3irp/larvKKWm6q6vbjt/UEE74aMCLo7l2+EJ59ZOIHkazzgNkg7eJgad/MhWyo32i7tIg/wkvf15NRaHpk6f1al9NLw1YX2mPR0byVnVMW3aBxcnlgVVc6ed4UEd6+mydRmknV1zJN2Rclpr8SXEwuxdfD6XtZim3PitO4mlINb54tmapwegglNq0/kpj0L/VO2zQyMZyKpuWiA//GZta+bsMDZXFEzM6efcTXN+pp20UBivsarKvQnsGB5SicM4XzwvVtRcMnBse6zVatWJrDtvuRgcr4x2bUPmtTEPubN2RmclIi7sOuWV3H/2rrCo0p8XZcbP2gc0u0OgODnEo7lLQw/Jg0nU9YVdIkf0pwlNLXCQviGS38cRrbbf7LEh72dw/V3dmRUR+PjG+QvfE+puUOa00BakXc1IESeZti3Xp2+FKzCl3YsosyBMFDNY0peULWEyKowECd1uQVPtY56bWmy/CUmSnLGJ/3L1JEW18HRvsEayLkvOVrY3k2QhxUMbqemxD2Inqp1f0qC+EcTZf9pemX5/eenh2sVAwxKATgrkXVmiQyiGOQhFjnnuq+0lrO91fOp2KZ5Ju8eRm3WmQvnpvnJ7R49U5cnz9Vflxg3y3VtgrwRQ1VjFTgTqg3BYO5hnve23DmXAgLevwTNWU7F7IF+TOykGYD0LLem2+kmXU+1pM/4NA4JP8YNTeSJAo6XGR2fpIRQNvNWlJS3XN62tG8dgGU2Ro9ou5igHfrU/Dfam4JgVxyqLX6h5O66Y4fSSio2yJUU/jOALqEpu6Y/Eep39Qr9xckMh/uktYWIuj6/VplcuFGlUWtrEKIPwyUQT/cpBjPW7db4g5ak4Tob+QTBftRiQQ9zyh5viOkVUX9WQmQk/G5d5nvB+coVt9HUI15AtEr6UDmYmPIx7qBuWB5rikFsCJ9fLnEZEb5A+y7jNpRztFYVf0bxf3VGwRkyvE5ZpUpwFmOe3PWdkHtAPsDLUDPxa93TjxVInMTY0hCjzlCL7pk5AUuJkre7XlQOelBOINUu3mlScYEi2N5oBJnlm0GchNwp3O7miqbUnJ96DSFpJwjE31x0EDRC7Cym5WJR+r9MXlQlzNr1xLiio6MUcsajnDXh4yllLlElP2yJiWvZzXW5bQQTi6LCPniURIouQIsu7R033JmEJxWqQ7UkryqorXH+tt4uBlOcZJ+Pdbn8S5teUJRtHeHfhCkv9qPoGyxJHOi/aJJWYkjmXG+Q9mb4Q7+dlOFkuWap9BnriaPIJmos/FgFhy/aSGNeeNU6pSbF7ceP+iwWHCmbSSjWGifkWqyLduHqW7Ig1hnvBXWGwtq5oDRLs/C2z1ccA/7N7hM2eyvV61Cw3kl6Q0FOwr+aTbAA7Ol194Mzi0O13XdIuJZN95E8s6ttThuPvOzc6r3SrbXWGZqcuxjAFebJJ9FENPZZ3VRG59NK1W4Y8KfYVidt1kzdCVHUJUadOCF05Y5OxDujZBh42p3hNdMzXKYaDoz3FeV81PwuaScpCMwIoWAMnkZV/zmQgqqrnqZ3uhS2VkaW8Aa1nj57PDpDn8gsEhK8oZnVjnAswESzLKBu4FhKi4K+Xqj9R77EG4GikPMfiqfcYDzpC1SJ+DEo18GTVt0o3NqIXbYwfOZXfbHohN0kRguPGtTDkb85s/IEskwhrXouFsqbsYli3ffO+t9ymvwR5WKRXDdqkvumqwGe7dazsZowqMZdFeEYmZHGG1+TT1zenRD0lgPUR1gEvanVX2xzAENC+Q46qOPJhVHtkL2Yi9o//ty54d2TBemXtKpn/rarmmGLVyhvaNMpagd12eGwVu1fth43dsLwy/M00p65wVnSa3Uvlket/52FXKGKHWupJzm4PwMWv4pmqq3FhkQLO0HTZxP4HXd/ZL5qVaE6sD0ByO9VEoGDOWVf2pKZ1L/GoVTrhv7DHKy2dWytPRMJnK84GvLcVLE0fW1MrnDrxbb/QjrRdgtT4fOcW8TzbELF4qk3SraDPp49K+iYLkcDkpeFtDSs2yRnqsdoMe78UJqX3bYbIhVhTxqr4zuK6f4zVdy9AsfMuLAN/v6pNJ68rVCHDxA4XDvfOcW1Y5fr4TKbNs2GCh6mXXWdGnjkaK+3Zc/REK/kmyt33N5bqPozflrpJrt3wVPvf/bDNdu8L7/UqhV0N6EOSfcSzjq+QgXgFj4fBJbD++rVAR9e4oHY/fsRB7udNzc/chRs8Y5mfWzKALTs/D4QBKFrllke/Axnjq3o7nNrMv0mi4Z7P4/Vv0E9vq9OeuhEmMynsaiX3ebu/hMUcb9uOdeSs5TSavd9wY37zKz2Gdr4TlOByf+0m31Wdq+s4+VJ2//WZkN8bdo9xVl6BFAUehB8zx+plIeiasdzgGZXzxuY+dMeSAe1vQ3WjwcmXxdSUrjXCTJ36mKjhF9JK3b7EOWfbghJMOj6K+rexr5scth2jDl3Rnx3XGMLICl/5zQBItnR+uFy0GyUrw+mN2AXJtv4d6FIWx4VvXGxdUqru4fBtgM+FpUlldagQ5NwV/iBZo0OxjsdQ0nemi8FSr3JBQ9PzbVFbibkPz9mdh+jdfp5Lv8+j7fW8XALWeuoDSqiw5rlffLyxMkCfu78ruiZOlWdJkNZ5fvj3e5VMUhQ9rrqrFpgvmyl+PxmatEVrbIwUa9Xi2Xpq0NwCmJJN+jjXLy5owTdN9ZN12WwUwVTvdeuZReeLl+EHPB9W3yeXMp7KSl0PRY1ves+2FP+b7hYF8LdOOd2fRXB6B7SgdXPWCoZkjH+NtlWKeZq+dK2n95Rnc19snh/YwrL9DtLsvvnSG/90UjByrzjfvR+YVwaUx2W3aB992UpYGYbCW/K804M91ZCd55zMispWfXMUSVgR7XCywVG4Oxr4NkEO+RgfVbwGJfdLktmYwucK4g76/xs8ia5YNZLYjq5MbKmp7b6jaVlXB5Es1ihtNvZQsqEtSzu7G4nzrMyn+tPU7kcoi4tC8B1lPMDzI/WS0sisjT5rCm3GnWfzvkZIQKvr7tByuvmhadQllzhvqGKLQnQ6FRuOY1Xmm7YvzvOR8yc5kWiwFKhEM0AkSdVtSqEhhmrgVO++VSalrI+uuZP2e838AZrQ/aQplbmRzdHJlYW0KZW5kb2JqCjE5IDAgb2JqCjw8Ci9Qcm9kdWNlciAocGRmVGVYLTEuNDAuMjIpCi9DcmVhdG9yIChUZVgpCi9DcmVhdGlvbkRhdGUgKEQ6MjAyNjAxMjIxNDQzNDArMDgnMDAnKQovTW9kRGF0ZSAoRDoyMDI2MDEyMjE0NDM0MCswOCcwMCcpCi9UcmFwcGVkIC9GYWxzZQovUFRFWC5GdWxsYmFubmVyIChUaGlzIGlzIHBkZlRlWCwgVmVyc2lvbiAzLjE0MTU5MjY1My0yLjYtMS40MC4yMiAoVGVYIExpdmUgMjAyMSkga3BhdGhzZWEgdmVyc2lvbiA2LjMuMykKPj4KZW5kb2JqCjcgMCBvYmoKPDwKL1R5cGUgL09ialN0bQovTiAxMwovRmlyc3QgODcKL0xlbmd0aCA3MTEgICAgICAgCi9GaWx0ZXIgL0ZsYXRlRGVjb2RlCj4+CnN0cmVhbQp42qVVXU/bQBB896/Yx1ZV7Pv+kCIkCLVAFIQSoClRHtxwDZZCQmNHov++c3YoSWjU0j7kcrc7N7PjW58FMeLkDXnilhPHymLKSTj8SdJGE9dkrUQCaSZJERcAIC6lSQxxpT05oBw2498IkXS7SXb14zFQdllMQ5L1FvM6zOuKJPT6SdYP1WK1nIQK4k3gPNyVxdHiiUYMAe11Kqwhp3jq/DgByxLboRLBBwcNfw5O6nYpy4VAUchgyj0Ka6dCk2mmwGeXy8VkEGoaoaLjnLKr8FTTOFKNrLWpGycj6VzqqR01Y9TESTSjlDKV63nM/e1PbHC047OaUTLlZJ0Br5Mco5I+NaS1SjWMe0SMY4h4y4B0TCJujQCHUYKsjzmrGxyXqSDtVKqwJyK0i/V6FSNOOOzUDVfMGtp02o44WNYOipvUksYeQ0p48CrZMAoGFmV0jLtYqbLAWQOEVLFmxfkaZ0h4F5UtamUscqA2oFn0rJRBTmke48bFp2t4yscbTROP9jhUk2X5WC+W7VFfFA/IfDw5u84vP/TOz085Q2JWTCtSLeKo6Z+OFNQROtpReNyaoX0Oq0lsH+OB7BWPJ6Gc3mPpZJJFmZjr8Jg8rYtZOTmcT2cBEQQGdXi4ISuSbLjepSQHyX2xjO30LsuzQVa/bwvIS2zjYrNJ/+Snf3t7fDGEn/4+O4o922H+f+ywZzPG7zUTvq+KWbaYh+wxvnCz8K1uZ8uI3nKp3uIyHw6vb07gcvBln03hqeMNbHKOtrb6xSY8/9upKbbX6EM5X1Vbfszv/YBr9bVuljEIkqOiCs3V86oXt+zHy7O52fJyWdVRmSxAn4r1AjaT7HN5V99X8bp9s/hO4+xo611ttalt+Is0e7v07mnuaNtd7U1p9kvZvxaO34oqfixWkIHkWXlX0ah5n8bbyF6BI19Mk3bLy3fhJ1SCwCsKZW5kc3RyZWFtCmVuZG9iagoyMCAwIG9iago8PAovVHlwZSAvWFJlZgovSW5kZXggWzAgMjFdCi9TaXplIDIxCi9XIFsxIDIgMV0KL1Jvb3QgMTggMCBSCi9JbmZvIDE5IDAgUgovSUQgWzw1NUIxMUVBQzdCMjE3MDEyNEMxQUNEQzk2QTdGNEFENz4gPDU1QjExRUFDN0IyMTcwMTI0QzFBQ0RDOTZBN0Y0QUQ3Pl0KL0xlbmd0aCA3MSAgICAgICAgCi9GaWx0ZXIgL0ZsYXRlRGVjb2RlCj4+CnN0cmVhbQp42mNgYPjPxMDOCMQMjAz8DECaA4g5gZiLMfwgiM8NxExAzAzELIyMXCAxVka5dSCajdG6FUSzAzEPY9geBsaorwwA4CYG6QplbmRzdHJlYW0KZW5kb2JqCnN0YXJ0eHJlZgoyMzI4NQolJUVPRgo=</data>
  <data formula="\lim_{t\to \infty}S(t)=0_false_pdf" depth="625">JVBERi0xLjUKJdDUxdgKMyAwIG9iago8PAovTGVuZ3RoIDE4NCAgICAgICAKL0ZpbHRlciAvRmxhdGVEZWNvZGUKPj4Kc3RyZWFtCnjabc49C4MwEIDhPb/iuungmcv3DV0KdehWzGadKoWCDgWhf7/BD0hBMiSQh/fuIwhkOgSEzBqCVmi8heckul7CkL5uIJHgu7AJFAZt02uEVtzFJYq6IQZGdspBfOUZZSEO0BXjeyr7eKsbReCQvQ4L1KnkoSI0bFY4b8xkTKOUnOYt4ESbUPnEgNIYyDrtqv72cuiC3jsPaeVBKW3kzW7mg4hGyyGLUFkpH4rzei1JcY3iB1oYSscKZW5kc3RyZWFtCmVuZG9iagoxNCAwIG9iago8PAovTGVuZ3RoMSAxNDA4Ci9MZW5ndGgyIDYyMDMKL0xlbmd0aDMgMAovTGVuZ3RoIDcxNjMgICAgICAKL0ZpbHRlciAvRmxhdGVEZWNvZGUKPj4Kc3RyZWFtCnjajXcHVJPb0jbShCAdkSpBgUMnoUnvvXdQpAQIEEoSkkjvvSq9N6UqvReRIlVAlCJKBynSFKQXgS+Wc+899//X+r6VtZI9M8/Mntn7ed71hp1Vz5BP3g5hA1VBwDF8YH6QBFBRW1sdDAKCQEL8IJAggJ3dCIZxgf7tB7CbQFFoGAIu8R8IRRQUgsH6lCAYLFAbAQdqPHIBgoWAYFEJ8D0JEAgoCAKJ/w1EoCSAShB3mB1Qmx+ogYBD0QB2RQTSCwVzcMRg9/l7CeS05QKCxcXv8f5KB8q7QlEwWwgcqA3BOEJdsTvaQlyAhghbGBTj9Y8SnFKOGAxSQkDAw8ODH+KK5kegHGS4eIEeMIwj0ACKhqLcoXbAnyMDdSCu0D+j8QPYgUaOMPTvgCHCHuMBQUGBWIcLzBYKR2NTHsHtoCggdnegoboWUBcJhf8Ga/0G8AL/HA4QzA/+V7k/2T8LweC/kiG2tghXJATuBYM7AO1hLlCgrooWP8YTwwuEwO1+AiEuaAQ2H+IOgblAbLCAX61DgCry+kAIdsI/86FtUTAkBs2Phrn8nFHgZxnsMSvD7RQRrq5QOAYN+NmfEgwFtcWeu5fAn8t1hiM84D5/W/YwuJ39zzHsHiEFjOEwt0dQdaU/GKwL8G+fAxQDFAGJ3RMSEwFC3YBQT1tHgZ8bGHkhob+C4J9u7Ax+PkgEEmiPHQPqB7OHYn8APmiIOxSIQT2C+vn8Z+CfFgAMBtrBbDFAG6gDDA74d3WsG2r/28bePwrmCTQHYekHBoJ+fv61ssAyzA4Bd/H6N/zXFQsoa+vpPTDi+TPyv4IKCghPoA+fkCCQT1AEBASDhMWA97ALv3/W0YPA/vTxH7nqcHsE8Gexn/1iD+rvnt3/kIDzj0K4gP8spoPAUhcK5Pw30x+CREC22C/w/5nvv1L+fzT/WeV/Zfp/d6TyyMXlV5zzN+D/iUNcYS5efxBY6j7CYGWgjcCKAf7fUFPob+1qQ+1gj1z/O6qOgWDlIA93wFKaDyzMDxL+7YehVWCeUDs9GMbW8TdtfvuNfwrOBQaH6iHQsJ+PGGwWCPRfMazKbJ2xjxE0lpu/QxA0VnKYXxf504ZiRfXPPpThtgi7n+oTFBEFQlAoiBcAe/lYSwToA8bK1A7q+YvdQAF+OAKDTQFiZ/YD2iNQgJ8XLSYEFDD86fplgcGiQAHML/Mfu9g+QqGwbfyiB7aFv+1fgodCPaG2gKlJhK1kqFNtaNtJtTyjB9/qiBTBTvqJmSDfSKElEaZXecxqKdEwJ3ta84XKVA9YxdKpQ0fB7SR3/uO+z0odS72X8BEfi8q6A4tN/OTV0bWJJJ9jpjuT5M04T01TFW5LlKB6cfSYYyg6iWXtHHoN2cl9/6rt/pTkwUFTqnJPI6xNp72zujRbi5ZJ3GT7swGmxWbAaFXkgO6vvM+uT0KWYx9Gpelk3tGUaj8FJHpUUSz2Dw7MUvYwd8UEabgHr+6yhWMolSUHmJSEr1eZzD4j+5FX4r6VSeVjo0ott2XXW7bAlXpSq7PnuLK3ZcHKmdx5z9E62T4WvO19ykyJnKVRSEflF6xF283kRrDgNfXLJB2jTbozYGqv5ys+MztrRIRpek1PdI8u/nikmaZu/q4vlJNXO1H6snxl26+B/VWcu304butf1amUK8o8tNlcm372Ic/62FxyZo84wyZMBc3F0h3bjGSKZ8VDWwPNKIWESN1h6ZXGZAINX/qvF90/8vEWvny2396uwDHtVhUDj6OK9V6sm/XNLHx6tgMWeFNvm1ETq+jt4bp05FvluWSh1e+KKPKr8G5zFfm6+JHycSxCAsiS+3yzIzo0jo6/NepOxcxyT+Th7XLceDucUp38srODINq3fYg2HCGAe2lQ7NmW98UWbiZQB4Cs9yZ4oXdT0mSsw0G0/1kvCa7MFO/Vd5nWNN1ADWFXedDwhYFQ42QLN82ATzvPM9rWFSpxyqUw2KPVd9rJK7py5I5+fNQznI9Jg2n0B0I2Ep/EtskvHrTkxXCN1zBOfL3RViodRMQv/vxL9taBkAMjw362NBmLebsVy5XNFcLq5q4Ck0nhwllf8ND1xj3TOyxf6XFXGnOyXi9C9jYQD1TQuglcocmF7Dt2gnstHrE6LyvG1WQOlfwOd4lmchJ676eQtX2trwE7PagMcSglI+wA27S3ZGu8gPhatzvGldgEcHV53A/ZsTXnADkl79aa4dzzOnEAUKc70hs2hT3jIAjwo0Je8o1t2k9aAiHnk1aAXkYXYW+Tjf11uMH+YgezVRxUrqqOG9fbNzUhxRTG3yQ+zPW4PyNLIdzw8QJa6N2TJ875vJaxNomZu95DLUQQkqEwYSsFwuVNagKq2fO+kTPwDs/oNOX4NfJt04ZawUEkIlvpPLssCq/dU2bQ/qNa3Zk5i4WR8lGXU6bBQLS/AM85ycoK7SYwM51izkVsxdtsNhFZe5CXlaPGanI8G2TXyNoYKGkn/KzAqIh8SkSCd/nMneaureYT7tlJSR7vdzevm8VWUXmTOgNvFeqPL3j0ykDc+mxEV8Fx6mctI5oUHGGy0PcfjhOkIzftWxqldp00fzweZ3NudjmaZ7c6cGWzoMgQX+brCclfveUM0RoKYJg9TTd6pwf2eR9EzUADz496/CFXZdrHxujVcJs9Yfjnr/kVPlFaY1sckZ2dgEGzHPHlweLFs+NvDQsyskHU0yv1RvmfBhDfDDwyx5ckABG3s6AtOwCBPeKo1nVmpi46Wq/zr81kfqH5EZi1abNnIa137gXuuWFCF+3P/Dqp1kaTuarDxfANDcbNUrxuUUllo+sFnVJ0LduWQlop2DtvPDHOaQ1b9JGZiBPIL696ruiKWFgFjbCX+z1Fztyy++LjSCssE00Vfd3SQ6l4Vw6qf2BH1oO3CYHZ3R+1XJTraJAlQt6ACUky1QYp9LbIM0PPz2/3HxzewBu9U6Fpu7FmBQAcyPx488MIMSpdyM1E3fxm6MyrMHDqLpKakC3DeIQJUhxYG5gjoi/4QEiCLqeJcUDqvuqoD/jkytZEnb4aT5TTCqV95yQKE2YXGBgy90JnK1zQwhYGWToS3r+S3mF+i8p46e41U+Voyd2lpjlV4/vw4NP9KA/qBgbtrQIhXu6Gnmh3ET/+F0Xixbeq8+6IQtrqKcmg9zcy/eLxRJ8L+mmGgL5ZmVTTjryMvT4zLFAi2uk/FAXac1ZIjOy7dPkm45E4b7Yp9Vntflx1H76nO9Urar/AFRU+tqw7WTY0rJwN3s5K+gY2GMm6frINp8LmnhxnkhUd+iPhinFC4dOMg4W62Ssnee4sa4exCP0XNbXEnMVfJIeCqvVJjVlCFZE262/lJE+6FXHEoRscKuacMYBnP8JO40+LZUfo4lA40V/T21qtDirDrlOO2esSmc6/x10uzSt9dAqaO06IcxZIrOSoEjm88Was9LThwyfioBq+Ba37Jg9e2GwLm+WaD4MeDTvRyihPONcG1rKa9XZqxbc3njztTzBOqz7KWgZqR7icGakxDcDHLr2yeqDGfX1XP9Bh8viz2dGIMCGWEV8LFmCVRcbKGqN3S9CcTiVHCkOy6gdjsFxDOL+AOK5k/6j6tc13Kt7JbMXtgcafBDRx8Vw+2ot6ui3mMxN7AWo9/GqC1dQE6rjZz2ZsUpyTqn7cr/FCeL5vdKr8luZZUGv4Kh3voVcDF/yWbGuuyXqwRiP97VNCHpYBRmdIWL45rffssH16TSBV2kd7de45c3t6aVxtKlqhcS72tu/PKymS3F5UNupyEnQ85HvAGkt/O3dLoxugxsWE0j+Kb2DWFzkqCDCis9HyE5AZEXGm2qY7ltb3eKZ7eY9W5EfkXUaJlI+8z4ytaLX0ZBMa+gdv6ShWrhlqH32A7XwgnZZJIaPse3ccuXpj9bsQ90enu6bdOUqbYusxbHvjvnu5rE0q0QuDw9HNlwwb01pJklYBADv9VA11tsbW1O77A5yf6GhdDdzWqY8LNMzpEv3tJynwxHlTy0TrPt+yAp8VjPt7AElebj1nMuQlkAU/kQ0hItmflJ/oXfBy4Qxe1rrW8g7zMp8Fb8c4nurb9jpxJ32Zq9wYN+15vBGNePyMcgtukamuA9906mRXLHm12gZyjY4MokZ4+w7RQ+/Ci9cUAmPjt0OVnUwIfHLAUfvg4RCjmhQTrYsxES9TTV/vwLH95bRd3+lGzPVCJwW7jTAT6UrvKaHpTqNJDf+2NfPa9obLD0LWF+75l0g4KsT4hraJ6YusI/4v1Pf5MOsZ6RvVFbWC3jkfvieEFuFEAKQMRTHgBpeeOeuXNplr0Th5rTjqW7SjzFZcOQ8y9iesoBTKZIYY0iJjW5Htt4pLcjHBiF4Rin5PLaW3HfLp0Y0BF706xczvDYiAWjFfs+37PNcElThTg4fh+bXTk9kzsNm4F+9Gn8eiSbun2uJCPp/xo+aJqvFu7yubP+fDK79o2j4kWw8pDfJ+lbr6BFVJQL65OMZWpPCCRAtXIDr+i0SzAu0hcHL+I0egKmPu2Aj4kSjIAm0dBEg8SPHNbE3irKEVzlso4dzYVai94KN0bnvZktuX6ly0dHD+UvN2pWvMnNy8VaH8X2sfOx+0jndSEfGyGUCJXSeUzPEq4jrjkP5Du5W7USSEZrNJ8hdirvLeU4dfsvHt2nUk76xk+NMRjiaWtiMX2o7SbjbTK6oWkwUm6bzPq37cs+ArCdS8/k2UolN+4Xii39p6pd1JQoAE9xbOg7ongVeXxsXs3GeijA8/7TcqrC0lTSdIDW6u6sWyIfGcKgI7+zY8ujFhPLDSeVhlocaLidymHxPAV8ZFvUO76PX7rTlOYX7PAA9fY9QUN6/vDJ7ezhAAKC2tAl8OEvvAoD3LNzLwyqWeVjG2b7678H3N75NmWx3hcgJ6XBDJWUI7HaBIlM7z7S1TM9PUg+ZLJBuQ4zsFpIS8nk35RaKKWpwrDtfCrflCIYJyzILBKizLhQ3E7unMeqGYIREovvHFaoTvpZ+zv9ao3Jev5a9Jh1SleyzLHD9tcjlXZbXAiMVsxhNO5NCWt048Va/4E8KJyLfodI/DMx/EfHOqWlahMZpte0/KywbZCWEwmKk+Q9sn1xcUfnroGmjrDEbU8KwFEEUMry3gB3Ypb0bY7MTwKla67XdzhF+YUW+pF2T1TaTjo149nGl8Hfzm6vO5ARRh7Z641Iqyu4WU3X43UVmVbf9BceQmYc3zyRZTgiNk+MS+M+GzkJEB+XwWCs4pC+0V+o+U5MQUNEez8ZZBFaMfdFNqXObevfeSZjootfQWUY4Novdmuwwesv06DxpyNoxGPnklv4vrWIJCk4S9irQm0HibdOkc09YyrKrsOMGxLnszJAxYQL1YyWidkrMsJx7Dmo54KKeVBDFKszDAkGyTe3dU/cXA3XVsLBnOpzzKsBqWhHhpZPN5rkNkpaqp48crweR2mbJtTU83oe6ixTdWmBLmiqyN+Pe+o6Yf2SNBBcPSa8oJclWtyfw7gpaLqLoiiTxOZjWZcuj6tN7wXN2EZNXxp/6PT0P9XE2zN/i+N2gvyY94o63RNn7xubFTF93oZjkaqyR0mwBuWu6ySmRHKLluovLrsjSXbzHzjg9VrW2uHUFuixVmNrFxzu8NWBoLUVe5ZdZPHO4s7ysS3Cm7cu+IaT50uqTEiZNNzzubHZJnHm9aE+EvRUu0W/QzSqoJVoa9qpV16aivtaWhWrnE0Ss6PmCFEhXMbPJhwI8/CTAI9CfYSIWnJM1eOJ8LrPosEG6MJiOyRvKpQ5+87cNb3i4SU2WnjEKOtL3Z6mvS/i4xnnIGv3jNZmsYuMUowvoiMbcVlBL9eVoujDW10X9FiXj8rpjkjYCne/VX+2h85jzLzWppB8XdZwn1QXOyp+tbH72vS8ZZWSS1ofyx//zUkqqiBDA/SLr310UVn99TdXjckn76hlGC/FRBWpzt8Pr3/i06tizuJtGEw7MBRxT5IWsIMQu0XHJ9iCxwzLSXv9TO/1j1EqScvjRCjFM4LwdeaSyK84RVR5u8cLuRMNxcVZZcQTGJ/OJQqHPNw8tiYfJh9ixa0M3126VsLv+nIs3GsyNJn8NDoxbhYIrwzrzXT0p0nu1MUCwStjtvLfbYLXp2qTsqS/eHlEQWWSRaoIBGiZ1+pK3f1IPPv2YJztFX3iUtisDPuNzsNSeuTgN8SLR9dOHVYmwQ5LyIF499I2kYjGIsexvUER7q22amN5Fv8qqXc8N7fnTT1cf91eNuHQx33vD3TFsKHKWMmmGGRBIrSYzzxDxfVs6mMDN7SUkjgUrp6U4G/Y2Tua+1DNfw5HXzOCvD0W/sa9g5Z8+RI0ozancEOQjS+ZDRJJo7/tVRNssHQqzSj5T39TeS04g4t5SkJOucqnsGm84WptRXTwXRNMzPGhfO5esdwlWT3uoY9kfb9glO/Gj9iKLiD59bvvdB8bGlokL+Usx6NY30HCp+1Dp1jybbxa2CU9BiriNDB8qYo7meDKpj3pYtGUOCU4+/k1jGpe+R0dyktNbzN7xikdacu5JVPl3TZMzK4qjj2Y8qQD1kEyRmM/8YK+A5iRRqx9n6fN/4ablbCEEDN651Pgr4/FiepCLJWKyvvxcRz41E32A6JVUuOnJxLrGRg+vz7A9LGiTEwnMTowS93oVX0YZONfrdfrmuufFJ08Qo5G6ZGMNSbG4KUlmi3WMwJ3eUVtmWiiQpr7u8W1r9cCOqRKPfevdNshmXgefOfOJGPF6PJ7HIKP+0Y+ldolYlNfrNvCnQAK5tg39XC61G0Y3l8OadoCIJN3zavgFHL825+ksVSan7V3nvw374d/vulTUtEE9QUh8YCaA6LopZqnbke2w22/oL6s9XXMrZXbwPQJkQf/SXJCU9RR1hzYeNc3trssp3vxvAx45T7mwuOd+dyztIlDPMP/PVIOG6OlB7iM9ISOPHmzzmbiyrJMUVOJS6Y1GYdVH4LeXlbmL55/kN1ff9lF1JBDhNmUZs6+raR0teMTiZYrTCAtrMvtVNHXfzpK1FGfoIcAkSMKTUI2LOg7dhz9YJpWxOU7LzWq4BlvPoInluS0qTZuGrzgQEeItR3DNEITnCa9minA9X3sotEzUUp8dAtAMjX6feork7WAv1PU8/sKn6fDuD5AZGK0JstAaUNhjp+258s133NteC2/tVCpUUDHGqbh5ugbRnbVFrL0HMNOmnYqu1XumrJIoLnrSqMV3x1XB5v2G6pw9JlrwsyXmlPa1iu8qMCV4+6Vx4KqpLFOGkML0sJhsmG/plVYngZRxOApP54wMvpeSpjuuupsVWdxNtYiBXqb4eXJTq1ovkFd0wCMQX0od+xcevkWOEvCM0IC/HseYl9+or7efxYAFCwjDczlSEwNETzCgDiSdJyv4hzzAt973GHbV3Vif6Ugd0YHe0bmBLiNG1uhnnDyJpdmbos1S1xzUhds6myHurbl4GY1L9t5c8SaQP+LLdI/F/qL6j8au+3/LN2zZj4qDqHR8XDPe7q8nkAme5VmbqsqlDzPNrl6gRaYEa8g4OsIqRn7LF9zahpwslhuxMHNrNXnEF9xULk4ltTpebi+N4iOU9bmoWAI5fAZkqErKJC5RFV5hdTFERUoTClyfag1YMFkaRGf5/pbtXMZ/L6nsBnBbD3ucWLiUHdJGk+/JV22pR4Ice1BvhU+Z98/YfoKTEzb5i1DpjCL83UVShyvOgcyhPIbZmIbpjU7qZiJtjOMjoXpmYf0BE/N30scW+DpeU12IsNxtZantfNTtqnDcVd+UzPeN0iruyWeWmlfbFxDLy2o4lgah6QS5NO9X1b9FSJq0eOOX94LHk46cs3CxPVOhD9tL4Srtn6k4pA7wRIiEDRbNldXbleBTKAUnngxzdNMGfCPtKCk8CtFr4ZUH1c3wflqcNrRVv4ATfc4MaZRbSlkjZFJEgkZjapvmxaoyRqa51ONPYrjC/riebZ6LnF8rvj0/Mmunzy4ccxDRVaay+gepYgyYRB97FpiG7w0MwiX5C0zaePfw0zbq2jh+TRvgeX56j3SKMytsdg0VR05t7WkkcEqb3o3vaMhKAyw4vChu07GRioyJwNa9nkcqdC314+M1QR0LsaQHtXw74G8ULRMay81wrEwY27KPn04jYpsD0dZloUdLlnn5/rnRi3URA2fN+Mw+RtwJ3hpZ8nTNKOaH0bAJ08xpl7aokzYtJt/sPu3KZQNqHiLuOyFGjDfaevdVrfAb5nDJF3CNnxGOl2wOCIpGObes7rb7q/CKPuqz19QqOJ4O5rL8/T9PX72/c4Pxx/Vg4SYQupc6yJGQ+NJhGe6EKEclMJKLKbS371kBFu5R0sTvw8sOww/LjTWSn/fQCLhzvEqddpA9Mblde2JLwVbNni8pcC+DV7EZcr9DZyNYt9xd95KDoBqvp1iJgJP5M+WZjn3rLjugJ77m6URdbRNzliFfWVMS3pGtqqUhYy9qVia1jrgWdC8fMwlOV7jmJltcUuoUbbHcHoolYlSRKcWIoccLYuXCv00DolrO0PZMuBvrvWGmlnckyvbaj4j6TiJgE7Qha3PPk3G4VRpJU6om1cTPx47uLMOeih2ykDh/XWWjph4N2uE8aNb+mfORpkpOB8vNNI16MP1m/VKSvpCfHT33aF+gySLHTN/rQn96A5yabezciVakoY9ohfIHo0ivodDN/HcISeeOLkg4ctc69M3xU6Z1f6XgSMnViHsRR3MsR0Xm1NvHDjb8yZvCEuWPufVHErZ6Roq1+l2QTT6FDo5wXN47YtWy8GQhtDL3H66UQEvEfDF/B/UNvwTx89fi1P5zH3FRkgFRkcbyFNXwcq41wv67j47PFPs1nHrucy5fOk9dCxY+QY5opdVSEKsd84gi8SbqymS3m2mcPh8hqL8W8U5YbsbSXQEivw5+cosWJLCYFuok94jem+1oGayTbqHOBhl1eJu+iOR7oB05XjsQb3Xk79RomSy0c8jnyzVMoRaN+q6NJHQF+FGORJwhAXpfrmrJbPKqfoto9p8D8vRUehlkUcXcb7ko2U3Iya+IKKSbVZiZdw/FVFN7mZTi8XvCx+XPxcnSoDsfQese2puN4lIlGipbNaYDV4inVIQJ/NjGJJJNXfrPrqxZOJSz2dGgmuCjwgDzEJ6HQflw40bMS7VQ9AgfNBT5Y5hadaxPtarol6Z8qEQLvo26CP79F0TNN4/hcEuE5uCUTFWe60DQ8D5J8NXgScDq3d7C1/7JSGL9KrijPK3Bb0Qf9FJAbH6hjbf+2gRE2DCffooQfMLLHD41/cZ2d/MoKaX1iVzGh+jYiolUW/2Syo5ZpN1WRbEWNYpzC6qLmYtfE//2Xt5Pv8cdGq2nKol5s6/myGpLdzKBZOfxSpgOsodEfOZf9zKqkPUm54bdhvUAnT8VGN3g+FEDGQFb5Yfdgzv4uweUeUyVYPrjZbHKKceMLrSNOF0qMfothzANIltN7r0TdC6MZEtoP1kBzLPiohXQAkgS5YvAmNox3CPefrCpdLzS0nKGUpsUZ2r2ZXlXRzNtEANv++j9TKu8MCmVuZHN0cmVhbQplbmRvYmoKMTYgMCBvYmoKPDwKL0xlbmd0aDEgMTM4NQovTGVuZ3RoMiA1OTg3Ci9MZW5ndGgzIDAKL0xlbmd0aCA2OTQxICAgICAgCi9GaWx0ZXIgL0ZsYXRlRGVjb2RlCj4+CnN0cmVhbQp42o10BVSU7/YuKYgCIl0yxNAxQ3eDdKcgMAwDDDFDDA0iSLcgJSDS3SAhId0giLSCSEhJijT/Mc45/9+5d61716z1zbf3fvZ+937383xARh19HjkbpDVMGYlA8YB5QeIABU1NVREACCTACwLxEwCBBnCUE+yvmwBoBHNzhyMR4v8LoOAGg6DQPkUICo3TRCIAah5OALAAACwsDhYRB4EA/CCQ2L+ASDdxgCLEE24D0OQFqCERMHcCoALSxccNbmePQh/zr1cAO5QDABYTE+H+nQ6Qc4a5waEQBEATgrKHOaNPhEKcAPpIKByG8vlHCXZJexTKRZyPz8vLixfi7M6LdLOT5uAGeMFR9gA9mDvMzRNmA/g1MEAL4gz7MxkvARBgYA93/+PXR9qivCBuMADa4QSHwhDu6AwPhA3MDYA+HKCvqgHQdoEh/oA1/gC4AX/vBgDmBf+73N/sX4XgiN/JECgU6ewCQfjAEXYAW7gTDKCtrMGL8kZxAyAIm19AiJM7Ep0P8YTAnSDWaMDvziEAZTldAAQ94N/x3KFucBeUO6873OnXiHy/yqBvWQlho4B0doYhUO4Ev/pThLvBoOhr9+H7s1lHBNIL4ffXsIUjbGx/DWHj4cJniIC7esBUFf9C0C6C//jsYCiAEEhURECUHwBzBcC8ofZ8v8ob+LjAfgfBv9zoCQL8XJAuAFv0ELAAuC0M/Ufg5w7xhAFQbh6wAL//HfinRQAGA2zgUBTAGmYHRxD8pzraDbP9Y6OX7wb3BpiB0NwDA0C/fv9+e4ymlw0S4eTzH/jv/fLpaT3SMTTi+jPxv2Py8khvgB8PGMDDLwQCgMEiYIAI+iXgn1V0IPC/XYD+k6qKsEUCwKA/3aKv6V8de/4lAPtfcXAA/llMC4lmLQzA/h+Sm4OEQFD0A/z/TfXfKf83hv+q8v8i+X83pOzh5PQ7zP47/n+EIc5wJ5+/ADRpPVBoAWgi0TJA/DfUGPZHtJowG7iH839HVVEQtBDkEHZoMvOABXlBgn/8cHdluDfMRgeOgtr/ocwfv+EvqTnBETAdpDv817cFnQUC/VcMrS+oI/r74Y7m5Z8QxB0tNtTvNf6yYWg5/bMPJQQUafNLd/xCwgCImxvEhwC9erQlBPADowVqA/P+zWwAHy8CiUKnANAzBwBskW4Ev9YMBgsD+FC/fAT/qAv1cHNDH/ybDuhD/2X/FjcM5g2DEsxNI6ESIQ61Ia2n1XK0XjxrY5K4e2mnJvw8Y/kW+KhepUnLL4n6WZnz6qXKcz1gZQuHDi1519NXn2eO/FbrGOp9BE94GJS/2TFYJ0zfnGBOJfn9pGOaJm7CyDFOkX8gXuTWi6FDH33v3W0ZG7tefSCxP1tt92ySFytZsbKIWmirVvu76uJMDQo6MaOdFT1Us/WAwZrQMRVb9opz/LOvMeaRqVovmdQl288IEr2q7i33Dw0skvTQd0YHqXkGr+2zhKFIlCQG6BQF8aqMFnOJLrOLPLdf3vezfkgqr8JhNsmRVJywltFrvI0TGF415Lweu+6RJ9H11GG79DJT7lNIPb0wsUumle5I39r3upqjoEW1Y4abISrsoFut8ZUC+7KvHuzkH6q0guiqnHrKiACGK3RS+ucIsPjxy9szDL6G/HGM5TNDVQRrI830/ZgFOyTCi3usuyaMNi/MSp9Ed9slfaqePCuISrXbfnRtYEMpUx/ASRUpf+n4oXgAKP10QmEYGjrCEyGXq6k525IvessylqyZT0xMBzdLr5HhjtOBbV4Nz7HN42Ci2+VXSxVKhr20Vz2WE5RPbD8xZG1znjv8JKs4e074OvKJVQu743N32W/s+C8TTFXefCtpiGj32yyRfuc+NVucny1W9/nneKou2wtgV75FzJ3xkoZItor7a9iurwzIb09p/JB/DgytxouAHxg7ke+1SXD35WtI9uhYAiimpIijHlSFjZ69AonBw/17S751mogw6Ojli7N96CHdIZdc6opMlErpIFK2PiD6Ui6YjZ+h1e+neoEBBRiZUQx91zO/K0hpGlOpuhjNVUPmT7gEYAfLR+vqsSLLm0ICbcpLzdOfNSz5KTa5+wIw83IJP0Nzb9/9oWXbppV72MqeH5w3LIa/jn3JYW3sy+R++ehIrGpAJIH1py7eG3IaVqzr9XFPutNLPsskfiy/CzqB+aclu8OfGiPDSHjZuq0SkaLho4TPdjtuzDkkD77cj/IvFThUxBEXXDG6qO72YllwzdLJdoc2dm1uZoUXZQOVisvs6LT9v/vyu32i151e/SDfDT23S5uUepV4Qy371fx+nJ0F4GaMTknwCOOhGNU6/8t5zCVGuQ/zJ/Uw1RQMEUNMLyF7umEuQyutJZqLkoMEyQeufrOrfWdPD4vignb5UiLo7pPjJISQJatfXG2L9vgMbc0yzfcZ5lzf5sroT54Xr2gLCcw1I5PBuCTJ9B90lpBc0uSbn7aDPN/ZI0TaZxKkixt7jtQPLjLdlNcSczik5Uzqtm7GXpZMeTW8zGGENUdGS9ThzSrrkAmr1GrixTo/fGRyI6briWXjer0homBWIjiQ+cr4MVOudRI4KhOqdRmlesUH5Pn+im4J40KaqK45g3X45E1rS6bZaNIFtkbRKXa96ejgO8YOYg3ediKlLzDLXIVXA27QI1WmeWYhF6cwFqLW1c5wZuPLborw7avjmd7KXCNOUppMC55HKvaPE86uIjS7bcZZq71skc9WGx7VWXqnv9HObfhw+hBplPQFCJ8R9bV6RSbZH9YaRqq/TNm/78fuMM6rrmca86PjkpzZI+x7cnPX1xeFqQi9sY/TLyJ6NGBvvLc7Pm5kX+OH5NwzZqBt49fqurPY5ExxA/BbeWbK77Y14qKs/67Ktugu1s/cKXaioqpiIWvBUAn+lgCWAzpKqi4SAmwFclcKcosPVhgfcY3qvS15FoNxllJdzHvnC25i485D3+/bCg98dGzCIf6gVBNr/GV+G6uoBTzmvXOMOEOkH2Cb9Oc5RJLIVEPlF8q/vE770bKHTbUvqOUVR9X6RQQlyOP9Qlvdn5emS00lFTiaLszr8DNUBY5TerWfI+1k9531es6runAvInTKP0xIwZiWIzcmNbgg6PwwYnRGON0z4JisUJBfPkKaCKu3eHLkyLUcePDkq2RFhfeooNWQHLJ7LMepqiNZb1br1kwWJfW3hm6VKy6KTiBPYVJY6tsTo6xJN6LokhxjThscRAkq82PFl3UaKkWHUPAyPXZG27bbNdVCsRSCsKYiHfGel6REs6UVEz+5iiVOTT+9JEHLPvfLZRVhn81c/0us1JMBEwXuSD4W0ngGhn1Hqra742LKQmM9QFq5tXfLwZ/DOwJFiloGl6caa1yI1mRzvpSFo27ucE3FFcVFlj3pOCL6aiFI+JabMm2MKYQ5DcHY0PajYNjAVbVdgYWzRpRI5MrtlGG4maaRQpgq1ChftilA89IZJLlNv6UNUIetsRXBKwKi92jU6AV0tFO0X8kLIMmz+raMrV1vuISIvD9h+RhSzLlLy5EtafNiWb9pipRntNEk725TV5/BzmGs15s+M8+9x3Mitk2RIUEfWoLZr0tA7NUcHKEBdKiS/GKLPemMouFOm5Gg25cP1pEaKnw4MiUoB/pMEimg+ijdkBT746nMzsNFG0pP7Hn2d3TWU27hT2vP6y1iSaPETptgwZo7HBHM18vxFfe7VqcOt7jKnN3XxUvXQ7BALw0NKbHb+kPpeJsTo/wX5CxaEBShmEKIuufDPe4hKpAl074EAm/QpiTOuHr+ZGjvDqs6BoJ02LJx6Kq6ZD5utZUymL6rUWq3x5lBa06/Ak+8yRhXsntKPIpYHHmeCL4lGjWtmfb6As4m/0OgTRj1Nif6g9Vy46Ujp4yFvrVUE1YiRe5KwTcS2oK3147cHKK59xk+9A9N3t2o97JUaMSl1ooXn1w3fRIJtAFgsMmfEJ/cC5tfyyQF1z0T3juqPBUb0av+IJO589HT1eMOmb9c40yzb0u/1rpiNZkQOa0FWfHFyahqczDWw9cvN+Zhg1T43fXLz6xSqmbSxqmy+uA3UcHiBfTHbQu+wthRQh0v1mNK8EdL3zdKHmE5EmbP6BEP7Ivvvk36BlFzkGoMHcuaVSBxnqC1yRhR0cGfeuMMfVZo9PNK9+tBsAQcsxRuz93jdg+V2bqwJGkgyrE5mlKGWXXiLv16LKnzpPgJlC56dRv0aGeW+a11evS5S40btZ1AiMMDrdQHbEFkkh0SKQZZ8ys9SbTPXvFMmBSirgKnlRljQtsx5glkbg/nmvEz9AVw8ejcYbj4sbmjsSCmvP6gD3vF1uhT3M/8dsG+wUNBgElgR0I1R937Ay48Ox6c4Tmq4bkazkjnLwHsiYZECbfax017nhtaTA5KE3C9K1B7oGyTRDUObK+LKqMf2RCXGvhmp6QZvYpR43Gjm+hiFEThwipiJua6QKKLVP1+ddlglIITr8n/GNITfwboZMdgqLj88vTKv8Z2jm9FOd6t9Az/BbGekeflc4vjI5z9ytuYJyP+PSU8L1xmvR/uXu1hlxHHZuEFyrDhbUTbdfjOUjjVFieFn+5vcb9eox2rY24qfNks90ZBuSI9xdT5VajFnR3ZGF7Swln36ZaEPWlaW8bHdLMzaiSvJz8o3Ht4Ve1B1bL5UZcibtJHIb610th9juIrYXf1CmtkbZCqAS2J8uhTtd122PAR8bdYVp5aGIvR63FHIGXt7Z5Fit0UTyfmEzbhg4w70XWip0nRhCpL7XLBsyIZeY+r4TMRJAIwU/x57+GR1bUIPh9q28f7BFvSp5iuFmtWiYdB57VdGCTrT9jqsgKwrY4ErnE6Nw+n2NdXwWXTCwxPujZ9p/Qc5LxOPSohosworaFq15w93AmiouB8lnuYn5OfkT3X1858r02euyX7vKIjuuEt7aoPCb0feFe5t2wEL6X7GUeUhbJ60NMANd7T97L0Q4K+xEvz4PYXXxUFWLAcqbmDQPuF5J0ZDaqQaVGcnDLqqLMqOrrnYS46n3TdGhS64OXpA7OOj13lnzCwFjwji6i8evXCvFHHwNg8gK1FiKhv6x6gf14h2zcrHia5x978ifwdLp27Y27+N+QBXr0YY8jprAyZd8hE6opSw4uGexVmHZjdK4mvTprUpFmXmSLlgw9uU+lDX85EHVM/GAoIFFIMWnNWNExptZ/aVA8Ea3I49u3P4nPonOADeficSPxR27hNadfQtgvKwKQvBnct7d8t2ddgHsQ6HqaGd7QuPqd/Ez6o0FDjBDhehsBxWB3ZQG17aQ2pO3fj96o9TSOQjmKsQ7MCJ3VklUL8syb9om6Xo4Gbj4U3wJxKlFgp2HnhJo4hd58v9NvcsuJxN/5a/9xqE8d8Mpqt73pzeLeNcUW5/uNEum2NqHzTtO1caM9iETsHRl1VOpNu7DLQekKWqteVK9FCp1FY7v2qB0NpT8AyToiO+EN2HFyHZ/MqnGoBECYrvfkpy+wGFNFgb8tDjGO6zEL8bT/NJVEGRc5aPe7TVSBP2XUlid705+lAy/FcHd9e3RHHtSUc11tTmhxGKFFAu8UGxdZPwlpzJ/X47FisimCUCPPj1e3c0vveWslyRoo6Dqhw3Qa56ngSgznRKch+xMsxfMJSeSql6ebQNUtoJa5e3L0Mfk+t+31Oyp8zDBnYmlZ9/NeHlDDyTkjnBGgv6WtMlZGvrboeu7gTRBFGJgNbjwfXfBcUCduFMcPzP5QPpu0sv3iE9c7cr7ZlW5HHRXtQMm6iJTT0U0D6e3W6mwFdVsO7+asDAxS3+O42f5TwyU/Ou+qZgNH4Kmuk+QBfHG/EaOyd2VVqzWe9LaC8QOBSkeMUtqlTnTBvtZedHU9bdoiTRhA9tKjhwF3RJ7kvOtA69Ii5pF7OnqNmS5Km0nyaMpp63TyPNXE+Rd+z5eQaSKueqrsVtcIGWM8LrMG7ohEUi2Vp+xhLroKvOAgy9bHnYB/akDgwk0gpTmuunricItnw4VZaPjhb/mh00ft+QC0wkmj0Z+8R3vmqNs8iF5zV6RbqARwVzzJbO3YdepuWKodiijsiYP2gVnL53Gx8lcWHvj97voQrmoM9EdfbFaT+YzVos+dqcWKmDVUR+RqVkZRQ2Mp0jw8VwqcZlFQxfX/Y6+38jzMC2CC9CJcNDp0xw5PcH9bswuP9ETJzUMsxh9xzgscLbUYf7aV4coPZLy37LUpjGMSt/EZlCm/kOwwv8GbwWHNaMG+tLR6fTF3fnhNT6XE15D8849nEAKdCC5+22uwrvrmTT62w9k7vVMhTfV3pHG70mfG8aeOsub5GwjWZOPEBMf46KuFSGyhi7Jt0lLrr8KSma8/QztS1NWRtdyM+Tr+TLqV+ad94lEzS9uMGXLt1ZFe6wEQ9TmOPn6lXWqyKJTKLXvzTfoXE18Bb6QCrBEcCJSFC5epOTDoqeQenDBJ/xaCZc8lSj/p29XnaPeodJqlLTFFRLl4Byqu3LRazJLzbgu9/UlplUq+/UPBNfDIRuXKLJmrqtHxBoAvbj2WQ1LDlyUVxOnztI68g82jYXv/YG1YpGueE2+MGtT8XuHE39mMmpEa7iste3lfIorDIXXEgvFhfVl6xqz1o8jMdOnNqgE178nktufSG+f3YH9u2Gn8b8DYjTVCggUG5s7ZbgH0Khxt6lESryjRWJpOdJwXZl10Mq7fpG1KiC8iI1YnU5dTjZJmZgpZfds7PEZJ0qYbP3uVJ6Ml4unukMzHChIti6pScyU5Wa/ZJ3ujjtdBMIzizWqg6npKN/8wFt86vo3F9G23r6IPSqNyxdjepIc4BhVrmq5AfDHDFPUigupte3EjcDyTXiP7sf/7A1cmrIDvsRoLi0IOHGzj6PhuXwomWSRfJEcRdf/KOsby84HseRubCbZK7Vyov44abj3TF8wZf0ZPd/Qaa/t6o+Bm8sqIu3ovHJXXJfjwbsRVi8vMeYVl9jcDXWR5zuBCTU2F1D2SmIAbO5qvZlSGzi3/m2GsOcte870+P8IqeG55SkpE5bRD1i8/g/BTaHWVCWJtVSJb6Yp0GHMy9pNZ1WBKhfa5XX34U21jQWg4qJHkvfkhHRHUoTtT+GmCVv3nLAdNI4GvOG1PnA2YP5uYoDavFRm3MIrlS6WOYOAH9qJzjjdaQIOXumxKtUYp9qhZHqLbraQxTVLAobRErh+r8VqJsYvnrmAICZ3apYjNBQdfGQNdHDzyG1kA6lnzP54q2ZeaZPJKad0PftOVLyMbUA6rGPs6uZ0elRDJZC7Nrxd0E2Bixwk9ov9AAOYFCZWR53LxrG4HRxcNGiUjbk1Aor0R+5/vvTVF36CBnfNFVLsCBjUCn4tc3C7c5PZioNEfsz4TTuFcvC2kjyYR7PxfoSjvYHuuRFP2gMej8rrGx21s0T1RPOuWH707E0ItV5BCPwd65XlKWRPmGH7i5B+oN5qV+boWs89MKxuE4oYbte9iRvvlGEZ8kz7ZCeW7NGMIhmRISzig7wCkGOM+f404lIOYROpfEq/IL8XV7l7xhSRXCzjpgj/nUaxSMK/nFTm7xe3/F4ILoW0sjkaRyiiEY5xbz8cFPnX2XCmselSTLmCDvw+H69msy0eCIfW7mDPPDh5Ujs2AhgvC1RSlmHqKNyuBuDv65hz24m02E5giw4rO8n6OSlgu+NBHQRveV+PDkl9ccTFkThTUSEuRrJ6RJ/gLXpTohvA5P69d/gv2+X6q+ApCcxLkw0yURQ6XhOgvaOKYaKSQWLrWwyvzyWxvy3pP1sj7cgmMYzJycrTqm/LdLV7LSKweejp34rNjNGkiXHZ+ynJpVpNw3SfJTBG+iyPdl1Cs9rwA1w37XuTMtkw6fM9OvN8nDmQYFgX4K235YR3a9pTpUzfBpifsGOZpMlpJYvCpahspps0nhB+MRPT0RyYsgrXQNLj6n5vtfdYd3KlzbTchmCGr3MryOJ0YtjLe9ei73S3UVH1NldD+RFX3C/oLp+tHklWEWuVDnS3UmzEkhRYPrIwJ4apoHjRtjmJMyt8O+ZFWgCZWurbfC19ZkE/E7R5nAD05Pkwffug43zV1P7CBy7iUR0G61N3VADiVtOnosxndcWfCoiVua7KnNeuPS0kSS/fHPMSia4oCmud/mnn4p2Pa5e6R92f/UiBRr7DDYerIMvDuH/VgsIO8iHPcg8E4Y/wnFVFmCgRxpRV5B69jQ2d0H2TgIXxmNFDxd6bC7j55FvNPX3FzpgHw/PRPtpetlcky3U9CYiif4MHvBVDye9Dr+wbgTGXPmVi6eGEWS/FNNhzaToHeBWwKTFfPVAyfbCCXqlkArg233YrOGN6Sj89nv6fBrtaqWPqbCHFZ4Fb8N3/coIrzDr60bMgahzj52gOqn2TAX158hzR7vMnXubwckNgR1P8cV3w7d49ylIGvwARFudwR8T9vevXVdoviYG53Z+nU51UJJfFfT2URfhK4fA8OQtZKOdO1pUQb2jnCD/eppl+2zhMizNhpZ5946D5hZdTdRJDiQ16TKbi1Cdv/1xrdiR12VSS1So9Yd3fOOGIjBkLUo5ppmU4VagAu9S2D/vbfbXFx0BZTwTf3VDn2Hc1mx6XTzT3ZkRyILqWoR53vS05QvpWmxwh4RXgxDFBPS9mZrGqbiZH1ncTJcp/jfz57VxKR0TKWK+Rn9dOzkt+I5Gapz6UcZD3w2hXifZKW4ODUsjbPosN1ptMyyZaInGJv8sa/QfGuiggIYmlQrdVl/PU4dVdAVe7srZDllXu3GVb+oYUoxcsi1NjZW6513s79ArFZNKiHNXVdHw5dJpyWUn4pOPhu+Ip1+6FbQkYUTjVE31D7Z0jo5YvE19ntaDVGNjiYcA/s+3Tanc+/gqv2PBImL8+OSE5k1/p/PKN9Vfi4gv7AVx8GgVwACreXA7eUPdlAqG5t+o5mrvrc8Fg6/tYy5tJX18bITAhJL51U1C94YUutGVk2txurpq/P18YhibRysMOdOR0lcuDd8h9HGUG7uPJxNGnfqNF1QnhXwhknjG9lRB/QiX9HpowJH6zTJ59wcwkxu8plC6hh78bc4+6aH0roIMnnbUnf2spmxQQifUDGhYHx2IFuC2fNJLAUSliSkFfmpfs7BwZG+9BFd8u3o/BcRB+mDpGop55/tmt2u27ynpNX2Yo1W84jDjxmSe39oeZpSspkpbq++Vtav2MfahtyJgFoGETzpyQA8/Ko2/IKnDeMiWIa9UDjnKwkvm6E963dd6P8AQ41y7wplbmRzdHJlYW0KZW5kb2JqCjE4IDAgb2JqCjw8Ci9MZW5ndGgxIDE0NzQKL0xlbmd0aDIgODk4MQovTGVuZ3RoMyAwCi9MZW5ndGggOTk2NCAgICAgIAovRmlsdGVyIC9GbGF0ZURlY29kZQo+PgpzdHJlYW0KeNqNtwVUlG3XNgzSIN09NEgMQ0p3d3cMMMDgMEMM3Y2kgqA0CCiNIggCIt0N0khKlyBdP973/T7x/t9a37dmrZlrHzvOHcc+1zVsTLoGvHIOCDuIMgKO5AXx8YsDFLT0QfwAfn5BPn5+AVw2NkMoEgb5B8ZlM4Z4eEIRcPH/MFDwgICRD5giGPlgp4WAA9S9YACQIAAkIg4SFefnBwjw84v9jyHCQxygCPaGOgC0+ADqCDjEE5dNAeHm5wF1ckY+HPM/jwBOey4ASExMlOcvd4CcK8QDag+GA7TASGeI68OJ9mAYwABhD4Ug/f4rBKekMxLpJg4E+vj48IFdPfkQHk7SXDwAHyjSGaAP8YR4eEMcAH8KBmiDXSF/V8aHywYwdIZ6/o0bIByRPmAPCOABgEHtIXDPBw8vuAPEA/BwOMBATROg4waB/22s+bcBD+Cf3gBAfKB/hfvH+08gKPwvZ7C9PcLVDQz3g8KdAI5QGASgo6zJh/RF8gDAcIc/hmCYJ+LBH+wNhsLAdg8Gf2UOBijL6QHADwX+U56nvQfUDenJ5wmF/SkR+CfMQ5eV4A4KCFdXCBzpifsnP0WoB8T+oe1+wL8n+wyO8IEH/CM4QuEOjn+KcPByAxrBoe5eEDXFf0weINx/Y04QJECYn59fVEwQAHEHQHztnYF/whv6uUH+UoL+wA8VBAW4IdwAjg9FQIKgjpCHH9wAT7A3BID08IIEBfyn4r8lXBAI4AC1RwLsIE5QOO6/oz/AEMe/5Yfhe0B9ARb8D9wDAfj/fP71ZPVALwcEHOb3b/O/5gs0MpBX0TXj/rvif+nk5RG+gABeIX4Ar4AwPwD0h2SiDw9B/x1GFwz9J43/8FWDOyIAYn9n+9Cm/8nY+x8CcP6zHFyA/46ljXhgLQTA+W+SW/IL89s/fIH+n6n+l8v/ieF/ovzfSP6/E1L2gsH+UnP+pf//qcGuUJjfPwYPpPVCPiyAFuJhDeD/29QE8vfSakEcoF6u/1urhgQ/LIIc3An2rzZCPZWhvhAHXSjS3vlvtvyNG/3ZMhgUDtFFeEL/XCsA3ofR/C/dw2rZP3u4OjwfKPmXCvKwOf99pBLcHuHwZ8UEhEUAYA8PsB/uw5AfJGFAAOhhFx0gvn+RGADkgyOQDy6Ah/KCAI4ID9w/ExUBAYAQd6+Hvj/AfyEgfmEAEPof4lMA8D+1YgCg67/EB1YB3R4uEDgM4oj8Nwr6B/17+P+CHyL5QzwQfwH/VYW9l8eDNfIvnj2U+D/yX7cGBOILscednULYS0S61EQ2X3yQo/Xh/TksNcH20+QNF2/ArMdXrysCrDSu6uzwJY8zubS+dqKFNSXOU9k5xtuA3S+1WDGNqXpN14E3Ni/1x3424c6MUnSPFO3Kfeqix6HjNZTdCLx1DzQOe4b2BfWbOlu+u9dTAt23pBc+nSq+n7rK5gejp37qbVSLaODdlI3zJholWIa9n2QrsMv5TsWMieSlx35CcuRLOHl6NkGSN3LPqP6SGzdoL1GwOMB8WSDp8rv/YoWhgGcrNSu1ORU92inJ4Bh7gPxWujrldEBJ8UL3jO8XyWLGPHye1wu8RHxbAlnVUP14eH3HR+/B2RbQen4aIJKDtpt0PfVjaT2ZjQezDnl1k008KfKj4DMI/VaLo/xi85lxm6PLa7o5sfFP94BJfDPn3dCGtoDrWvfFvv5u3vPo140XffX9a21BJu9lumTonHxAT5ScLeIW5sWz6F9jlCGHHrWaQNTIiHjmvNOe3mCAoyQDwn/JX9GAVov4+c2fYnSgDtIdCOcH/koKqqw70m5ZniSehvmQWEXcR4ho39t9e310VETtLKhkmx3NWZCl1Pa84Ecyh55EDaRuMqIMeLRcScGnWOrHqJmyKjzzq4e1WEhNpePndFVfnGW4n8ulWCHfgXGlUdML4UI9pvW9eN6hrbqwXvmIqE6xM4et1bPycnlr8m2E8eVRpU+sfF/SiqFoZMHzFv3QvFZPnQwVufhH787Xvnfg2LHsG8p7M7nWJxOaGEpdrQ21vrvx4SlTU2TjKJ7V6tLYlowJnLWaUSzuoP4QKkvx/LQ+VKDmq84FJ8rjbKLFJLbsjXk0FpuvffXGv+5o5GkNDC/esvgvo3RMjw+tMQ2MrbEGwCot3wt1NgAkhBMy0GAv2Zmm10IzT5akOBPi7hzjGn4Y+cjVztF9zJrshizt9Q6iy7NgfRXkJ5Me3lMFFJVyZP/QLOYmu59KzXVZ9c+RvWJMbpCq8rSs+UF2KhlVLmXZaobKuqQoE2u0gzO6cSOSljfuq1KgB+8pp82Mo16HVrNNvcplmh7D1RRAofxokZtJ/HutOISLKcExyjQc236LOB4bZU3yOwdZb01y+i99Ul1BpQKmSF7xj8QcxMt3o3IE6oTVfBiznTUK6sMo6sgyFPaOAFHMFyIfcVnCjEc7Rlt3v0+pfqdNPYkHlvYTKE87+TArC79K9vllEMsaWH0fhtCTHN4cfo2HN2Yb/FkyhwHEXxqInXEv2bTtelhbfzmT/aPP+ehHfuRS5XYodl3dhw9ZMn3UtjInoum7FHg2g/kYFmktJ099dSWFQN/pT6SQIxeqKHOE+BIiGV8agjw0vEDbgteZRgooGNBMilpVZGXN2ETQmR8Vw9RdsD0Dm+WS+2GoZWPjhpCOkDeTRZbNuVrj2w+Hn6pvyLs37ONp+Jfoy4+11C+18sz4KwaTvQNElqheTVledAAeeeS592UyC1JLnaO9yjEcN9PgW9Cg2unjauOhVOnXCADHKpjLq+R+xWWg95vnJIjT4IjuENDhnzB+XSWipsvKCrvevqpo4E2lXLZopdqdhAz1xV/00GBTawxOswuwOb2yq/aPOVcfpM7g8UIEa1UIdFL5//BKyciPmRR5ktn05B1+Vzt++di92LfhkiWZzkKNVxT2XFQDI+crlkdOechKdpnStaSRzt/XcEzDXZ+vqRvNrPkO2pYKDVlFw3M6Z1MjssUmAr6MW0/dmTQdxqvWaBG7wesgY2BCr7yU7MffV/tM/CltZgUI/0vW/cvR855Qts7Kb2N95D4rP1YErBBlHUuAKptbGTXnAUKvrQJ51wNlTErxOhAB9ky6A3Zpr5/IeXjr3A8AvTJ+SSSVJlzY4NiHvZR3d+JDda6K/0WJ2A6VVC9Hyjrn4G2z2o2z9lXtVMC6DgmA4A0ITdPb/rsrOQa07l0rey+z1t6Oa6dsvcn36EqqokrXBTs2/tk3GE+ubDN3sToLUpdSgY6nHTmwr2y6SgIF4gzGclwG8prADckyigNh0jKFXLnCpfMcmERVwEArHidL44wpBlwZM4UZOx7lDUrk0wD9GUQKcVunISXnuo3J0SM7ubsQjUCEFp4N6dTEaxPipTu6l1/x/da1tu5FQsvzP1p/PQcjcxmxZXVAuwXAHBTlX4yvPgv6MbBkrNkTamlNj6p0md8uWqC5Vtw3+o8kKIdg4pDAyi7LmdvVpasg6DPG8skm8nRBm8ZcL9AXDHrnodQ8BYdhP94f6pNQNFAUf21STuxBK/uqm8O39VUTfSzU9wL9HZWNxbCpcSwxZc/Jb738anxD3ftT74j8S1xIP0+K290cTYRHiHPqVUOqF8WvF5EJttywABrsc4je+dQLG1lHShFBGtUlXbD3mD+10RC5zYe8IbJu83IQw5Oy9Z5EkupkLe4eO7fQaImAxbJBnLBKPUGKLWNjiZmC5qHYCQJ8kiodPp3cZShP89On5VMMEXsd0VFOeVKWUsuyzMrLVxrKF4YFdtdvXrYYhyXBOGFOVW05c3bjlYmLTA1bZd/Tvw9YrtxegoX0QJQfBoMB5WKr7sbFDe8HiwEpntbP9t96OiRlwQn8X7ZhY1UWbhaJT9Fp5vpTWyURH5V54MUVvy2L8NZWbInXUhEVY1XThN6xp8rNONGuwGEifqgx6jjJyjp1x5IaOD93dYeKdJLk5Kj6vaNTQ36Mw96yb9ZdmP2cruWYHUYxmRv9GcHe+pY/TANwR02eCYTiQGfHvXDscmnaFXCf9nT6y6kWf88TRMX14zu2yPf9srqIBMl5VZblPHaTG+GzECo0mBGw83nFbQ9AlhYdaENoqJzpFAdrFvG6mDOYGILXyyW4Rd0si3x8qUnMVlVwrReFlaqGFrZSyUno8mwWvqSr1J2vHG2HcjLIPYbVk44dgGwXnnrxnXhxH6zNMl+dSEsc8YT499WOseEimqqX8n3RevnfeIYTT/VSk5iAlH1HDia3Xi8BnO5cXybW+Rr7ndbNEY/lMFux+AdTvX7v5n3chp9DH/0y42ymq4TPQ17sOSs5vMFMoVIBdNWJLHOQZTkveYoy+kw7ZjJe4wNq/oREYevOZCosTPmKExNvJkH7JO4dqsTySrHDXUX79T5qSiXRzdKT5jjJ7ncFaWtdpJGkZWiere/EJOtUkvEVlGyjjLffOi9/7etkI9dLHVYuRuh+7VwdI44IYS178ZV5TFCw+VxXbFpszzzRUywGlcN2rZIBf89jzuRSXPtV8V6v58Rpz6t6RllMx4jH2db0JotR7AJCPiSlMH+8DdZJAZND0hqfxajuPR0xu/vCn8w67/JI+4dMOp4ok1gtAt/Z+pUl6H3Eie17ZamX1k6r/KRsAWpI8Stxy1obcOZgU6hlG1EUbcBm+Em7UUM0uRqbWz9jas/CozjrptfstIt038wdEtT8cYbucXH8+YxZjO7Vb9xhZVQjpbd7J3cJRxMaEa3fCVUTOGrqpFHN9WSHCdVml5Fshev36dmtFiVcop3sLTf5zsPwnMcfqbfNOCbnwe2fDTt+cZh6hEwuZQDhNvA0NHXNAgo8bM50WdyazfyB0Uzcyjpt+gAN5bql+SPrZ1l2P9rhO8EU+7aa1YVW2PPgIqMC1C9dATexJN6rh5pLC40bb4VSf4PesIaQerjK3R94ppG1d58cw82X0J5kNEmVnvd7nh4hssjsZANe+k3hYTMpKDDGB1DaY/OZhJh/3jtk2OCnhOMt27lFOXnqvnFg5R2zPKsensxi15R0+4ZO0kAII30c+CU4q/bp1hVfX2f6Z27H4R5/vxLvCMYVmxp5/6r+mLzo3wIy3pPN2JiPdk6aT6djOkxRwYVMT6m/F7nips/HUDn5zDJh4WJfiP5UxjGT9TOwCv4Vlfcoo/IShpCf2q5IxWFMz/Fm4r/cqo9TfhX+eHHp6qBUaQlsERvueKHrKxSqGpVPHriDZXJTKzGvwjBFRmRGyiwo/1t49uRm42JF1ZJ5otwC8wKUPpyxby+sfSFW5iYtIKreJH97UucJRDuI++zE+bvUl1yPhwApbVG1+nQoVcWzqyFMnFGfVcxKhIw99srVr4oLWkcd59237dJ+ZlISr9mpL29Nry8Phn3b9f1kkz9tliNeI6z1vhp9aeNgnuwwDos0qamSsI42pOQa6FIUtdw1W8AU9MP21cGuIrsJXWhv2fqUnukXVkzVpfebhINItaLKZpyQ3u98s2Z0v2Rn4OTlHulENr/34Ath7dj4LTo3a0g5bQxeTXx4evxrGQybHxTWNlHzTmQpdcG5FN3JEom2DB9G90s05GN+HIlAOj+3LTBWv2zAlX61Bfum5/Yymqb8bcgEV2v055zLuuJjYKIElgE1x2PrL6fi60h09Y8usjtkvuWfIpQ4+VX6JYYbyef13B8llfa8embI8eUol0giV/KFOy18Zt0rDAnTVAClmnYChIdoXuO6v5zudB8vDpNZjx/1BykYcLfSFeqCOoIZIH2PDASG8ATL1dO15voj02CcvybqWLEZGiF9ej+Brm7awhqiqCa3kLhAro75mR/gONX0ymXzLxPVQl6JRkHfujo3O36XYJIZAcaYBtLN0vZ2UC6ZJlHVsCfNfpZM5FFrsG3ZFytVN+wxXGdJyc8OqlnRhhpggs4BLCcTjcTOBIMWetGazmVmvD/Dgw087vzAwgAtXTOV0u+jEgxi6Il0VuilY5RmKBTxUbLCoSmLS2OcNLgX2S+l8XI6Iur7FFVdYt4SrXmSe5CH+y6k427wtUvPjU5VVxeMPHtdNQfrlGBPr2aR3JzL/HAMecHlOLau7J9lW99TL/N2Tc0eRdZAlT1d8h6jOeUAHeINR3lKGpajHE5nuWb8sUyw6wRcKcfk59e8Jv5rgpss156p0PcIIz3cbkTrbur5CtAxSHApPWt34F3PGrNKaTpx5SaHo5bnGNYko6mJ0W3QzVldfYNZZ12iNV7o5DSby1APk2rLYbyO6j1231ASo83l53iJrZia4eOQl6vqDd4FBDVhVgssuKyzWGWE8xwKzjJhwhmSkQZUt/RN+wMf2n7JplZS5eBkgitqQ3nJMuRC7OOit2EIE9RaLc7jZEwPlPr3LPO206NwswCXeVvBQNgjb/oq20YONVj+bcjyR6aftTcFpxO67f17Aa/eYipVvzmUGnYDb1njhc047+o8Q7PNqT/IWnO7uHpc+dTLb4HV4zh98STNC9cxyN69g1u4zS+Y6XbR6nvOFe1F6x6BEU8lagsyn2sDKq56nN+iE9U5z1llA9EJ26ZXNm65cx/FpJCu8Npa7uRVEY9d+dXpH5EblaVqbsmWbLTvPdOKwoA/6r9mTbU8IJ/oxxaqbbja8FlQiqrKdHdZptmVTD3lgoJ3QjDynB66Nq0qu/AizHEk4vZZgz7fbtbprTdHaI8rHwnHkMFau2LT4CzM74aRSjSV4u1js9MphU+VXa7bddafq1W8hG1UsrAu6mZB764JkcCESby75cTB1SPcZaHnH0GV8Fiba0XpIDdM7g3HMicxZ1b6q5IuVCvZQ61L2xnr8S8qGmcSwuWYRT49u03o62oe7odyJYKOcuFLZsRQr4rQ9sX1juOvY4d74yRmHkTb9IqnZ+LJiXMODFj6xWiLgFQ5JPHjXd6yFzxkXKuN4LKivkbn1RExi8n3XvfYBptUYhop1JHEnYYapWBT1nUfp77UzzoRFquPfONp3XsiCv3Q1TjT75tdiIQ135eptdrXBQU6M7SyvvRXXCU1Gml/4dNklsj99bbCXHz4cLNzpKgrG/TtuA4WMgtppe1BtfW6kH1EE4hescdIPrUQu1Wb2W09J0J7AMz1G7u2BR8VkLzrxY+zqB6OI7IdbxlUyi1s96Fpw9gDM9A+LvDfgB5rgiMpSYJc+j9s9sleF8b9DOoK8SXcODT5jIGV8RMe45n0hh/+hCCAoBomY17qfxKf1k8SL92w+XSf0Y1Xc4y9t/Aa7VDDVhpgW1vC1m6b/vZg8VufZ5lMo/dAU7e15c3zJynkU7d6/Ssl2naOUdzzzS0/InMRzDiJs++NcJr9x06cdpyGwOtJL7xqlfPHMiQ7SE2v/BYbyipGH109aX7U63R2LyRjKmDV/kKoRDVz6G3W9HGmdduouyYEUZP9xmj/JPjxeXFKyqio9B5Xd9FJhir8Re6jxpJKOVHm7QDFaH1JoADyVqur5/el5893odfPxNRMf6c4FpZmj6Gt3o/cXnOTzr4zVdp7n07Uy7ezwtQ62sH8RH3eQJSgdc6MoRqbbgvj0GUen559fFZuS/0xd/lG7LcvTdgkcyRSp+naBT9ZRbxrDGgMzYifs8xTVWm+vhcafn+wKZOFMsJxtnfecRmiTOlgrKI5xcO9SeFJXqFyV7RsDWwoda/tQO87Q3VO6CKsuLw0Z6jwj1QsRco+FjyHkGRm5W1pzchKu3BJmjjbrms1x0rfT7/tuw9egSzvGyuqfw983dhoShg09l7BI66XstuwV653C8+R6vbRm8KUV7pBEhhxzBPNGmcTLMMvDfPrCZTPryw3aW7PrSdT0ehp0PAkMnBaA3f0AYqWneH4ql6TIvd6Xbejbzhy9AR77SR8WRqSGAVPGA0Gxctc7Ij359kakOovsYDS/QU69wfZ9B7GP8LaqX2tPnzBbJbmWj3Ma6uzCoXlXKIJI1qILDYLRpUliHi02Us4SKGlcZYftfXa1I5VJ4d+jzK2yhiK78vOKB9Sbmrf42EZmLYt8n+UrOBqcl42mcIM+yrk+EVZsd45eZ5v5pPhIy5rA4wxXoYouE/QLQ9erLl2gxL5qALq7+pzPDO8RH0MSJ1/++TZkWDzuCXu5xnk/t2d2YqwbTKlcrBNlm9bYgSaUW5gPIdpSl1PTKSKLKHRFJGIGp4lY0bk5sKZ9I14n7HN9aM+6e/vxJ6o8QdRTNRZMgfMkGMfChrN+Xf/6vNaV852RBucLYo61V0q6edSehH7lDD8xqg4+8qHq+rIiTRugNx9UnzZwYWl+Ev1AnmsM5Z7D15xdrMnAp/3i2wKrgaaimjyGnNloN5ozKONsqufAPNjf8/AqPCgwk7N77UGpHHF4qGOZd9dm9+3ywkeJk8dGeAJdEpRv5yy+ORQP5N6o55tufCJgqGS7pjCfm+OKvTmkjAQcwDZ4gIa686S2/S4iyOvah2ruqMeVPdu59FgDETFOa6NGkkz/vHiRTbum5ssvchai4UfkkZtpuJ06OFz8zL23Gdsyx9x9rWbFuQNhMWiLyLaPqEmluUyd0x1Zn9y2jLcbl5ct7YrNenCxpznrHnCCkjwway42OIij0tIXYuyJtNm8qjsMPMvliyOZqf0eC0h56CmQGsLjA0LwuV1AaCK+FsOwI4JB2/jsjWEaJ4MhWnwUk8vmhQb/NSNH6qSK1PhiOik6Fy4ovw0Oj6odCgwM6qqK9pGWc2wb7Zu0sdbo9xHoqT1ctoqs1f++WoeKwmK1S8BNkm9LxurwRtoztYrDGvbg3sfQgp7WOZ6AhzeufmMRdKjQK+gO4wIbDGP1CGjALj/QJCIgdWJlK7N2j5F2PM6Q0CznqGbXrG2vsX7uHMdRNGtiY5IGZ9D90oljSzT5vTrLTlrmirKTQ28qgWFegk25MLgVFQTEGPDgLvBpNvOguaT/LPYZBZXk3mgue6nkCUTHjupIprrUGgWs6GBczXscIpCOYSyyQZj8012Uzf6fT/Vr8ioD4stQyT1dIeiJsRlFV9sx5tGypF9Oy468SoqcNk3+1AhowsgTrLavao38KyF0BNotMBc0UFt/UK2/kfrVoPc3Y1CaMXurdu7Ib3Jptfo39UGUoMnFqSlT0jn4DdGE9VEn1WwEt7BG5J2EqSwzOnOdSuGPFRTsGZ76WfsvJPKLRC+kmqir76R6PKh3+hjatuPYhyjqTO4INODnPxwmvyCjJ7yFEs2cpgElAE2ZIY1uIxKe9II3BSmvTCdXr2dI2COePi3XBd3lnA3gAOSMVH6wK3xmZAoaNOsuznD97nsxd6Ay3nFOAUpib/ae60CsIppJq9U5Y+sj+/EZVV2AIur47c7t6or6eG4mFBzvBH4RSgcDW5dtPfVFyUeM20NX8iHzfqMzgw33D1zbkuWmYvqasj67oR9zal+73RpVQdu3alZvS+GcC6SZP9GGv5ogzcyFL1LG7P+sv88h54GQ/iO4ocYzhyxAETEhKzlZmAsz/o2LNzuRRh1Ds68j/n4hemwszN6xy/q53kWnxYS19Jf1GVrMyumHh8XfBiTWTzfIMlRqULnrMGGFmNfj3Y83Ss36NHq3IoIlQHWX4vzx5Tg3XsNDIVpPrOU97WauV0OP8+JwNbjY8j95JIuTxI7U6I8lyclkdib0hzwvZVDUTZcPe0zXb58MOymGSQ2BnP+nK+AfKMRp06u8Lsu9HEAkfgN281j7/BIG2l5x/oJDhDftQ8OxXX56gvyW4PwwEgMworVnK7i1FoCT16p+Rob+6GELlydrmygDGI2HYS8jxYvrCKc8TJg7eDE7kDgCIVGUCU6EyhiBhqXSWaF3BNvi8Zhfxmtxusavmqvp8V1Kh9EXVfg3uhCSP6mKNGrl0geavHLzlM15SgnEuS+wsCoOyw67cqSIkTV2XofVXiGuGqY6dtchau12Kyd7pcJ0XoQmm+Oy5ouqUo6hEAVAD+BEbOMHjRfiV1kocns4Id3mVssw2A1wxF6ysxWK2vdccVmFeG+fRmvAqsBLHaaG25chMUSrCcwSaHVAGBJTPk1MzF1m2eQIuiTq4epNTEfPOFrQsQIr8mUIaerJQ9vkgvrJ3nKMdTGQvQnud1BL8+5MiuMwyUnW1JcCda3hrCwCNv1Rm8Mi9EIyzWEaPfbdhY2K9ebR3VKCcBWmCUYh3zv0VllPoXb0WE9JXL0OsD2FgePe0ceyw4SXOsqyKKMeNixEeC9q+/m8CR7BCZQjuH5WUXYf+uPrwYGIRxojgJKVbAvR/J/m1fc0E8p2HS/b/9C6wR8K5UXY4nC4L0jfWV30VQIKJXfb1LK93/9FsDkz+aut0FOJhol1q1uW8pbnTin44dD1OgyjgeYKyMqe/Tl3cbBHtZt6lheNi4CglCl1wmQPYJ8oKeT65uW9JrLHYvu7u+35hVek/DTmdHkUNfKZlfY3SOf61oB/TSvJX6taScZn58EgeCtUJX0Wai2hKEPVXUtQmhUYiSyJV2fIP0a68mQHcsAa7wWtFyM1QhBX2829E9koorc6Gkh4dKclDwfcQqPxwLMP4rLgVlykkL1B8nrJF4EU4ZyJ9OSC+duPl57Cc0d8EmbDvJsERTEZyGaSbQYeiIuk4j9pKutVd5/XJsnw1sNT/mLXUWIh1TI43qs8sEaKbOQbSmZSAdv24CM9NUhNPGi9fdLVYDyHxmBKzmCt8OZg57nFujWKU99f55IcfYlTK8t3P8SC65rUk1UcdUO/E2Y1Wvhsu9k1ZL3pXbc8bVJWKDXALtNcjSpC897SnZe45HgpPXDEFbdsysf68hxr0gxtPrS7JDFN1NSNDyjbk/D0ZMIiU8HzBY0CA8SUq+u/Jo6fNYnDXSfKPT/ntPKPK2wZTTCT/INEBr9NeKSL1V5hBnhz2PNYpG7q+7g6kH2hgbTt4npaf09hhFsMaQ6ZIag5yY+y3Z1I9t2GQhNBH06KMz5ztxC8nb8uC/mcWPQtijwIL9F1oirSSqxbbniMHNnlW+JPe0wLe77es/o5EzcxU9kbhjdD8Uf4BcuPANXl+qOVDBKL1QlyYk74XAsqRkEuqxnj8JcnrRmq48Ipl/02uvZ2xU0RReMvCMfZtFvoVOL/Syd8jchtkCkYYMikA3/xhj7Dc/WSAF1XXSJdPIOWC62wvJmjSTaAtAz+6Gi+AbzoMGQpITKerJBH5Mqo86Ze7TAoIsgjWvwAy0qTgqJOAdCKKL8xfSuX0mwg9PkYx22L7S7LlBwsym7dBe5j8K9Q54Xf1pkkOst084011D9J9/hRSF2btGCV5vs/WLKL1kfNZVxH2hVK6Cwp6DT6dwR/x/oJFT4XIBKox3/6c3bnzVvLK8f1SatdQmZmmZNAMuqvh0QBtIvq+WEYzY+j3zDZmVBFoiMfYz51hYu3rbMz6cdLXOgfWhq56SQR5am9g5soUC+xSOcdbxK6PCisKTIOpOraSSCGusX2SSGhQ/sXv0VRmtTsdJuyPk00iqmVr99/iJH6BRWxNtxAdscXVcEWqXK0Haoo9ctgKgH8u/29c65+gtKt2f59Qvj6kXU7FijQ4giF6vpMRP0d/hLDihAVjpLUtz6dPulioj5y8csZGg2+m2QopeA74JPSB3ANcH0ULSA9qL71VFA0pygePHv/g/l0ysDSD4C+VrWCkFTz4tZoigeLsYUxKAet3jXxwM6oL6vu+aBuyu97bppmj0ToW8DsdRK5EbEOFoVfoFcQUvRxtqmD+uQZGOTM3Djjf34G/vm6HsAY/XhHpYxD1v4vTQdOXBskYakUCgeJbG59x1KRnFTboSrUfP14eeRcste9VC/KzisUH92+cp7MW6fO7zXXPJJ5eDazZvH4qvUjsWH/DUrcomVd1R0pBXLSbXMBfh7etnUnz4DGdkyQpXqyl3S1XnLXPdHM/IvRxSSNII7mClYvg7WXN2QD3dz0CrHonsSsGoqhX7hKEQlCUDY9XlnyOM30Hf/xpKhzOCd9ANUNaN6M7ZY+dukewwI7LBbMDBAjwqMscKufrGdMqaJXQd0jFfNaJAQ5M5jfSPQlydq39s0J7gH0KI03wPckk3y0t8NrFg7tp/GQ48YWeQqtlil5Pmp40cep0VP3k7GgFSR+oyG4tuXqdRLwl5VcVAWybfoe0X2fAsQ3ke55DNu/DWafk25M19IScuvFoKFbudk+b3fiK0qa+UVm1jtZhtA0s59rew9Vp50aKQ0ckZWXH/42WP13imQK62IgE2JK/orymfXAQztyK9C16ugMHYKuiPOdYvKu5hCX6sz9rlFx1DsyOh5uamJcMwNlueWvd1QfOijgidUSUEtEIGT5xYZjuWcXyN1VYORfeb5E0ZTta5n+cIvKl7VIH6tnNXl77xeafsppPrd8Fp1h9ZWCQxMR7dLttg+Wfc4jD0Velpmy15L87n1XZip1ipsm8Lgk0ttDajZvL/qgmxm+mV/xef4Q0K2iqnCVXDsuLQXf3uTxaZgFhoYZ1J5PKHJgqaiVavzc5XoIVD3Q3kVzQCHUB/XKs5MLew4emPCe1xePOzC+FXCK38gaoRjVz+bYrxl72SB2kqVczhlURsXPq+BlbkyHgqJK5s11o/pOP2sGfWAwXt/Y8viBO/w6GitKpO7qbuM8swQjvz1b6wHKgWIyk93+O+rLclyw8kxEiNWEY2TyxhPcmPVIve89i+J70xrRWV8Ti3MczKNP/dtYuCC6t8bBT9x6pyK3z1Nd5IEzqKNaeXdw2dNLTCvsAeeb2Udh4V3aLU3zmbUvGLgqr/8nSbmFSYYk6pdahSv+ksPlOT6LWWnBYI4Oer0NpXtN1LidYDFVHFKIyTst6KMRRreME/Xl7YYxNgbtfzWPrF6dEx9vpOakrXyfr18n7QLpaO1AF1hYLGtC8mmM5VhUoSVvhgmLJNsz/B5G+n5WO7ZPdQTBL1qKhNeJUy4zDS4Y6gmuCnepdCOON0Xrd9gqDfTNuVDsYnwxESlJ3cofnRpfOl9RXA3YmkqO+juWTDujA2vk8PIZy+7pN+dmW5SMivTC4Whn3Kw1PN9E01Ks/HF/ngDtJ913ldIVd14xofVNVeUqv7m/sXwb4sRQaLyVxRh2fT4p7OESMMDw9h2f9pvNPv1IwrwPJLhd6SL7sY+6Vb5VDXQ3YAx6o2v1wb3R8jt9ZiDutFg85KyZOlqGW6VRKj9I46YK8WGb414tXdrj3HvdddM26fIG8k/MMhavVxaZz+zdj/WZ3Aw423DTVCPldqunjmMdQl5sX8gonent8FNrDrCJPN1X1p0UIsZ+TJKXhyd1VedGqW8eLUmJDoUrv8paU6PCMOxnypD5f8DKW1ZJgplbmRzdHJlYW0KZW5kb2JqCjIwIDAgb2JqCjw8Ci9MZW5ndGgxIDEzOTgKL0xlbmd0aDIgNjE3NwovTGVuZ3RoMyAwCi9MZW5ndGggNzEzNSAgICAgIAovRmlsdGVyIC9GbGF0ZURlY29kZQo+PgpzdHJlYW0KeNqNdAVUlO3aLt0o3eCggIQwDC0S0t1ICw7DAEPMwDB0dyOgdIm00iCIdDdICALSSHcpKPCPsff+v33OWuesWeud97nufu7retlZtfV4ZawQllBFBBzFC+LjFwfIaegZiwL4+QX5+PkFiNjZ9WEoB+hfmIjdAIp0gSHg4v/LQQ4JBaPQmDwYhfbTQMABqq4OAJAgACQiDhIV5+cHCPDzP/yXIwIpDpAHu8GsABp8AFUEHOpCxC6HcPJEwmxsUegy/3oFcEK4AKCHD0Uf/A4HyDhCkTAIGA7QAKNsoY7oihCwA0APAYFBUZ7/SMEpYYtCOYkDge7u7nxgRxc+BNJGiusBwB2GsgXoQl2gSDeoFeDXwABNsCP0z2R8ROwAfVuYyx9cD2GNcgcjoQA04ACDQOEu6AhXuBUUCUAXB+ipqAO0nKDwP87qfxweAP7eDQDEB/p3ur/RvxLB4L+DwRAIwtEJDPeEwW0A1jAHKEBLUZ0P5YF6AADDrX45gh1cEOh4sBsY5gC2RDv87hwMUJTRAYDRA/4dzwWChDmhXPhcYA6/RgT+SoO+ZQW4lRzC0REKR7kQ/epPHoaEQtDX7gn8s1l7OMId7v33YA2DW1n/GsLK1Qn4BA5zdoWqyP91QUNE/8FsoCiAMP9DEREhMQDUGQD1gNgCf6XX93SC/jaCfsHoCXy9nRBOAGv0EFBfmDUU/Ufk7QJ2gwJQSFeor/f/NvzzRAQCAaxgEBTAEmoDgxP9Jzsahlr/OaOXj4R5AEz50dwDAfh//f799hRNLysE3MHzP+6/9wvUN3gip6/A82fif9tkZREeAG9ekDCA96EwCAASQD9ExQQAvv9Mow2G/W2D/z+xKnBrBODhn27R1/Svjt3+EoDzrzi4AP/MpYlAsxYK4PwPyc34hfkh6Afo/5vqv0P+bwz/leX/RfL/bkjR1cHht5nzt/3/MIMdYQ6efx3QpHVFoQWggUDLAP7frobQP6LVgFrBXB3/26qCAqOFIAO3QZOZFyTExy/0B4e5KMI8oFbaMBTE9g9l/uBPfknNAQaHaiNcYL++Legofv7/sqH1BbFHfz9c0Lz8bYKi5fPPugpwCMLql84EhEUAYCQS7EnEj6aTgLAwwBuEFqQV1OM3kwFAPjgChQ4BoGf0BVgjkES/1iooCACioxDuf5aFtv2GhR4CgDA4Wjow9Dp+gf8oCnFFItHi+80NdEf/Ov9WOhTqAYUQzUwhII9C7KpDmr5XyjC6834dxltcbomMN+6OEEZxTL/ytlXHT1cad5Z9ZlVGN5ii/bkkbGzKh5F7//uIh1l7ZuBCsnIOCkOhe1X2kDe3/+Kk3QbKYoVgsBkVTYlcJT9I0GG+/cwUx/T+C8Opn6GiHYIb5ev5Vy0uGyYPdwCOgMJzMtZkRlSsTHbLDla0MSvbMmrA2IwsjgJpmuqqr/Jk9AorGhb3TbYphv7Cc9U0Lm1gfr4vs6c7RfD4tVpnhUhZGCU9lZcqa/ZgYi89dUKmar0LBoes8LlcSVL8XfoCxzCOBWzH6kkQExNbXBc9vyOgiMluUAYWgZmI1LqtOlrb2DQ2JMDRJ8H608sT7xW75PCtJqR+khYYC9wnCivjhGx5Fg0ktKy3HEUq1X5dnE5yGwnYARuzZUXp9R7SDe51cMrlLBhFOx8q39LUuoxa2mhPi3dqlISNPL2jUy4sP2YyqzenXk3ioyMyD43J/2R7sm4mR/+cgoJO7q7DkdH6dLrS0c4GZuCUrAeA/CU+045hBm7FfQyFDdNlDYtLZY3jiMFOkRIeCOWy5axT9qKJZZ3CR/JW/yzcg0FzxBehtdqtkYFXJDFKlXpL/F/Mrs2BX04+HisyMrxWz/RDAPHDHgkwQj5IRYjyre/JWrboxmBVeS98fROggFlNrEfVxVf7kBbHn2JgHhiL7/7+mDFCaUyC4V7dVjbQdCJN6HNjkZ1Xs5fz0hjLAxoVvKSCusGg2Twar+0Kj+VrQkzLVN4fmsrPKWhf0AwcUICLpMnluAuiyeb9MX5OFcOwaqeSHlzf3650TT3OuJEu4tzJ86SgTHhfszhxAWRz2g3Ncun+ghyNuKMnd4HgeE890TNcKWsyyNIThxe1pNq0ymhQcHabS7m/5vuZMziJMVW6Dbvj0TThnbj4Qrv3WNWvy1jFItPIO+rvc3ohpfhRfgzhj7FkRcevsmvLmqQqB1C4bw/LB43cJKcas4ZQ3KkQgvouFvKj3pVlvNqW69e2DxbLQtNGPRN62G9bvr5ocF/+/tESEiDgTySDOhLO+7rm7HhPS1zVDm8+MSu8C3Jm8nHEv272lE1IuUnbLY+A99DAlJN+EyzauyBsDU1Wn4ydq2oUsPCw2YCEmRerf/JZsCAUlYXsNgeCche77jtexNFNBnV/IixnNiTKrUEAAizVtFtL5qwHWGS0viQ8k/FgxBHwmhh0IGn/IvLqS4iHr+aXqt7sndmhZIib6YZ52FEo3/FdrItrCI4b5D3bwr20m4ypg0fpYHI2wcvmsyKfWAqhFI+ls8VmkptBjDdERSHkJZyFsakvwY8he7pDc3ARJ9vP6Sb01l5ex9JRagOMxFQz9JdsEcYXdaoIYJTz8cAQWevLgzCcmPVhguN9vhOQ9VHrtw8hpFmJqlSy5BPu94XevwuUviLzlT8GpnH4k4T0mUgapCQnFa4Mv1kVrVfwl4B6+5h+AEE7LwF9KwFaYzorC4XvzN5EhOG9yEutURYW6poV2uShBMR6V07NpDjB1AEFfnzMaae53x1K03WJ1SCFlYdpWkKcOaS9W08+OOLGN3ziviVK4KwG7HoT+4j4ECebnDOBlypMTFAcU0RCAhjSldZhfCf74qpZvJoWp2ZHHn6miBK/hzsQ1v2wIYujLYdBdky8352ESD+vIcowbo+hB7fkAl9BWFR9yW4l3XL8lbnPKkzaemyL/SVrGWhi7fui8f1D+XyaOwn00pMrt+qE38kPIHo+huH/uHHhdBDUifJfw/eoN7IWhc8uKQWN3hl2ohpGhoBAcwZk1WIzUY5Zi218C6a+Et9WRa9IZxtj5fG41RdE/QzyXXJyGqUAVa8q+2NjKnwDFgYyac8/y9+O7N/LOd/ARX1jvFkL7H2zM0cQutXVOrTLOmX0UEThvsQWS9J2hyMBB9d+nGoL2bCeO40Qq+BI7e5e6fLwB6a3S9k1IzhDozWhYSkGDduqyV+dHwTHPSkz6QyZN81Q/dSso0ZPGJPNrZ4iVrESWjORR/+YP7YyuY/6x/XsnA2+T1+lYtUz/eWv9gdJlM+TBVKzxjMap2N7wg/L7kXdGWLJ6t/ysOx+Fmwc+JjwbX82HOGdPTlB07MG/ub2wwgWXxVqz5bVR1EJw8eVxL8v93L5B462wp7L7SwOAql76+kaQ0YiZQpDrOQJyqfCBFscshCe73xMLqADzg+JDFURug9JtE2K9RZVYsZkIohxGpWpD7jCvT0fjK1Vp9N9ubVV9zC1vDGRKWOiuGR881VQ6uYhxkRcgP48DWWZSw7OQ1uEM1PWCwPwvZUfYCoY2XQvW/x1Ei02OxHUue0eN/MUq8D1vNBbDL20r3dLKT30NI4LlQatGPNOg9p5Iqabbr18b8XAF8uPzNAwoJOdtdXx+tiC9Uj0bH0Pw2iEfhf7naVSZG8AVAhx6XF26Mr2dAEn5n4ZdOpJiDCJ29scGMkTeKhAeoRZJ3Vlq6TIoVHwEO1yvOIeu/+s1Z3NjJpSRdbRx4sHDPi+vsVRzgo0t4cZk0o9LfPDwIZLrLBLL5cWtfMeWWAFlzbtdSNTXwBNJie0V+31aMXQVeowc7IRitfXgG1TsF7dM3/WpvDThFHeBXbzBLXQ/NQoUmndNHr2YPXEz/BoYJKEAVPQSqKTrDxcPg9GizKzCKssuPELbgWW5EQlDBXG7d/KKUz3FwBz5uAfGAjMNmkSCEvJn6p/t6IddE3XFA3FEfdj733uI3QtSaAL/LRotMDFhrmp8illhZcYQWuSaO+Xxa5AmiD+Y1iGjOIxVuHaKDsrx27OWEVyaJKgtVjOlMPlllXwTw3dDN6tB/wlihdwLGbqTIz7xudK7mM7rvudeBbcsTeWayw1Rrjl7mWSMsbOUldmj2TzZrqHyGrjSblHtV02xL9tE7Yn17e89bSP33hl9KwIpyclyoi5qTqfyzvF2dLV6gKRcYNvI0IdME6z3B3KZTwiJfKRdceIdO2pj8GA4zk+rmWpJ8hMQPJ2/Gbp2w6n4ISPDG8fn07RrcsiwiQVmu44GdwR/sIuV2WY3tr58dYRmX4JPKL2hNuZRECoUZ0j0Tc/TdhgCHDFhgXq4c/4qoSLyUJ9ar5jMpn8YK22yDPe9VtT4vaT84JJOUX5gq/htxohDpg+EZpehNnqU7ss0XYsvDWdU+6tUhtaz+7e746463QhmUMcS7m61uDpxfpqIheTRKqTaRNhf26vD5UZNuPdP3hCEUeL599PTedKLieSaplU3bB858BhqI0O/A0TN9zpA30FaetSCjEza/XTqLPUKuBPWIP9tnPHk5QbgbWC0dy9961dzu/7KCIqopWKg9KUWoTJcCVkGs52plXeajou+BlWrwa9NgumQ+reZZbJLb9ef0pKU2r2Ez7fKAAlZ+U47tukiNipi2T/aAaTb7wKOIk+GjzP8J5Asq3HHt8um4vOFA6MkB6c2mRQNU6By+RjSxM85xH25MCvjVnGURYBfWDDY/J6HX0J9BK3b+A9p6sipRGRsjYEqKwJ6Alnh4o0M91kk9o3BSSsyd85Fvn8Ol2SBqkAkkb1d2xP859ZqONF3hbKwuQm47lm1gmX0dnf5mcUwPaZS45rZHxT91SFxmg5aO7txqdokoVMbsKX3RY4uouRecbsWLWawv0r4SK7Exa7LYXWSdil4UhTeic9ZdCXHZ6RoTFCA5eKtwFd+W3fyjZpdIDdnlCn4MkIngmAyZd44Vh+k/qloFPRJRd7vEJqTG9QtfBUxGwiiUWCE0ZPbY7XMeF7WtvtI6biLk2SsuwXlMtjpJ32k3Kp8yylqjdMVVvEJJvqNkxLmsNaVxrbZgI1TVn0hCs2LIM8Eom+XdKrdj6FBI9WMrW87jC11Zq/tO3uWWmLTitIGBb83MgmkioWpehnI21BLXZ+6X165mr72YN9XChhxSegFZ9Fdn49/BRvWQbWbvd+gl1HzLT7MuqmbliUpC7KZkffe1w4xsnvuT1KiWrOfTKC8lhA660g4TF9waY1XaIR/bt3GmeLiz/wEhS08jFLA8jjimuIwxditOdwX7wNilbGtHx0X5j50+FZxYcJyr1JEuEOGY3re52LH7EqPuph6tl2LKfmVSeWAtyiG5155eGjTCZ5j77WzNYFrH4ffaPxCYcloOmVkcUVWbXKWHWBllN6gXBbLriYNEx2h73n88PiH3lPt01YF6g/zz4CuF35v8omx6kMVIsWotd2xLccx/pIwz5X2O2Nx8VM6FKbsuLcoPyy7Aw7OvdRsN1LtzG6fu/9b7uL3nObvOH2PMpaZAe4lYtXhsOFN1HHWkPiSgI0B54xUuXOpZy48wuHDxmE8HDHmTntW3BlTy6jzOsRuuPnewtDpkC/KiY5f4F5kurjTew9dntCjbrgJe+4Oqfgzxh0TCGln/w3hB9D3etjmKQvmJu+Zcxo+byvfrQW2JLc1hu25Kk4t7sNOnxDeqgJnGY8ti00sgvacbB1f8Ggr1G3Ut9hTs2clTZg3nty7AjFUn7Vloq1iQkO/fzY4cndUVaTz332nSFSvDSSjPivVPopVdd5dWW4tR/Xs7q2Rh7W7XENzHVOueE8hb7Ie3d1xeb1wyI0tTW+/JHhzwJkaeZ1eI3Ed+pBBRLCbnF1SVeafXnCdZXFM/6WpKrAn1tyd3oy17xme1s3306Jjh77x8x28rut6jKYPmuoZYn5+W22myuWp1Hc5/J5CZwpMBlFUM3oEuc5ig0q8nMl8tHLzo007iOAPdua8UIqdnrbKSmYGypHvxEN5My38Y3XGJ+ZpDHgra7g/n5h5Uw1UmW6HdVpPkoaMR1BttaEAZzxpKXtSiCdu6+fWAWrlDAuhgPNZxmfDdcxyYeU7PD0dRyoeIRffl59kRjZEsOpdbDIhh0nE2akKqS/YZzx5i4HH1Mws7H3uTMyzK65Ykxu9h6So5Vh5VZR6Ad1xI5KKWOTvEbmKZBew92M9z0R5sIZTNErXq19yRwMhpx+B5s+dUapawXHxD6iAjERbKeVS4rzkTF/49A4gGOhJltDIqfhwcWiUbEt0T/5vt0uZOHCoPGyyAil+9EuVdxcI/7TM1GdHLYNVXnHMK944+Gkc5b0oA6moVl8tHENeZVOdTzIaGNYs0qplijBck121Pz6ZvtJV5kWknnzK28U7/eD1yiibEgP+/NAQ2xdaVFtHYrgpq9CV2nvdHGjCTUuRILym2dYJr0wQumCaybNcTil21feadKrwijdww5+VsSNA9/prZ8trlnjZhEcT5MVlxPtkvutJ5zdz6HyWapP0hS+S3ngR9IHEKCnTnx3rBwYRs09c5G7GveVAEjiB7yx7JHsABYy2IGk/Kjw5G3GOAcj6QaHzAueQQ/dXEhYaNhQR5IK41mvz+a/PYKGzE3y9Zj95B3AqFIaPiKxb2PlxhZ2I9s8ySag+jDTSqmZn6/dbVKtZv/T3B37HIILnF+W3a9nvbyYoV6AZCIyiabT7eUeimh0lH2sDW0/BAWUe9HzdXRcRj87k7vMue7QsLfWeUhP1mDpq84hlR+E6xtzEOgRbI7ZVBNoWQmO6/+MPZbGv2ugpSweXW8eY6ea2x5F0ipqP+aekBxmELRDJS85dVF0hxTzW4fK4Buf7pGQLrL6/ukQ2S6fi6PwDz+6MQtekr0g7TwtrEiBbqt+2Wjgoc3aoReNDXKIN8nVGD8pmK0RlRFq13+hnelUmZmtMVLyRLetMrkLP8B6NwJ/jqcxKaElBvQ1qbWXu9F95G3QoOetYfdp63s4RdUjYVzLJL768NTybDZ1o9VebX/MFuMX2Nlid4L5HZ9+5I2CYXPRQsP1BGIQRRkNxg6vM1xNfW7x49iZtXyRKEv8kRUhYVqNi5G2+5jU/ZirS6wz8BCR2fqFPIBwtpWTa0+Zy0Zys9178fvYu5yGp9IKfvr+daWcZ9dHM0YRFPdro57pX7auLA+kFOfd7STsk3lMDxYL0GPT21jmXX2S39TJTrQTCWNda7vM0w428EwxoaIi38J1maJMdCXXXW6L8r06uJjhpGRGxX+g3y6UTo6AWWx+AdPXVPhEhZQRf7Ktow2d855tKD9TvXVSzfu5ZvfZC48qA/mfpRxYac+cDoiZeE4AJ7e6qlYY7LR4NYVLL3AxDaoUlVpWs5qTWnevi5KiuP3V5n505YWb9dqv8VXunZEuMzvkG9XoQVZ9kNfPTZ+SDafu/9DhCC+NZp0Fv+4zKkeVZZ41H5ki09WYdAMbLITqZrp1x4m9816w3vnILkgxT8NHG+y7SDTNKzvAEzLUuZB2s/ryRw9s9iqQxb/T71Nwg4SG6LuAmbA+h5cde5OjcoIuaxgu4kO+2b7NXYJDXJ5wvOf6b8SEGimxS9f8BLv1RciKi4puO5xnTtwSQNQ1sObwVBD1WDjHcJB31muR2WQMd7ePbWmH1xJeMzESkOSwyBqUZrY/XLJLpLl1+SIAJspQsifMIhZAlYGUXetKMpmT8KytbdwKT6KQSrq2HQb476sdb3A/OAfa1tRo2623eK89YwgmbpWXO3W3oLSlPX0PrHQShCoDVTJl3vRzwQ477O/9eP+E+Cn2szIOBN0h55C9YLMUHnjSoSkGN5Vl9/uYZGSQGk4z0SJwX/BxncxHnxosJZ4FfdnorSzd9cPpYFJBrakjmVXZ9w4dY97rLg53KUeOQN9EAasj9gPjDBYJ0LUxXoqbeJ0wzVJFnYyAT/SYGUQv95MPY7lhLV2SW/VYwV8UxXa5q3OpltglNcoYHbHC2kyLhnOfYonWKwcFA7cm+vDeMkFflgGT6iEJLxRWkVhmQigFqWlqFYFGsfkafVLrz1Mn4erE3+Re3BuzTSdylz0huN391ioNOfrZ53utdxZGn/5X4VwdxLxAy17LTpa0dtGGIzTiY0j2HB/v4Gjp16cO1T2t/cdlYrk3QukY1FTXEiOqWDu8SkVjXY+9CFqPmkYGSw/PzAMQkOzHK0GIIHKT49ra2i/wu57IrfZNmxHozHJeR6nlBFs/VxGFQHZpgU6z2FwWiy5D9NeDkz55Kzmj8QyiWsXubWWv4RKq/P0lguG8Vfxw/zPriCp2bVUd8tK5YKYXz1l7TeYwIy9IGfgZur2+yFgwHAOSCd1PMG73MxAZksvcy7Wa3KgyWzOXyoeIdzYl6J1OEpTqYnFuXR/h7G3F7FOwxaF8jyRYiJRxLwERhSN4nvXGUtZ8yYe9ZIlHJbq9K6GlVB/u2JUQ+r6h5iGL1y4/slPgywsorCma/G70nv5V6aCNmJoSlcU+fw1r4BTi1KvQMPgnt9BTjw7m3a43G5jtNYQ7M4KOR80ir78BkJt2uQ3DqRuubm+kHNQN3QuYtDWds74qLcS6CpwSXr/cv3F6NB/v1UWiUmNbkC+5q9KmWkPMTDR/ovszsy1z3QiXlqeOkQYjq5w9llyxa0oXdOpVSoRHMC7fJ45Fu2JTHX3sXWl87CsYdEMhdbkvcjC/QULco5ZyqGN75kBS9Ln75kUhS5ZpUWNXGH3kZg6fuTnEl5qJz6XobQHzkvlUppLUjfS3quv9QUPVodUzI+gp8VjyOE6MN/fxDrzHg3rca7/YrS2Ztmpk/bVQn+fcW5QOcOn4xuPZfqu90PMNrJnsfjdnNYuVrLYLCd6lsjn7995B6wF5jwJ4d7qwC0usZ1OJ4SOtykPJjJDjp0g7wHWY5qvn0qvKLG4O4cZwm2Txo3JDYte7FAv27GcMx4xXiiZG+CQlmXrzSeCrIW/E6RflhZCSLRebOzgnNe371FiDpz7bUW6+jq9FTXvOVHipme2j97hGi7RsEm1pYeANZBo5nHLAkx93J00trXTsPE1rao03LeWHAguJzpLCMVzrqGvyAs5BZiNPaBIgcmK+pSiahN3NjSNZ5UHsSCtCphulEDu7QZFFam2UJZjrFZ89FLPQYf5qt9ivNzKKypGuJj9lAPJgvZcT4LrXtCqafSYUvb2oHB9Xf+g1mbbZnlTQpRpi/J2hYu/J0ZNH3Xw1C5ZRwS4RsLEaijXq6p2Y9cAtCfq+hhnVV56zBWZ06gJLofeDBnldt0SbYaIzw+XUdaW5Y2NnwQYshPoLo3deRHY5V+ySBult1zIE1BU3jdy4gNjUe6j9Km7RLrxuiwzE0SHGvHUsg7U4fs/v05laDzuXktiap2gOe9zVDX76yAWxLIdSBPkw17nyvOEiJ7/Zk31dFswPPY/pMiKVuHe63v1Qmc87P1fElXAye7BV/3k6DRzrG0/Xzsnd737Zo5PD7MCvD+DvtSnY5pkxjL5diMUOugmLn6CNTv8f8aXekwplbmRzdHJlYW0KZW5kb2JqCjIzIDAgb2JqCjw8Ci9Qcm9kdWNlciAocGRmVGVYLTEuNDAuMjIpCi9DcmVhdG9yIChUZVgpCi9DcmVhdGlvbkRhdGUgKEQ6MjAyNjAxMjIxNDQzMjMrMDgnMDAnKQovTW9kRGF0ZSAoRDoyMDI2MDEyMjE0NDMyMyswOCcwMCcpCi9UcmFwcGVkIC9GYWxzZQovUFRFWC5GdWxsYmFubmVyIChUaGlzIGlzIHBkZlRlWCwgVmVyc2lvbiAzLjE0MTU5MjY1My0yLjYtMS40MC4yMiAoVGVYIExpdmUgMjAyMSkga3BhdGhzZWEgdmVyc2lvbiA2LjMuMykKPj4KZW5kb2JqCjggMCBvYmoKPDwKL1R5cGUgL09ialN0bQovTiAxNgovRmlyc3QgMTExCi9MZW5ndGggODY4ICAgICAgIAovRmlsdGVyIC9GbGF0ZURlY29kZQo+PgpzdHJlYW0KeNqtVttu20YQfedXzGOKwtz7DTACxErUBokDwZLdJoIeWJmRCciSQ9JI0q/vzC5dUbSVVE0Aazmc25kzu+OlBA4CggWBTy9BCFD0kKBJqcBwDcKAdwGEQy9vQKAovQMp0CJ1hmqnDaDBOw7oHoIBi2Z0DCCllrjgn9fZ6WnGZl/vSmCTYlVmbLTdtOWmbUBhHRcZuyib7X29LBssKirOy+uqONt+gTlHhQkml86C1yL3YZFhlhrDEYWcnz+P+ceYE05PgY0RX5MFRazVPIgai+tECS6KGMom9XY5LVuYY3Evx8Bm5ZcWFpR1boXKJRivc4z1Mvcoq1xB0KTx0udI3/PcRqvFFvo87K2Cc54WLWzuwGCMBS0D5tUqZpQcs2hrSO8DrQ79nEUPhThoE6Lzw+YGT8jOg+WccmBt6M1VLkBrizZtBOmtxxhlRS4W2VwIRcUYb7D4tHaq/YcP8pHOcY/uaf1GkEJKulMholYit/js98JgF5xzWJeMq1LUyyST7b/+ZC9HWlNW7SQxj2vSOMMf6pdRaxXWYdOOGeq+i/0jv9grMII8UrSVBkLctZgn6WJsl11ZijC0c11+8jO04fJfePxZQal3RIdSrwUxmY7Hqy8rTvLOo2tg0spdDk8tXfTGjYbiZdks6+qu3dZpSN4Vt2h5dT6ZfJj9Ojo/fy04GtbFqgGdPM7i5J0oCScy0tGRDA7ei2ZJg2cDeo6Ku9/LanWDr15ljGDIdiLI+Lot1tXyxWa1LlGDimlb3l5hnzL2ZxeFZwST3BQ1Td8zNmXtLwl+XGGQ0P3h/h6bi3cfJpdXkY17mozouAgnfhIXLw5y2Wdij2FyOT37bfIemVwc2hbNH7aFhx+hwh+I2HCQSPnpvliziq3ZLbujf7rr8mObpJr82d9lvd0j648hO7u6HM1eIdnp+0PbZuAkGLxxJC7Oyx1ZZP7/9k0fplvU9fZzIlZtPlabqv3aJyf50+Qw8/1fbXwlJaY8K5oyXkiP5myvF3TFxvtuXNVNS3UA0XhbdC9C2Iz9UV23Nw3d1EeDD8ZigO2G2BHuaXB5PPjgJA/AwxBc8z42DztsdTz24GDtY0sxxFb9pusetHgMTV8wDX3C3CMQgr6prhuYx/4s9j1HBR7A7SpLIbuvlX8AQ91l8QplbmRzdHJlYW0KZW5kb2JqCjI0IDAgb2JqCjw8Ci9UeXBlIC9YUmVmCi9JbmRleCBbMCAyNV0KL1NpemUgMjUKL1cgWzEgMiAxXQovUm9vdCAyMiAwIFIKL0luZm8gMjMgMCBSCi9JRCBbPDY0M0IyM0MzRkNERjAyMzQyMzU0OEExRTA1ODFCNkIyPiA8NjQzQjIzQzNGQ0RGMDIzNDIzNTQ4QTFFMDU4MUI2QjI+XQovTGVuZ3RoIDc5ICAgICAgICAKL0ZpbHRlciAvRmxhdGVEZWNvZGUKPj4Kc3RyZWFtCnjaFci5DYBAAANB+/iO9zIiKIRuKASEyCiGdkhoBuxgtNIC+AIiBUSC2kkrvTTcX79BgmSSS0GO/iXny624TG7keri1JG4PeN74ATerB/QKZW5kc3RyZWFtCmVuZG9iagpzdGFydHhyZWYKMzMxOTYKJSVFT0YK</data>
  <data formula="S(0)=1_false_pdf" depth="625">JVBERi0xLjUKJdDUxdgKMyAwIG9iago8PAovTGVuZ3RoIDEzMCAgICAgICAKL0ZpbHRlciAvRmxhdGVEZWNvZGUKPj4Kc3RyZWFtCnjaTYyxDoMwDER3f8WNYaixnSYkQ5dKZWCryEaZijrB0Km/38CELNkn3fP7kkLqKJRz9kje+NoFvDeaZsFSqwHCit+BbTBOPtS0YqQn3Qu1vRky52gR5XPWWEBZMLmxmcvQ9ppPWOSYfNUcwEuCSF3aXKxL7rafzun+Ro9Cf/VQIpcKZW5kc3RyZWFtCmVuZG9iagoxMCAwIG9iago8PAovTGVuZ3RoMSAxMzkzCi9MZW5ndGgyIDYwNTgKL0xlbmd0aDMgMAovTGVuZ3RoIDcwMTIgICAgICAKL0ZpbHRlciAvRmxhdGVEZWNvZGUKPj4Kc3RyZWFtCnjajXcHVJPrsjaCIEWkiEgnKrApQhJ67733IiAEEiCUJCQRSCiC9Kb03qQrSO8ioFQBUYqgSJUiRQXpnRvLPufs8/9r3buyVvLOzDPtnWe+9YX7hqGJoBIU6QBTRyKwgmAhkDRARU9PCwwCgEAiQiCQMCU3tykc6w77W0/JbQ5DY+BIhPR/IFTQMAiWoFOFYAlAPSQCoH3PHQAWAYDFpcES0iAQQBgEkvobiERLA1QhXnAoQE8IoI1EwDCU3CpIFA4Nd3bBEvL8fQTwOvIBwFJSErd/uQOUPGBouCMEAdCDYF1gHoSMjhB3gAnSEQ7D4v4RglfWBYtFSQOB3t7eQhAPjBAS7SzPdxvgDce6AIxhGBjaCwYF/GwZoA/xgP1pTYiSG2DqAsf8NpggnbDeEDQMQFC4wx1hCAzB5R4CCkMDCNkBJlq6AAMUDPEbrPsbcBvw53IAYCHwv8L98f4ZCI745QxxdER6oCAIHBzhDHCCu8MABuq6Qlgf7G0ABAH9CYS4Y5AEf4gXBO4OcSAAfpUOAagrGQEghA7/9IdxRMNRWIwQBu7+s0fgzzCEa1ZDQFWQHh4wBBZD+bM+VTga5ki4dxzwz3DdEEhvhO/fkhMcAXX62Qb0HgpohoB73oNpqf7BEFSU/9Y5w7AAMZCkhIikGADmCYD5OLoAfyYwxaFgv4zgn2pCD/6+KCQK4ERoA+YPd4IRfih9MRAvGACLvgfz9/1Pwz8lSjAYAIU7YgEOMGc4gvLf0QlqmNNvmTB/NNwHYA0i0A8MAP38/OtkS2AYFIlwx/0b/mvEQAsjQ31jK4E/Lf/LqKyM9AH4CooIAwSFxUAAMEhUEiBBOPj/M44hBP6njv/w1UI4IQE/g/2sl3BRf9fs9YcEvH82hA/wz2D6SAJ1YQDefzPdBiQGciR8gf/PfP/l8v+j+c8o/yvT/7si9Xvu7r/svL8B/48d4gF3x/1BEKh7D0tYAz0kYRkQ/w21gP3eXT0YFH7P47+tWlgIYR2UEM4ESguCRYVAor/1cIw63AcGNYRjHV1+0+a33uznwrnDETBDJAb+8xFD8AKB/stG2DJHN8JjBEPg5m8TBENYOeyvQf6UYYSl+mcdaghHJPTn9gmLiQMgaDQER0kYPkESA/iCCWsKhfn8YjcAKIRAYgkuAELP/gAnJJry56AlRQBAk58qyn+EdbyHRhPy/uIDIeff8q8Nh8F8YI6UH8eRjjIhrjUhrQdVSqzegktDsqQbaQeWwoJDhXfJsd1qI3bzCSbZWZM6T9U/doHV77q26yt7HuTMTGz7LtZy1uFE9wQ51VecOR3ixs/3Lowl+u6z3RynaSJ6bJGizCFdgu4mMmSPpu2gUIA6d5tw0/j9VdP5IdGbh6FUXUI7tFW/raOqNEuXkU3K/OtnY2yzQ5/pktgO01+5nz0eBS/E2ESm6mfc1JFtO6RM8K6knevt75ui62J/GR2k7fVgaZMrDEunJtPHpip6qdJ8Kv/KSW6J13oGva+DxlXFdWh32SxfykGN/pbL4ta67Q3epA4JF/skpxjwV/whOx1qikE5DZ1XsBwF/ZQTzknS2CufuI8x70yHa76aefaZ3U07PFQHNznWOTx3ck8nVcv6bU8I7229BLmz8sWv/vXcL2K9nMKIW/6qSqFbVBNgzOJb83cKzu/hcs+e2uMNHbMQtpZMc2k1lS+ekgppCbSkExGh9oKnVZhdAdZ/6b1UZLXnixc9y99ua1PmmfSsjEbE0sfg52qn/DIKHx9tgIGv6xzTq2NU8N4e83t+lT7ztrq9Hsgi/2f4Vg+xb3MTdA9jkNIAzpwna+1RIbFMQi2RN599WuiK2OUoJ46DEpXq55Ud7QQxvulBthKJUHqVBsUcreNP14kzAPqUqDo86VPDazLmI+3O4r353VTE8h9vn/+Qb0k1CNQW9VACDZ4aizSMN/Mz9Pm2CeQztizSS9HNh8LvLb3VS1o0UKRx8Re8+on3IfUDBqO+4NWERzGtSnM7zbnRfKPVrGPfLreWygWRC0k9+ZK1viPizMqynSV3hdO6zY7z3OEcaXdtU5nNvHD2qOfBwKWGLYubnN+YiRcbsjNfzUG2VpF31DEG8XwhSYXcG1DhrWbvGP3nz0Y15XdV/Xc3yT9lx3dbJV9p/VZXDXa9UxHsXHqFrB3s0Nacpf0U4mff5hJb4nCf76W3VfCGozUPyDVps8aSSAJ34Ex5Nc2F2aQxNJ+H9L4/PepMcGTNafwuAHI8bkfZzeouijdf3V5BGG/PtbPbxcIUK2v5ifF+KfHJFnChRqlBvoe96ZnKYSYPZzEibx89csu7fTfGISFjEz/QTA6hGggVtVMmW1i7Sko/ddwzdATeEBiepBu9QPPVor5GuB+FzFI9ziqLJGnzke93mtCsPbLmtDVV23vpmmHcFxUAFDimWlxkXANkpNFOu0su4i2nElA1O7mZ2Zo3zPengqANNxoCZaCi+QWmRTQfxaRvLxx5Mdxy1HnEPzUuI4B/e+2SZUwlPZ7aDXC90Gh01rtbHuLZ4yC+BI7VOmoe0qHlCVWAvXu/Hy8XsebU3CC76apz8nCUy63JfW+G227Hg8uWNl1qQbArOG/puhtEd+A+y9RhmulbQ7Dvu6CrLAyIvMiH73PUJ30dTF8MtjqRhX3+lvfMN1J3ZJ0noqODst8yW2qhv3juaP97/ay8QtDVycU607wPfcjvxt4Zo/PSlOEcmbDmDUrgFkVkywo720smRtzxt6Yr/iF54djlScv84JabEoFbntiQOacj/w765eEkvqowyYsmxqOWybjr9LJZmDph12SDu63zwS203B2XH5llt4TO+cqPxQLzyiufqHggZ5dAQ9zl/o9Rn65Dv/i6MIrKR9FHXbrrrVq8qQgz2oFe6SJZg8ChVsN35xTb6xXIUZfhIjJsNUHK3c1K7LDjY47end3LJMM3n+k4ri7bUVLuyJ+8PjFFDssV8rNdbXo9cIQrDPx4C3WVjCvdbIgNUhxYE5gtZiR8R0SaKbuRtU/WSmPYF3xw7miuxVxFIs5rh9a7eRCJDYUGBgZPP9VfDxO2dYRD5vdEt8/lNtjfoNOfe+E+Vbrc5X+pqfOx2s9m54NVpPfVeha99QKR2/z1XVFeYv5CT4ukiq9X5d4Uh7TW0V2BWa1m+MeRiD8R9tcJBn23M69iHHoec+nTILBEvCNgIBK05aacENFz5v5d3jthxnJN9rOmVWxVz0UfL/oXV/0DF9UFuTJvZjow3OCtx7upGhk7YGVqe6+suhY2dWW7US3qM++JPhslEz1M35mtnTp3VeLPtHceCTd6Wl1DwVv8RWYgqMqI2owzRAXlsPJGUeagU4VICrbKo27NG02ZfxJ6GHdYrDDEFIsmivqW1tpit1MReoluxMmA3GLmHfFCaW7pvUPQ9H58rBswoYKnUmz38uuR0sP69x8ogqoFZ3WtzO88dfgqapljPQi6N+jKKK825lYTWHPDsrtDN66t4eBxb7xZatVe5gJAL9z9yFSTrQ8xcobL7IKZ9fScn2BClS5OZUUhQ0U4h/xsOQGVtumLy6z45qBp/QqeZJYkjfdmYMX6MCGgFLFM77DWhbW36vgkruK2QLMPQB1iEvcJJ3Efz7k8dgocZY23f/UDTU1gLT/30SeHZLfEyhOrahzS512Da8X3VJ+CGpMXaSQ2uHo+xHWFlhzzlQfaDcwch2QCnH2sbpDQPGtG/NSgU1p1IH3qhJMW/7S1E7McsR49o8goH3frjycVtImeTysaDHhJ220E79yIYebIWdfupNTkY0Mb7cXVsxuJ7RXcN2Vy0PUHyg+JudF/ZdqXM/LONziTYBQ7ibjFKp08cTvfzI5R11Ahvr63/7q+SsWyid7ee/jGe+pJ+eQrdD1v9yOWLi/9EOGfcL1l0Zmtuia5Es21Neq3lXOjUT1qtn8wqumMZXVSN1HG7j4l1ChFW4uroSWl06qP9wMTo4ex58rV/QJta6aEAKdxWhKp2yll4rWfr9uBjwpGA7wBVM/Xn7CZ3CZVAD9SCCan2h5XGuuexbnzPljQvdD8Fvs8j5NkwyyO/vvXFYoO5jIPxRF+xuM4UwapuE9qzcRFFgbOgpMp4y9jaKo0V1HLTFcgmmQcN8lt8IWnr2iBI6McIWqu5qS+2eDIbfBgsGl1srnu6YgYzkLHDx84sr2Quuk32YC9VOiqDF0NNZerwH8UmewwHdcOaF22rmmrP3svYn/qlXeGQqCDzS7rmVs8zdwT+nLVShC7kp62WvWsRhif/f5HfEgRUTilrIk4Flzv3jVt/9whYzmKKLeFSGudcZjdji/7Tvr2mB2MVu2KCZa6yMxR7OsblXnF6AfIbjHaXh9d1TftSmlRDfdPu/WL2d8ZkwN0o79lOfX4LAur8qY8GETk1UyOZ32CT8U+fTv8JAZD3fmxNTb485EQeoa8ioRjW836iSBJ+Wnj190rK8GlQfgXKUuP0BWkNGtzI1xFyk+pdImBUXFfpJuUGXcB4zMTPIEarDkjQ+B74iBbjH0QZcJOsl9GSyJvNaNo7mwJ7+qmcs2pIJ1b6/PmnJ4Ut6L5nePnOhwVHtHTijN2hUp/LU903GkZ7aAnv81lDKPwGFO1JnkW2xGLChjYrNiMpCKznEpUOpX0UMJ/3P2SdRHapi9zczE9gIlsOKG0DTXbupd6rYlZRaP4SmCi/rvcqodds34yAJ1L38VpO5Rm98d67e0X21ylgVTE14nu1D4KPD8zK+bmPxJntfmw3aC8PJ84GS/bv7ZkGMOFInF9FtjRs+rdiQ0VgJfOwCsKtZ+O5TSejAFemBV1D2xiVqxasl1D/fMpbV5hNVXWLm30H3KkAylV55cAz/spfOGwroXL6STlso8rWdvW3p76vRLyTXWsCnc/AD0siOAtYZy8r0KeJvD9DVsT28c7TWcoLgDPD1pICU0dl9rTBHXNWA8ivtnrM4UipOXYWeMleKY7F4jbx+3GqUq6dKDU6he7IcHn/m4BusOKX76Vv6Ie0JDrulvm8mGNz60ysxlOIekwGn+giLl7/cBH41woPoycZp3JYD8s4070d9fKBXUG06nWd9S3uSAbwSzGn6qOME5JdQWFH2w8Ah3dwMhqgeX75OGDy7MXA1+qrYU7bETfVqnw3O7kCTu1vLquVZDZM5Z2Ef3C5lPDqwevzz8fG8OQ9l4J8y1o6HWUwte3YxWVWU7vVYaukVU/GW+2IN1DhY1tu5HlBw/1KeVx0vJ+tNVbZJ6go6GgZdibirsb9Gz4vUFytfv023c4Obad0rt4MbWYIGY819mDAcdvM6ABN5Mo1KMXSpvELiVoDFXoiwh7Uu03iWdu0a3NgxpqLmM8KwrXgkMBBVfnKljtk7MXFKWib6QhbRR1EyGmqbbGWKqvNPj2yr9Y+F/um8mECaoNsyyFJiKfmzp8nm4XW6xsbD95IZzUJl/2VcfHU6SzaO61HbaE/Vnmatw7v2GLCe4IUMGg3LJavGJlS5LQhvDdOXRtkXQuL7umfDlsZdJwcLp2TKZy/0PvxOMQfw+LrFXBH/V680pDeIw9xsE/Lifm42knpkmRwS4R0wokTs1ZUI9oD6ExSFB7VZbq/j16xsVGw97hwh6EQ7Iwo5GLd2ar766ZyNVKz4y6sd2NhW0V0ptl517t0U27rmd0RLEKablHUwNK7KONy2JCpRjpNtteVhlN4YrQFzUK7u11NY4M9ItnRIZF+zs3YOQFn9YEseCHH4AswN54B9mw5MSpU7dj4JLvLNnqcBIycyjvasijNz0kC1+LJDW46SJRQ62v13sa9X5IjyYfIU5fcTmaBK6zit14mpDTAkqO+jypGHojpSFgUZVi9JakzOX7j7fqzrcxF9lz765VyTmrbObH1wVNKxyurE/gL8nE2tkmtqIDCH/1NBMrI4HYE6rO7RVxlScSGs4Pm9MOX7NK0xwqy0lx7V760bvOxJXJ3ygev3vU54Km2b0RTMEJK5dZGbgSOGLRLVQKDdjXOAOppc0PURAVziiCFxuKYn3gVVHmTz0vxw82VZYlPaMdR31xLtS/4I2znR23yZrCCHt6fD9TyBH6UKTTcLQn47u7a9os+oA2rCP31aMS/fyNMdo5sja39bku6JzPSy0XNbne4JKIItsEWzTANKHDn7rlu9aD42+ZwtPMFbeoi8Ivpp+tdVtTVKVSvk9wvHeKazYzDnKbI4kjvJHU90eylr0Jag8L8Wu1NBzLM3/RzbuKnxle8/D1evGwUx/Lnzv4I8ORlkg1vXqQJYHKTgbrNjYjmJm9JsrOXVLSQKpeeriRznz5YPpbDcsFEiWDXN6KMMxrp2pu3qlj1JDqJ82bwjykaYKoKCqdjYCqSIeFHZEbcvfUto1Wk1LJeddVZWVqXau6+huPZj9qLR0KYxjY8xtmj5XqnMM0Et/om/RGOfYIj520TKDphcKmFyTeqzy8q6KcNx+9UsUgN42OG7ZP2WLIcvd8xitsO92erg9jzdZZSQLVsn9VKBlBgVP2f1DdjU3busJwjc7eMMDknFNOZ/pcQe1wWYc1M5OnVmA7sgBtwyVMwWU9EQP0GUeJtBGtf7Yye1zuGUxaz09sn4cGPNlXonqWaCbZ09uNjONHYS6zHVKrFe25u5U4KCKMBLYHZYzjYxA5CZHCuLdhlYwhHxv8OZ6v6Kx+0DE3Db5VJskyH5OTjFKTbvPuz84ZZlRzpKdKzO0s75TT2l2NLNHutd98nWTJZ+yzMZOwGkfS5UMhNiw06VJ6i7xFVZN5LfcjqI/YsT7gZTOjdtHlhbCmjaAiac+LjD19Ljid6bozdRlZq/Pcd6EnAZ1+W2WNsxRjdFd3TIHo9tNizsoNpS6HtdbegrrjRfdybnf8DigDEoD5kqhqqKIvqmPTML21rKB264cxYmQ/+ebavNut6dydBEWTvCM/bSq+8x1Nm4usZAz+t5NGvMwUVGX5AgdSNmwLM08Lvyc/30wo/zyzqvGul+5lIilRY4Yp14qW3t48LpooQ5JRFKjH7lfV2H4rV85enKWHlJg0Hkt9dUjSrZ8Dnr9CJutwmJyV23yBciGXKUKAQ0aOOvOixqf79/GStBImaBRPWA1XpNvu4hvFBfL64rRoiF5gxKuU6wy3+mtgfsdpOw6VnznSqS5jdcMlh6tBqf0Rfm9H19oMOPhmPd8t0aonYylSDHKJC+R8aopaukmjJ6k/FNstd8udJ9KeCqRWjhhILYUp+Q8yPbahmsfdpbkt52MX87LMjPT5o47Zx+IG5OGuypMLkgqhCiFfllRJn8cSxbNZP9zBqSZ9bL/kYVFsdyvBIRpynuLnzUenZT9H86wTDoH4QXowLwSFtLNNUTdF+pQUeZZxii++MX4efQAkIwsl7khBAvceYYdZqHyokrd3BQYZ+SUaNjTf2h0Yye4wgb0wBoHNwaYXaj+5vRdLhVpijlI0H1YHQ90sUBJLnjjjEdlejnkfKrkdwSyviIsnGm8Z/Kusmr/jHdPHdirfCvLBiX94mI/P8pbrZqQsWDhHP7lwhh6SA1bTtPOA1U391Wx/tIo8ni0x4Wbj0WvCxRZYqRQmUTgcLjQVxwpQKHlf0ymg3H8BYHsWn0VRoCa+yO5ugQ6XJRM9O9Drt2OxNY1ID/grzauS/VjBCEfpOhf6LqdwPun+S6o0P8EqR13aiyE7daYX6XK/4wP66OiIs85ZdY9YwiTGip5pCNzpGMhVjqmejWpfk2si5+cZDDKVKJMMuB8edyttZK6n3T35lSTntQbOmu4XTS7ax43FL/PY8nldY88dlvgZ5fywMay3HUcSQfTdIPfGjaq6NxhZ8xZvovJe8EjS/mNOfs5H6szBW6mCpZ2fag/p7uORYsF9RVNltdByElq1+4nH/TydDA8+kPWUFB7c120WUgDVTQu+X5g0sVe5TPRAwhNmmlHIWCLrUESFQmFrGmdGqrCmFgb2YWwjm6JCBj5cPgk+X+h+PDywbGLOKx9wltTRYLD7Dqq9ETSO3MEXWwRvDg7ApXvJLFoFti6m6tS2tp+Mm170/vIE4xluWt7m8kAcPbm2pZvII21hFdXVmh4PWHB+WlivC5WPiQwn1rmUSa14LPLe5ruJvrTk4wLGv5wvrhbPkpspzPAtjhk7cA8fTyJjGgPTVuSjxKkXunoD+NIoDBIoy570WnqLvQHeHJj3c0sv5YUxcwGZZrTL2jSomuYSOXp3X+awgfR2kbdcUMOmq9xdW0sXBI3zeOWL+IeOKEZKv/YJi0W4tK5stPhpCYnde2lvZFiwP/6Az/7Hk1Qjo96GVd6TS/uiiWJMybV3S4JnQh4w6M1WIiPYycU0+O0V3hir65VSz3UGnr0fdF54uIbqcJqcJUaQnBG1ifWAaaDlhc3x33S61umtdSlxTZ4UdcodDVydin8xR/SLr96wWJ+jHIo7UrvW0KPVvCF+cPtYy/QlV3js2RAu82P498QLmikoePPyubmjS44tkzvPp9nH6p3T0s2vaA0KV7lu9UWR31CVLiWKpiMK5eYjvsQAYVrI1PNJPO3rvWmnm3qkwPYKSs9/JB0+DtoQtpXw4f3aIoqiqjCUbOVnE7roJcaegxlwkN19WGuraxQG2uA/aND5ljwh0KgoDxMSnEQ+HX20cqbCXMFMczHlcU+gez/tRs+wTQCzscA1Lq9OZIpqUfqkc9gs+Rku6HAtbwXCGXH5i6o+Ar3CvzG4V4HPq3A5CP54YB3EU9zNE95xvjx24ilUEd1/wN4+/a4o/HrXUNF6r3uSuY/Irmn208t73LoOeBYyBxP8aJ0sUjruvckLREDIdbi3n6GQ3vvj6GsqLJBnmTxv4PUTIzXhXpf0fX3XuScFrWMWcgTTBHKb6YWQimyTGboPK4cCVCPYRlHfsHxKuSlbl+411OdmjSgSi44id1nLu0rXGAbm86nIASVXTK6tbsdy1ZWxqyZ8Nbi1w4j7LKne25V04qylA1tsdnXL5JIg4u6kPrc8ywS8nw4PKz69zAPFsYS+Rv2QaQyd2VuBXZq1dzaKvv5jqghKypSm3FUUn4lxqxnq8CxckYuYSStEcbRCqRO4bwH/Mvw8cRPdngPq8fQ3q7jDfITK/TzagYopZbpFNJ13vt0qUvrpgTWdcMf8GG3hxjFPT3hqS2MVXuedJ4Vsfvj1JuUptxNjnI72ictWEsvn2qWIosMyqaxXJn/dubJpaVK9abWSaRUrkRjM+yFz7uvOBNmba7uNJ2WM/mwFNFQg4GUvky7GqzbID8TsQxLtG4l35Dz4rlsokpEM7Jp/YfzI1XVq+E5nov7txBlFMrkG6LVkYs5Qf8C5eMhn6+GuSSdBz8wDcuasjXA632J9hmTq3rH/Adq1oY8KZW5kc3RyZWFtCmVuZG9iagoxMiAwIG9iago8PAovTGVuZ3RoMSAxNDQ1Ci9MZW5ndGgyIDY0NjAKL0xlbmd0aDMgMAovTGVuZ3RoIDc0NDAgICAgICAKL0ZpbHRlciAvRmxhdGVEZWNvZGUKPj4Kc3RyZWFtCnjajXQFVJRr1zYlktKpwAOSkkNJSXcj3QwwwOgwA8PQLSBIiIAiLakwOCAIgoBISggI0o20hJSkxDfGOec97/+v9X1r1nrm3teOe8e1by52Q2NBJWeEI0QdAUcJgoREZAAVvdsgEUBERExIRESUhIvLBIqCQf7AJFxmEKQXFAGX+Q8DFSQEjMJiqmAU1k4PAQe0vWEASAwAScqAbsqIiACiIiLSfxkikDKAKtgH6gzoCQHaCDjEi4RLBeHhj4S6uqGw1/x1BHid+ACQtPRNgV/ugJI7BAl1AsMBPTDKDeKOvdEJDAOMEU5QCMr/XyF45dxQKA8ZYWFfX18hsLuXEALpKs8nAPhCUW7AbYgXBOkDcQZ+Fgzog90hvysTIuECTNygXr9xY4QLyheMhABYAAZ1gsC9sB7ecGcIEsBeDhhr6QIGHhD4b2Pd3wYCwJ/eACAh0N/h/nj/DASF/3IGOzkh3D3AcH8o3BVwgcIggIG6rhDKDyUAgOHOPw3BMC8E1h/sA4bCwI5Yg1+ZgwF1JSMAjC3wT3leTkioB8pLyAsK+1mi8M8w2C6rwZ1VEO7uEDjKi+RnfqpQJMQJ23Z/4d+TvQtH+MID/wguULizy88inL09hE3hUE9viJbqHxMsRPIP5gpBARIiIiI3pcUAiCcA8XNyE/4Z3sTfA/JLCfoJYysIDvRAeAAu2CIgwVAXCPaPJNAL7AMBUEhvSHDgfyr+LZGAQIAz1AkFOEJcoXCSf6JjYYjLbxk7fCTUD7AWwXIPBIj8/P19ssXSyxkBh/n/Y/5rvsJKWto6xlb8vyv+W6esjPADAgXFRQBBUQkRAPSTZDexh+B/hzEEQ/+k8R++WnAXBCD9O1tsm/7K2OcPAXj/LAcf8O9Y+ggsayEA7z8ktxGREHHCfkD/Z6r/cvn/MfxnlP+N5P+dkLo3DPZLzftL//+owe5QmP8fAyxpvVHYBdBDYNcA/t+m5pDfS6sHcYZ6u/+3VgsFxi6CEtwV9ncboV7qUD+IsyEU5eT2my2/cdOfWwaDwiGGCC/oz2cFEMSO5r902NVyuot9OrywlPylgmA3599XqsGdEM4/V0xUQhIAI5FgfxLskLGSBBAIwu6iM8TvF4kBYSE4AoV1AbDlBQMuCCTJz4lKggBhiKc3tu9Y+BciLg0IY5+rf2QRQNgD+0bAYRAX1D8o6A/6e75/w1KAcAAEifgF/CtRJ28k1hr1i0rYKv6Sfz0MEIgfxIlkfAThJBt5pzKy4eiV0lVfwaW+W4NcS+ZpfIKB48h33idXLj/hK8+6N4s8UHrS1UI5taDGu684wXYWuP626nJ0XYpR/Y+gU/uk2wNL9SRj/fQfPhWuK71uZyG+JmiiuBx05hlkFn4X/y3ue22uXE9vqSuG+TRHvm0afq/b0ZM990eWjJbLJXVIT9GfBRNM423CXwxx5TlmDzNyEKIEWYhuUG/7UQztHwxSP/t0waadxE8SvJEgVhRoNSf68Hg4YPqliahXExMnkxUjC/4+dc8Ad6Dyaqo2w2hgcdHUhzG/t3JFbM/IBZ5OCVIKrYpmlkNvx8FrWit8esYbQYu5T4BInqsfaBZTKkpqaO2RHAZ05fX2cTSoCrG7EJbVRhfl6YYDs2aXO0+vTUh/fn0BDJFbuq2H1TYH/qjynO7q/iB4eP9p3VFXTfdCc7D5C4V2hWuuvqAbam7WsVOTMpksTy+hUb14TeYQLVpKgQmfJ1Knl8BRcoH3dpRPmEHzhSIiVlKXWnF7rn2TyA3aeRiMqd7Wb5wbohqF+VLbRlxESOpfOL5/ur1dyOQmpuaQdZ83L1Ot+UHeTCKPkWwlpHooAi28PYehF1It8WfTTZ6XGNvp4CwS19JoXRot64q1ued/51i6QOibGca0/pFEgRH74kacYO9qdXinckRUm/SB8+r8QWmpsh3dV4TZ8TbGN0a56+EXk5uReQ8ab4c9a/IySNdQisN7frgw3ErseH3TRNmH3b0mkcLc5NbJQm/T81NfAbSWKhdP0bheu85Xueigcdsx1aJWpldhivQP9mvCRCvfGRzx4pBlUU4/5MpansS/bv+uq8Zs55xZ+aqxyVH+9YA5nNbRz70L7B8HFjgDYRibF+JttYCsRHw6PiyJm310ISxjb/YWb3zsuUts7Yypr1LVxLWKzKEPkNmNzh4C5euX34mJ0Mr3bWgChSU8WTO6Rfy0FyMpOXfmA7IVT9gSa2+VedlUztDuy0WV3rJpssTlnFVViDFdI+5fPpV88uyzn0aeEbyj9GpGLNMitJxr5HEO++gAia4oDkOFdU4G1feFolA+9niXKIt7RE6rVHFEOAtywzy0nZWJqTu3aQzF1PLYIwVlKqh4qObO+5WuaFOUC10ab6tU0e7D0UahcbhbA28SPpKsILkebtbf2t+0PjyiOXw1ZS9OuKT7ivqoqy+HusTjRN8d4xjOoPKLcISRXN9K31NS0gGHkDdy2awgkZIgovQLufqv7ltVNcdjWTNdbtszuZGzmK9hRNXVr15lKnQxOSjs3Uxdpye178m9ZP2kcU/Kz1BOHDTMsncL9elIE2eCglxWMv1tbTBSxxv0VexHhqkKziVoBn2VJgpTOTAYfODPyDpyHuLEymUz67kVZlNXtyxuIO7Dbp1pf6hVl/9q63X5Kd2HZac4ZpFZltJdPe1jvWeWIi97En0CJWcZH4/YHLUCeMhnnl0ZHGJMtw7xH2ebfLbUEZrSYVzr4msWYNDo1gkEx6hYKWvkvCNhZfGf5L0Sq8Nzv1XUQGTQ7GmZpJYhJyfsx9eTl7WCKQxz1k2M60OQ3q64ow5mIiadnlFuUS7Xx47lAdGH2j1M6QLeiBC9l6JtjAEz3snpudFDkjcy6m88J29vIS8duJB+31c8q9BWoPOY3omP8eOnwy82267PUBhuhZKFh5/avv+AE5qs+75LWW7gzHXWt1GpzSzsmzA4GPmkWGQu6se2KuXJruv8uWzhKmI9ZBFkJhzfqXxLseL7ySa7SHKzZR4i4Jhz87j/sCOMqw3zfqCLzvfLzBdRWwS6dRYosz9T0HL7SOG9mqfs/k2dkEGmGnSFaCzVmaik01/y8F7TxAzAok5eHMmoC5cw3vXlLhFcH3xVnqMRcFQsvcZ4q5MneZG356xB69RN/6RqJHDRgBq4kgbC1/VxGnanuwStft7E3cmht7Hm3qZYYz58H8NYiHGfcuQSGU+7dOPEIWP9clteymyKsMt+azbsHZehmmieDKuZEp+xsq7wshya/psEDVolR6lg9jAbJlsW+LGJlPd63ZjFJbg6YTIHURxOGk6kVODtMUQyVXObCQPvor35Np6j0nmoThBCj9SeZmTwqTnV7Pm1pHfk/ot6qxeSYaW5FXbvDsGoHDYiRQPQep5wNo76DtvjN2L+rNfTF5wo9PRG+zXarc6mrfHdX17UBXyKVw8lJKaGoY9LOVq05csgBGNmyonmyteCV8z4HhFMGXdOQpkE8rbCZ15s3aamr6UvelevntCBj35nmC20+k6XYCDM74jgOaO9dZ+FWQwVQ8fed6PccnITw4t9n4jcYxJIt0Cyx/kEcwQy1C3lpDbFm37nUWS8Az8skJnoEGJ0OPLIXtGFQVKMWXPWEOwzEMBk2ktn/+pZL+0Hq1IQ6w30YkcCdXmiHn+Ho0fYfdnAaXQPcTjGSIx+1cxMdiyvoTdm8Ao5dZmBkEHOHFSgQUqqdIQ1YqP1fpTrs1s2t+YUOdTnTnTUj0zyHH+kJTWahT+E8cJcy5qzJxw/YxKm2WtX0cOpwx9tvpwdg8WNQAyvekKAUul5T7Oi2hc9RUCyl93dzXwv54eZ8CsBSc1ElzEFK4UyI9d0cwKYbB9SbaORpLFF+egIH33Vxjg9jZvSnFq60HPuFKUx16tf4DBJf9xobeJEdYPqXTkd4qV1w95Cg4dKSozdPvdTQmc+w/K5V6qPLJdGq3jG+3DMJ/qXIrib8kXCdYBzJroMYSgxdPyzN7FjDnOLColUR1uAkmbR8DMxXBJ/oV3rXL+389MokJI3Bp1N5qH0SchavMB4TNTR9zG/E4AqKfymD2FmdLum2lM5TdrOkc7OGrJYKst/08Om0NePidpyXoPEblpCrax3ajWFjvraM/upt6ka1Ydftr+G8bIqkcFqaAa+gRympLyF9rz5vy2Mc5zsyctuC4QGdFUNcJEg6stnc/3wO0XSvO5RjXQyUZuD1P0+fRtafToLuJ67JyVU+5n571dPUA1kc9heDwhhfPrCw2e3mTyb5X5S+sFYe7EQUln6AScdvNZSBaMCOmlDoZ0Vrx8WS+H039WPHorTeYWbOyhb0LQ2lAILVz/hJSQdi9ffi32OKzv3pcj5/GXLj03cZAzl6eyNhli5D8/zniy000TSoPG9mp5Ly1VrJJKrqDlEmX3Nd5t719XGRWeU0qdehDB81zY/QBURyol+9I5jQEys4dBQelR6wyrBSzoal8dhAcNKvoGcMD+W0X9ctNHpNbjf8biGTZHQJYIsy47FfDqKW1Tcl7oEFkC6zDkkar5FU+k7HfVhw0Da8aJgicPg+TOa7l7z1hvq1LbTws8d/NHxRhXEMV2PbYyetFxVv4GegprQ7ySs2ukDB872BXoOEYX3jblMXuvX6dxMLCfiv50+smGNLMo87bTcb6fZtPSEBDdUjF0jK4o7HLOMNjz5TtKnjmuqlr+xdx6/PagT0TRMoRnPU1ktj2tlpNhHoTU+h+IqWLxIzWqyLua72cbdeJrr1gfPJqtg+mrJMzQJbnlj0rrDY4EMHZpNF4bbw5/ga+vm0ZMS8aYqklSu5H7szyDBVOuzBOqoV89ObtvdzXScaYGvhdBvOuiWF9gSTYILTfNw37YHnsZQ+8xv6c5O1S3ni6d8B6VxhtIg3ZUuvnk9oW35sLcLt5rFv5Fef6vksNtrfxuRSeuoGJjkP0JKxK6iwhYXyOBEJGQeavVmY4t1WYQBTjrn6BHl6mWY5swpOGBzUN43lMmtK+fxnoC6lgJGQxb0NiSzSmr1RKirLfUNv0tfR4B/sU8E2xf7SuWAsu7oZ/e/iyr4DDUQEeKt7TXsj0a3WuCCC9ilmIYL3UlSJ6MZXX3H2S+TEB3dXFIntlT0N7YN2Yl6hpeOOYYhlEe+vkwhZkvN9mEXOV6tiVV/fI9sevbkW4naLNg65p7LkaGfeJhmVC5d0Npl89Mq2UkN1hFaSksaDjHl7xLje6fLR180bTgGS60Jj0CpfembThL6R9JoD3nRm9r1ymd71V7C+N9i37jyfi/xozMSuIKSty6bl+pN0fBqrw2XYbvNKW0rScsdc+LuX8YHrWaK9en6eqflwLw4TrfttrIdy21lMOz9ut9r+9xRy2yZSgm9F+UEs8vfJmm3Yi/TPKzHUFRfDS3+IXynMGqufTyPPXjG4fG3dVVu82thnejFESOLt5yEmrMvVih6UFqFmAbi0M5hoXHLazuKY3C6UmQqpf33DfhUeAsReaPB6QJKSf+SoC45PDXuqcIl+xl6O/uoSVfa5OqQHPoPibIJDqyv+jeLdZSjZ7YlIW1vmqfYypNqSeQfr8LeG3kk3WcuzQ8d5Gu6/yb7uLpoVzhB9rIxEw+Z3dt9mUUUgXbFHcU1Wr/S1xFqvCIa3bJ9dXSTRp54D0s6Ht814Xm7nUMpmyP3yPMqfGzROxwF01UBpVi0ARK9zE9JPJNG2zw/F4UrLMb1B4BUjPmbrhUYglpDWCFdeMaivaRipdqpehPdkU9gvDuD1ZxErHWQLqMlYXcPfQmdm7jmZ5DYIL7WybEZcKxmKmbO6u1gubh3gmnw+/a2ldbvxYS0psAA+8dUyycbazjH7EO4WkRDlkvFg8+YdLhWnYrUyms3WH9k3lIe79GyvRpmTAg6BK7vDdZRuV3psTa6r+uGthRcuhdijDz3B0sAeoaWGiXD/bKs0gQJ12wJSgYYLHHo46IUJcKSp2cHeJlJjrKS5EmzWyNqulQ170TnUy540SHp7vlNpZIsC7XIT/SPlJfnfbr7tGwC1ibLnVp+XW5lIuPVLuQRn8vAonpApkNNR41C/oKWE46isSZ3qtzFpYbkbwQQHziOFE14tvq9azYLZhVosfY9MEaJ3d+/YUFmZ5CfNseJvcBv+1LqPcdPeucjD74IuwSLzaZmrn983rHAoVGSSoVZ4XHR8xq4PMRmYW56Fnx6UF1Ta9lWnWBHGjY0ynWnt4Nds3ErzkDzgqir9yGb/fGbONnV6Mq+3dCkee1an7wrleG2U9dJOMcvoykmeVTcFMIl0uUijRnPWOo3P75q3lFMwTBmE2eAX1aFCdKmK4U6xd7/CkOY41bp8e4mEiJxal5cn3QY7YdbBt6ZdBALguH5sJQ51PFowXLPQucq2JeqTvP2Bw1bujcCH+cTqpWnbd3q8wCv2pGGj7mtG9zFd8iu+Za54HF0QoaR8vaf4kTupk7vPfEmcQl28mzll2j2D2E/m7Ydzj65etS0ccVUAIPbiMrlW4bKaO7mNhpEtU3yltlDDMK/sqibNZ579hPSy7/0Xp1rE9SQifmy0xYQkROVqWllw5Vouukz1oTDSt4fsGDHOPdROcGfK0zfZL72jdgtxjKL9TmFBnda7eQjesFBschDFujCqKbi1KNwl08RZ3drbwutZ+6f+fCEdbgLUfP0Gi+0qNb3jMP8T9kYb6bQ55NZ7o+ovMa0u3+ttntTruEtYa+Refmoehz0/AcFSjh+iPR8LqFnfptkTvxBBQgDj7H/oSof7EHIv+yCdpV242Q5KW7HtVXc0jt2GLP7/FZD50BWopSw0LdjvZ5gUQvpuaVULOaidG/Wkgrq/TKsZXqxdffdwNbGZ2pLJOVXFtX9A5nEhAln1su3i/CngRQlFBXZuiD6kQAt33wdGF3YVec2/0naeuiF9wWR8QqjtE4yUyRVm4lOCdiCc9HXtSvljUGE9TyeX9xVz46IAn8CLd7Ui4Y7lBK6L9BaTU7VwUFurE2cSQGq8zSmn1oe+dZbJvC/O3tpJdO3tdL2qbA9C/R+txoWOg5putqB6+B9pIjHHETwcoONbmQqZrUq44PdhOTVb8I5/gM/HMDbedTPO8ljrcv7YikdPjf2qOUUtPgyN1/aALNeJcsLWIbu6oIjGaiD73S/WulS/FEQuxTcHupHsbxl/ubS5fQleLTXwzQR+I0rgVfKYQpWJQF7cU+6qePka1ekNtk8BHUHuDsLfuBv6TjIAw5VxVwtDqn536bfd3mhFep8PtZ/sLM5fXAjmW7kzKj7S7G+o0sU/2RD40xkDoKDOGH8hSlxQ8DAnuuaay948eEj7yr13IF0uVYaixP/6Vr0y368kxsNeJ2uBxfiChaiti2PxIs1M3rzM0d3M+ya+z11IYjKrDTTzb0QssOi5OT+m/IbfB8K99I14Y9y8OqKMUo3Ob4Gqt6/LScsijrTa+/4fuy19Dzsx11pLYvvyS4FJVkD+PMXn85+8NOMP7dQ23iRStkptPaFvam/leOG9qTxzStNE5as5UTXVi9t3ZkkZ+H+PK60qk3GX7oc8/5tPRH1BPWt/VT9vCVOSZ9KY2YTS6oH1ycZy3SfXoj3vfi2opCJ84nnYOOw9ThUncHZTEN3RIB/hd6L7qXGeeGcnXBtiWdVK0HXAa5bfDvFy+NjK9aXAZGqJShFMrFDCHVG5rNVvTFF+Tt8cuZuDot6DTHyF6P5XRchXyBzm2aq2sNBT+vqLCiCB16oIGM7GT6YdCp1rpK6MJ7hpRUkPzYMlr0UyzHYoHMweL0vySS35or64YnNCvPZod1QCj4LMz6pbDpxU9DabUDVpu0euab3kOSFUftZfxpPtpFYp6Os3/Xah2xie2zGPTLoO45Um5NctSjtpMvC8t15BhffsliQZjPhLUx+tq/eEjbI881vPWuutg2DZR/jSyAaKa1X8vrVZSkF9LmLeWigJbE2FfpGzVq7mkO93/vZmhRMZDYVx9S3GFb0L0gvG1s0T4tUyL3kq3ebMx8hDH8n7vJWXbXGLXFSaOy1CR6fnfGlAUHWKLhv8JkAaYyVfq0aXb8K7vfyQ1JL0oTblyDVAS1DB9tiDZ9tSN6MoTbPzy2/SDgkMqiH2Gf6NSdE4JvmBMXxWCRXd0RHaihSmI5QSmqR2rClR65MHcifynSZ2f/A65Iffi59Q0skmH6w2oYjcIyOaEvMdCLgw06X96J6lgt+z3hh1L7hbHE3n9qjGCmKe6emRVknvnxl2640sR/pPIdk5pzvXC96Wz5FF+N22bODtCirwQtBLvhWMZlEB1/jZuICBybIqD8abxl9sgRY7QZ4BUXdCy5o0x2uMqaJLZIJc0EPuze8aFES20oc2TYmFW27xZQ0Yv3auWYs5VQ7y2bqNT0r5touvdPGBGPY6TFFEOFHVOMd0MCHTKUV5HksXVnTQNk5U4+2T4uADlsQLvFuVdSnJ2Yzjx5lkaSdZhpFVllPzciZNlvIXCO4NzGp4MR/wDVXQbypXz+lbCwhff8oovk1bgI6h6N1pC3rteuqydeG6UU7xxLzdiLCSd7KG5xAvC/hy6NVPrrY+JSFKDtafXYkptUyoEiu6D43A/KprJKzlspVB+GY8GASwTsArmSAzUfYLkXPWWyWjjjzjd5wHUGm0WnzIuMlw7jeMiW0Bk9EG33b1AnD6/7PPWpbomP9moY3mxnKWTctF827BCvVezB29dHKDZK+c+7t+YcUeWp8jfTHKzsaEpF1q4TkZZ/jZ5yZBU5Ie54snBdr7taFOmccBRSZfd6MXETKypbG6LwhlBQIj4+O2lSvBGwztflENVxzCJwPs40sVH3ObscJt2q/pW1x64zWF98WOQ3udEsSYDO8eOTnAQ9JsEGjLFJa0jOoeJZF+qo7J2lLWmqqZ5oPzXKN3u20PjQem3O3LrDWjywtQBFehbR3ourJFTYfC7u8YQpiILRPQEHx3nskBhtM8zyg9LNSPexAjXUoxrNNWCduETAozr8TVDu2WK7yc7DuBVXiUN4beCXAm8tR4Lztw4XOmX+PiMdTniFNC/WD97Hirum9t9VOtrn8CYajDzlI/L6rQTZo/4rGqgV144tcXBldVl7ozkgqumZyj3O/pVCKOHoqxkKohv1IVzcib45+1iWNvD5TxiBJfKBi80fsQJINl1roSQpTt1KGkqs35UqE0XsqDDcRrlr77mgf5RsHrcYy3jWacUyX26J+gJV42q2HaxKNECeoGfuuOSL7IvqZEyw4rybGXqqu8VVE7KD0IlneooPQ1RAhit5yMZNTzX3MaY9Lnv8CTXPGbNHXt4NtRBc3IKRCRKdrM/N4mzo8rJGjfkfVVC3FWrdRagquoGnx8J7OJeYO/PfGj/mXcD892bhS9oIUsnNGtL1MQHF3kkBgya77w2TcVCoiav1ovNdEiX2Bbpl9qIXPT5pIhY74xmW9h/k/1gLmKYgVO/uD0/1S24JZQVcXsizOklmCW1TSQr9QsubvC76KSwlOK9XQF4IsPa2JJDszZvBYa80ZtsXYqIbArvOJHtEGV+uzDdMYZPBlX/Zs/V6qh39UjpdXoXiUQ1QXHl6dua2qulV91AhK7KXrMB2ueBnPxmpAsD2Z4UOjppAmmNU7HRh85ysx74ciiVKeloyAxbvqXfroerkJrc7gEnPpAQn7eDtWBpZuvx+LmU3308K3cPP6uz0M1pyPv2C+S8oXcfRxu6C1rPZoNPVoYTaaTHa3nt6l/TL+vVowlAWvpHPNNOH5R26E+ZlmK6mRQWxmXjFIP7ys+Ng752yN5u5Zel9cbij7OiZ30WwhZpnbotRSj4zXePdx4gPDldrAE6bWN2KgGKnGKbLrNFQR39Z6mwWqP3tSRJEVFuYwT3RFvPgK2Gha2PA8aT+FClA8MNC8m5KbDPP2kzB7Gv4whPIe17HMSlQHXsSdjv8B+5l+JwplbmRzdHJlYW0KZW5kb2JqCjE1IDAgb2JqCjw8Ci9Qcm9kdWNlciAocGRmVGVYLTEuNDAuMjIpCi9DcmVhdG9yIChUZVgpCi9DcmVhdGlvbkRhdGUgKEQ6MjAyNjAxMjIxNDQzMTArMDgnMDAnKQovTW9kRGF0ZSAoRDoyMDI2MDEyMjE0NDMxMCswOCcwMCcpCi9UcmFwcGVkIC9GYWxzZQovUFRFWC5GdWxsYmFubmVyIChUaGlzIGlzIHBkZlRlWCwgVmVyc2lvbiAzLjE0MTU5MjY1My0yLjYtMS40MC4yMiAoVGVYIExpdmUgMjAyMSkga3BhdGhzZWEgdmVyc2lvbiA2LjMuMykKPj4KZW5kb2JqCjYgMCBvYmoKPDwKL1R5cGUgL09ialN0bQovTiAxMAovRmlyc3QgNjEKL0xlbmd0aCA0OTcgICAgICAgCi9GaWx0ZXIgL0ZsYXRlRGVjb2RlCj4+CnN0cmVhbQp42qVT227TQBB991fMIwjFe/VNiiolqSxCSRWSigKWHxZncSy5cfBupJavZ9YOrZNSAeLB69m5nTmzMxwoMEhCiIGFFBLgESoY/lAhQMYcJEQsggBiSSFCVw5MAqNUeuOxR24e9hrIUpXaI7NmZ/XOGhCYdeWRlTbNoS20QYhOsdCbSk2be8goKoIk8HmE0JL5cZJ7mKXFcARxzhcXXf4Uc8J4DCTlrhS0oMgSrMeJ6ESWbVOstYUMy7hMgdzoewu5i89EHPsJ9GdAsfwo8mPk5k4hhC+OsrP97ccHOfqzy5p7WciEz/NBV1ztl9oUbbW3TdtzuVZ3aLn9sLxefX4zWyzmjKKhVqUB2XtMuwaNBIcRD/AxqESIgGJ/JqZw/QkT9Jyp/VtdlVu8xsIjDsbZRswZ51bVVTHZlbVGDSrWVt99hIh75NMxSgqGSbaqda17Rdave/C0whBGhy/wJy6T+bur9RfksnqJCg7OkQpN/ocK/UUkTF4kor8fVE2anSZ7N021/mZ7qXXe5IdumxOq/PdUEenw1XZXp0SIqTK6G8Znj3fSGbc83aynVWusqwscqfdqcLmtNnZrcNn+Gfqs12fI4hxZ0gFyyB6R4+fIboONW+ED4qDnVbUxkHXdyU89ZwqfpCm9PuRpW38CIPYmQwplbmRzdHJlYW0KZW5kb2JqCjE2IDAgb2JqCjw8Ci9UeXBlIC9YUmVmCi9JbmRleCBbMCAxN10KL1NpemUgMTcKL1cgWzEgMiAxXQovUm9vdCAxNCAwIFIKL0luZm8gMTUgMCBSCi9JRCBbPDUyNDU0OEFDRkNEMEY5RUM4N0M3MERFREQ2MUJEMjBDPiA8NTI0NTQ4QUNGQ0QwRjlFQzg3QzcwREVERDYxQkQyMEM+XQovTGVuZ3RoIDYwICAgICAgICAKL0ZpbHRlciAvRmxhdGVEZWNvZGUKPj4Kc3RyZWFtCnjaY2Bg+M/EwMYIxAyMDPwMQJoNiNkZrd1BbA4gZgJiZkaGByA+C6PMbhDNCsScjFZODIy2SxkAlkYFKQplbmRzdHJlYW0KZW5kb2JqCnN0YXJ0eHJlZgoxNTc4MQolJUVPRgo=</data>
  <data formula="S(t)=\Pr(T&gt;t)_false_pdf" depth="625">JVBERi0xLjUKJdDUxdgKMyAwIG9iago8PAovTGVuZ3RoIDE3MSAgICAgICAKL0ZpbHRlciAvRmxhdGVEZWNvZGUKPj4Kc3RyZWFtCnjadY09D4JADIb3+xUdj4F67X0POpjIwKThNmSSOMmgMfHve0I0kGA6tMn79HnvgkDlISCMUUPQjMZbuAyi7RT0OapBIcFrxAZgDNrm6waNOIl9EpuKGSJGxw7Sda5hC6mHVjZFl+pNRXGGOXRBZ80InJVVE7NQaQzefJnnikSjjWEmoaJkH+T2s7w8Pv55CT39xKkoDXm5m57WatigCn7RkyFxSOINkl1FhQplbmRzdHJlYW0KZW5kb2JqCjEwIDAgb2JqCjw8Ci9MZW5ndGgxIDE0NDIKL0xlbmd0aDIgNjU3OAovTGVuZ3RoMyAwCi9MZW5ndGggNzU2MyAgICAgIAovRmlsdGVyIC9GbGF0ZURlY29kZQo+PgpzdHJlYW0KeNqNdwdUk9vSNtKkKUVEOkEB6QlVeu9VqSo1CQFCSUISKaFIkQ5K702pKr2DNKUKCFIVpEqRooD0zhf1nHvvuf+/1vetrJW8M/PM7Jm9n2evN9ycd42FlO2QEJgGEoEVEhEGyQBU9fW1RUAAEEhMGAQSpeDmNoFjXWB/+ym4zWBoDByJkPkPhCoaBsbifWpgLB6oj0QAdB65AETEACKSMiJ3ZEAggCgIJP03EImWAaiB3eF2AH1hgA4SAcNQcKsiUV5ouIMjFr/O348AXigfQERa+o7g73SAsisMDYeCEQB9MNYR5opfEQp2ARgjoXAY1usfJXjlHLFYlAwQ6OHhIQx2xQgj0Q4KfIIADzjWEWAEw8DQ7jA7wK+RAQZgV9hfowlTcANMHOGYPwFjpD3WA4yGAfAOFzgUhsDgUx4h7GBoAH51gLG2HsAQBUP8Aev9AQgC/tocgIiwyL/K/ZX9qxAc8TsZDIUiXVFghBcc4QCwh7vAAIYaesJYT6wgAIyw+wUEu2CQ+HywOxjuAobgAb9bBwM0lO8BwPgJ/5oPA0XDUViMMAbu8mtG4K8y+G1WR9ipIl1dYQgshuJXf2pwNAyK33cv4F+H64xAeiC8/7bs4Qg7+19j2D1CAU0RcLdHMG21vzB4F8W/fQ4wLEACJHVHTEoCAHMDwDyhjsBfC5h4oWC/gyK/3PgZfL1RSBTAHj8GzBduD8P/UHhjwO4wABb9CObr/Z+Bf1oUIiIAOzgUC4DAHOAIin9Xx7th9n9s/Pmj4Z4ACxCefiIA0K/Pv56s8AyzQyJcvP4N/33EQEMVEzVTVYG/Rv5XUEUF6QnwFhITBQiJSoAAIiBxKcAd/IPvP+vcBcP/6uM/crUR9kjAr2K/+sVv1N89u/9FAt6/FMIH+GcxAySeujAA77+ZbgmSAEHxXyL/Z77/Tvn/0fxXlf+V6f/dkcYjF5ffcd4/gP8nDnaFu3j9hcBT9xEWLwN9JF4MiP+GmsP+aFcfZgd/5PrfUW0sGC8HZYQDntJCIuLCIPE/fjhGA+4Js7sLx0Id/9Dmj9/0l+Bc4AjYXSQG/uuKwWeBQP8Vw6sM6oy/RjB4bv4JgTF4yWF/H+QvG4YX1T/7UEdAkXa/1CcqIQkAo9FgLwr84eMtCYC3CF6mdjDP3+wGAIURSCw+BYCf2Rdgj0RT/DpoKTEA0PiX648lDgCa/MuSFAUAHX7dc/gt+tsnIiIJAGJ/m//oA/oIjcY3+ptA+Cb/tn9fCTCYJwxKMTGOhMo+cap80nRYrsziIbQ0IEeymXJ4X1RoIM+aDNupPmwzH2ecmTGp+0pjokNEw9qp1UDF7TBr5tOO92IVR7WX+L4Qh8aKAwckZvxi/9JovPcB681x6nqC5+ZJKuwyhehOgrtskTRt5Ip2Dp3G3NQ+tyvbP8d78NAXadzRCW4yaGkrL8rQY2CVNvv+1QjbAOkxWZLYZbyd/dX1WdBClGV4skHaTV25liOKOI8ymrnu3p4p2g62t5EBOu6BS1tcIVhaddkeVjXxy2VmUy+unmYXuq+n0XlDNK8prdt1vp7lSzqsNNh2XNxet+LkTWi742ibYB8l8h13xEaLmqJXSUHn5C5H2H3JCuUgqutWiD/AmLWnwrXezZR8ZXPWCQ3W9ZocbR+aO32km6xtMdj1hFdQP07+vHjxu28Nd3O0u30IYePt8iTaRXUBhgy+NV/7oBddXC6ZU/u8waPmohZSKY5NJgoFU9JPGv3v04qJXXGHp5SaXgXWfOu+nP9g3xsnfv5ip6VFhWfSrSwSEU0XhZurmvJJy3t+vCkCfF8NTa2IUsV5uM7v+5R5zlvpdbsi831LcE2uEj/mPtE+jULKADiyXq61RjyJZhRuDL9Z8mWhI2yPvZgwxo6gyCDn9fFuAMOHLmQTgRiFe1FA1PE67mydMA1gQIGqxpG8untd1my41UGy+0UnJaHChODFT4XGZEN/HXFXZVD/mZFY7XgDP32Pd4vAC4bGRTpp2vlg+KOlQf2ERUMlakdfoWtfeJ9eCaS/1xO0Gvcsqkl5brchO5JvpIJl9AdVU5F8AJmw9MtvGeu7Yg4szDsZ8lc5LFpsOC4gF0ib61sqrGZ5s8ddgX2Xa7fNb3L8YCJcrM1MfzcH3l5FPtTAGMbyPUnI4960E91u8IgyeFMyoqWwp+a7t0X2JTO280Hi1aYf1RUiTg9LgxyKrpK2ikBaGjJ0XoF9bFscowshj/neejwI2oRa8ICcErYq7xPc8Tp0oLiW4shkXBf8gofksS8d6lxoeM1+3BoAPhm3oehkcRHHma3urCCMduZa2WyiYUplVfyEOJ+k2ERzuHCddD/f0+7UdJUQ46ezGLHBZ8+ccwStoyBxaVu4vgYyMGVfsLiNCunC2jUSuqmTroFjkU2BoUnakUvU381rKkV7UcgMtZOM1+FELZ4KvfaftKqOLTisTNT33zqlGfVE+AEFTigXFxnWAGkpNNMuUou4+1NxqMrd7PRMLU6zg6kAu1rOWn9ZO/EXuSb51BMSMoILx+70t6C6z/inxmUFcIPXL9+PKqPDXXEG3Mi7NzLr0akAduuCSC6JRGsfNwzo0vAEK8I+jh3Eyoet2TfUym056Z4+HeFyrnfZn+G22XXlsqJJlV4Q6gjKWbrhDNbre8w8dZRiMnhXxPtjwDVmekRO+NOxLI1Jb4hJc3+TPWnI1x85Jd7hesPrPGFtbRS99zOlF3oL5o4PNmpmFRQDrk0uVpvkfO5Bbhh5pI3My1CEsqfDGjYpgNvk4Y0rbKxvGRm8Tn7UX/V9khOKXZ68/yKo8eYd/2037JM5+2PfNrrloQS+8hApYmOjkfuJXjfo5DIw1aJOiYbWTfNBjTTcbVTPTDMbg+e8FUajgTnFZS9VXZGzS6AB7mLf56gvN+y+eTsyiCtE0EVctvZQK9hSgt3btbvaQbQGhts9GLKeU2qtUSRDUcHFZFkrA1Q6G5TZYCcn7N27e1REQzdLdKGryzYUFLsKp+9PTZBD8nn8rNfq3/cde+X5T9xCXSPlSjUdYAUX+Ff6Z0rcE30oJsOYWcfSI/dAc8hb5PACaqbNVE4kyWuD1r95GI4NtvP3D5p+ZbAeImoFhYPn98V3LuQ32T6gU9+4e30pc7Tmf6ulO1HhY7n7+UG4x7UaZv31XDFB/pqOCHcJX+FX+dIFN8qzb0qCm6ppr8IerKb5xhBJvhT11Q0CbdiYlTMMvIm6/KUfWCjZ5tcXDtp2VokL6zp32VDwiJu5vyb3VetBdHkXsac7XfM1X/9FDSGu9JvpEHpO3hqcs9o9IwhWtqr76qpTXn1HpjPlogHTvnjJCKn4UerubNXUhZMyf7qtw3DovVcVleS8Bd9k+wLK710x5XiiioKsfFCSPWxXJZCGrfJoWPBGUrw4DT6KOSpQHGCMRhNE/EhparTZLQ2+TDtsb0hmPvORcKEou+jREWj6IDbaGRhXylMmsUf1frjoqGbsM3lAhdCs3gOzh68g38XvZ1n0gx71OzEoqI86V/pXct7vbNOLaak9fN4da5pcvp++ANAPdTk20WLtQQyfe6V3wEy7ui5OMcHKxFMZEchgMY4BHysOQJlV6uIyC64hYNqglCeROUFzzFREqSZEGChNKNs9pH1pbVADl8BV0OJv+hmoS0jk8sle0tNtLoeN3Iui0sO3IlBLC1jFz338BZLoHF92+qDCC+n5sdapdCPZM7fSuDmFyNKrhg9xQ7Exy2wlUKeWif2IVICjh8UZHJxjwYCb6rdPqfCnS/5kr80/bWHPJE+oT8cgNsLH3fTzZSlNvNur0lpDXpJWS6GHnFFM7FnrOu0UWnys6Hv7MTVs9yT2cx+bMEL0fIEKAxLOdN8ZD+TvebwwPL/DIHEadotFJvGT4AtTGwa9u4qxNd29NwxUS5eN9ffH4JtjVyYVEq/Sdg0ehC1RLf0U4//kdMu8PVNtTWolkmt7xGc7i7NOI2K2tz+i/px5dVIvXtbmMYXdvSQdba7axqT2Bz28nxkZXI3cVq4d5OpYMMb52Y/TEEkLJr2WrPp6w0bkOHfEzwNA+Wb9JauxIImiyDPFIDLKnXHl0c5ZLxfewAW9Sw2D2Dc5HESbpjF0G99XyNuYXrsqDfMznMSY0EvHfFFvIMw3N3QQmkwafxtFXa61ilpmvArWImW/SWaJyzt7RwMcHmF/ou5kRuKdKRK+I9IfZFKRaKZ3NizhZa7rg/Mf3llI3vKZrMVeznNSsVsNNpMvxU2ITbaZjOv4NS1bVLbUnI+J2Z6555yjEOggUyp9M/NX6fvC3649EMKupKaslpdUiuIyx37GPsknCKWQM5bEitS4dEzbvoGkLUcQZDcSaK8zDLHZ8GU+TN0ZtYHRqF81xl7JN4VKfP+gOq8UGYjslKDp9tRT+9CqnBJR+/is06CA7aMRGUAv8keGfZfnsqgab1JgPyKncnI84wt8KvrV4NDLKMyV9omm6KCvx8LoGbJyIvYddYuXQkTFZ3Xf966uBBUF4JqTlp6hS0mo1+aGufJVXlHqEQIjYr7J1Ksw7AHGZz7x+GuyZA0PiDySBFlhbAMo4nYTfdIa43krGMSzZwt5V7dUKs+EaJ2b3jRkdSU558/vnrzRZS91jZxWmrHJU769/KntYeNIGx2ZIJcRjNx1VM2CqCS6LRrl17dVuhVOSXp/Kl75TMpVGTex9y2D2K7FQPbmYqofI+lQXFELarZpP/l6PZOqZsFV/3iDj9nlTztmfWQBupc3JGnalGcPRrttbRdbnGSAlIQ3CB5WPfO/ODct4OY/lmSx/LxTq7I8Hz8ZK9e7tnQ3igtF5FTi39a16tGODRaAF83AS/N0Xo1m1Z2OAppN8zv7tjArDxoznYJ9X1BYvsNqqa5d3uw9Yk8FUqjNLwHe9JJ7w2EdC1SpRMVyz8tYWtYGz3zeCXsnQ8tDXQ5BT3PDeAsZJh+rkqUIbHxgrWedeFh/juIC8PykARdSV3Opv4rT0Ip2JeCbvTGTJ0ZSjJ01WoKnu3CBuD2dOc9UU2X8pVe/2QwIvfF19tMbUvr2o/jdlT5N+Q7r146f1/icy9Ib4ORSkJHYQyWM9Y1DT80L4dgQMup1RsODkLSHkRtOZQsa9CZTTR+vCHKBN4OYjb6UH2PsE6pz8z5buvpDnUWQFQLLj8lC+5dnif3fqq+FQjYjBVVL3XbaeULO7l9b185N7xpNIUY3W36pfRf4/uLriREMaeseN9+ItruBUvw+OFpalmE/pjpwnbTi5XiDOck+KmR0x5n0RdBAj3IOBw3vhJX+ItMnWmpyGvr9qRjrgJKhMcPECpfpwY9e8qy7RdY4CfWoACYc13lgH/THDKjP2TgC9axZeYvQsRCNoQxuDrMl0fkQf+4c2dTQr6nuOMqzong9KBiQe22ulMU2MXNBSTqSMwVpqaQXDzZJtjLCUn6nxrWW3Wbmf3tgKhsipD7EvBQcj3xjAvk63SqxWFbXetosmtCi8Pq7rqebWHv+3HsbbCFbSfpqzEefIfNP3GGg3H75ZfVYpbLGBOFNUes5dFW+TDYvm5ZCMWxl8m7/dNWobNnB5+5Pz5/4uppnrAr9rNGfVx7AYWwxEN+YrKiJs3ZMvRK9TTymCUiYnLWgEdb6hNowTv3d62SXjcgZR0tNW8ilfTC7VF5aHRfvzHaPtanYtTK3tOrRvc2FHVWSm68v3Fsj6/eczmkJohVTso+n+pTZRuqWJYSLMDItVt0sslqipcHNlYourdWVUHq6xXOCu/kHu5wwstwva0JYkaefgczA7liIXEhi/NSZ8wlwyXuWdHUoAZk+kHPtybMPXUQL3/OlNLlpw1EDTe/Xu+r0f8qMJB4jzt5xQY3911kkOF/FZTWCEiO+TioFcybV+i2qkY/ckpKlevx8u/piB0PMlm29Vi7voLr1IrY6YFrxaGX9E+6ybLSNVXwT2g//31ArviwciD2lbN9ZkVR9eUfT4WlDytF7FhnqIxV5aa69yz+71xm50vnrJGP3jnsc0dR7nEHkHLBi2ZW+q/7D5p3CRXZ+B5rnIPWU+QFygrwZJZHF2vxoT3h5hNkrN6rY/vqy1wklNOOobw55Bpc8vKxmxy0zpjCibq4b54pZwp/zdWuP92W99/ZMGsQDaULast89KzR4sTlKM0fa4rw+12E35/lW21FdvjuoMCzfKs4KDTCJa/O90rihHXjyI110mqn01pX8UOLU87VOC/LyZIqxOOijM68GU6MA5zmiGPwbSU1vOMvrDwGtIU98mu7fHc0xa+7kXcXNDK25ers3P203wPJn9/9Mg9IQqKVW9DPHUdrIYp1HZ4TSM9fE2bgLC2tJNIqONlOZqA6nf1QyXyJSNszmLQ3BvLev4OadOkENqH3RuinKQ5IihIqg1N30Kw+HLOyKcco/Ut+5t5qQTMa7riYnW+VU3tFbdzw7ob10JIqhZ3tRO3uiXO0Qohn/wcC4OwLaJTp62vgJTSccMr1wZ0z1qbWqSs585Eo5vfw0OmbINmmbPsPFrYRX1Gq6NdUAxpKpu5IAqmL7rlg4jBJJOvhJaR2dsn2V/jqt7V0/4wsOed3pC0X1o2VdlvR0niqBnfBctCWXKDmXxacooOc4SqyFYP3rA9PnxW5BJDX8hLY5aMDLA2XKknhTqa7uTmQMPwpDxXp0RT1/38W5EKKEuCew0y9rFBuFyIoLF/UaDCljeDJR68v+ZkV39bOumUnQrddSzPNRWYkodZkWj97MrCEGdSgdZXx2e3G7vPbeanihTrft1vuE+3xGnpszcasxRB2e5BJDwpOORbfIGtW0mNayJ0A9hNAav7cNDDr5VAsh9ZsB+TJuxAxdPY5eutPV5xqycg8usj8Gn/q1+2y/rpslH6W9tmsCRLeeFXCUbSp3QNaaunOrTxZdirldcLugNLAf5lu82l1VA3Fdy9rp7WVF9Vs/jRDDB4k31+adb01n78YpGecc++hQ8l3salkSs5DS+womDLubKqrJ8fn3JW1a5aWf5W0kvtmKK/46s6r5sZv2bTwJQV2aCdeKtv7+vFckQZoUgzhQn82nvK71Vra8rSRzFwkhSSz2yrUBKededviLFVI5yFFiRnbDJYqFbMYwAXZZ+SvpxJpfHj/GSdHcMUajeEIqucKd9xY/KC2Q1RSkRIL1/cPeJd2gv9VbCfM5SdmFlH1lT6WkwuqFSg1VgJJ7w3wGR9ZaDNn5Zt0+LtFoJGLJkwyzCXPlPSvzGztJIievfC6wWe6Uv4inORNILhs2lF4KUfbtZ3xuSTnvZU0tKO9pE/X2tSnJm2dts88lDclCnVQmF6QUgxWffFtSI3kTTRDLavF010stYaL1sqt5gc2tOEgk+CLJx4OPVtt2jrqkHQ4G+4C7MM1CwjqZJqibYj3KSjzLXkrNPxi+jgQCSUmDCduSkMD9Z9ghZkpPysSdPYF+Bv47tZtagzaH9+R2GUXcMYb+DUEml6q+OI9JJNvdxxwnaT2tCLJzNkfdWXLzMhqW62af96SU3xXKcA8jPtUcpPctf9CwgYOmju6WDQrxwQl/upqNz/IW66UlLZg7RL68dI4ekAdWULfyiGiY+Kpb/WwSez5baMzNyqNf7xWd+0A1L4EccrRQXxAtQK7scV03l+KgGcBaEptBnqsuucjmYo4OlSMVPz/U77VhtjIJS/W7neJexnaieM+Lwmku+GNW3nzC47eUKT5C5VA9GuInu9UmxLTZGzi/HlpawowLFr1j5pA7o/klmgIP2/qyVaIqZiNa1+Tryfh5+gNM7ryW8nscGnMrZXiuq9Ul8Z0Ux/VajsrO5npHnZO6grc5rC94naIvIEv8DPI+2CgWQehwPIiuE+RSt1le/QEjZ9boQVDcLTKccPCcg5/jmQZT0HayUFH7l6oj2sc4pERQT/7U6yq7YiIa9cfxJ7087fSBn0m7CvMOH+s1CCuCqqeFxhYmjW1VqQgC77jBTNLyGArlIPmUKBS2sm5muBxrYm5oG8I6vCUubOjJ5Rnn+Y3259PD+/VMOcV9DlK6mvQ2G6AqzoBx5C6uwDxoq78PLtNNat4ksE2crFvV1Ho6bkLs8e0lxi3UpLjFMVASPbm2rRfPI2P+IKKjKTUWsODwKq9Gz04hKjyUUPdy+hWlE7Exyw1jAxmp57kMtx2IVwtmyUwVZ/gWR40g3EMnk8ioOv+UFYUIySsLHd1+fCnkhnEUr1923/eQ+AC82Tfv45xaxAtj4gIyzui8btGkrJ+LZ+/ee5vFCtLfQ95yRA2ZrHJ3bC9dEjLK4VXI5x84Jh8u+t4jKhHm2LSy2eijLSzx6K3tvbu5B+OBfLY/Xybfu9ddu8p7evlAPF6CMbHKujBo5kkgvf5sGTKMjUxCk99W8YORhn7Rlbl2//OxfoeFp2uoNvvJWUIE0TlBi0SXCLVdcV5D7A/djnU6Cz0Kr3o38mqVtlqudqXbTGG9kquc5utzFAMxx+rXa7u0GzYlDwVPtE3ecoVGnw94pU+EbsRf0kpCwRuWL8ygjllWjC48X2afa7RPyzS8ozHMW+W61RNBxqkmU0QQSUsQzM1HeJkezLiQru8Zf9bTfdNGL/lYkfWdHR3/sUzoOGhT1OqOJ+/3RnEUZeldqSZ+VmFidwm2LEwfRG7vaZWV3r0Q0Cb/Ya3uj8RPAnVKCjBhoUnkq5FnK+eqTKVM1MRJz7v8XXppNruGLP2YjASuc7m3I5PU8lMnHUJmyc69Ao7WclbAHGFU39QMEOgV/s3+/VJcTqnjYdDEoUUAT0EnT2jbxfLoqZtwaWTvIVvr9Mf80BsdA/nr3S4JZp5ieyaZr6j2ufUgOGZSiDFupFoOKRMzZtyM8HtyA+7hc1dYf+wk8roqM7gknecDvObTcGWo+2UDb+917kkhi6iFLKEUgewGOmGkEus0Sa213pWsSz60BdBnOL1m34zWSpIW7HNvW6qxz2fsS8/RH48OjKTO9ub0MFAB6F2KuX2nyOhl96+WmqnjVIJ07avC8qpBC4QRUcR9ukNFZ4vjbsHDxWyknDtGg5aVP/SObQvDSOZY1NdlCkiJOi+CeTRww0EtDhOxDdaOwoIHe3LoKzeK9IQXiEelA5SNhMVgWotc1UMVgd+aVuJTLRcZ6t7PqQTtNuV/NFC6+4PCQllGTDdieozh5hM6Tqo5fw45OtLBWKOsh99fGKdwzoCkHaxcrdC62060KLv3bc2SI5TqJqtvqL+cSZQkO5ufxswnJlMzQdiTJLDv0Dbb11r3z2+fAXXkl2/elhQ+1VPvOhrnMj/8NjGIeEomKDXKvUEnL8kS6ZHfpqbFn1b/3IZEzJmeLIHk6q62NV8V7oRz00rN7LyRP2zQg38eyhE4TNRFSskkpDrH5f1QnHymrP94IrACkha40nC1tO3h3hWuHc8NUe0ikBjZBmI34/zkK29IAMErACGPrBD9WsKkR2htwzyRG8tO/wQVUZb6GzWBwHCL/c+ri9VdhnH8TD4E3DhgBmNpWWXHhVDle/6Nd1UXomvKY6aWLp+lD0quNjOL+bPVFb6qS2L8LFj+0qshRs3HfHqK/KcwpKER0vMQ6bP9/dMZGcww2K/USlbbjb7P5drWy6DBqtIh5lDGxx6fFfdN9KqmYY8yDJSlpwVvVSmvnlaCCA1E017K3ZXpYjQjsvsWpuUGe337tDF0q/JcMLg7NM8JNKMnH5G7HD4kLuRjLYBXlg/YGTaS2HEQVhoSJ3k7nZs40JDmR2/+21wJ4x4hXqHUnEKF4Pfr/j16zoVWE70CqmLPX2DvDOclennA32Rfs6jUuurgR3t7JZmKolVAMEPwsfqtPHdEV8KWfcLnG8e1AcHnPx+/5BEix7CqsxOaNTcTR2Rsdk1172kqLoHKM6l10saMUbOfXr4UckOy8IaAPpQU3b7HzPgxpVrb7SLGvZ8RHJ+sydJMNG2RldHhefnTIOz94YPqW64lHsB57QHpIsphyBRYPEPgtMpcg4Y8zSgg2so6/MdTBqdJ66DiN18ABG+pXLfsFnEM77+9EJ8QSHm7X3Xm7GsXx7HUgyPvPyrOjPpQhsRmDYG4yYlGfDYov/wY6EyCXmcODnLrGHl665PX/wCfo6vgCmVuZHN0cmVhbQplbmRvYmoKMTIgMCBvYmoKPDwKL0xlbmd0aDEgMTQ0MQovTGVuZ3RoMiA4MjI0Ci9MZW5ndGgzIDAKL0xlbmd0aCA5MjExICAgICAgCi9GaWx0ZXIgL0ZsYXRlRGVjb2RlCj4+CnN0cmVhbQp42o10BVTU7fYuDdLdMSApOXR3d3cNMMDAMEMM3Y0gIKAI0hLS3aFIg4Ag3QgIqDRKxx/9vu+c/zn3rnXvYq3ht5/97P3u/e5nvyyMugbccg5wO7AyHIbgBvLwiQMUtPSBfAA+PgEePj5+bBYWQwgCCv4bxmYxBnt6QeAw8f9FUPAEgxAPmCII8cDTgsMA6t5QAFAAABQWB4qI8/EB+Pn4xP4hwj3FAYogH4gDQIsHoA6Hgb2wWRTg7v6eECdnxMMx/3wC2O05AEAxMRGuP+EAOTewJ8QeBANogRDOYLeHE+1BUIAB3B4CRvj/Rwp2SWcEwl2cl9fX15cH5ObFA/d0kubgAvhCEM4AfbAX2NMH7AD43TBAG+QG/qszHmwWgKEzxOsv3ADuiPAFeYIBDwAUYg+GeT1EeMMcwJ6Ah8MBBmqaAB13MOwvsuZfBC7A33cDAPIA/5Xu7+jfiSCwP8Ege3u4mzsI5g+BOQEcIVAwQEdZkwfhh+ACgGAOv4kgqBf8IR7kA4JAQXYPhD+VgwDKcnoA0EODf7fnZe8JcUd48XhBoL9b5P2d5uGWlWAOCnA3NzAM4YX9uz5FiCfY/uHa/Xn/mqwrDO4LC/zbcITAHBx/N+Hg7c5rBIN4eIPVFP+mPEDY/8acwAiAEB8fn4iYAADsAQD72Tvz/k5v6O8O/uME/oYfOggOdIe7AxwfmgAHQxzBD/+wA71APmAAwtMbHBz4vx3/aWEDgQAHiD0CYAd2gsCw/539AQY7/mU/DN8T4gew4HvQHhDA9/vvX19WD/JygMOg/v+m/5kvr6mugq6SIudfHf/LJy8P9wMEcgvyAbj5hfgAwN8iE3n4CP7PNLogyN9l/K9YNZgjHCD2V7UP1/RPxT5/C4D97+XgAPxnLm34g2rBAPZ/i9yST4jP/uEH+P8t9T8h/zeF/87y/xL5fxek7A2F/nGz//H/H26QGwTq/zfhQbTeiIcF0II/rAHsv6km4L+WVgvsAPF2+2+vGgL0sAhyMCfov64R4qUM8QM76EIQ9s5/qeUv3Oj3lkEhMLAu3Avy+1kBcD+M5r98D6tl7/rwdHg9SPKPC/ywOf95pBLMHu7we8X4hYQBIE9PkD/2w5AfLCFAIPBhFx3Afn9EDODlgcERDyGAh/aCAY5wT+zfExXlA/Dq/ob+WMJAAC/Yw/thCv8gD7LhdX94IWBQsCPi3yjwb/Sv6f4DA4GCAF7PP+Z/FGnv7fnARfyR0UMH/9h/HgUw2A9sj70wC7eXiHKpj+q8qJWj8eX+Oi41xfLVJIODO3DBs8v7Ch/zJUdNdsSa55ncy+EewuVNJfZfsosMt4E/2hoxY9vT9Dqug25sUvQnv3Zgz0+QD3wq+iHX0E/3iJbbUHY76NYjyDjcFbUN+b06S76Htyi+7huSC98+Fb+G/vKl0ZjZr3rbNcIaODfln7kTjZ5Zhr+dZimwy5mhZMJAcNNhPSE+8iOY/nU2RZz36Z5BPYUTO3gvUaA40HydP+lyJmCl0pDfq5uKmcqckg71F/HoJGug/G66OsVcYGnx8sC8X5tkMUMeHterZW5Cnl3+rBqIfgKspbfOZ3ThHXAr/yUgio1mgGQrra6shdTGk0mHrKbDJoEEUSfgCqbbfecov9J5ZvzB0eUV7aLY54Z7wDSemfOPsNYPgdeNHivDIwPc5zGv2i+GW0Y2PwSbvJXpl6F18gU+UXK2iF9eEs+ie4VejhhD6TYBq5ESci36vBS9QQdFSwZGHMtfUQM3ivj4zEXRe5FHaQ+E8oOOk4Krmo60361PE81BfYmtIu8jhbXv7d6/OjoqonIWULLNjmEvyFL68LRgNZlNT6Ie3DQdWc57tF5FzqNY5s+gmbohNH88yFwsqKbS+3WuejjeMsLf5VKskOfAuMqo47lQoR7j1l4C99huU/iQfGR0n9iZw+7GWUWFvDXZN7jx5VGVb5z8cNIXQ5Gogqfv9MPyur10MlXkElBKzjdneh/ZPd43lPdhdGtJJjAxlLraHOsuufHlKldTZGErXtDq1/gmGRu0YDWvWNxLVRsmS/70V0sYf32XzgU7Em424UoSS/b2Eupjm67hFuPjO2p5GgPDizePA9aReuc+j20yfpzcZA6EVlm+FexrBUgIPctEhaawMs5thr0+XZNifxZ/5xjfumrkK9e4SFuXNT0AXtsbGkWTf4zZJcBHKj2+pwooKmPLXtUs5iS9n03LddkIyJG9Ykhular2sqxfJf0lGV0hZdlthsy8pigTZ/T90cT2jfDLvM9+KgV6sMEKmtfxVFuQGpbZF7mMc5PYmvxIFHUWua+Jfm4Wh3IwPnOMNo3Ast8lSsBC2pScYSMdqk9OP9Yn0RVQKmCM4havI2IjWr+bkMNXJ6jhQV/oq1dQH0dSR5QjsfYGimA8F67DfhxuPNE70f1jZlZ1hibtNIG3bARfec7Jl0lZ6EWy77FBHHNQzX04XE9yfGf8FQ7OpG1Is2QOPZCvLAgr816y45vbYWPL5Xz26rDz0Wp+1FrVtzCspqba2iyZYSpbmVOR9B/kODaj+egWL9+divrpSgoCZ+hOpRCfLlSRFgnwJIQz21qDPTW8gd8Erl8bKSChQ16TN6oiquonp4LP/CnpZ+9C7OlZLNc8DsMs29u3BXUEfRgtsmzO1drf1B421NyQDWzbJ1DzrdFVnGipX2rlmfFVjib7BAqvUb6YtbzoBaB45nkMv2YSoJI6R32RY/jZTINnWYPy+zDHBy4KlRGNQFCcgrm8Sm4XNj2d/xI7frwGW0wvvw7flPGramE1XWZm6PW3q8pW7jSKdYtuyh/T4LHhhItBaiwqjdE5Vn4Wpxd2NQGx5+qjVJlc3vAQrUr+PsqAVe/UzPzYaeEnrzuelOD19+BVTN6LvR8vXZPpK9R4QW7PQfnx0/kXyyOnPEQVq0zZZtKnvp/XMAzDH75dadudzPkO2pYKrVlF44s6Z7OfZItN+P0YdkU9GDUdPldv0sB/hGwBjXmfDclLydb9vNpn5Ev9YFYAD7hk3r+cOB8MY+mrej85TOb7ZfULvxW8vHcNUG1zK6Pm/JHAe7dA3u1AGYNCvAmIjzWf7oBVNuQvfB7RvbgKoFPGK42i1IQJGZz4spZx/5iqrclVCbgoFftOKTXElrrFPnrbqXbjrH3VOBu4pUMMwM8Aomr62M+4kaFDmkq6WYeYtPa+u/XJtpjMxFRRFlW5Ldux8C1koD+5sn39A7OvIG0tjdfxV28OtItFV4m/QJzeWI7DQF6Td1uynPxAiKRcIVeucO08BypRHfixG4f9cfu8KTpMGSOVCSsBKQMpSjRQfx6eSvShz5CCfcvG5AjFTu4uVCMIroVjQzI79cqEaO2ONqULz39La/deOKwiv8666xyEyGXAktUB/ijgzUFSPmZ40SzgT/84c9OeQEtrbkKl3/x2xQLVrfK+PeDTM+VQjEfE0PLLCqYedelqMNq8sXyyiTxt8I4xx3O0ZYOhJQgVV8Fh+OrbQ31i8lby4q4O5cRB1PIu3Rye3S5NtMkwvwu0Ekobi3FT4zgiisHTn3r5NXiGuve/fCLzL7HBI1yp7neL1JGeoc5pV61p3uTHz6Oe2XJCA6mxzsF657PPbWQdKYQFqFXXdEE+kwFURmNkNrV5Y6QD5hVA+iflW4OJxDXJWpyDdu5hMRKBK+Wjj8Kr9ATId42NJeYLOsfipvDxiKt1eHRy1yFcnaKiFbP0kXu9MdFOeVKWUuuyTMrrVxrKF4YFdtcZKe+Mw5Og7FCn6g85i3afqxJXGFt3y2fSZz5afrm9BAnqASlqR0MAFWIbHsbFrW9HiwGpXtau+2+8HJKyYPgBKR+wMKsKd4rEZ2k1cwOorJKIjso9ceKL35RH+mgrvkvQUhERY1bThNyxpsnNO9F8gUGF/ZFj1R8lK+s0nUhqPPr6Q3esSCdJTo5yxCcmLXT1M/QN607ThdnXuUa2hXEkk8WJr5Gs3W/4wjUAd1Rkr3khjyALn70f2eVS9yhgiw72BcipFs/kCSBj+/OcWOT7tW2sIIBy3lXlObjucp94LAQLDeb57XxfcNoDEGVFB9pgakpnWsXR+hWcfqZMRvqQrQoJThF3yyJfPypisw0VbOsVIaXqseXdNDJi2jyb5bZ0labzL0ffwtjp5XChLSSTB0DbZVFvnlNvzoPNBaarU2mJI67QgOHGSRZseEfNWr4f6hBfhlcE0ewQFbEJUNnv08H07qs1gNOdW0pik5+x/6+mRaLJHCarxwEhlK/euvucfMDLoYtJyTyb7y/l8ZQXe8pMBms1U6hSAF71IcodZB+fl4oiTbhqx04naNQi509JFHZ/n06DhitfsWPgzD/TPo0vQZZY/1LscFfZc72PnFpFeLP2pDNecqCk4OVmP0kUSTmqV3eJmGSTSjKegpJttPG3N87rXcN9LGR6aePKxXDdrr6NSaLIUOby511MkwICnee6YnNie+aJXmKxyGy2m1X0eHueiyaX4toviveGvKZ+Db5oYZDFcIzEzbamM1mJZuUX9CUugwbgbDNP85scktT7rkQP7OmI2d0XfmXSKckjGRkz6X2iTGy1wlti61/+TK/uUdzwC0u9lz00yk/KlyGG5MeJu9bagDMHm0It28iiGAMWwwbtdg2R5BosTv3M2T0Lz+KsmyGzX/0k+2Ye4ODOunla3OKE83mzWN2rn9jjyshGSm/2Tu+eHU1pRHbPEKg+Y6tvkkY215MdJ1BbWEewFG7dp2d3W5RyiPSxvrvJdx6H5eDWUX0zY5teAvU0G/Yes5l6hk6vZfLCbGAvUdU1C8hxsNjTZbHrd/I/TrzGrmrSpgvUUG5aWzqyds2yW+2BfQ8h37fVrCm0wloCFRkVILf1B97EEftsHGquLbdvvxFM+wnMYA4l8XSTuz/weknaM3B6AjNfQ32S2SFVdj7i9esInkVqJxuY4j+Lg8WooMCQEEhhj8VjEmrevHdIv81HAcNZt3OPdvLSzXBg5p60PKsZn85i1ZR0f49G3EoAJcENagvJahTdveIZ7ktv5nQcHwzwL/WJZPhiUy8fUD0Smxfzk1/GZ7oTCwPl+2nnr7nYXlNkUCGjKNVMkRt2+lIspZPvAiMmNtaFyFflR2ay/gZWIcfReSiZVZdQuPzst8q0RwzpOT6MfJe7LfHKLyJwV9auDsqU1kAWcRGOF7p+gmGq0flkQd8xTW4aJZZU6GdJCc1ImATkfwotnN5sX3xRtWSaqrDAuACmj2fu2wtpX4iVu0vzi6h3yN+eNnnxoh7ENzux/yzzI9PjwkdIW1RviI6lqXj1t4aLM+gzi1kJk7LGXbn5V3NAmqjifYa/ufScmZQmaPbpy1vT6cuDoO9/+DXY5M+Z5YjXC2m9rUFb2z5YIj2MxyRJ6qgiaKIJLb3mdSmKXu9fKGAMXrV9cfBDkdWENmyofGtWz7SNGUN17e0OwShCraiq81Ho0AzPghntsew8jKzCM53Q5ucebDm8Bwvvnc7NJkJOG51bEw+WnvBKBt1mldzaJnrJiTS1KSSXfCBZItGWvnZiv1RDPnb1SBjc1/xhmaEmpRVb+sUu9L2ee0oMdcWb0CmO7pjmnMum4hPeRAlMAyo2XOu2X+JbCDT1OhfZ76R+FQ2RSux8KiMS4+1kS3oeKEllgy9cDdnajnIJJXIln3vQwOa3vMMRUE0FYJppH0BojPoVtkfKXJ/H5+Jwma2EiQCgggFnN22hLrA3hB48jGLAP4YjUKGerrU4EvUSyn481cSMRd8OHtb7yuvmri2kIYJscguOD+LoXZpfBcWrpletm7dN1Qh6JxoFv+/v2+n9WYpBagSYZPyYbvZy7zvSJeM0shrWtNnX0qk8Kg2WXftipZrWPfrrLCn5hVE1K5owAwzgOeDx6VQ7kTP+qIVejKZzuRn314gQA887f5AQQEvXTKVsZkKCXgwtkdYKrWySwgyJPCFaVigsdWVtkp0a+yI7RRonpzeyZVhR1SX2DeGmF5knWYTfcjr2Nk+P9OLEbE1NwSfXV9WL0D4J1vSax5I7i69rT8DPORwnt5QDsmxbBltk3myq2SPJGqiypkveo3emHqCBfWBIoiThOcoRtJabxnXlAv2noCo5Rn//zk3x4ylO0lx7xkK/I/T0CLtPWnezT7/wOgYLrKVn/fhYMrjJpFKWTlS1w+ao5TWJOc1gamJ0G3xz1tTSatbXlGiNEzY9x+IyNsio+u4wQUf1Hmt4LInB5rI5QWI3tn78JDRlQ73VpwC/Ptxq+TE28wJmOcESm4KzTLhQpmSUAeUtXcf+x9oPx7JpVZQ5j16DKhvDuEkz5ULt42O+QeEmyI1a7CfJGJ5ILW8fL9nOTcDMAl2WbAWCoCg+dNW27Wxq0Pzb0PU6xq+NNwW/pnR7RvYCX7zBUKrJOJQadwftWuOEzzv/0HFFtc1pOcjadL+4wq0S9fZfZvY8SV85femN7Rhs79HLKfTBP4TxdsVqJueK5qJ7D9+Iqwr5HSKfYxsirnqS/04num+JvdoGrBP+jU7Z+N2dxwQGuXSl9+56H7eKeNyX476AyNzoLFVzS5Zko32f+W4keryJgE1ryvWP8on+LGHahhutzQJSlNWmP9ZlOt1I1VMvyLmnBKLO6SCbc6qyy8/DHT9F3rq26vP8yPp168MWNujGQ8w2ZrDZo9gxugD1v2GgFEkjf4Nr9mtWoaGq3+1bk3VzjYq3kI1KFuZF0wKw5JoAwftsGuduPXF04wh7XfBpHbAKFmdzrSgd7I7Bue1Y7iTmzEx3VdqPbCV7qHVpO2/9uU1F40xCqAKjyHfwRwfalpqnx6FcqYCjXMSaGRHEuzKsZ2Wr96Rr8nDvM7GZJ+E3OsVfZ+LJiYsO9Jj6xagrgDQ5BBHuD+7y51ykHBvtoPKi4XbnjU9iFtNvve+xDHYoxTRSqaKI+gw1ykCmzFu+TsNpzTqRFhsofgk0HoORhf5oauzp950uhEKab8vVuu2bgoOc6buZUwIUN0iMPvU89+0wS+Tsuq00Fx8/3On7VNSfDXx/0gQNXQB30wwi23pfyKJQB6FV7jGQzS7H7Ta+HrBeFKY54M31n7y2BR0VEJcM4cVb1IzHE9p+fjeqlFvY40v9AX0PRE+DWxCwDTnRBEVREAe7jNTuDMteF8Z/De4P9SPYPjRpRsfM/AqL9UrK4IM9wQ/Er4HKmJcFnCa8HCFOkG7dEd1ncOfWnGQdKrxGPdSwlQbYNpay9NimvzlYeT/sVS7T7vOxY8Da8ubpk1Sy2Vu9kS+l2naO0ZxLne9Wo3LhTI8SF94aPeoMmDx1+u40BtpKeu7dqJw/mSnZS2J65b/SWl45gXL1pBNlyOnsXlDGlN+q57lgqerrsTdZcyevrT9MeGiC4fXZGUb7pyG458WpqRMi0nscA0Wnmaqw57ko7aVVciJM3wIVY/QlefkRt1r9gz8vvb6WhF27iqmZ/kx1LCzLnkTduP90e81JslBiqrT3Np1wiOf7F8buiV6mJ+pLBiL43Ytm9DVYtLvohy5LeHSsnxfkdtVxOSu24963dWARLxJL/UrXLvjKLOxTb0BtaEb09PESZbXmq3vB8bcHOzJZSJ/YzvbOey9DlSkcjFU0Z7k4d8i9yCpV7orWrXlbyzwae9GGz5Cdn/UTVF5emtNXBkQpliFkcQXOwcSvs/J2teZlpV04JE2cbbe0OuOk7+feDN+HfAGv7xsrqs8EvWpvNyUInnyr4Bk/RDFgOCQ3tIvjSHmLklGY+kI3WAI9nmmqU+Ns6vF4imF+C77y+ZXlDvXtufV0GiodNSqOROaj7qDv+gBFy74IPFXvaeF7vf7biQy2HD2BITsJv8etSQwCpwwGo+LlLnZE+0ssrQj1FExe6ZECnfuDbDpP49XwHio/q9o2jE5pjo3DvA9NVmHQnEtUIfg7QoudggllCUIubdZSNhJIWbxlnbbeB7UT1emxnxMM3TKG4vuy88qHFDva9ziYBqYfVvjqJCs5OpzXTWYxwrsEHduUFVuck5d45hsMUTisDdAnuemjYb7Bt1w4cebarUpkEwrIP2vOccxwEvXRwU0BPdNnRwKdny2xm+cR+3d3Zl+EbJMplENssvw+JEaiGuUGJbCZpjYNxkapyBIYzRIKq+FYMmRG7SyfSd+IDxvbXKMMS8+UiD1R4wsmn2qyZAqcJ8M6FDBaDBg4HvbeUs52RB1dKIr+pbtWOsKh9DxOlCDixqg4+8qXo/rIiST+I5nHtPi6g8vj4raaZbI4Z0yPQZzi7E4vOB53m2wqtgaqikjyJlNVkN5ELMp2+dVXgPlJgFdQdERwYZ/mTKMBSXyxeJhj+Yxb59seOYHD5NkjAxz+PimqlFmLBoeW+bQb9WzL5QZy+iraE3L7vUXKsJtLgiCMj4h3LsDJgSy5Hc+7eLLq7snqO6pRdZ8eLg2GIORHJ43Rn14arz5/no2dcZOlF9VosbwqafTBVJwWLWJxScae84xlve7RvnbHsryBkFjMReSHBuTE8lym3tm+7AanXcNvnStb1nZlJv1YGEvs9U+YAc98MSovdjnI4p+lbUZbk2ozelb1mgUUSxbHsFJ4vpKQc1BToLHljQsPxuZ2ASALB1h+hJ4QjN7GZ2sIUj8ZC9fgpppbMSk2+KqbMFYtV67CFtlH3rd8RdEw8XlU6ZB/fkJVV+QDRQ39vtmWyTB3vXL3jL3fo3bOJ0XbKRh7Vm0pWrRIdmMlh5aTkYMKo5klwV+p/GT8TMM6oeF0ci6RuRyJGIcHST+mAspX/GLuRyiPo6JrVxpvv/s5Uc/cfo3neP/+q+DZbDIepNWiIG7kqRZFaMfxYvBjIobsdd0iN4pF0jJr6Od5ETk36egxvJyUBOLo4PSr9VJMjkWftPcSxTvYY1HaAk6rWi0kxB9bzVcYZ0qO/W3WI+WvdYovBFIbm7QVKqp76kfFREQ3x3cp8KXNKJ4/lq3GuNetrqjEHihBH6BXAwCz2wSfU7+Zx569SxiYp3IPR+1Il4HjLIJoXjx799HYvc8fbfW1jqs+Lv30D1qnnS/Q70oD246Uda9z2dm+aXVp7F7sqaB1oV+l6DRcKq2XNky0SzVzO2N/W6NlmtzA3x3gKKZ8ubIJssijBwkaqAMtz/gfd96Xu+WjlREY7CToNXJoS42nuJ2FVAmkhbnGnMVzMmcmAapDPkasIuH2Mmrgys6BljZtY13P3bNoHKJiWB0GMSMQafdvyly3oyKNTBeugLXZm2Dpn7wy0HfmaFaER7we6S1UgvYe6YrMHt4DfBajt8Qu9GAxt7hwhWdvHgvAc5n7HSM0479lf8LP7yTFrEc5HaN+QSb50sgU/VhcWQD6mYLhRsgM3DWDQ0r2UsGrwnFUHmdNwl4oOLJ3EG/1LmOtWOzjW5nK/gk5+VWOEPmCVD31BDkKqHos1SKXd+E44U1P7tI3gKWUVOFC6aHAakbylLs3Dh2nCIZHP9dBt4FUVM1JTAVSDFK4ygaMRBqZDXNr54lrX20bSfTYcJdRSDzOXNnbheakouVIg2Hzano/71TyqA6Cwh/gySuc2qZV95dhqkci/VDS287tFLQoSKfqU/9Qu7ySZtcbZxePLeTeucPCs+eugobqhsWwuBAP1RSay77krjIXXbqMIsrAX+MlxSD9FK0gFJth+rafEXvFydJR15vaybP75zjEIldz2WKduBkUuSLBYTcjZ4LVAXSMzfrh8RUbKv0zjjTNgEahDxdDGM0n9VDwuzbOVweWRkI5nvUSN1RtGAmojuLELvM6UR3DtyG3LUk0MFpnzjQC1ffY7Hw0yuLWjyT29q/JnBRen1NOtdQyk69Z7VWU7GYKt+7sNdXjtw83X3f79KK7MF3Ma1dm7qAxoah7EC2UhMPIra61Bsgv8qI6gUhhY1FRpaZsWsfFb/jrDcTZMhl1sWiLKH3VG9OStjqUhj5wmqJUZNF8smkTNHqrGYIs3q87GMF3ucoc4ZSgSHu8oxiC5y/M2zg3tbrOa/6065sQqWUNOZZ+EkJW3Kz4+C74U8zC3s11ouqEToYahycky9ip+/NnjJ9+pvd1ZRHF47HgDWd6h9Z59aA5XW3TcTY8mXXpbVpfLbEvJ4VTiAqWBskJKcAu9g8Kky8pi/42ax6T+HRWRF3mQpRCC9kEpPIgMRrtVZzxLBYrygaz1ZLr3rtdlrqlcSxpqyldwtagtOrb4CmOUjeC9Edsp584U8a9CO3xkHtZ12rG0LPwcIp5inVXuPHetzuwZQ15dwQrq3+vM1zr6U5+Rpjx3oPK1ddSvWXa6Us+zFxja1nVfhi3iUPNVhKT7Y3boYCmkYpIVbDZi8dOr37yJaOGOnhuSpXGiAxR1n2CJKB/P6IxkG/15uxcVLnZPAlLL7N4Pc7cEthJfUdFbvPsmlkcVT/S7HIEZ/A2xJfVUG6pNTvvvPLIKVuET/KiPTPvFM6kIhlPwi9jlcXTi7/SwZ5Uar3NABIQjGeVflYS35eyhca1L+lguKZkvmvYQlddUdft/NFbMD5uVJjhCJahGVODX8SxWByr+5UvU87nUj6CjhOomnbSBgz9pG7NoD/MRB0tWACKQRt7AgzFoan15OzUUCK8ko8njA4WapRSUDlbuiHAIt1/lCXFOU10nVU0wHgiwjwnQeh/foVGds6ppItwSrx9N4dn6Dq40Y8/vawvf8alZKJtCCVjWW+0xZLFliienetMqhg6eyOw/sTDonlDWe/pjUrbuVYo8I6LH87xCBNtwqVYwtts9DNUnBjxtjgNXYjNXbda6HaBlFPRH+m2bhF9lOw+08ha0F5D/6i1VfrQckSv3gHzinw92sLHvDcAz8tMxqpJefnwC30JXh4Al/DAw7ErUZqP1gQkx7CuEbEhZsdCh5IXyitZM7ji5VrbF5vO7IWE0+uyApx++VHZf5XoVzRYsBWfiLm0KzHR++niBWmiKJ7vxc6qVjXS5LMX1DkNESeU9N3YKFjrSgyuuIXC2AuvDt/2DFDf0YbORKGNnn3xmoEnSkn2BEtm5cdjBbMP3892ZgJFhgICRUjSG0yC+TI6d0LERyrVqgnuOUza0wlLsr+w5D/uiYEobUHC/RtYJo5o4425fdoo2wxD2ahkMT0EOI+oWwQ9xzDo32LwkJP3Y7NUGIUXVaPoGVovqLf3aG7/0skI1BFWb80TratpP/spXzCJi0vWfTygEC4qul7FEldM690oOEZqI2ctPO6XWT7xrsFAmYHhWWHE55i8T8lHDaKOzgcsYV1m3AmfKSNX85hiow1jGtRf2zDF5tWaUjaEMgsbRXx+NiXKmSOllF812SeweOg8TBW4QPrROQAPri2QzaL90X+Trb6nCCWxn05CO8g7k+G6VkoM46mKWkZc85TYQgp2JMP6dHfy/iBVWuM+BBwBEZwTSnM7UJVxzRIvNl7QMc/IIWrcfNM3cjgFUoixkzj4EdrFH332tNRC7cAcbt8dsnQqJfiNvU1BbzDKXC45LPh42muvRv62u/82qdB2kfn2fZVRs4hmai4Ok7gwJ5mmnEet62a8JXKb2fJ3rrYOKxTasgTolD+/vKZA8PUdc0v2YgW6YvGvcGh6YSNsT8+/RzbPd5jWrMb2pMSgRazqqKnO1Y7xSV0/IXhTHzNSuEApO5eX0eLJq8Zb9YXHm+7toXb+L7fYFbg7Ph/bZSS8ZnWkBgytl4RnyQ5U4x2g+i4fNTXYKL2sgMps25l2OtkbgDNbJM4ImDHtjxhlq8tkPlEDR+C7UO4a5By7r5bOhatJdpDBpNi45Nj8jbg1GsGY8641nONfS9b2hxszAbkFz55VO7Db+++y6Da/LzlOOGOTTYbRTXSd29M2RLDMnAr0ilbXSe7HLFynPDEIcjt0v+bb4Z9H/masE5k8Wvq62TRXqXg02kvz9luDVd+rI9mGs6zjt12qFHnkW71ERnpn4/ARL+Hws9Ty6GlC+DfEnbAi4vL6q2EXm59r7Fv6GCTyUrovGUbU6RVBMR+hIb1bi43HAqo8ZjGeohbNuqHjTuhF9DQlkcxZ0tFFHzX7cBlLZdtJn1+pDv6iM9bBc4/VpKvkmuMyIFXbm2Y/in2pdb5WabyAz24Ygod8aMH582VRvMrrX4addfOY7UOnMU8s7ZFs3Q8YE+RrDepHLnB4v6d5LSXv7Lep8ZqOXH98uSIr6ezXI/Cd2awS3bPWSOMOAzJ1bYYeT3oocvOcP/3Vd7E6IO2IFlrTEbNH6F3T40SnKw875M+9PjSjTfvTvh3fh1j3fApTXt11yShq0afGkq717uJVzECF/gc9FeDTCmVuZHN0cmVhbQplbmRvYmoKMTUgMCBvYmoKPDwKL1Byb2R1Y2VyIChwZGZUZVgtMS40MC4yMikKL0NyZWF0b3IgKFRlWCkKL0NyZWF0aW9uRGF0ZSAoRDoyMDI2MDEyMjE0NDI1MyswOCcwMCcpCi9Nb2REYXRlIChEOjIwMjYwMTIyMTQ0MjUzKzA4JzAwJykKL1RyYXBwZWQgL0ZhbHNlCi9QVEVYLkZ1bGxiYW5uZXIgKFRoaXMgaXMgcGRmVGVYLCBWZXJzaW9uIDMuMTQxNTkyNjUzLTIuNi0xLjQwLjIyIChUZVggTGl2ZSAyMDIxKSBrcGF0aHNlYSB2ZXJzaW9uIDYuMy4zKQo+PgplbmRvYmoKNiAwIG9iago8PAovVHlwZSAvT2JqU3RtCi9OIDEwCi9GaXJzdCA2NQovTGVuZ3RoIDc1NyAgICAgICAKL0ZpbHRlciAvRmxhdGVEZWNvZGUKPj4Kc3RyZWFtCnjapVXbbtNAEH33V8wjCNV7v0lRpSYhooJC1AaoFOXBpEsaKW2C7Ujl75nZdZtLqQAhxZvxzJkzl91ZS+AgIFjwICyHAMYqEAK8xz/88RBAoyTRAkIbBQ6EcRZldBC+6PUKNvm5icDG1SIWbLC+b+N924BC5suCXcZmva3nscEwSXERb5ZVf/0AU44KE0wpkc5rUfowK5ClRneMQuDT08Q/Qk7o9YCNpMRs0IKioIxIRBAb1+v5VWxhimkMR8Am8aGFGflPlfdlgLwazsE5V3qQaVVKlaqTyfa3j9zjyGtm1U6WsluzxhmMyD1GcTJprcI8rOelBWskIbwuXcIpK0oBRhAie1tpIAjb2Ttd8u3YlSUPY0iT+QmHj+DyKTw+VhD1rtBjaa8FiUxrXeoDWXGSd4iugVkrdxw+tTRjduiMUEGUblZM3S6a4lRsytKXBpygZnhEo1Z5LMhqhZk7b5HVK4GrVoEYjUa81wE1uSXBcUR6rojHUmutxoaE1C6TcNhaCcZTPdYTwnjKNqQKvaQMTN4atFrYPzp5FZzzvOi0LQZ9sEMy0LarxCg5smibOucpU+0Q5ywilKacNe5FxmEXg6fIDnPlnDjSYTCcatbaok0bQXrrqX90QGZ7I0eDMYzNvF5u2nWdB+VjdYeWT/3J8PPgzeDi4lxwNKyqRQM6I/pp+k6UhBOZjopOBwWH76yZ0/DZgMhBtXkXl4tbfPWqYBSGbCeCjOdttVrOz+4Xq4gaVFy18e4LnsGCXXdeWgkkua1qmstX7IpN2KKOVRtr1r7OiYyW6C74/qj/qa7r8WD8doh1Xb5UluaPZfHwP2Xxx6JseLGoMYs/ttWKbejSWsXvbZZqwrL6oEr5+yoxyPZbm15Jiez9qonpwnu2hwdNoUs63aejZd20lBLeFgX7UHUvQtiCfV3etLcN3ur/HPuoz0eh1XFozQ9C66fQ/nlo+k409KHYYiAM+n5508A09Wd2iBxUuB/rRZFddt+EXycYmqkKZW5kc3RyZWFtCmVuZG9iagoxNiAwIG9iago8PAovVHlwZSAvWFJlZgovSW5kZXggWzAgMTddCi9TaXplIDE3Ci9XIFsxIDIgMV0KL1Jvb3QgMTQgMCBSCi9JbmZvIDE1IDAgUgovSUQgWzxGRTQxNkU0Q0MxQUEwMTVDQTlBNURFRTNEODMzMjk3ND4gPEZFNDE2RTRDQzFBQTAxNUNBOUE1REVFM0Q4MzMyOTc0Pl0KL0xlbmd0aCA2MCAgICAgICAgCi9GaWx0ZXIgL0ZsYXRlRGVjb2RlCj4+CnN0cmVhbQp42mNgYPjPxMDGCMQMjAz8DECaDYjZGV2aQGwOIGYCYmZGRk4Qn4VRnhtEswIxJ6NzLQOj+xMGAIHSBHcKZW5kc3RyZWFtCmVuZG9iagpzdGFydHhyZWYKMTg0MDQKJSVFT0YK</data>
</formulas>
</file>

<file path=customXml/itemProps1.xml><?xml version="1.0" encoding="utf-8"?>
<ds:datastoreItem xmlns:ds="http://schemas.openxmlformats.org/officeDocument/2006/customXml" ds:itemID="{1DA9EFC1-802E-1644-878B-6B18D13FB9CC}">
  <ds:schemaRefs>
    <ds:schemaRef ds:uri="https://texslide.com/formulas/2023/ma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3495</TotalTime>
  <Words>901</Words>
  <Application>Microsoft Office PowerPoint</Application>
  <PresentationFormat>Widescreen</PresentationFormat>
  <Paragraphs>241</Paragraphs>
  <Slides>53</Slides>
  <Notes>52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53</vt:i4>
      </vt:variant>
    </vt:vector>
  </HeadingPairs>
  <TitlesOfParts>
    <vt:vector size="71" baseType="lpstr">
      <vt:lpstr>STZhongsong</vt:lpstr>
      <vt:lpstr>STZhongsong</vt:lpstr>
      <vt:lpstr>Arial</vt:lpstr>
      <vt:lpstr>Cambria Math</vt:lpstr>
      <vt:lpstr>Century Gothic</vt:lpstr>
      <vt:lpstr>Gill Sans MT</vt:lpstr>
      <vt:lpstr>Symbol</vt:lpstr>
      <vt:lpstr>Times New Roman</vt:lpstr>
      <vt:lpstr>Wingdings</vt:lpstr>
      <vt:lpstr>Wingdings 3</vt:lpstr>
      <vt:lpstr>Ion</vt:lpstr>
      <vt:lpstr>Ion</vt:lpstr>
      <vt:lpstr>Ion</vt:lpstr>
      <vt:lpstr>Ion</vt:lpstr>
      <vt:lpstr>Ion</vt:lpstr>
      <vt:lpstr>Ion</vt:lpstr>
      <vt:lpstr>Ion</vt:lpstr>
      <vt:lpstr>Ion</vt:lpstr>
      <vt:lpstr>生物统计和生物信息引论  Lecture 9   Longitudinal Data Analysis     </vt:lpstr>
      <vt:lpstr>Example: Reaction Time in Sleep Study</vt:lpstr>
      <vt:lpstr>Example: Reaction Time in Sleep Study</vt:lpstr>
      <vt:lpstr>Another visualization</vt:lpstr>
      <vt:lpstr>What is Longitudinal Data</vt:lpstr>
      <vt:lpstr>Key Features</vt:lpstr>
      <vt:lpstr>Naïve Approach: Linear Regression</vt:lpstr>
      <vt:lpstr>Intercept only</vt:lpstr>
      <vt:lpstr>Linear Mixed Models</vt:lpstr>
      <vt:lpstr>Linear Mixed Models</vt:lpstr>
      <vt:lpstr>Random Intercept Linear Mixed Model</vt:lpstr>
      <vt:lpstr>Example: Random Intercept (1)</vt:lpstr>
      <vt:lpstr>Example: Random Intercept (2)</vt:lpstr>
      <vt:lpstr>Example: Random Intercept (2)</vt:lpstr>
      <vt:lpstr>Random Intercept and Random Slope</vt:lpstr>
      <vt:lpstr>Example: Random Intercept and Slope</vt:lpstr>
      <vt:lpstr>Example: Random Intercept and Slope</vt:lpstr>
      <vt:lpstr>Comparing Two Models</vt:lpstr>
      <vt:lpstr>Comparing Two Models</vt:lpstr>
      <vt:lpstr> Comparing Mixed effects vs. No-pooling </vt:lpstr>
      <vt:lpstr>Hierarchical Model: Multilevel Model</vt:lpstr>
      <vt:lpstr>Example: Smoking Prevention and Cessation Study</vt:lpstr>
      <vt:lpstr>Example: Smoking Prevention and Cessation Study</vt:lpstr>
      <vt:lpstr>Matrix Notation for LMMs</vt:lpstr>
      <vt:lpstr>Matrix Notation for LMMs</vt:lpstr>
      <vt:lpstr>Estimation of β</vt:lpstr>
      <vt:lpstr>Inference of β, H_0:Lβ=0</vt:lpstr>
      <vt:lpstr>Recall the Results</vt:lpstr>
      <vt:lpstr>Estimation of V</vt:lpstr>
      <vt:lpstr>Disadvantages of ML estimation of V</vt:lpstr>
      <vt:lpstr>Restrictive ML (REML) in Linear Regression</vt:lpstr>
      <vt:lpstr>Restrictive ML (REML) in Linear Regression</vt:lpstr>
      <vt:lpstr>REML in LMM</vt:lpstr>
      <vt:lpstr>Comparing REML and ML</vt:lpstr>
      <vt:lpstr>Estimation of u_i: BLUP</vt:lpstr>
      <vt:lpstr>Example: Reaction Time in Sleep Study</vt:lpstr>
      <vt:lpstr>BLUP and BLUE</vt:lpstr>
      <vt:lpstr>Generalized Linear Mixed Models</vt:lpstr>
      <vt:lpstr>Why GLMM?</vt:lpstr>
      <vt:lpstr>Example: CBPP</vt:lpstr>
      <vt:lpstr>Binary Data and Count Data</vt:lpstr>
      <vt:lpstr>Logistic Mixed Model for CBPP</vt:lpstr>
      <vt:lpstr>Example: Seizure Counts for Epileptics </vt:lpstr>
      <vt:lpstr>Poisson Mixed Model for epil</vt:lpstr>
      <vt:lpstr>Introduction to Missing Data</vt:lpstr>
      <vt:lpstr>Analysis of Missing Data</vt:lpstr>
      <vt:lpstr>Example: Hedeker and Gibbons (1997)</vt:lpstr>
      <vt:lpstr>Example: Hedeker and Gibbons (1997)</vt:lpstr>
      <vt:lpstr>Missing Data Mechanisms</vt:lpstr>
      <vt:lpstr>Missing Data Mechanisms</vt:lpstr>
      <vt:lpstr>Likelihood-Based Mixed Models</vt:lpstr>
      <vt:lpstr>Likelihood-Based Mixed Models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</dc:title>
  <dc:subject/>
  <dc:creator>Deng</dc:creator>
  <dc:description/>
  <cp:lastModifiedBy>Jianqiao Wang</cp:lastModifiedBy>
  <cp:revision>477</cp:revision>
  <dcterms:created xsi:type="dcterms:W3CDTF">2020-06-29T14:27:43Z</dcterms:created>
  <dcterms:modified xsi:type="dcterms:W3CDTF">2026-04-21T09:21:57Z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amble">
    <vt:lpwstr>\def\pgfsysdriver{pgfsys-dvisvgm.def}
\usepackage{amsmath}
\usepackage{amssymb}
\usepackage{ifxetex}
% Uncommenting this will make compilation slightly slower
%\ifxetex
%    \usepackage{xeCJK}
%\fi
</vt:lpwstr>
  </property>
  <property fmtid="{D5CDD505-2E9C-101B-9397-08002B2CF9AE}" pid="4" name="PresentationFormat">
    <vt:lpwstr>宽屏</vt:lpwstr>
  </property>
  <property fmtid="{D5CDD505-2E9C-101B-9397-08002B2CF9AE}" pid="5" name="Slides">
    <vt:i4>17</vt:i4>
  </property>
</Properties>
</file>