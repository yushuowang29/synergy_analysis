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7.xml" ContentType="application/vnd.openxmlformats-officedocument.presentationml.tags+xml"/>
  <Override PartName="/ppt/notesSlides/notesSlide36.xml" ContentType="application/vnd.openxmlformats-officedocument.presentationml.notesSlide+xml"/>
  <Override PartName="/ppt/tags/tag8.xml" ContentType="application/vnd.openxmlformats-officedocument.presentationml.tags+xml"/>
  <Override PartName="/ppt/notesSlides/notesSlide37.xml" ContentType="application/vnd.openxmlformats-officedocument.presentationml.notesSlide+xml"/>
  <Override PartName="/ppt/tags/tag9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44"/>
  </p:notesMasterIdLst>
  <p:sldIdLst>
    <p:sldId id="256" r:id="rId3"/>
    <p:sldId id="261" r:id="rId4"/>
    <p:sldId id="262" r:id="rId5"/>
    <p:sldId id="263" r:id="rId6"/>
    <p:sldId id="264" r:id="rId7"/>
    <p:sldId id="265" r:id="rId8"/>
    <p:sldId id="269" r:id="rId9"/>
    <p:sldId id="275" r:id="rId10"/>
    <p:sldId id="276" r:id="rId11"/>
    <p:sldId id="277" r:id="rId12"/>
    <p:sldId id="278" r:id="rId13"/>
    <p:sldId id="280" r:id="rId14"/>
    <p:sldId id="279" r:id="rId15"/>
    <p:sldId id="281" r:id="rId16"/>
    <p:sldId id="284" r:id="rId17"/>
    <p:sldId id="282" r:id="rId18"/>
    <p:sldId id="283" r:id="rId19"/>
    <p:sldId id="298" r:id="rId20"/>
    <p:sldId id="267" r:id="rId21"/>
    <p:sldId id="266" r:id="rId22"/>
    <p:sldId id="268" r:id="rId23"/>
    <p:sldId id="270" r:id="rId24"/>
    <p:sldId id="271" r:id="rId25"/>
    <p:sldId id="272" r:id="rId26"/>
    <p:sldId id="286" r:id="rId27"/>
    <p:sldId id="285" r:id="rId28"/>
    <p:sldId id="28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74CC68F-327B-674B-8B30-935AE1C738EE}">
          <p14:sldIdLst>
            <p14:sldId id="256"/>
            <p14:sldId id="261"/>
            <p14:sldId id="262"/>
            <p14:sldId id="263"/>
            <p14:sldId id="264"/>
            <p14:sldId id="265"/>
            <p14:sldId id="269"/>
            <p14:sldId id="275"/>
            <p14:sldId id="276"/>
            <p14:sldId id="277"/>
            <p14:sldId id="278"/>
            <p14:sldId id="280"/>
            <p14:sldId id="279"/>
            <p14:sldId id="281"/>
            <p14:sldId id="284"/>
            <p14:sldId id="282"/>
            <p14:sldId id="283"/>
            <p14:sldId id="298"/>
            <p14:sldId id="267"/>
            <p14:sldId id="266"/>
            <p14:sldId id="268"/>
            <p14:sldId id="270"/>
            <p14:sldId id="271"/>
            <p14:sldId id="272"/>
            <p14:sldId id="286"/>
            <p14:sldId id="285"/>
            <p14:sldId id="28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/>
    <p:restoredTop sz="94694"/>
  </p:normalViewPr>
  <p:slideViewPr>
    <p:cSldViewPr snapToGrid="0">
      <p:cViewPr varScale="1">
        <p:scale>
          <a:sx n="100" d="100"/>
          <a:sy n="100" d="100"/>
        </p:scale>
        <p:origin x="62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CN" sz="1800" b="0" u="none" strike="noStrike">
                <a:solidFill>
                  <a:schemeClr val="dk1"/>
                </a:solidFill>
                <a:uFillTx/>
                <a:latin typeface="Century Gothic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CN" sz="1600" b="0" u="none" strike="noStrike">
                <a:solidFill>
                  <a:srgbClr val="000000"/>
                </a:solidFill>
                <a:uFillTx/>
                <a:latin typeface="Arial"/>
              </a:rPr>
              <a:t>点击编辑备注格式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51B4EE-1874-43AA-A316-2F5BCD9BB07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B899-B7FC-CAA5-0FAD-2CE888D4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7ED87E3-8AF4-0B36-E6E7-249DF0CD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A08354B-E98D-A579-2F29-04FE72DE08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A94B114-2A4E-6C35-55B3-32735A93B8A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356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9CA5-8955-9136-9713-573FB2C6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A06708CA-1D92-10E6-972D-0B5513637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AE4FD8D-5E61-EECB-D676-D547CD8C58C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83D727DA-0612-3652-37F2-DE6FD71636DB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8892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CBD1-2462-C725-A007-3BAB0AF9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15ADB94B-5D71-A20E-45A2-8EE243DFA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BD9F7E9-CABE-E92A-F72D-944E62E7811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03618FE-35B8-E099-AFC3-E439862FD42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3801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D4A2-240D-9A05-A1B9-8D96F5C3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4C64D7D-38B3-C806-9E01-BB2B642E6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AB7E319-0C60-C306-6B1B-B677D70792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C529F78-D5BC-8D8F-CF10-FCDB5358500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8313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076A-C1E4-FAB4-374B-BF5A3519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5652E29-104B-2664-0750-0AECB4E4C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179D988-F23F-71D4-B560-EF693F5F0FE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13AE0222-484F-84B1-0337-632F0E12A7A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3413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226F-AACB-C838-4515-B4CF567D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051FF0FC-D4DC-D3D7-58CC-4552ADF2D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533CED5-DAE9-B6F6-0A3A-EEA535C3CB3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48126AE-55FD-54E4-D572-51A22512DEC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4576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941D-93DB-33AB-B7CC-839ED486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3444670-A1A9-02D4-A534-B086AE84B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01D5289-9DAD-DA01-D164-F093BBD989B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F04161B-CF24-F303-C331-9621FE5872EB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163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1CB9-DB35-33C4-4F41-37CEBEB4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F4B09C7-0D3D-A1A7-00A7-41DEB2282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CEC430A-614C-21C1-E934-50A9BCF6BCC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E4EA346-2FEA-3242-8085-0F0CD040E32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1945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547A-D2AF-ABB3-0CE6-17F5E2D5C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671B7819-A462-7829-813D-A55F7BF05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0FD74B6-3232-247A-E8ED-EB7946A20A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7CE7A83-2269-231C-AFFC-491994D70C2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12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7FDD-E517-6606-D852-3A8AC589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C97A2FC-F527-387E-84BA-47181219E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73CEDBF-D602-115A-D7DA-224F968F3CF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29AAF0C-851E-211B-71BC-EEE88442433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4956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25CD-580B-0DBE-6CDD-989FBD46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2E06EDC-EA44-36D4-E7EC-335F21C95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DF28AFA-B4A7-4793-F0D0-667ABA70D71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EEB57B7-B0E4-11E5-2B70-6A8DAF68607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2328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C64-C198-1C02-2DBB-A57A7DC4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1E8CF96-E77C-1AF6-6C2C-C96999BA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36BA512-6163-9C1F-E2DE-714C8C7451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9905397-E96A-0ECE-5383-B368CB76997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5960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38698-B780-9F44-B2A9-4EE471A0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BD6C769C-B853-4AFC-88D0-E2F0E3EC2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441502A-6C88-938F-A691-1AA8F662FE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72D0270-100C-73F6-8E9E-4875CF3C8743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28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11CA-54FA-0BD9-3B3F-99D52C95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50C782A-65B4-88BE-69E2-2F415AE91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1BC85DB-D886-1ED1-3F27-03D90CD4712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B872787-15E8-9986-51E0-F0529742C316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113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A58A-1502-C2B1-BE43-E4B39D91A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F0FDCFB-D74C-9E75-3D13-27C18B2A9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AEF0D68-E245-4367-4756-3FAC386385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1E38E799-610B-75EC-F0EC-FCC73947ACC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7880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7CE4-C90A-0ECD-B40E-C3741F52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595EB7CE-99BD-FBE4-B1B7-A00C3D494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23D681D-B36D-29D1-B803-0C7B77E3B2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A15808EB-C9F4-2C10-51AF-D13689A1AA4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2235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5CD1-2989-34F2-7179-421CCA1F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7165D29-890C-2F6F-EDFC-9EF57AB08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DA250559-D8E3-4797-2287-B482D17BA8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157D12E1-403D-0CF1-07C3-928E306B0985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8707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7E8D-12DC-61C9-1FC6-F870D4CC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D1D80DF1-BA1D-0343-F21C-69AF91DC0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9A02A76-9ADF-BF2C-49A8-E50CA48778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C844334-33D8-3087-99D9-E4CB2E927E71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377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E90E-12E0-2173-8CEF-E9ABE42D6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307AC9D-869B-7381-2D8E-475C89B6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95BA8CA-8384-BBC0-CB59-A333CAE487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+mn-lt"/>
              </a:rPr>
              <a:t>https://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+mn-lt"/>
              </a:rPr>
              <a:t>statomics.github.io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+mn-lt"/>
              </a:rPr>
              <a:t>/SGA/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+mn-lt"/>
              </a:rPr>
              <a:t>sequencing_intro.html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A15C22E-84AC-4F7B-FE80-7463FE3A88A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4759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F156-F0B5-8CEC-0DB3-9F8B0063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B8B35502-C0F6-1073-882B-37979B877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E111BD5-A25F-48BB-9774-4181D1B4A6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644637C4-F011-966C-D9DC-5F4D5E245C1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8971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E3A0-6827-DDCA-BE62-DFDECC9C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3BF1E7E-F33E-E4C8-404B-87C365C15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F9E690C5-237A-C15A-8053-C4C5308CB7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5EA7CE3-D688-C473-08F3-B6DA334F9E7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71522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6F55-F5CE-ADBE-0A81-805EA436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85046D7-DC85-01C4-4712-F14CB7DE9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ED74C652-4C84-2336-26ED-F3EA1E80B5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5CB413E0-FC04-3213-F063-56A1426B064B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32560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37736-C2AE-740C-2061-0CD6DCEA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4A3EF06-9053-CB50-F96E-464DEC6E6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E8F1982-3261-5A59-C695-A472FDD93F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0D9921E-3EBA-5FDA-6160-DCDA0E9FA8D1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734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FD3B-E422-6EC2-C268-F19A6A16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719F19E5-A2B3-2497-82C6-2D26A836F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CBD5DF8-4691-46E7-2391-F9C3DEF039A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DAF59A22-C543-61E2-86C1-642387747D0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0566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85F1-1DF0-234D-4C69-99C7C780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7844D65-0AE5-DFCB-EE4F-252FD42B4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2B755A7-8097-2162-F501-4840DA7985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C9310B6-6B68-05C5-7486-6590D0B4C5A9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6481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4791-1470-DF57-25B9-2E7133ED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2331E26B-5249-6E71-3D46-B8500DE97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E200535-12C8-DCC6-EBAE-70ED9BA3C8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C7FED32-8E0D-194B-7351-5A7EFEC1D10E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72171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D8DC-40ED-627D-9860-85B70A10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DE9D450-529A-D85A-30AE-ECD9AEE7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EF99D97-13DC-7684-0DF7-D9FFAD54F9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254EC7A1-0B43-3E4C-14B5-02CE7369C2E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99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9521-59B5-7212-1A36-B1642AAD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C87A7A84-58A5-8F6C-39B8-B6C8CD0BA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295354C2-41A2-E217-BEB5-4387FBE8D9D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A0489C1-1F1C-872C-3A15-664CBA656EF1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43649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FDCF-327C-86F5-77D2-958BD9F3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EF6BA496-E3B9-30E4-920A-54AD0EE7E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0AC20009-C9A0-3BA8-F30C-CB41B07137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EB12DAC9-5E27-0426-34A7-E1C6CFD6ECA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1262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C0433-667C-C3B6-4F3F-AF3C9604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F41225D5-F5C4-45C2-043C-6CF0DEF51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7E87B8A-935E-E95B-F56A-52B1F83293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1B745C3-8BB2-9C4A-D44C-E1B8698AFA0D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2474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B899-B7FC-CAA5-0FAD-2CE888D4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7ED87E3-8AF4-0B36-E6E7-249DF0CD1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A08354B-E98D-A579-2F29-04FE72DE08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A94B114-2A4E-6C35-55B3-32735A93B8AF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356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D4A2-240D-9A05-A1B9-8D96F5C3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4C64D7D-38B3-C806-9E01-BB2B642E6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3AB7E319-0C60-C306-6B1B-B677D70792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4C529F78-D5BC-8D8F-CF10-FCDB5358500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83137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3608-207D-4810-3348-B38DBD50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83D7CBE-E61F-56CB-589D-27C7399EE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517590B-1E69-1392-3FDC-B09A7D9843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08290393-AF0D-99C1-B924-8C7DFC0B2D98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46698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6E5B-64EF-F3DF-B6D6-9FD8725D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54DBE7C-6AA9-9AD5-CA2D-1A6DF90E5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361956F-3E35-FAD2-2ABA-31A3FCD85C8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6FCAFA2E-78D0-82F6-AE08-12303DF1AE7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3629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A606-4C6E-DA1A-5199-6E86F952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911B9FE4-256E-311C-6862-AD5AD30B3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4FF3032-15FA-5DF0-4BCD-213E2485C70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B4DC9F3-0A6B-4F4B-3F35-9BC61A659B24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8816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72D0-1B14-5500-3618-2B878DCF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83EE5FA8-05CA-C7E7-1C93-E823D2A5B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6A846A95-9175-3B25-DFD4-15B6948514C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31716664-6B92-9C0C-D933-578DD342463A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10682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02035-C8D6-F054-5568-9637EBE8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DA532A8-B2DD-E008-A16B-0C99A7FDA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8AEF1C62-28E9-C45B-A2DA-16F0C7726CB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B84B880A-AE56-5593-C7B7-73235759E4F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0433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5A3E-7368-3366-47AF-711D4D52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C2341DD4-2D75-C6D0-4745-D243EAC48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A2ECF897-FB3C-D60D-8D5A-9AC2471EEA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6B84B4A3-1E0A-8491-F707-F2467BBBFE0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75880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3175F-3D5F-AEC0-9732-A834B753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3FA56BD1-C371-42B7-D577-A8E1B7A15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C317D4D0-0412-7327-8AD5-9B98C2D372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7C810461-DA7C-EC66-FA17-46B54D43EDE7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70566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5E83-BD2E-1E52-FC2B-986DF84C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581D2FD6-4208-48F9-608B-5947CA3AB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96E02517-A8A4-E2E9-2C05-AFA211524D3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>
            <a:extLst>
              <a:ext uri="{FF2B5EF4-FFF2-40B4-BE49-F238E27FC236}">
                <a16:creationId xmlns:a16="http://schemas.microsoft.com/office/drawing/2014/main" id="{C8044D48-F8D9-659B-5A8F-B4AA68DF73E2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731B1D-1685-470C-9B60-23670902375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192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631E69-FE8D-40A5-83BC-7A40A0579D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62696B16-10D3-9E3A-6BB0-889C587922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C20347A0-056D-5BA9-8169-23AC579A1A2D}"/>
              </a:ext>
            </a:extLst>
          </p:cNvPr>
          <p:cNvSpPr>
            <a:spLocks noGrp="1"/>
          </p:cNvSpPr>
          <p:nvPr>
            <p:ph type="title" idx="11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6F98EF3-F25C-4491-8E47-9A859931980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13ABBB5C-CA96-CACC-C3DC-87C591D2C8A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Click to edit Master title style</a:t>
            </a: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FA9D1A3-8910-8B0A-7CB7-D58CA93190A1}"/>
              </a:ext>
            </a:extLst>
          </p:cNvPr>
          <p:cNvSpPr>
            <a:spLocks noGrp="1"/>
          </p:cNvSpPr>
          <p:nvPr>
            <p:ph hasCustomPrompt="1"/>
          </p:nvPr>
        </p:nvSpPr>
        <p:spPr>
          <a:xfrm>
            <a:off x="646200" y="1447920"/>
            <a:ext cx="940356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Click to edit Master text styles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4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Second level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Third level</a:t>
            </a:r>
          </a:p>
          <a:p>
            <a:pPr marL="1714680" lvl="3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Fourth level</a:t>
            </a:r>
          </a:p>
          <a:p>
            <a:pPr marL="2171880" lvl="4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Fifth level</a:t>
            </a:r>
            <a:endParaRPr lang="en-US" sz="1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/>
          <p:cNvPicPr/>
          <p:nvPr/>
        </p:nvPicPr>
        <p:blipFill>
          <a:blip r:embed="rId4"/>
          <a:srcRect l="3610"/>
          <a:stretch/>
        </p:blipFill>
        <p:spPr>
          <a:xfrm>
            <a:off x="1244160" y="2438280"/>
            <a:ext cx="4036680" cy="41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Picture 6"/>
          <p:cNvPicPr/>
          <p:nvPr/>
        </p:nvPicPr>
        <p:blipFill>
          <a:blip r:embed="rId5"/>
          <a:srcRect l="35647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F2EFF3">
                  <a:alpha val="7000"/>
                </a:srgbClr>
              </a:gs>
              <a:gs pos="36000">
                <a:srgbClr val="F2EFF3">
                  <a:alpha val="6000"/>
                </a:srgbClr>
              </a:gs>
              <a:gs pos="69000">
                <a:srgbClr val="F2EF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pic>
        <p:nvPicPr>
          <p:cNvPr id="3" name="Picture 8"/>
          <p:cNvPicPr/>
          <p:nvPr/>
        </p:nvPicPr>
        <p:blipFill>
          <a:blip r:embed="rId6"/>
          <a:srcRect t="28812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chemeClr val="dk1">
                    <a:tint val="75000"/>
                    <a:alpha val="60000"/>
                  </a:schemeClr>
                </a:solidFill>
                <a:uFillTx/>
                <a:latin typeface="Century Gothic"/>
              </a:rPr>
              <a:t> </a:t>
            </a:r>
            <a:endParaRPr lang="en-US" sz="11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0831AF0-FBC4-4993-B694-9A2B661C5DFC}" type="slidenum">
              <a:rPr lang="en-US" sz="28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entury Gothic"/>
              </a:rPr>
              <a:t>‹#›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86A4C5-1539-7816-FE3D-F9A00E28456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571" y="6324962"/>
            <a:ext cx="3653499" cy="4749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02B91D2-A610-0EDB-D9CA-D816AFFE4754}"/>
              </a:ext>
            </a:extLst>
          </p:cNvPr>
          <p:cNvSpPr txBox="1"/>
          <p:nvPr userDrawn="1"/>
        </p:nvSpPr>
        <p:spPr>
          <a:xfrm>
            <a:off x="646200" y="406400"/>
            <a:ext cx="9403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000" kern="1200">
          <a:solidFill>
            <a:srgbClr val="94209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1800" kern="1200">
          <a:solidFill>
            <a:srgbClr val="94209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l"/>
        <a:defRPr sz="2200" kern="1200">
          <a:solidFill>
            <a:srgbClr val="94209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utoencod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hivamkc3/linear-autoencoder-using-pytorch-part-0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hivamkc3/linear-autoencoder-using-pytorch-part-0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briziomusacchio.com/teaching/teaching_dimensionality_reduction_in_neuroscience/10_autoencoder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scaler.com/topics/deep-learning/denoising-autoencode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0.png"/><Relationship Id="rId5" Type="http://schemas.openxmlformats.org/officeDocument/2006/relationships/hyperlink" Target="https://en.wikipedia.org/wiki/Variational_autoencoder" TargetMode="External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28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neuro.neuromatch.io/tutorials/Bonus_Autoencoders/student/Bonus_Tutorial1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neuro.neuromatch.io/tutorials/Bonus_Autoencoders/student/Bonus_Tutorial1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2.6114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stanford.edu/class/cs294a/sparseAutoencoder.pdf" TargetMode="External"/><Relationship Id="rId5" Type="http://schemas.openxmlformats.org/officeDocument/2006/relationships/hyperlink" Target="https://arxiv.org/abs/1711.00937" TargetMode="External"/><Relationship Id="rId4" Type="http://schemas.openxmlformats.org/officeDocument/2006/relationships/hyperlink" Target="https://arxiv.org/abs/1906.02691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-best-practices.or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5/" TargetMode="External"/><Relationship Id="rId7" Type="http://schemas.openxmlformats.org/officeDocument/2006/relationships/hyperlink" Target="https://cs336.stanford.edu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stanford.edu/class/cs224n/" TargetMode="External"/><Relationship Id="rId5" Type="http://schemas.openxmlformats.org/officeDocument/2006/relationships/hyperlink" Target="https://github.com/datawhalechina/happy-llm" TargetMode="External"/><Relationship Id="rId4" Type="http://schemas.openxmlformats.org/officeDocument/2006/relationships/hyperlink" Target="https://arxiv.org/abs/1706.03762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keagif.com/gif/ink-drip-in-water-stock-footage-red-toobstock-free-stock-video-IR7ZXe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7.emf"/><Relationship Id="rId5" Type="http://schemas.openxmlformats.org/officeDocument/2006/relationships/image" Target="../media/image56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9.emf"/><Relationship Id="rId5" Type="http://schemas.openxmlformats.org/officeDocument/2006/relationships/image" Target="../media/image58.png"/><Relationship Id="rId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NULL"/><Relationship Id="rId9" Type="http://schemas.openxmlformats.org/officeDocument/2006/relationships/image" Target="../media/image6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 idx="11"/>
          </p:nvPr>
        </p:nvSpPr>
        <p:spPr>
          <a:xfrm>
            <a:off x="1473480" y="1063800"/>
            <a:ext cx="9244800" cy="500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CN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生物统计和生物信息引论</a:t>
            </a:r>
            <a:br>
              <a:rPr sz="3600" dirty="0"/>
            </a:br>
            <a:br>
              <a:rPr sz="3600" dirty="0"/>
            </a:br>
            <a:r>
              <a:rPr 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Lecture 11 </a:t>
            </a:r>
            <a:br>
              <a:rPr sz="3600" dirty="0"/>
            </a:br>
            <a:br>
              <a:rPr sz="3600" dirty="0"/>
            </a:br>
            <a:r>
              <a:rPr lang="zh-CN" altLang="en-US" sz="3600" dirty="0">
                <a:solidFill>
                  <a:schemeClr val="dk2"/>
                </a:solidFill>
                <a:latin typeface="华文中宋"/>
                <a:ea typeface="华文中宋"/>
              </a:rPr>
              <a:t>生成</a:t>
            </a:r>
            <a:r>
              <a:rPr lang="zh-CN" altLang="en-US" sz="36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模型</a:t>
            </a:r>
            <a:br>
              <a:rPr lang="en-US" sz="3100" dirty="0"/>
            </a:br>
            <a:br>
              <a:rPr lang="en-US" sz="3100" dirty="0"/>
            </a:br>
            <a:br>
              <a:rPr sz="4400" dirty="0"/>
            </a:br>
            <a:br>
              <a:rPr sz="2400" dirty="0"/>
            </a:br>
            <a:endParaRPr lang="en-US" sz="36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3" name="文本框 5"/>
          <p:cNvSpPr/>
          <p:nvPr/>
        </p:nvSpPr>
        <p:spPr>
          <a:xfrm>
            <a:off x="3366000" y="4699440"/>
            <a:ext cx="545940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王健桥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" sz="2800" b="0" u="none" strike="noStrike">
                <a:solidFill>
                  <a:schemeClr val="dk2"/>
                </a:solidFill>
                <a:uFillTx/>
                <a:latin typeface="华文中宋"/>
                <a:ea typeface="华文中宋"/>
              </a:rPr>
              <a:t> jianqw@mail.tsinghua.edu.cn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8B8B8B"/>
                </a:solidFill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DA314AF9-3C40-4DB2-885B-07A833D88667}" type="slidenum">
              <a:rPr lang="en-US" sz="2800" b="0" u="none" strike="noStrike">
                <a:solidFill>
                  <a:srgbClr val="8B8B8B"/>
                </a:solidFill>
                <a:uFillTx/>
                <a:latin typeface="Century Gothic"/>
              </a:rPr>
              <a:t>1</a:t>
            </a:fld>
            <a:endParaRPr lang="en-US" sz="2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:p15="http://schemas.microsoft.com/office/powerpoint/2012/main"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82E1-2DED-DD3F-C5CD-CCEBB28D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C8C4ED51-853A-D28F-8309-23749C8744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Generative</a:t>
            </a:r>
            <a:r>
              <a:rPr lang="zh-CN" altLang="en-US" sz="3200" b="1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Models</a:t>
            </a:r>
            <a:r>
              <a:rPr lang="zh-CN" altLang="en-US" sz="3200" b="1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Overview</a:t>
            </a: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14B2F32-929F-D332-E78E-6F2D2ED8236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27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E929-83BA-C2D2-F3F3-01D50215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0D8F350-50B9-D194-E330-3703ED302E6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What is generative model</a:t>
            </a:r>
            <a:r>
              <a:rPr lang="zh-CN" alt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？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DE8F4688-B3B5-9D06-F4D1-F5F273B7EEB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5411030"/>
            <a:ext cx="9403560" cy="116364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schemeClr val="dk1"/>
                </a:solidFill>
                <a:latin typeface="华文中宋"/>
                <a:ea typeface="华文中宋"/>
              </a:rPr>
              <a:t>Generative: creative new data or understand the data. Examples: draw.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200" dirty="0">
                <a:solidFill>
                  <a:schemeClr val="dk1"/>
                </a:solidFill>
                <a:latin typeface="华文中宋"/>
                <a:ea typeface="华文中宋"/>
              </a:rPr>
              <a:t>Discriminative: classify the data or recognize the data. Examples: see.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2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AD42C3E-ECCC-03EC-070A-F17D48CAF2E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</a:t>
            </a:fld>
            <a:endParaRPr/>
          </a:p>
        </p:txBody>
      </p:sp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15F7381C-366E-6326-1C76-11653AE41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154" y="1403427"/>
            <a:ext cx="6341691" cy="3623823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735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3118-AE67-9E1F-B198-4F08A731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C0038B26-0886-FCC6-D684-BACE775E043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Discriminative Model </a:t>
            </a:r>
            <a:r>
              <a:rPr lang="en-US" altLang="zh-CN" sz="2800" dirty="0" err="1">
                <a:solidFill>
                  <a:schemeClr val="dk2"/>
                </a:solidFill>
                <a:latin typeface="华文中宋"/>
                <a:ea typeface="华文中宋"/>
              </a:rPr>
              <a:t>v.s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. G</a:t>
            </a: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enerative Model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6E5078D-FDBC-B708-EC37-F88F27BBC0E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</a:t>
            </a:fld>
            <a:endParaRPr/>
          </a:p>
        </p:txBody>
      </p:sp>
      <p:pic>
        <p:nvPicPr>
          <p:cNvPr id="3" name="Picture 615" descr="About Generative and Discriminative models | by Jordi Esteve Sorribas |  Medium">
            <a:extLst>
              <a:ext uri="{FF2B5EF4-FFF2-40B4-BE49-F238E27FC236}">
                <a16:creationId xmlns:a16="http://schemas.microsoft.com/office/drawing/2014/main" id="{E6A7D7A0-E382-5BE6-E51D-8734C4BB8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62" r="62620"/>
          <a:stretch/>
        </p:blipFill>
        <p:spPr bwMode="auto">
          <a:xfrm>
            <a:off x="1592768" y="3097412"/>
            <a:ext cx="3380104" cy="279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831505-AB19-DF6C-A1A9-DE2E61CAAEA3}"/>
              </a:ext>
            </a:extLst>
          </p:cNvPr>
          <p:cNvSpPr txBox="1"/>
          <p:nvPr/>
        </p:nvSpPr>
        <p:spPr>
          <a:xfrm>
            <a:off x="1494797" y="1578429"/>
            <a:ext cx="3853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Learn a mapping from input to output </a:t>
            </a:r>
            <a:r>
              <a:rPr kumimoji="1" lang="en-US" altLang="zh-CN" sz="2000" dirty="0">
                <a:solidFill>
                  <a:srgbClr val="942092"/>
                </a:solidFill>
                <a:latin typeface="+mn-ea"/>
              </a:rPr>
              <a:t>(function fitting)</a:t>
            </a:r>
            <a:endParaRPr kumimoji="1" lang="zh-CN" altLang="en-US" sz="2000" dirty="0">
              <a:solidFill>
                <a:srgbClr val="942092"/>
              </a:solidFill>
              <a:latin typeface="+mn-ea"/>
            </a:endParaRPr>
          </a:p>
        </p:txBody>
      </p:sp>
      <p:pic>
        <p:nvPicPr>
          <p:cNvPr id="6" name="图片 5" descr="\documentclass{article}&#10;\usepackage{amsmath}&#10;\pagestyle{empty}&#10;\begin{document}&#10;&#10;$$&#10;h: \mathcal X \rightarrow \mathcal{Y}&#10;$$&#10;&#10;&#10;\end{document}" title="IguanaTex Picture Display">
            <a:extLst>
              <a:ext uri="{FF2B5EF4-FFF2-40B4-BE49-F238E27FC236}">
                <a16:creationId xmlns:a16="http://schemas.microsoft.com/office/drawing/2014/main" id="{C3C150A1-7BF0-A2CF-01D1-A0754CF4B0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42029" y="2545269"/>
            <a:ext cx="1465943" cy="2931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D46798-A582-1C5D-3AFF-1CDCD6F53A46}"/>
              </a:ext>
            </a:extLst>
          </p:cNvPr>
          <p:cNvSpPr txBox="1"/>
          <p:nvPr/>
        </p:nvSpPr>
        <p:spPr>
          <a:xfrm>
            <a:off x="2442029" y="5569800"/>
            <a:ext cx="2075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+mn-ea"/>
              </a:rPr>
              <a:t>Discriminative</a:t>
            </a:r>
            <a:endParaRPr kumimoji="1" lang="zh-CN" altLang="en-US" sz="2000" b="1" dirty="0">
              <a:latin typeface="+mn-ea"/>
            </a:endParaRPr>
          </a:p>
        </p:txBody>
      </p:sp>
      <p:pic>
        <p:nvPicPr>
          <p:cNvPr id="8" name="Picture 615 2" descr="About Generative and Discriminative models | by Jordi Esteve Sorribas |  Medium">
            <a:extLst>
              <a:ext uri="{FF2B5EF4-FFF2-40B4-BE49-F238E27FC236}">
                <a16:creationId xmlns:a16="http://schemas.microsoft.com/office/drawing/2014/main" id="{CD8B715C-7C5C-B59F-1AF2-C7174C2F0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9"/>
          <a:stretch/>
        </p:blipFill>
        <p:spPr bwMode="auto">
          <a:xfrm>
            <a:off x="6693990" y="3097412"/>
            <a:ext cx="3432690" cy="232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42622F-98D1-5DEB-4E45-F6F019B63AAB}"/>
              </a:ext>
            </a:extLst>
          </p:cNvPr>
          <p:cNvSpPr txBox="1"/>
          <p:nvPr/>
        </p:nvSpPr>
        <p:spPr>
          <a:xfrm>
            <a:off x="7580086" y="5569800"/>
            <a:ext cx="2075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+mn-ea"/>
              </a:rPr>
              <a:t>Generative</a:t>
            </a:r>
            <a:endParaRPr kumimoji="1" lang="zh-CN" altLang="en-US" sz="2000" b="1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F87B41-3761-F6D2-3685-C4145418BE7B}"/>
              </a:ext>
            </a:extLst>
          </p:cNvPr>
          <p:cNvSpPr txBox="1"/>
          <p:nvPr/>
        </p:nvSpPr>
        <p:spPr>
          <a:xfrm>
            <a:off x="6581534" y="1578429"/>
            <a:ext cx="3853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+mn-ea"/>
              </a:rPr>
              <a:t>Learn distribution of data </a:t>
            </a:r>
            <a:r>
              <a:rPr kumimoji="1" lang="en-US" altLang="zh-CN" sz="2000" dirty="0">
                <a:solidFill>
                  <a:srgbClr val="942092"/>
                </a:solidFill>
                <a:latin typeface="+mn-ea"/>
              </a:rPr>
              <a:t>(distribution fitting)</a:t>
            </a:r>
            <a:endParaRPr kumimoji="1" lang="zh-CN" altLang="en-US" sz="2000" dirty="0">
              <a:solidFill>
                <a:srgbClr val="942092"/>
              </a:solidFill>
              <a:latin typeface="+mn-ea"/>
            </a:endParaRPr>
          </a:p>
        </p:txBody>
      </p:sp>
      <p:pic>
        <p:nvPicPr>
          <p:cNvPr id="12" name="图片 11" descr="\documentclass{article}&#10;\usepackage{amsmath}&#10;\pagestyle{empty}&#10;\begin{document}&#10;&#10;&#10;$$&#10;p_\theta(x) \approx p_{\text{data}}(x)&#10;$$&#10;&#10;\end{document}" title="IguanaTex Picture Display">
            <a:extLst>
              <a:ext uri="{FF2B5EF4-FFF2-40B4-BE49-F238E27FC236}">
                <a16:creationId xmlns:a16="http://schemas.microsoft.com/office/drawing/2014/main" id="{3E097EFC-45C3-D541-772B-0D3081E351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7868" y="2545269"/>
            <a:ext cx="2052323" cy="29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3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31C7-F80F-B398-8EAC-AB69804D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35C8DED-AF00-E7D5-51FA-BEE39A1DA41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Discriminative Model </a:t>
            </a:r>
            <a:r>
              <a:rPr lang="en-US" altLang="zh-CN" sz="2800" dirty="0" err="1">
                <a:solidFill>
                  <a:schemeClr val="dk2"/>
                </a:solidFill>
                <a:latin typeface="华文中宋"/>
                <a:ea typeface="华文中宋"/>
              </a:rPr>
              <a:t>v.s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. Generative Model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298B050-4362-87F7-6D99-39F818BA983F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295400"/>
                <a:ext cx="9403560" cy="527927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Denote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as </a:t>
                </a:r>
                <a:r>
                  <a:rPr lang="en-US" sz="2000" dirty="0" err="1">
                    <a:solidFill>
                      <a:schemeClr val="dk1"/>
                    </a:solidFill>
                    <a:latin typeface="华文中宋"/>
                    <a:ea typeface="华文中宋"/>
                  </a:rPr>
                  <a:t>r.v.</a:t>
                </a: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of samples, optionally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as </a:t>
                </a:r>
                <a:r>
                  <a:rPr lang="en-US" sz="2000" dirty="0" err="1">
                    <a:solidFill>
                      <a:schemeClr val="dk1"/>
                    </a:solidFill>
                    <a:latin typeface="华文中宋"/>
                    <a:ea typeface="华文中宋"/>
                  </a:rPr>
                  <a:t>r.v.</a:t>
                </a: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of labels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Discriminative Models: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18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Functionality: </a:t>
                </a:r>
                <a:r>
                  <a:rPr lang="en-US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Capture the difference between different data points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18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Principle: </a:t>
                </a:r>
                <a:r>
                  <a:rPr lang="en-US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Model the conditional probability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𝑃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|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𝑋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Generative Models: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Functionality: </a:t>
                </a: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Capture the mechanism of generating data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1800" b="1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Principle: </a:t>
                </a:r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Model the data distribution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𝑃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(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𝑋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or the joint distribution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𝑃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(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𝑋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, 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𝑌</m:t>
                    </m:r>
                    <m:r>
                      <a:rPr lang="en-US" altLang="zh-CN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)</m:t>
                    </m:r>
                  </m:oMath>
                </a14:m>
                <a:endParaRPr lang="en-US" altLang="zh-CN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华文中宋"/>
                    <a:ea typeface="华文中宋"/>
                  </a:rPr>
                  <a:t>How to categorize the models we learn before?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华文中宋"/>
                    <a:ea typeface="华文中宋"/>
                  </a:rPr>
                  <a:t>Which one is harder?</a:t>
                </a: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sz="18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800280" lvl="1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sz="1200" dirty="0">
                  <a:solidFill>
                    <a:schemeClr val="dk1"/>
                  </a:solidFill>
                  <a:latin typeface="华文中宋"/>
                  <a:ea typeface="华文中宋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sz="2000" b="0" u="none" strike="noStrike" dirty="0">
                  <a:solidFill>
                    <a:schemeClr val="dk1"/>
                  </a:solidFill>
                  <a:uFillTx/>
                  <a:latin typeface="华文中宋"/>
                  <a:ea typeface="华文中宋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298B050-4362-87F7-6D99-39F818BA9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295400"/>
                <a:ext cx="9403560" cy="5279279"/>
              </a:xfrm>
              <a:prstGeom prst="rect">
                <a:avLst/>
              </a:prstGeom>
              <a:blipFill>
                <a:blip r:embed="rId3"/>
                <a:stretch>
                  <a:fillRect l="-270" t="-72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C115C16A-252C-FBFA-BC80-432573C1D5B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658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CE701-8853-B732-60F3-B14A083F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8F3D3443-1338-2C1C-326A-F9942AFDDBE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Why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generative</a:t>
            </a:r>
            <a:r>
              <a:rPr lang="zh-CN" altLang="en-US" sz="2800" dirty="0">
                <a:solidFill>
                  <a:schemeClr val="dk2"/>
                </a:solidFill>
                <a:latin typeface="华文中宋"/>
                <a:ea typeface="华文中宋"/>
              </a:rPr>
              <a:t> </a:t>
            </a: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model?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00D43D20-4CE4-B1B5-970B-D369AA8BC9D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730829"/>
            <a:ext cx="9403560" cy="48438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sz="2400" b="1" dirty="0">
                <a:solidFill>
                  <a:schemeClr val="dk1"/>
                </a:solidFill>
                <a:latin typeface="华文中宋"/>
                <a:ea typeface="华文中宋"/>
              </a:rPr>
              <a:t>What I cannot create, I do not understand.</a:t>
            </a:r>
          </a:p>
          <a:p>
            <a:pPr marL="0" indent="0" algn="r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--Richard Feynman</a:t>
            </a: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1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Model data distribution means a deeper understanding than classification.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That lets them generate, complete, denoise, simulate……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rgbClr val="FF0000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2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5E54A72-545E-8D85-0CED-3B774717D52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265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540A-AE33-0B5A-2697-3F94BC3E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A2279F5-C63B-59B6-B878-1178BECA0DB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>
                <a:solidFill>
                  <a:schemeClr val="dk2"/>
                </a:solidFill>
                <a:latin typeface="华文中宋"/>
                <a:ea typeface="华文中宋"/>
              </a:rPr>
              <a:t>Timeline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490B0B2-535D-A93F-3CC3-AF058343FA8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7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A87485-6CF3-AFD7-408C-75343BDC5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199867"/>
            <a:ext cx="9590876" cy="479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C6D9-30AE-D4F5-81B5-9A53DD9C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10B6AEB3-9211-703F-8B86-AF387D8C06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Variational Auto Encoder(VAE)</a:t>
            </a: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00E1C5A-754A-78CA-C087-77FB7929B3D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22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7A8C-1483-491A-2573-5F6AD260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D0DD5B6-CB4D-9C5E-EAB5-CD42A5169DC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Auto Encoder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9ADA455-D0F1-0BEA-4A74-74C3C9C7C07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9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5FA157-6E6C-1FCA-03D3-9B2546177B00}"/>
              </a:ext>
            </a:extLst>
          </p:cNvPr>
          <p:cNvSpPr txBox="1"/>
          <p:nvPr/>
        </p:nvSpPr>
        <p:spPr>
          <a:xfrm>
            <a:off x="230073" y="6338987"/>
            <a:ext cx="497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  </a:t>
            </a:r>
            <a:r>
              <a:rPr lang="en-US" altLang="zh-CN" dirty="0">
                <a:hlinkClick r:id="rId3"/>
              </a:rPr>
              <a:t>https://en.wikipedia.org/wiki/Autoencoder</a:t>
            </a:r>
            <a:r>
              <a:rPr lang="en-US" altLang="zh-CN" dirty="0"/>
              <a:t> 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4459E3-5597-9980-004A-CC1CE90DED04}"/>
                  </a:ext>
                </a:extLst>
              </p:cNvPr>
              <p:cNvSpPr txBox="1"/>
              <p:nvPr/>
            </p:nvSpPr>
            <p:spPr>
              <a:xfrm>
                <a:off x="5203109" y="1223308"/>
                <a:ext cx="6758818" cy="5668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An </a:t>
                </a:r>
                <a:r>
                  <a:rPr lang="en-US" altLang="zh-CN" sz="2000" b="1" dirty="0">
                    <a:latin typeface="+mn-ea"/>
                  </a:rPr>
                  <a:t>autoencoder</a:t>
                </a:r>
                <a:r>
                  <a:rPr lang="en-US" altLang="zh-CN" sz="2000" dirty="0">
                    <a:latin typeface="+mn-ea"/>
                  </a:rPr>
                  <a:t> is a type of neural network used to learn efficient representations of unlabeled data (unsupervised learning).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Consist of an </a:t>
                </a:r>
                <a:r>
                  <a:rPr lang="en-US" altLang="zh-CN" sz="2000" b="1" dirty="0">
                    <a:latin typeface="+mn-ea"/>
                  </a:rPr>
                  <a:t>ENCODER</a:t>
                </a:r>
                <a:r>
                  <a:rPr lang="en-US" altLang="zh-CN" sz="2000" dirty="0">
                    <a:latin typeface="+mn-ea"/>
                  </a:rPr>
                  <a:t>, which turn inputs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into low-dim representations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.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And a </a:t>
                </a:r>
                <a:r>
                  <a:rPr lang="en-US" altLang="zh-CN" sz="2000" b="1" dirty="0">
                    <a:latin typeface="+mn-ea"/>
                  </a:rPr>
                  <a:t>DECODER,</a:t>
                </a:r>
                <a:r>
                  <a:rPr lang="en-US" altLang="zh-CN" sz="2000" dirty="0">
                    <a:latin typeface="+mn-ea"/>
                  </a:rPr>
                  <a:t> which reconstruct representation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back to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CN" sz="2000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The bottleneck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forces the model to keep only the most important information.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If we can reconstruct well from a low-dim representation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, it already contains most information of origin data. 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en-US" altLang="zh-CN" sz="2400" dirty="0">
                    <a:latin typeface="+mn-ea"/>
                  </a:rPr>
                  <a:t> </a:t>
                </a:r>
                <a:endParaRPr kumimoji="1" lang="zh-CN" altLang="en-US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4459E3-5597-9980-004A-CC1CE90DE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109" y="1223308"/>
                <a:ext cx="6758818" cy="5668475"/>
              </a:xfrm>
              <a:prstGeom prst="rect">
                <a:avLst/>
              </a:prstGeo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B2E0472-6897-97CC-6368-482610A54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73" y="1284514"/>
            <a:ext cx="4714889" cy="428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24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F2A2-866E-0AB1-2CF2-348D54B0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A5DA0A7-FD16-65EA-BDBF-3353C30C93E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How to train an AE?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9A83DFA-EFC3-EDC7-BD6E-8DE9500E3CD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10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EE76C1-A384-D37B-F4A4-578297220C72}"/>
              </a:ext>
            </a:extLst>
          </p:cNvPr>
          <p:cNvSpPr txBox="1"/>
          <p:nvPr/>
        </p:nvSpPr>
        <p:spPr>
          <a:xfrm>
            <a:off x="230073" y="6338987"/>
            <a:ext cx="7612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Code: </a:t>
            </a:r>
            <a:r>
              <a:rPr lang="en-US" altLang="zh-CN" sz="1600" dirty="0">
                <a:hlinkClick r:id="rId3"/>
              </a:rPr>
              <a:t>https://www.kaggle.com/code/shivamkc3/linear-autoencoder-using-pytorch-part-01</a:t>
            </a:r>
            <a:r>
              <a:rPr lang="en-US" altLang="zh-CN" sz="1600" dirty="0"/>
              <a:t> </a:t>
            </a:r>
            <a:endParaRPr kumimoji="1"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04DA1C-EBCE-20AF-C065-B3BB4D46C839}"/>
              </a:ext>
            </a:extLst>
          </p:cNvPr>
          <p:cNvSpPr txBox="1"/>
          <p:nvPr/>
        </p:nvSpPr>
        <p:spPr>
          <a:xfrm>
            <a:off x="3609627" y="1209121"/>
            <a:ext cx="7496531" cy="5299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Choose a dataset, e.g. MNIST.  It is a very famous hand-written dataset constructed by Yann LeCun.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Each figure is 28*28 (can be regarded as 768-dim vector), and each pixel is a number in [0,1].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Use NN as encoder and decoder.  We start from 2-layer MLP.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Choose optimization goal: MSE for reconstruction.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Start training.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After training, we can use the encoder to generate representation for new images(yes, we don’t need the decoder). </a:t>
            </a:r>
          </a:p>
          <a:p>
            <a:pPr>
              <a:lnSpc>
                <a:spcPct val="120000"/>
              </a:lnSpc>
            </a:pPr>
            <a:r>
              <a:rPr kumimoji="1" lang="en-US" altLang="zh-CN" sz="2400" dirty="0">
                <a:latin typeface="+mn-ea"/>
              </a:rPr>
              <a:t> 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2050" name="Picture 2" descr="MNIST sample images">
            <a:extLst>
              <a:ext uri="{FF2B5EF4-FFF2-40B4-BE49-F238E27FC236}">
                <a16:creationId xmlns:a16="http://schemas.microsoft.com/office/drawing/2014/main" id="{1633417C-B58B-CFFA-79DB-B54FAC66A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99"/>
          <a:stretch>
            <a:fillRect/>
          </a:stretch>
        </p:blipFill>
        <p:spPr bwMode="auto">
          <a:xfrm>
            <a:off x="431789" y="1558536"/>
            <a:ext cx="2603517" cy="427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1766B9-AA20-B67E-0148-741D39891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514" y="4028657"/>
            <a:ext cx="4405994" cy="50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7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AE7C5-EFCF-AB47-C305-82F1928B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0E60078-5C96-FD99-567C-DEE80CA6D0B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How to train an AE?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E8313AA-611D-91BB-AE95-C201E9C0AD7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11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73B78E-C51B-17F7-DB3C-3027230913C6}"/>
              </a:ext>
            </a:extLst>
          </p:cNvPr>
          <p:cNvSpPr txBox="1"/>
          <p:nvPr/>
        </p:nvSpPr>
        <p:spPr>
          <a:xfrm>
            <a:off x="230073" y="6338987"/>
            <a:ext cx="7612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Code: </a:t>
            </a:r>
            <a:r>
              <a:rPr lang="en-US" altLang="zh-CN" sz="1600" dirty="0">
                <a:hlinkClick r:id="rId3"/>
              </a:rPr>
              <a:t>https://www.kaggle.com/code/shivamkc3/linear-autoencoder-using-pytorch-part-01</a:t>
            </a:r>
            <a:r>
              <a:rPr lang="en-US" altLang="zh-CN" sz="1600" dirty="0"/>
              <a:t> </a:t>
            </a:r>
            <a:endParaRPr kumimoji="1"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66E0B1-0764-E911-AD2D-CFC6AC05D271}"/>
              </a:ext>
            </a:extLst>
          </p:cNvPr>
          <p:cNvSpPr txBox="1"/>
          <p:nvPr/>
        </p:nvSpPr>
        <p:spPr>
          <a:xfrm>
            <a:off x="5544711" y="1581863"/>
            <a:ext cx="5841900" cy="26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64-dim representation.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It’s an easy task, so reconstruction looks good.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The first row is real image, the second is reconstructions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Should converge within minutes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40AD17-5A79-42B7-BD1E-51FB3D2FE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003" y="1581863"/>
            <a:ext cx="3981995" cy="38835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FF39A8-E061-5861-E918-6D5A09D92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152" y="4369949"/>
            <a:ext cx="6909018" cy="15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4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B3FC-1B63-51C1-18B6-32A6F3DA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45BA2B4-515F-DF8E-39BC-DE59185F5F5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How to use an AE? 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6EA6FEF-E4BC-C0D6-04D4-E50D6655B5D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12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69491B-D0EE-F8F0-5529-C0603D594E54}"/>
              </a:ext>
            </a:extLst>
          </p:cNvPr>
          <p:cNvSpPr txBox="1"/>
          <p:nvPr/>
        </p:nvSpPr>
        <p:spPr>
          <a:xfrm>
            <a:off x="440748" y="5887001"/>
            <a:ext cx="7392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Source: </a:t>
            </a:r>
          </a:p>
          <a:p>
            <a:r>
              <a:rPr lang="en-US" altLang="zh-CN" sz="1200" dirty="0">
                <a:hlinkClick r:id="rId3"/>
              </a:rPr>
              <a:t>https://www.fabriziomusacchio.com/teaching/teaching_dimensionality_reduction_in_neuroscience/10_autoencoders</a:t>
            </a:r>
            <a:endParaRPr lang="en-US" altLang="zh-CN" sz="1200" dirty="0"/>
          </a:p>
          <a:p>
            <a:r>
              <a:rPr lang="en-US" altLang="zh-CN" sz="1200" dirty="0">
                <a:hlinkClick r:id="rId4"/>
              </a:rPr>
              <a:t>https://www.scaler.com/topics/deep-learning/denoising-autoencoder</a:t>
            </a:r>
            <a:r>
              <a:rPr lang="en-US" altLang="zh-CN" sz="1200" dirty="0"/>
              <a:t>  </a:t>
            </a:r>
            <a:endParaRPr kumimoji="1"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A59F31-E7DF-221A-EF3C-EA9AD1EDAF20}"/>
              </a:ext>
            </a:extLst>
          </p:cNvPr>
          <p:cNvSpPr txBox="1"/>
          <p:nvPr/>
        </p:nvSpPr>
        <p:spPr>
          <a:xfrm>
            <a:off x="440748" y="1334507"/>
            <a:ext cx="537222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We want more than reconstructions; it doesn’t bring us anything.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+mn-ea"/>
              </a:rPr>
              <a:t>Visualization / clustering:</a:t>
            </a:r>
            <a:r>
              <a:rPr lang="en-US" altLang="zh-CN" sz="2000" dirty="0">
                <a:latin typeface="+mn-ea"/>
              </a:rPr>
              <a:t> map high-dimensional data into 2D or 3D, where similar inputs lie close together. MNIST latent-space plots are the standard example.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+mn-ea"/>
              </a:rPr>
              <a:t>Denoising:</a:t>
            </a:r>
            <a:r>
              <a:rPr lang="en-US" altLang="zh-CN" sz="2000" dirty="0">
                <a:latin typeface="+mn-ea"/>
              </a:rPr>
              <a:t> learn a representation that keeps signal but discards noise, so a noisy image can be reconstructed into a cleaner 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r>
              <a:rPr kumimoji="1" lang="en-US" altLang="zh-CN" sz="2400" dirty="0">
                <a:latin typeface="+mn-ea"/>
              </a:rPr>
              <a:t> </a:t>
            </a:r>
            <a:endParaRPr kumimoji="1" lang="zh-CN" altLang="en-US" sz="2400" dirty="0">
              <a:latin typeface="+mn-ea"/>
            </a:endParaRPr>
          </a:p>
        </p:txBody>
      </p:sp>
      <p:pic>
        <p:nvPicPr>
          <p:cNvPr id="5124" name="Picture 4" descr="Exploring Denoising Autoencoders - Scaler Topics">
            <a:extLst>
              <a:ext uri="{FF2B5EF4-FFF2-40B4-BE49-F238E27FC236}">
                <a16:creationId xmlns:a16="http://schemas.microsoft.com/office/drawing/2014/main" id="{67A384C6-6EA9-788D-E6DD-CAA0FD25B0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t="13497" r="6866" b="40072"/>
          <a:stretch>
            <a:fillRect/>
          </a:stretch>
        </p:blipFill>
        <p:spPr bwMode="auto">
          <a:xfrm>
            <a:off x="6379029" y="3992217"/>
            <a:ext cx="5154509" cy="134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13C9AF3-CE09-E75D-8655-1651F1760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722" y="302300"/>
            <a:ext cx="4398798" cy="315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5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C998-E039-4414-05E9-D24BEC61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180F039-7BD2-07AD-70B4-70A17713A38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From AE to VAE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F8CA7259-3BA4-0265-4F77-CBE9EDEDED2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13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BC1D37-5595-038B-DE2F-575411C93F8E}"/>
                  </a:ext>
                </a:extLst>
              </p:cNvPr>
              <p:cNvSpPr txBox="1"/>
              <p:nvPr/>
            </p:nvSpPr>
            <p:spPr>
              <a:xfrm>
                <a:off x="439371" y="1043598"/>
                <a:ext cx="6830910" cy="4862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AE learns compression and reconstruction: 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000" b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zh-CN" sz="2000" b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kumimoji="1" lang="en-US" altLang="zh-CN" sz="2000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Good at learning a useful latent representation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But the latent code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 </a:t>
                </a:r>
                <a:r>
                  <a:rPr lang="en-US" altLang="zh-CN" sz="2000" dirty="0">
                    <a:latin typeface="+mn-ea"/>
                  </a:rPr>
                  <a:t>is just a learned feature space, with no clear probabilistic structure</a:t>
                </a:r>
                <a:r>
                  <a:rPr kumimoji="1" lang="en-US" altLang="zh-CN" sz="2000" dirty="0">
                    <a:latin typeface="+mn-ea"/>
                  </a:rPr>
                  <a:t> 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Nearby latent points may decode to meaningless outputs, and different regions of latent space can be “holes”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kumimoji="1" lang="en-US" altLang="zh-CN" sz="2000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So we want a model that not only reconstructs data, but also makes the latent space smooth, structured, and sampleable.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sz="2000" b="1" dirty="0">
                    <a:latin typeface="+mn-ea"/>
                  </a:rPr>
                  <a:t>Hopefully we can generate new data. </a:t>
                </a:r>
                <a:endParaRPr kumimoji="1" lang="zh-CN" altLang="en-US" sz="20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ABC1D37-5595-038B-DE2F-575411C93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71" y="1043598"/>
                <a:ext cx="6830910" cy="4862228"/>
              </a:xfrm>
              <a:prstGeom prst="rect">
                <a:avLst/>
              </a:prstGeom>
              <a:blipFill>
                <a:blip r:embed="rId3"/>
                <a:stretch>
                  <a:fillRect l="-742" b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9" name="Picture 3" descr="Why Does Swiss Cheese Have Holes? The Real Reason, Explained ...">
            <a:extLst>
              <a:ext uri="{FF2B5EF4-FFF2-40B4-BE49-F238E27FC236}">
                <a16:creationId xmlns:a16="http://schemas.microsoft.com/office/drawing/2014/main" id="{60195C8E-35B1-E100-9EF3-03BD5383E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222" y="964517"/>
            <a:ext cx="2410085" cy="241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2118E5-6C12-19EB-6EDC-E88E4E13F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84" y="3951747"/>
            <a:ext cx="5282967" cy="161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11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2FDF-2556-9E75-827F-768F5E8D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896E2A1-F5BD-8344-A3D0-B7FBB83C474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Variational </a:t>
            </a: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</a:rPr>
              <a:t>AutoEncoder</a:t>
            </a: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(VAE)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934A31E-D194-82B1-9BCF-5A69A6FB657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14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FDE5C0-52BC-B0D4-4621-5934F88F8E02}"/>
              </a:ext>
            </a:extLst>
          </p:cNvPr>
          <p:cNvSpPr txBox="1"/>
          <p:nvPr/>
        </p:nvSpPr>
        <p:spPr>
          <a:xfrm>
            <a:off x="167011" y="6559804"/>
            <a:ext cx="5314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source: </a:t>
            </a:r>
            <a:r>
              <a:rPr lang="en-US" altLang="zh-CN" sz="1600" dirty="0">
                <a:hlinkClick r:id="rId5"/>
              </a:rPr>
              <a:t>https://en.wikipedia.org/wiki/Variational_autoencoder</a:t>
            </a:r>
            <a:r>
              <a:rPr lang="en-US" altLang="zh-CN" sz="1600" dirty="0"/>
              <a:t> </a:t>
            </a:r>
            <a:endParaRPr kumimoji="1"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B37662-4BF7-7901-336A-B296241BA007}"/>
                  </a:ext>
                </a:extLst>
              </p:cNvPr>
              <p:cNvSpPr txBox="1"/>
              <p:nvPr/>
            </p:nvSpPr>
            <p:spPr>
              <a:xfrm>
                <a:off x="854528" y="3657179"/>
                <a:ext cx="10482944" cy="3015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VAE = Autoencoder + probability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Encoder maps each input to a </a:t>
                </a:r>
                <a:r>
                  <a:rPr lang="en-US" altLang="zh-CN" sz="2000" b="1" dirty="0">
                    <a:latin typeface="+mn-ea"/>
                  </a:rPr>
                  <a:t>distribution</a:t>
                </a:r>
                <a:r>
                  <a:rPr lang="en-US" altLang="zh-CN" sz="2000" dirty="0">
                    <a:latin typeface="+mn-ea"/>
                  </a:rPr>
                  <a:t> in latent space, not a single point</a:t>
                </a:r>
              </a:p>
              <a:p>
                <a:pPr marL="8001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+mn-ea"/>
                  </a:rPr>
                  <a:t>Use Gaussian distribution. Encoder outputs mean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en-US" altLang="zh-CN" sz="2000" dirty="0">
                    <a:latin typeface="+mn-ea"/>
                  </a:rPr>
                  <a:t> and variance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kumimoji="1" lang="en-US" altLang="zh-CN" sz="2000" dirty="0">
                    <a:latin typeface="+mn-ea"/>
                  </a:rPr>
                  <a:t>, which determines a distribution</a:t>
                </a:r>
              </a:p>
              <a:p>
                <a:pPr marL="800100" lvl="1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+mn-ea"/>
                  </a:rPr>
                  <a:t>Encourage the distribution similar with standard Gaussian              , use KL divergence. 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+mn-ea"/>
                  </a:rPr>
                  <a:t>Sample from that distribution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Decoder maps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 </a:t>
                </a:r>
                <a:r>
                  <a:rPr lang="en-US" altLang="zh-CN" sz="2000" dirty="0">
                    <a:latin typeface="+mn-ea"/>
                  </a:rPr>
                  <a:t>back to reconstruction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en-US" altLang="zh-CN" sz="2000" dirty="0">
                    <a:latin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B37662-4BF7-7901-336A-B296241BA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8" y="3657179"/>
                <a:ext cx="10482944" cy="3015569"/>
              </a:xfrm>
              <a:prstGeom prst="rect">
                <a:avLst/>
              </a:prstGeom>
              <a:blipFill>
                <a:blip r:embed="rId6"/>
                <a:stretch>
                  <a:fillRect l="-484" b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CEA9E52E-B4DB-AA23-B1D3-A3599C568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1" b="8093"/>
          <a:stretch>
            <a:fillRect/>
          </a:stretch>
        </p:blipFill>
        <p:spPr bwMode="auto">
          <a:xfrm>
            <a:off x="2528734" y="1248779"/>
            <a:ext cx="6873274" cy="237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\documentclass{article}&#10;\usepackage{amsmath}&#10;\pagestyle{empty}&#10;\begin{document}&#10;&#10;$$&#10;z \sim \mathcal N (\mu, \sigma^2)&#10;$$&#10;&#10;&#10;&#10;\end{document}" title="IguanaTex Picture Display">
            <a:extLst>
              <a:ext uri="{FF2B5EF4-FFF2-40B4-BE49-F238E27FC236}">
                <a16:creationId xmlns:a16="http://schemas.microsoft.com/office/drawing/2014/main" id="{9210E197-7D8C-CF35-7C3D-8A0B5C9575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12712" y="4845683"/>
            <a:ext cx="1422400" cy="30480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$&#10;\mathcal N (0, I)&#10;$$&#10;&#10;&#10;\end{document}" title="IguanaTex Picture Display">
            <a:extLst>
              <a:ext uri="{FF2B5EF4-FFF2-40B4-BE49-F238E27FC236}">
                <a16:creationId xmlns:a16="http://schemas.microsoft.com/office/drawing/2014/main" id="{C5D4F8F4-5858-5BDF-B460-88187006DFD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237680" y="5245740"/>
            <a:ext cx="8128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22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658C4-FCEE-B812-D2A4-09349AD3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466ABDD-CDBA-7B75-0B55-8AEA2C26EDC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VAE train and inference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D8D3BEB-9974-EE02-482E-9E003D3FD54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A8BAB2-0FAD-DCBE-C358-5006D752A4A5}"/>
                  </a:ext>
                </a:extLst>
              </p:cNvPr>
              <p:cNvSpPr txBox="1"/>
              <p:nvPr/>
            </p:nvSpPr>
            <p:spPr>
              <a:xfrm>
                <a:off x="803553" y="1736421"/>
                <a:ext cx="5183589" cy="375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latin typeface="+mn-ea"/>
                  </a:rPr>
                  <a:t>Training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Input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Encoder outputs a </a:t>
                </a:r>
                <a:r>
                  <a:rPr lang="en-US" altLang="zh-CN" sz="2000" b="1" dirty="0">
                    <a:latin typeface="+mn-ea"/>
                  </a:rPr>
                  <a:t>distribution</a:t>
                </a:r>
                <a:r>
                  <a:rPr lang="en-US" altLang="zh-CN" sz="2000" dirty="0">
                    <a:latin typeface="+mn-ea"/>
                  </a:rPr>
                  <a:t> over latent code: 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Sample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from that distribution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Decoder reconstructs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Train with: reconstruction term + KL regularization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+mn-ea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endParaRPr kumimoji="1" lang="en-US" altLang="zh-CN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A8BAB2-0FAD-DCBE-C358-5006D752A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53" y="1736421"/>
                <a:ext cx="5183589" cy="3754489"/>
              </a:xfrm>
              <a:prstGeom prst="rect">
                <a:avLst/>
              </a:prstGeom>
              <a:blipFill>
                <a:blip r:embed="rId5"/>
                <a:stretch>
                  <a:fillRect l="-978" r="-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592DEC9-7187-888C-E659-CFA53EB5C48C}"/>
                  </a:ext>
                </a:extLst>
              </p:cNvPr>
              <p:cNvSpPr txBox="1"/>
              <p:nvPr/>
            </p:nvSpPr>
            <p:spPr>
              <a:xfrm>
                <a:off x="6204860" y="1736421"/>
                <a:ext cx="5183589" cy="1907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>
                    <a:latin typeface="+mn-ea"/>
                  </a:rPr>
                  <a:t>Inference (Generation)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No input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is needed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Sample 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Feed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 into decoder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+mn-ea"/>
                  </a:rPr>
                  <a:t>Generate a </a:t>
                </a:r>
                <a:r>
                  <a:rPr lang="en-US" altLang="zh-CN" sz="2000" b="1" dirty="0">
                    <a:latin typeface="+mn-ea"/>
                  </a:rPr>
                  <a:t>new sample</a:t>
                </a:r>
                <a:endParaRPr kumimoji="1" lang="en-US" altLang="zh-CN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592DEC9-7187-888C-E659-CFA53EB5C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60" y="1736421"/>
                <a:ext cx="5183589" cy="1907830"/>
              </a:xfrm>
              <a:prstGeom prst="rect">
                <a:avLst/>
              </a:prstGeom>
              <a:blipFill>
                <a:blip r:embed="rId6"/>
                <a:stretch>
                  <a:fillRect l="-978" b="-4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\documentclass{article}&#10;\usepackage{amsmath}&#10;\pagestyle{empty}&#10;\begin{document}&#10;&#10;$$&#10;(\mu, \sigma)&#10;$$&#10;&#10;&#10;&#10;\end{document}" title="IguanaTex Picture Display">
            <a:extLst>
              <a:ext uri="{FF2B5EF4-FFF2-40B4-BE49-F238E27FC236}">
                <a16:creationId xmlns:a16="http://schemas.microsoft.com/office/drawing/2014/main" id="{93F227D5-69CB-94C0-2F5B-DB3848EE28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11147" y="2944041"/>
            <a:ext cx="584200" cy="25400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$&#10;z \sim \mathcal N (0, I)&#10;$$&#10;&#10;&#10;&#10;\end{document}" title="IguanaTex Picture Display">
            <a:extLst>
              <a:ext uri="{FF2B5EF4-FFF2-40B4-BE49-F238E27FC236}">
                <a16:creationId xmlns:a16="http://schemas.microsoft.com/office/drawing/2014/main" id="{6ED1C248-40AF-BBF3-8E17-7CB6EC15F8F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99982" y="2571656"/>
            <a:ext cx="1244600" cy="2794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D5C0727-76F4-B056-670A-9205C130DE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271" y="4850601"/>
            <a:ext cx="5183589" cy="29962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042DC6-F067-DD44-0BAA-E8219DD72A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1543" y="5461445"/>
            <a:ext cx="4603043" cy="57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8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7447-4B41-AF2F-CBE6-07FEB67E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9EB4DA9-E2F7-C82C-DD95-C48A51FD418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VAE latent space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3F6811D-DAB7-CAE0-88A7-C8A14F86C61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16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4C955A-D67C-55A4-78CD-03CFEF890676}"/>
              </a:ext>
            </a:extLst>
          </p:cNvPr>
          <p:cNvSpPr txBox="1"/>
          <p:nvPr/>
        </p:nvSpPr>
        <p:spPr>
          <a:xfrm>
            <a:off x="230073" y="6338987"/>
            <a:ext cx="8756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source: </a:t>
            </a:r>
            <a:r>
              <a:rPr lang="en-US" altLang="zh-CN" sz="1600" dirty="0">
                <a:hlinkClick r:id="rId3"/>
              </a:rPr>
              <a:t>https://compneuro.neuromatch.io/tutorials/Bonus_Autoencoders/student/Bonus_Tutorial1.html</a:t>
            </a:r>
            <a:r>
              <a:rPr lang="en-US" altLang="zh-CN" sz="1600" dirty="0"/>
              <a:t> </a:t>
            </a:r>
            <a:endParaRPr kumimoji="1"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777435-91A8-AC9D-B2A2-9C8A38B780C3}"/>
              </a:ext>
            </a:extLst>
          </p:cNvPr>
          <p:cNvSpPr txBox="1"/>
          <p:nvPr/>
        </p:nvSpPr>
        <p:spPr>
          <a:xfrm>
            <a:off x="646200" y="4403870"/>
            <a:ext cx="10482944" cy="799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The latent space of  VAE more like a distribution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You can sample from latent, and get better results</a:t>
            </a:r>
          </a:p>
        </p:txBody>
      </p:sp>
      <p:pic>
        <p:nvPicPr>
          <p:cNvPr id="1026" name="Picture 2" descr="Why VAEs Ditch Vectors for Probability Distributions: A Beginner’s Guide to Generation Model | by Vigneshshivhare | Medium">
            <a:extLst>
              <a:ext uri="{FF2B5EF4-FFF2-40B4-BE49-F238E27FC236}">
                <a16:creationId xmlns:a16="http://schemas.microsoft.com/office/drawing/2014/main" id="{D04C73F0-FE0C-FC19-2B24-E052E3A5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00" y="1177621"/>
            <a:ext cx="5917886" cy="274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oice Conversion - Andrew Szot">
            <a:extLst>
              <a:ext uri="{FF2B5EF4-FFF2-40B4-BE49-F238E27FC236}">
                <a16:creationId xmlns:a16="http://schemas.microsoft.com/office/drawing/2014/main" id="{D0221F46-C9E2-7CE8-0FE4-1138CBEC95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4487" r="7975" b="4575"/>
          <a:stretch>
            <a:fillRect/>
          </a:stretch>
        </p:blipFill>
        <p:spPr bwMode="auto">
          <a:xfrm>
            <a:off x="7410715" y="1515559"/>
            <a:ext cx="4781285" cy="382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519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C2AF-1962-A320-47B7-F3F38569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E688647B-4484-EA9F-5065-64804E2536A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Conditional Generation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B62BF3BB-D71D-63A5-8C43-7234D4A0DD0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17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1B1112-69F5-693A-7F1C-C0B16C624FC5}"/>
              </a:ext>
            </a:extLst>
          </p:cNvPr>
          <p:cNvSpPr txBox="1"/>
          <p:nvPr/>
        </p:nvSpPr>
        <p:spPr>
          <a:xfrm>
            <a:off x="230073" y="6338987"/>
            <a:ext cx="8756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source: </a:t>
            </a:r>
            <a:r>
              <a:rPr lang="en-US" altLang="zh-CN" sz="1600" dirty="0">
                <a:hlinkClick r:id="rId3"/>
              </a:rPr>
              <a:t>https://compneuro.neuromatch.io/tutorials/Bonus_Autoencoders/student/Bonus_Tutorial1.html</a:t>
            </a:r>
            <a:r>
              <a:rPr lang="en-US" altLang="zh-CN" sz="1600" dirty="0"/>
              <a:t> </a:t>
            </a:r>
            <a:endParaRPr kumimoji="1"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0A6C70-1037-60EE-61D9-17A6B371B15D}"/>
              </a:ext>
            </a:extLst>
          </p:cNvPr>
          <p:cNvSpPr txBox="1"/>
          <p:nvPr/>
        </p:nvSpPr>
        <p:spPr>
          <a:xfrm>
            <a:off x="646200" y="1371094"/>
            <a:ext cx="10482944" cy="190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Control what you generate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Introduce condition c(label, cell type, .</a:t>
            </a:r>
            <a:r>
              <a:rPr lang="en-US" altLang="zh-CN" sz="2000" dirty="0" err="1">
                <a:latin typeface="+mn-ea"/>
              </a:rPr>
              <a:t>etc</a:t>
            </a:r>
            <a:r>
              <a:rPr lang="en-US" altLang="zh-CN" sz="2000" dirty="0">
                <a:latin typeface="+mn-ea"/>
              </a:rPr>
              <a:t>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So the NN would know what to generate.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Training also need to change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40EED3-FA01-5807-5096-AB3075F49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325" y="2170928"/>
            <a:ext cx="3390900" cy="431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B02E77D-1417-0A7D-F48F-1FF875B90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102" y="3630371"/>
            <a:ext cx="5601795" cy="41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0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EFE6-6CA1-0E94-FEF8-6BCA3B91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A8FFFF6-C3E6-E2CC-02A9-847EBAF9CFF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Further…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388D9BC4-73E1-0CA2-84ED-D4689EE65DC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47920"/>
            <a:ext cx="10757524" cy="51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 err="1">
                <a:solidFill>
                  <a:schemeClr val="dk1"/>
                </a:solidFill>
                <a:latin typeface="华文中宋"/>
                <a:ea typeface="华文中宋"/>
              </a:rPr>
              <a:t>generative_models</a:t>
            </a: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/01_autoencoder_mnist_latent.ipynb contains code to train an autoencoder using MNIST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 err="1">
                <a:solidFill>
                  <a:schemeClr val="dk1"/>
                </a:solidFill>
                <a:latin typeface="华文中宋"/>
                <a:ea typeface="华文中宋"/>
              </a:rPr>
              <a:t>generative_models</a:t>
            </a: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/02_vae_mnist_latent.ipynb trains a VAE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Try by yourself !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Recommended papers: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3"/>
              </a:rPr>
              <a:t>https://arxiv.org/abs/1312.6114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(Auto-Encoding Variational Bayes)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4"/>
              </a:rPr>
              <a:t>https://arxiv.org/abs/1906.02691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(An Introduction to Variational Autoencoders)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5"/>
              </a:rPr>
              <a:t>https://arxiv.org/abs/1711.00937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(VQ-VAE)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6"/>
              </a:rPr>
              <a:t>https://web.stanford.edu/class/cs294a/sparseAutoencoder.pdf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(SAE)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7CE7289-BAD2-D2C9-8ABC-940AEE6A606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7852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908B-ABF1-8249-2BA7-9EFB5CA4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2">
            <a:extLst>
              <a:ext uri="{FF2B5EF4-FFF2-40B4-BE49-F238E27FC236}">
                <a16:creationId xmlns:a16="http://schemas.microsoft.com/office/drawing/2014/main" id="{2884083A-B00E-A607-9C16-D758F29A373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3200" b="1" dirty="0">
                <a:solidFill>
                  <a:schemeClr val="dk1"/>
                </a:solidFill>
                <a:latin typeface="华文中宋"/>
                <a:ea typeface="华文中宋"/>
              </a:rPr>
              <a:t>Gene Expression Data and Protein Data</a:t>
            </a: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9DFCEC1-3FF4-C3C2-FFA9-76030CBA51A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2330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046C-FD2C-859F-447D-7F37CB34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BBE5BBE-F2C7-B640-5F24-AE557C0EA6B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Recap: central dogma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D61DDC4-2A04-C722-F9E3-96475DD47D9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20</a:t>
            </a:fld>
            <a:endParaRPr/>
          </a:p>
        </p:txBody>
      </p:sp>
      <p:pic>
        <p:nvPicPr>
          <p:cNvPr id="4098" name="Picture 2" descr="Central Paradigm of Biology: a gene, a specific region in the DNA, is first transcribed into RNA and then into proteins. Note, that for RNA-genes the RNA molecule is the end product itself, which is referred to as non-coding RNA (ncRNA) (Source: Wikipedia)">
            <a:extLst>
              <a:ext uri="{FF2B5EF4-FFF2-40B4-BE49-F238E27FC236}">
                <a16:creationId xmlns:a16="http://schemas.microsoft.com/office/drawing/2014/main" id="{7CFF7BDD-E1EC-F8B1-7FA2-9B8AE5FE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35" y="1138922"/>
            <a:ext cx="7294260" cy="547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782EA0-86F5-B36C-41C7-8F20C5D75BCD}"/>
              </a:ext>
            </a:extLst>
          </p:cNvPr>
          <p:cNvSpPr txBox="1"/>
          <p:nvPr/>
        </p:nvSpPr>
        <p:spPr>
          <a:xfrm>
            <a:off x="8558439" y="5689600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Source: Wikipedia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8984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823-9CE6-9A03-9DA1-3D4F137C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9957707-3DD1-8C4E-5892-44E0B006639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RNA sequencing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3686FA9-2E2A-32D1-561E-5368F2E72DB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21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7EDA02-F870-DBB6-408B-DBCBE28AFD21}"/>
              </a:ext>
            </a:extLst>
          </p:cNvPr>
          <p:cNvSpPr txBox="1"/>
          <p:nvPr/>
        </p:nvSpPr>
        <p:spPr>
          <a:xfrm>
            <a:off x="795867" y="6220454"/>
            <a:ext cx="3400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 Van den Berge et al. (2019)</a:t>
            </a:r>
            <a:endParaRPr kumimoji="1" lang="zh-CN" altLang="en-US" dirty="0"/>
          </a:p>
        </p:txBody>
      </p:sp>
      <p:pic>
        <p:nvPicPr>
          <p:cNvPr id="1026" name="Picture 2" descr="Figure: An updated sequencing workflow. Image adapted from Van den Berge et al. (2019).">
            <a:extLst>
              <a:ext uri="{FF2B5EF4-FFF2-40B4-BE49-F238E27FC236}">
                <a16:creationId xmlns:a16="http://schemas.microsoft.com/office/drawing/2014/main" id="{9CF66121-4378-34C3-E322-CFCCE1D92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34" y="1233542"/>
            <a:ext cx="10210800" cy="477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984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523F2-9AE4-AD1D-5FFD-60306DE6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740CD304-E482-042B-6279-FE32B7E077E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RNA</a:t>
            </a: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-seq data: </a:t>
            </a: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Anndata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177E63F2-3BF5-4DBD-EE5C-6D74511E36C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22</a:t>
            </a:fld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192A07-BEE4-117D-6B03-194557ADA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00" y="1421160"/>
            <a:ext cx="7772400" cy="31049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CBB1EBC-873F-E03D-61C9-284775BDF706}"/>
              </a:ext>
            </a:extLst>
          </p:cNvPr>
          <p:cNvSpPr txBox="1"/>
          <p:nvPr/>
        </p:nvSpPr>
        <p:spPr>
          <a:xfrm>
            <a:off x="1027979" y="4809068"/>
            <a:ext cx="8252580" cy="1168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Rows correspond to cells.</a:t>
            </a:r>
          </a:p>
          <a:p>
            <a:pPr marL="342900" lvl="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Columns correspond to genes.</a:t>
            </a:r>
          </a:p>
          <a:p>
            <a:pPr marL="342900" lvl="0" indent="-3429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Each entry is the raw count observed for one gene in one cell.</a:t>
            </a:r>
            <a:endParaRPr kumimoji="1"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7129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14E-D6B0-0557-2B6A-6EC7C298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2461609A-7915-8509-E60E-17F587BFB0F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RNA</a:t>
            </a: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-seq data: </a:t>
            </a: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Anndata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3D1EA07-5009-BC5C-E7B0-7B4FCD6CBCF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23</a:t>
            </a:fld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42CEF9-5532-A9BC-84B8-C2133866E506}"/>
              </a:ext>
            </a:extLst>
          </p:cNvPr>
          <p:cNvSpPr txBox="1"/>
          <p:nvPr/>
        </p:nvSpPr>
        <p:spPr>
          <a:xfrm>
            <a:off x="230073" y="6338987"/>
            <a:ext cx="627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Source:  </a:t>
            </a:r>
            <a:r>
              <a:rPr lang="en-US" altLang="zh-CN" dirty="0">
                <a:hlinkClick r:id="rId3"/>
              </a:rPr>
              <a:t>https://www.sc-best-practices.org/</a:t>
            </a:r>
            <a:r>
              <a:rPr lang="en-US" altLang="zh-CN" dirty="0"/>
              <a:t> (very recommended!)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213D2C-B55B-1132-5853-C925A5922558}"/>
              </a:ext>
            </a:extLst>
          </p:cNvPr>
          <p:cNvSpPr txBox="1"/>
          <p:nvPr/>
        </p:nvSpPr>
        <p:spPr>
          <a:xfrm>
            <a:off x="4420185" y="1330880"/>
            <a:ext cx="7541742" cy="523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+mn-ea"/>
              </a:rPr>
              <a:t>X is the main matrix, cells x genes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+mn-ea"/>
              </a:rPr>
              <a:t>Obs</a:t>
            </a:r>
            <a:r>
              <a:rPr lang="en-US" altLang="zh-CN" sz="2000" dirty="0">
                <a:latin typeface="+mn-ea"/>
              </a:rPr>
              <a:t> stores cell-level metadata.</a:t>
            </a:r>
            <a:r>
              <a:rPr kumimoji="1" lang="en-US" altLang="zh-CN" sz="2000" dirty="0">
                <a:latin typeface="+mn-ea"/>
              </a:rPr>
              <a:t> </a:t>
            </a:r>
            <a:r>
              <a:rPr kumimoji="1" lang="en-US" altLang="zh-CN" sz="2000" dirty="0" err="1">
                <a:latin typeface="+mn-ea"/>
              </a:rPr>
              <a:t>Celltype</a:t>
            </a:r>
            <a:r>
              <a:rPr kumimoji="1" lang="en-US" altLang="zh-CN" sz="2000" dirty="0">
                <a:latin typeface="+mn-ea"/>
              </a:rPr>
              <a:t>, batch, condition, .</a:t>
            </a:r>
            <a:r>
              <a:rPr kumimoji="1" lang="en-US" altLang="zh-CN" sz="2000" dirty="0" err="1">
                <a:latin typeface="+mn-ea"/>
              </a:rPr>
              <a:t>etc</a:t>
            </a:r>
            <a:endParaRPr kumimoji="1"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Var stores gene-level metadata. </a:t>
            </a:r>
            <a:r>
              <a:rPr kumimoji="1" lang="en-US" altLang="zh-CN" sz="2000" dirty="0">
                <a:latin typeface="+mn-ea"/>
              </a:rPr>
              <a:t>E.g. gene name, chromosome, .</a:t>
            </a:r>
            <a:r>
              <a:rPr kumimoji="1" lang="en-US" altLang="zh-CN" sz="2000" dirty="0" err="1">
                <a:latin typeface="+mn-ea"/>
              </a:rPr>
              <a:t>etc</a:t>
            </a:r>
            <a:endParaRPr kumimoji="1"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latin typeface="+mn-ea"/>
              </a:rPr>
              <a:t>Obsm</a:t>
            </a:r>
            <a:r>
              <a:rPr kumimoji="1" lang="en-US" altLang="zh-CN" sz="2000" dirty="0">
                <a:latin typeface="+mn-ea"/>
              </a:rPr>
              <a:t> stores a vector for each cell. A common example is </a:t>
            </a:r>
            <a:r>
              <a:rPr lang="en-US" altLang="zh-CN" sz="2000" dirty="0" err="1">
                <a:latin typeface="+mn-ea"/>
              </a:rPr>
              <a:t>adata.obsm</a:t>
            </a:r>
            <a:r>
              <a:rPr lang="en-US" altLang="zh-CN" sz="2000" dirty="0">
                <a:latin typeface="+mn-ea"/>
              </a:rPr>
              <a:t>["</a:t>
            </a:r>
            <a:r>
              <a:rPr lang="en-US" altLang="zh-CN" sz="2000" dirty="0" err="1">
                <a:latin typeface="+mn-ea"/>
              </a:rPr>
              <a:t>X_pca</a:t>
            </a:r>
            <a:r>
              <a:rPr lang="en-US" altLang="zh-CN" sz="2000" dirty="0">
                <a:latin typeface="+mn-ea"/>
              </a:rPr>
              <a:t>"]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+mn-ea"/>
              </a:rPr>
              <a:t>Varm</a:t>
            </a:r>
            <a:r>
              <a:rPr lang="en-US" altLang="zh-CN" sz="2000" dirty="0">
                <a:latin typeface="+mn-ea"/>
              </a:rPr>
              <a:t> stores a vector for each gene. Most common is </a:t>
            </a:r>
            <a:r>
              <a:rPr lang="en-US" altLang="zh-CN" sz="2000" dirty="0" err="1">
                <a:latin typeface="+mn-ea"/>
              </a:rPr>
              <a:t>adata.varm</a:t>
            </a:r>
            <a:r>
              <a:rPr lang="en-US" altLang="zh-CN" sz="2000" dirty="0">
                <a:latin typeface="+mn-ea"/>
              </a:rPr>
              <a:t>["PCs"] (PCA loading)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+mn-ea"/>
              </a:rPr>
              <a:t>Layers stores other version of X, with same shape. E.g. raw counts, </a:t>
            </a:r>
            <a:r>
              <a:rPr lang="en-US" altLang="zh-CN" sz="2000" dirty="0">
                <a:latin typeface="+mn-ea"/>
              </a:rPr>
              <a:t>normalized counts</a:t>
            </a:r>
            <a:r>
              <a:rPr kumimoji="1" lang="en-US" altLang="zh-CN" sz="2000" dirty="0">
                <a:latin typeface="+mn-ea"/>
              </a:rPr>
              <a:t>, </a:t>
            </a:r>
            <a:r>
              <a:rPr lang="en-US" altLang="zh-CN" sz="2000" dirty="0">
                <a:latin typeface="+mn-ea"/>
              </a:rPr>
              <a:t>log1p-transformed values</a:t>
            </a:r>
            <a:r>
              <a:rPr kumimoji="1" lang="en-US" altLang="zh-CN" sz="2000" dirty="0">
                <a:latin typeface="+mn-ea"/>
              </a:rPr>
              <a:t>, .</a:t>
            </a:r>
            <a:r>
              <a:rPr kumimoji="1" lang="en-US" altLang="zh-CN" sz="2000" dirty="0" err="1">
                <a:latin typeface="+mn-ea"/>
              </a:rPr>
              <a:t>etc</a:t>
            </a:r>
            <a:r>
              <a:rPr kumimoji="1" lang="en-US" altLang="zh-CN" sz="2000" dirty="0">
                <a:latin typeface="+mn-ea"/>
              </a:rPr>
              <a:t>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kumimoji="1" lang="en-US" altLang="zh-CN" sz="2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latin typeface="+mn-ea"/>
              </a:rPr>
              <a:t> </a:t>
            </a:r>
            <a:endParaRPr kumimoji="1" lang="zh-CN" altLang="en-US" sz="2000" dirty="0">
              <a:latin typeface="+mn-ea"/>
            </a:endParaRPr>
          </a:p>
        </p:txBody>
      </p:sp>
      <p:pic>
        <p:nvPicPr>
          <p:cNvPr id="2050" name="Picture 2" descr="Getting started with the anndata package — scverse-tutorials">
            <a:extLst>
              <a:ext uri="{FF2B5EF4-FFF2-40B4-BE49-F238E27FC236}">
                <a16:creationId xmlns:a16="http://schemas.microsoft.com/office/drawing/2014/main" id="{401B9ACA-1F62-6E42-BA46-45D6A097D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66" y="1676399"/>
            <a:ext cx="3866533" cy="410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65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ED25-A312-D611-16C7-E7D2CBCFE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DD6EFD35-455D-CA61-B041-EEFCF070365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Perturb-Seq data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C4BCF1A-9973-9BBF-D4F9-234989E9AAC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24</a:t>
            </a:fld>
            <a:endParaRPr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8088011-A52C-DA08-1BF9-1292E5C31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1899605"/>
            <a:ext cx="6350000" cy="3209617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DD8AF857-CACF-BDFD-EC3B-B0EF94032FF1}"/>
              </a:ext>
            </a:extLst>
          </p:cNvPr>
          <p:cNvSpPr txBox="1"/>
          <p:nvPr/>
        </p:nvSpPr>
        <p:spPr>
          <a:xfrm>
            <a:off x="6620933" y="1811867"/>
            <a:ext cx="5198534" cy="375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Traditional single-cell RNA-seq is mainly observational: it shows associations, but not necessarily causality.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Perturb-seq adds controlled interventions and measures how cells respond after perturbation.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This helps us identify which genes drive specific cellular programs and how perturbations reshape cell states.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4101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3361-94F2-3CAC-F94D-7E1BD248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C3D77ABF-34F6-E4F6-0A82-B9620F0681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Application: </a:t>
            </a:r>
            <a:r>
              <a:rPr lang="en-US" altLang="zh-CN" sz="2800" dirty="0" err="1">
                <a:solidFill>
                  <a:schemeClr val="dk2"/>
                </a:solidFill>
                <a:latin typeface="华文中宋"/>
                <a:ea typeface="华文中宋"/>
              </a:rPr>
              <a:t>scVI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3D02DF9D-DD5D-5D9C-E21D-B62D725BEE3B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25</a:t>
            </a:fld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78DF29-78D5-79F8-FA4D-CD3F229027EF}"/>
              </a:ext>
            </a:extLst>
          </p:cNvPr>
          <p:cNvSpPr txBox="1"/>
          <p:nvPr/>
        </p:nvSpPr>
        <p:spPr>
          <a:xfrm>
            <a:off x="646200" y="1371094"/>
            <a:ext cx="10482944" cy="338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+mn-ea"/>
              </a:rPr>
              <a:t>scRNA</a:t>
            </a:r>
            <a:r>
              <a:rPr lang="en-US" altLang="zh-CN" sz="2000" dirty="0">
                <a:latin typeface="+mn-ea"/>
              </a:rPr>
              <a:t>-seq gives a gene expression vector for each cell: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The observed counts are noisy, sparse, and affected by technical factors.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Important nuisance factors include: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sequencing depth / library size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batch effects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dropout / limited sensitivity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Goal: learn a low-dimensional biological representation while accounting for technical noise.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AB74A5-E279-CF75-4033-A1788779B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1860943"/>
            <a:ext cx="26416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15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DB40C-A8E0-966F-88D1-A71FF3A1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210949C-60E3-D7CF-0792-023F0F5C170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Application: </a:t>
            </a:r>
            <a:r>
              <a:rPr lang="en-US" altLang="zh-CN" sz="2800" dirty="0" err="1">
                <a:solidFill>
                  <a:schemeClr val="dk2"/>
                </a:solidFill>
                <a:latin typeface="华文中宋"/>
                <a:ea typeface="华文中宋"/>
              </a:rPr>
              <a:t>scVI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6075A80-2B49-E16D-2429-C2CB971E8FF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26</a:t>
            </a:fld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ADA5BEB-4C17-D8C2-3D1C-4F6F96E1F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36"/>
          <a:stretch>
            <a:fillRect/>
          </a:stretch>
        </p:blipFill>
        <p:spPr>
          <a:xfrm>
            <a:off x="131718" y="1489841"/>
            <a:ext cx="11928563" cy="387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20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2522-8743-E9B2-B8C4-6ACF749A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CFCEF043-0C2D-CE6B-4799-7E135E13095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What can it do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6B7F92A-003B-FE70-68B0-2ADE11613D8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27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C6E76-1A55-F676-862D-53106D9D8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62" r="-68"/>
          <a:stretch>
            <a:fillRect/>
          </a:stretch>
        </p:blipFill>
        <p:spPr>
          <a:xfrm>
            <a:off x="335673" y="5913681"/>
            <a:ext cx="11614589" cy="9315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FF6A2F-00CF-D589-36E4-0C271BFA4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3" b="15299"/>
          <a:stretch>
            <a:fillRect/>
          </a:stretch>
        </p:blipFill>
        <p:spPr>
          <a:xfrm>
            <a:off x="399394" y="1172880"/>
            <a:ext cx="11456933" cy="474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50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5512-5C0E-923F-1F0B-8060B390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BB019973-C033-5783-BE4C-BE45F6B1A83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scGPT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B1C6DB8-0D6F-E629-FB99-26DEAA8E2D0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28</a:t>
            </a:fld>
            <a:endParaRPr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39BCD4A6-152C-A880-CDB8-1F1B2218A044}"/>
              </a:ext>
            </a:extLst>
          </p:cNvPr>
          <p:cNvSpPr txBox="1">
            <a:spLocks/>
          </p:cNvSpPr>
          <p:nvPr/>
        </p:nvSpPr>
        <p:spPr>
          <a:xfrm>
            <a:off x="646200" y="1172880"/>
            <a:ext cx="10415140" cy="568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Predict gene expression given other gene expression and condition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First, turn gene and gene expression into tokens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Then turn conditions (cell type, perturbation) into token embeddings, and add all three together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M is number of genes in a cell, D is embedding dim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Randomly mask some gene expression in the cell, let model predict it.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altLang="zh-CN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500988-91CD-30CE-1C6C-C3E1AD20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00" y="2033753"/>
            <a:ext cx="3530600" cy="457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2B84DE-32CA-D018-A147-034F50CB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328" y="3200400"/>
            <a:ext cx="4673600" cy="457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D264A7B-FDD4-CDC3-D3CB-87ACEF470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580" y="3251200"/>
            <a:ext cx="1384300" cy="406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339AAD-6E1C-2C0B-4798-175DA798F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176" y="5035269"/>
            <a:ext cx="4156404" cy="7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81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813A-1A68-2780-F25C-F93968A8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7570839-15E8-AA1C-E891-D164A3EC727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719773" y="447116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scGPT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63DA990F-3EFE-B275-6F6F-7C714DCB3D3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29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77D770-89E5-3058-42C5-77D78AF0B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6" y="1282262"/>
            <a:ext cx="11016095" cy="557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11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966C0-027D-798B-653E-ABC1AC7A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150AA9E4-E69E-66AA-6242-025A44BA6403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719773" y="447116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What can </a:t>
            </a:r>
            <a:r>
              <a:rPr lang="en-US" altLang="zh-CN" sz="2800" b="0" u="none" strike="noStrike" dirty="0" err="1">
                <a:solidFill>
                  <a:schemeClr val="dk2"/>
                </a:solidFill>
                <a:uFillTx/>
                <a:latin typeface="华文中宋"/>
                <a:ea typeface="华文中宋"/>
              </a:rPr>
              <a:t>scGPT</a:t>
            </a: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 do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3047C83-A233-9605-B3D7-F58FEDE0F64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30</a:t>
            </a:fld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2457E4-D22E-34D0-5630-D3CAAA538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9" b="8098"/>
          <a:stretch>
            <a:fillRect/>
          </a:stretch>
        </p:blipFill>
        <p:spPr>
          <a:xfrm>
            <a:off x="566683" y="2049517"/>
            <a:ext cx="10731937" cy="4733516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189532A8-7964-A058-E25E-6A8193179F9B}"/>
              </a:ext>
            </a:extLst>
          </p:cNvPr>
          <p:cNvSpPr txBox="1">
            <a:spLocks/>
          </p:cNvSpPr>
          <p:nvPr/>
        </p:nvSpPr>
        <p:spPr>
          <a:xfrm>
            <a:off x="606441" y="1337929"/>
            <a:ext cx="10652420" cy="142317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0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18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l"/>
              <a:defRPr sz="2200" kern="1200">
                <a:solidFill>
                  <a:srgbClr val="9420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dk1"/>
                </a:solidFill>
                <a:latin typeface="华文中宋"/>
                <a:ea typeface="华文中宋"/>
              </a:rPr>
              <a:t>Apart from perturbation prediction, all others are done based on its embedding. </a:t>
            </a:r>
          </a:p>
        </p:txBody>
      </p:sp>
    </p:spTree>
    <p:extLst>
      <p:ext uri="{BB962C8B-B14F-4D97-AF65-F5344CB8AC3E}">
        <p14:creationId xmlns:p14="http://schemas.microsoft.com/office/powerpoint/2010/main" val="1671763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EEC6D-D562-069A-6973-0C508954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31A82C57-337E-89FA-873E-6BF3110E0AA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Further…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98441BD0-E1EB-4D64-8B66-3DA180D5A19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447920"/>
            <a:ext cx="10757524" cy="541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Since training a small GPT that can say something need GPU, so we just provide a demo: </a:t>
            </a:r>
            <a:r>
              <a:rPr lang="en-US" sz="2000" dirty="0" err="1">
                <a:solidFill>
                  <a:schemeClr val="dk1"/>
                </a:solidFill>
                <a:latin typeface="华文中宋"/>
                <a:ea typeface="华文中宋"/>
              </a:rPr>
              <a:t>generative_models</a:t>
            </a: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/03_toy_gpt_forward_generation.ipynb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Try HappyLLM if you want to train your own</a:t>
            </a:r>
          </a:p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Recommended resources:</a:t>
            </a:r>
            <a:endParaRPr lang="en-US" sz="12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3"/>
              </a:rPr>
              <a:t>https://web.stanford.edu/class/cs25/</a:t>
            </a:r>
            <a:r>
              <a:rPr lang="zh-CN" alt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Most</a:t>
            </a:r>
            <a:r>
              <a:rPr lang="zh-CN" alt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recommended. You can get an overview of most </a:t>
            </a:r>
            <a:r>
              <a:rPr lang="en-US" altLang="zh-CN" sz="1800">
                <a:solidFill>
                  <a:schemeClr val="dk1"/>
                </a:solidFill>
                <a:latin typeface="华文中宋"/>
                <a:ea typeface="华文中宋"/>
              </a:rPr>
              <a:t>advanced technologies.</a:t>
            </a:r>
            <a:endParaRPr lang="en-US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  <a:hlinkClick r:id="rId4"/>
              </a:rPr>
              <a:t>https://arxiv.org/abs/1706.03762</a:t>
            </a:r>
            <a:r>
              <a:rPr lang="en-US" altLang="zh-CN" sz="1800" dirty="0">
                <a:solidFill>
                  <a:schemeClr val="dk1"/>
                </a:solidFill>
                <a:latin typeface="华文中宋"/>
                <a:ea typeface="华文中宋"/>
              </a:rPr>
              <a:t> (Attention Is All You Need)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5"/>
              </a:rPr>
              <a:t>https://github.com/datawhalechina/happy-llm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(Train a </a:t>
            </a:r>
            <a:r>
              <a:rPr lang="en-US" sz="1800" dirty="0" err="1">
                <a:solidFill>
                  <a:schemeClr val="dk1"/>
                </a:solidFill>
                <a:latin typeface="华文中宋"/>
                <a:ea typeface="华文中宋"/>
              </a:rPr>
              <a:t>llm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by yourself)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6"/>
              </a:rPr>
              <a:t>https://web.stanford.edu/class/cs224n/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(Natural Language Processing with Deep Learning)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  <a:hlinkClick r:id="rId7"/>
              </a:rPr>
              <a:t>https://cs336.stanford.edu/</a:t>
            </a:r>
            <a:r>
              <a:rPr lang="en-US" sz="1800" dirty="0">
                <a:solidFill>
                  <a:schemeClr val="dk1"/>
                </a:solidFill>
                <a:latin typeface="华文中宋"/>
                <a:ea typeface="华文中宋"/>
              </a:rPr>
              <a:t> (Language Modeling from Scratch)</a:t>
            </a:r>
          </a:p>
          <a:p>
            <a:pPr marL="1257480" lvl="2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Hard, learn cs224n/</a:t>
            </a:r>
            <a:r>
              <a:rPr lang="en-US" sz="2000" dirty="0" err="1">
                <a:solidFill>
                  <a:schemeClr val="dk1"/>
                </a:solidFill>
                <a:latin typeface="华文中宋"/>
                <a:ea typeface="华文中宋"/>
              </a:rPr>
              <a:t>happyllm</a:t>
            </a: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 first.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FEAB4E1-0E73-5393-2F1B-303AD4FE000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495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82E1-2DED-DD3F-C5CD-CCEBB28D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E14B2F32-929F-D332-E78E-6F2D2ED8236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32</a:t>
            </a:fld>
            <a:endParaRPr dirty="0"/>
          </a:p>
        </p:txBody>
      </p:sp>
      <p:pic>
        <p:nvPicPr>
          <p:cNvPr id="2" name="Picture 4" descr="Ink Drip in Water Stock Footage RED | ToobStock: Free Stock Video! Water, Red, Footage, Video, Clip, compositing, after, effects, compositor, Animation, Effect, Adobe, Free, Stock, Stock Video, Free Stock Footage, Free Stock GIF">
            <a:extLst>
              <a:ext uri="{FF2B5EF4-FFF2-40B4-BE49-F238E27FC236}">
                <a16:creationId xmlns:a16="http://schemas.microsoft.com/office/drawing/2014/main" id="{455935B0-3E1C-17FF-A7AC-A8554676614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682"/>
            <a:ext cx="12202386" cy="701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5" name="PlaceHolder 2">
            <a:extLst>
              <a:ext uri="{FF2B5EF4-FFF2-40B4-BE49-F238E27FC236}">
                <a16:creationId xmlns:a16="http://schemas.microsoft.com/office/drawing/2014/main" id="{C8C4ED51-853A-D28F-8309-23749C8744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771" y="3722914"/>
            <a:ext cx="9403560" cy="142602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None/>
            </a:pPr>
            <a:r>
              <a:rPr lang="en-US" sz="3200" b="1" u="none" strike="noStrike" dirty="0">
                <a:solidFill>
                  <a:schemeClr val="dk1"/>
                </a:solidFill>
                <a:uFillTx/>
                <a:latin typeface="华文中宋"/>
                <a:ea typeface="华文中宋"/>
              </a:rPr>
              <a:t>Diffusion </a:t>
            </a:r>
            <a:r>
              <a:rPr lang="en-US" sz="3200" b="1" dirty="0">
                <a:solidFill>
                  <a:schemeClr val="dk1"/>
                </a:solidFill>
                <a:latin typeface="华文中宋"/>
                <a:ea typeface="华文中宋"/>
              </a:rPr>
              <a:t>Models</a:t>
            </a:r>
            <a:endParaRPr lang="en-US" sz="3200" b="1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3071957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31C7-F80F-B398-8EAC-AB69804D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35C8DED-AF00-E7D5-51FA-BEE39A1DA419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Diffusion in Physics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3298B050-4362-87F7-6D99-39F818BA983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920" y="2879834"/>
            <a:ext cx="9403560" cy="168165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Ink diffuses in water over time</a:t>
            </a:r>
            <a:endParaRPr lang="en-US" altLang="zh-CN" sz="2000" dirty="0">
              <a:solidFill>
                <a:srgbClr val="FF0000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8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2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115C16A-252C-FBFA-BC80-432573C1D5B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33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3884F8-61C2-FBAC-E464-EA171AAEBB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55228"/>
            <a:ext cx="4812395" cy="4153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81D5CD-6F2F-1741-C6D2-2ED286019855}"/>
              </a:ext>
            </a:extLst>
          </p:cNvPr>
          <p:cNvSpPr txBox="1"/>
          <p:nvPr/>
        </p:nvSpPr>
        <p:spPr>
          <a:xfrm>
            <a:off x="501869" y="6443932"/>
            <a:ext cx="8314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Image source: 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lt"/>
                <a:hlinkClick r:id="rId4"/>
              </a:rPr>
              <a:t>https://makeagif.com/gif/ink-drip-in-water-stock-footage-red-toobstock-free-stock-video-IR7ZXe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endParaRPr lang="en-US" altLang="zh-CN" sz="1200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03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119E-6A21-CFF9-AA8A-4881F17D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9E80971-681A-34F9-13C6-C618FC1FA8D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Diffusion in Physics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100EF245-515F-5899-C514-EDDF84FF83A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920" y="2879834"/>
            <a:ext cx="9403560" cy="168165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Ink diffuses in water over time</a:t>
            </a:r>
            <a:endParaRPr lang="en-US" altLang="zh-CN" sz="2000" dirty="0">
              <a:solidFill>
                <a:srgbClr val="FF0000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rgbClr val="FF0000"/>
                </a:solidFill>
                <a:latin typeface="华文中宋"/>
                <a:ea typeface="华文中宋"/>
              </a:rPr>
              <a:t>What if we can reverse time?</a:t>
            </a:r>
          </a:p>
          <a:p>
            <a:pPr marL="800280" lvl="1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12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60B7753-AD2D-6FA1-03B7-CB33798B16F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34</a:t>
            </a:fld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D9830C-527A-8A25-724F-496C8E4960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779" y="1562904"/>
            <a:ext cx="4935523" cy="425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1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59FCE-2C6A-2E9B-B6FB-54EB729E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F5F46399-C236-41BF-7BA3-2102BF0EBB4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Diffusion-based models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F05BB5A-51CC-2182-1D34-D25FF2F3A43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35</a:t>
            </a:fld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05784B0-81DF-C02C-5735-086B3E94BF09}"/>
              </a:ext>
            </a:extLst>
          </p:cNvPr>
          <p:cNvGrpSpPr/>
          <p:nvPr/>
        </p:nvGrpSpPr>
        <p:grpSpPr>
          <a:xfrm>
            <a:off x="401907" y="1909949"/>
            <a:ext cx="11099342" cy="3528223"/>
            <a:chOff x="516800" y="2217963"/>
            <a:chExt cx="11099342" cy="352822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E38C161-C95D-9058-1C5D-A8B92FDD972D}"/>
                </a:ext>
              </a:extLst>
            </p:cNvPr>
            <p:cNvSpPr txBox="1"/>
            <p:nvPr/>
          </p:nvSpPr>
          <p:spPr>
            <a:xfrm>
              <a:off x="639710" y="2663314"/>
              <a:ext cx="22848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Data distribution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0FB39CB-4DEB-FA7E-0968-08E04560E336}"/>
                </a:ext>
              </a:extLst>
            </p:cNvPr>
            <p:cNvSpPr txBox="1"/>
            <p:nvPr/>
          </p:nvSpPr>
          <p:spPr>
            <a:xfrm>
              <a:off x="9331322" y="2663314"/>
              <a:ext cx="22848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Gaussian noise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74393DE7-7D09-FB40-00AD-F3BE4959D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1901" y="3320945"/>
              <a:ext cx="9383434" cy="1228896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C6A17BE-A419-92A7-FCB8-3344F00A63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9776" t="9425" r="37766" b="69383"/>
            <a:stretch/>
          </p:blipFill>
          <p:spPr>
            <a:xfrm>
              <a:off x="5137186" y="4777200"/>
              <a:ext cx="1917627" cy="372295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0D4A720-FD96-9D04-39F7-DE3109A8671E}"/>
                </a:ext>
              </a:extLst>
            </p:cNvPr>
            <p:cNvSpPr txBox="1"/>
            <p:nvPr/>
          </p:nvSpPr>
          <p:spPr>
            <a:xfrm>
              <a:off x="4348420" y="2217963"/>
              <a:ext cx="3490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Add Markovian Gaussian noise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5E9CF32-812F-44CD-1987-9EB006871AF2}"/>
                </a:ext>
              </a:extLst>
            </p:cNvPr>
            <p:cNvSpPr txBox="1"/>
            <p:nvPr/>
          </p:nvSpPr>
          <p:spPr>
            <a:xfrm>
              <a:off x="4350802" y="5376854"/>
              <a:ext cx="3490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Learn to denoise/generate data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21A0532-B70B-B158-DD9D-6C887E925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96449" y="2622218"/>
              <a:ext cx="2175855" cy="503582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73E2D3B-084C-8D52-0D8A-4BC79B6DF374}"/>
                </a:ext>
              </a:extLst>
            </p:cNvPr>
            <p:cNvSpPr txBox="1"/>
            <p:nvPr/>
          </p:nvSpPr>
          <p:spPr>
            <a:xfrm>
              <a:off x="516800" y="4780163"/>
              <a:ext cx="2456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Model distribution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6E909EF-7516-8803-28FE-50B15BE7F559}"/>
                </a:ext>
              </a:extLst>
            </p:cNvPr>
            <p:cNvSpPr txBox="1"/>
            <p:nvPr/>
          </p:nvSpPr>
          <p:spPr>
            <a:xfrm>
              <a:off x="9331322" y="4780163"/>
              <a:ext cx="22848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Gaussian prior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763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1C43-3F02-B3EA-E9A5-6A411013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DE9212B7-87F8-C1E7-A493-A4D41FB8883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Core idea of diffusion model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265" name="PlaceHolder 2">
            <a:extLst>
              <a:ext uri="{FF2B5EF4-FFF2-40B4-BE49-F238E27FC236}">
                <a16:creationId xmlns:a16="http://schemas.microsoft.com/office/drawing/2014/main" id="{736B1AEF-0A94-E407-F5FB-F8878F1CB0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6200" y="1353326"/>
            <a:ext cx="9403560" cy="39333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Training: Learn to predict image from noisy image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dirty="0">
              <a:solidFill>
                <a:schemeClr val="dk1"/>
              </a:solidFill>
              <a:latin typeface="华文中宋"/>
              <a:ea typeface="华文中宋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chemeClr val="dk1"/>
                </a:solidFill>
                <a:latin typeface="华文中宋"/>
                <a:ea typeface="华文中宋"/>
              </a:rPr>
              <a:t>Sampling: sample from gaussian noise and then turn into image gradually. 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2278F"/>
              </a:buClr>
              <a:buSzPct val="80000"/>
              <a:buFont typeface="Wingdings 3" charset="2"/>
              <a:buChar char=""/>
            </a:pPr>
            <a:endParaRPr lang="en-US" sz="2000" b="0" u="none" strike="noStrike" dirty="0">
              <a:solidFill>
                <a:schemeClr val="dk1"/>
              </a:solidFill>
              <a:uFillTx/>
              <a:latin typeface="华文中宋"/>
              <a:ea typeface="华文中宋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52808B46-840D-03EF-F7E6-6DDCEB669AC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4576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8028-AD40-F9D3-2340-108B76CB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0832B5BE-1DDB-B1C5-9473-55B5875E112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56676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altLang="zh-CN" sz="2800" dirty="0">
                <a:solidFill>
                  <a:schemeClr val="dk2"/>
                </a:solidFill>
                <a:latin typeface="华文中宋"/>
                <a:ea typeface="华文中宋"/>
              </a:rPr>
              <a:t>Diffusion Training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A54559E8-166A-D134-398F-1EDC8DC0077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37</a:t>
            </a:fld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A50101-9F12-406C-F333-E0ACAD980B2D}"/>
              </a:ext>
            </a:extLst>
          </p:cNvPr>
          <p:cNvSpPr txBox="1"/>
          <p:nvPr/>
        </p:nvSpPr>
        <p:spPr>
          <a:xfrm>
            <a:off x="9195409" y="2365810"/>
            <a:ext cx="2284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Gaussian noise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4C601B3-9F4F-BBEB-E45C-9A5E3497E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988" y="3023441"/>
            <a:ext cx="9383434" cy="122889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4396573-F302-ACD8-66EF-75708AD0AFAD}"/>
              </a:ext>
            </a:extLst>
          </p:cNvPr>
          <p:cNvSpPr txBox="1"/>
          <p:nvPr/>
        </p:nvSpPr>
        <p:spPr>
          <a:xfrm>
            <a:off x="3618044" y="1812141"/>
            <a:ext cx="34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Add Gaussian noise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5E7381-C33B-0336-63F1-2F3882FA58F4}"/>
              </a:ext>
            </a:extLst>
          </p:cNvPr>
          <p:cNvSpPr txBox="1"/>
          <p:nvPr/>
        </p:nvSpPr>
        <p:spPr>
          <a:xfrm>
            <a:off x="2723920" y="5210030"/>
            <a:ext cx="34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Learn to recover clean data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85101F-5C08-B5F6-0E9F-B551685FED6B}"/>
              </a:ext>
            </a:extLst>
          </p:cNvPr>
          <p:cNvSpPr txBox="1"/>
          <p:nvPr/>
        </p:nvSpPr>
        <p:spPr>
          <a:xfrm>
            <a:off x="380887" y="4482659"/>
            <a:ext cx="245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2D573A-33C3-CA79-01AD-96DE85EC5D85}"/>
              </a:ext>
            </a:extLst>
          </p:cNvPr>
          <p:cNvSpPr txBox="1"/>
          <p:nvPr/>
        </p:nvSpPr>
        <p:spPr>
          <a:xfrm>
            <a:off x="9195409" y="4482659"/>
            <a:ext cx="2284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Gaussian prior</a:t>
            </a:r>
          </a:p>
        </p:txBody>
      </p:sp>
      <p:sp>
        <p:nvSpPr>
          <p:cNvPr id="11" name="弧 10">
            <a:extLst>
              <a:ext uri="{FF2B5EF4-FFF2-40B4-BE49-F238E27FC236}">
                <a16:creationId xmlns:a16="http://schemas.microsoft.com/office/drawing/2014/main" id="{25E6874F-BEC8-29E4-6527-0505B68DF66C}"/>
              </a:ext>
            </a:extLst>
          </p:cNvPr>
          <p:cNvSpPr/>
          <p:nvPr/>
        </p:nvSpPr>
        <p:spPr>
          <a:xfrm rot="20277599">
            <a:off x="1296661" y="1688015"/>
            <a:ext cx="6613066" cy="3992984"/>
          </a:xfrm>
          <a:prstGeom prst="arc">
            <a:avLst>
              <a:gd name="adj1" fmla="val 13124375"/>
              <a:gd name="adj2" fmla="val 672939"/>
            </a:avLst>
          </a:prstGeom>
          <a:ln w="50800">
            <a:solidFill>
              <a:srgbClr val="0070C0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8036F-FDC6-7CE1-90C5-2DBD1E17679D}"/>
              </a:ext>
            </a:extLst>
          </p:cNvPr>
          <p:cNvSpPr txBox="1"/>
          <p:nvPr/>
        </p:nvSpPr>
        <p:spPr>
          <a:xfrm>
            <a:off x="380887" y="2325622"/>
            <a:ext cx="2284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distribution</a:t>
            </a:r>
          </a:p>
        </p:txBody>
      </p:sp>
      <p:sp>
        <p:nvSpPr>
          <p:cNvPr id="14" name="弧 13">
            <a:extLst>
              <a:ext uri="{FF2B5EF4-FFF2-40B4-BE49-F238E27FC236}">
                <a16:creationId xmlns:a16="http://schemas.microsoft.com/office/drawing/2014/main" id="{C789855B-209C-3DD5-3B46-BAF42CE15B55}"/>
              </a:ext>
            </a:extLst>
          </p:cNvPr>
          <p:cNvSpPr/>
          <p:nvPr/>
        </p:nvSpPr>
        <p:spPr>
          <a:xfrm rot="9386348">
            <a:off x="1918239" y="1669915"/>
            <a:ext cx="6613066" cy="3992984"/>
          </a:xfrm>
          <a:prstGeom prst="arc">
            <a:avLst>
              <a:gd name="adj1" fmla="val 13124375"/>
              <a:gd name="adj2" fmla="val 672939"/>
            </a:avLst>
          </a:prstGeom>
          <a:ln w="50800">
            <a:solidFill>
              <a:schemeClr val="accent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E293FB3-44C5-9262-6891-EC84987F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2412" y="4348449"/>
            <a:ext cx="4640755" cy="503542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&#10;$$&#10;x_t = \sqrt{\alpha_t} x_{\text{data}} + \sqrt{1-\alpha_t} \epsilon, \quad \epsilon \sim \mathcal N(0, I)&#10;$$&#10;&#10;\end{document}" title="IguanaTex Picture Display">
            <a:extLst>
              <a:ext uri="{FF2B5EF4-FFF2-40B4-BE49-F238E27FC236}">
                <a16:creationId xmlns:a16="http://schemas.microsoft.com/office/drawing/2014/main" id="{3B205714-2ECB-A7A6-AC66-4FC7978B7C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723920" y="2549557"/>
            <a:ext cx="4891363" cy="30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06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768D8-E671-BE2B-40AB-F971DE71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610321B6-55AA-CBCA-927B-FEB5F07D4E8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altLang="zh-CN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Diffusion Training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C5DC723-F280-8E8D-06B4-13D4C7CF5E1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986144" y="3947691"/>
                <a:ext cx="10219712" cy="254143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Since                               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华文中宋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prediction is equivalent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𝜖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prediction.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t=0 is clean image, t=T(e.g. 100) is pure gaussian noise.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华文中宋"/>
                      </a:rPr>
                      <m:t>𝛼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 schedule is pre-determined.</a:t>
                </a:r>
                <a:endParaRPr lang="en-US" sz="2000" b="0" u="none" strike="noStrike" dirty="0">
                  <a:solidFill>
                    <a:schemeClr val="dk1"/>
                  </a:solidFill>
                  <a:uFillTx/>
                  <a:latin typeface="华文中宋"/>
                  <a:ea typeface="华文中宋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3C5DC723-F280-8E8D-06B4-13D4C7CF5E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986144" y="3947691"/>
                <a:ext cx="10219712" cy="2541430"/>
              </a:xfrm>
              <a:prstGeom prst="rect">
                <a:avLst/>
              </a:prstGeom>
              <a:blipFill>
                <a:blip r:embed="rId4"/>
                <a:stretch>
                  <a:fillRect l="-248" t="-15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8E5833F0-BC8E-2FC0-9857-B4759791049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38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CBD35D-6FC8-8CD6-AE07-B2E27BF136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963"/>
          <a:stretch>
            <a:fillRect/>
          </a:stretch>
        </p:blipFill>
        <p:spPr>
          <a:xfrm>
            <a:off x="3566948" y="1062720"/>
            <a:ext cx="5058103" cy="2618509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&#10;$$&#10;x_t = \sqrt{\alpha_t} x_{0} + \sqrt{1-\alpha_t} \epsilon&#10;$$&#10;&#10;\end{document}" title="IguanaTex Picture Display">
            <a:extLst>
              <a:ext uri="{FF2B5EF4-FFF2-40B4-BE49-F238E27FC236}">
                <a16:creationId xmlns:a16="http://schemas.microsoft.com/office/drawing/2014/main" id="{E27C250B-8B05-2BF3-A88C-83EDAFED896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99443" y="4029426"/>
            <a:ext cx="2426149" cy="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140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26CE-66B7-063E-D903-35690BD3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4867BC86-1749-D9CA-36E1-0BB22BE6CD4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Diffusion sampling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EF5CBCD0-F8DA-9F80-0D3B-0D6B433610D6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46200" y="1353326"/>
                <a:ext cx="9403560" cy="4931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rmAutofit/>
              </a:bodyPr>
              <a:lstStyle/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dirty="0">
                    <a:solidFill>
                      <a:schemeClr val="dk1"/>
                    </a:solidFill>
                    <a:latin typeface="华文中宋"/>
                    <a:ea typeface="华文中宋"/>
                  </a:rPr>
                  <a:t>Sampling starts from pure noise and repeatedly applies this learned denoising rule.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b="0" u="none" strike="noStrike" dirty="0">
                    <a:solidFill>
                      <a:schemeClr val="dk1"/>
                    </a:solidFill>
                    <a:uFillTx/>
                    <a:latin typeface="华文中宋"/>
                    <a:ea typeface="华文中宋"/>
                  </a:rPr>
                  <a:t>Current noisy sample: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sz="2000" b="0" u="none" strike="noStrike" dirty="0">
                    <a:solidFill>
                      <a:schemeClr val="dk1"/>
                    </a:solidFill>
                    <a:uFillTx/>
                    <a:latin typeface="华文中宋"/>
                    <a:ea typeface="华文中宋"/>
                  </a:rPr>
                  <a:t>Predict clean sample: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latin typeface="+mn-ea"/>
                  </a:rPr>
                  <a:t>Estimate noise inside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b="0" u="none" strike="noStrike" dirty="0">
                    <a:solidFill>
                      <a:schemeClr val="dk1"/>
                    </a:solidFill>
                    <a:uFillTx/>
                    <a:latin typeface="+mn-ea"/>
                  </a:rPr>
                  <a:t>, </a:t>
                </a:r>
                <a:r>
                  <a:rPr lang="en-US" altLang="zh-CN" sz="2000" dirty="0">
                    <a:latin typeface="+mn-ea"/>
                  </a:rPr>
                  <a:t> (since                                )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latin typeface="+mn-ea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altLang="zh-CN" sz="20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latin typeface="+mn-ea"/>
                  </a:rPr>
                  <a:t>Move to a cleaner noise level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altLang="zh-CN" sz="2000" dirty="0">
                  <a:latin typeface="+mn-ea"/>
                </a:endParaRP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r>
                  <a:rPr lang="en-US" altLang="zh-CN" sz="2000" dirty="0">
                    <a:latin typeface="+mn-ea"/>
                  </a:rPr>
                  <a:t>Iterate until t=0.</a:t>
                </a:r>
              </a:p>
              <a:p>
                <a:pPr marL="343080" indent="-34308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Font typeface="Wingdings 3" charset="2"/>
                  <a:buChar char=""/>
                </a:pPr>
                <a:endParaRPr lang="en-US" sz="2000" b="0" u="none" strike="noStrike" dirty="0">
                  <a:solidFill>
                    <a:schemeClr val="dk1"/>
                  </a:solidFill>
                  <a:uFillTx/>
                  <a:latin typeface="+mn-ea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ts val="1001"/>
                  </a:spcBef>
                  <a:buClr>
                    <a:srgbClr val="92278F"/>
                  </a:buClr>
                  <a:buSzPct val="80000"/>
                  <a:buNone/>
                </a:pPr>
                <a:endParaRPr lang="en-US" sz="2000" dirty="0">
                  <a:solidFill>
                    <a:schemeClr val="dk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65" name="PlaceHolder 2">
                <a:extLst>
                  <a:ext uri="{FF2B5EF4-FFF2-40B4-BE49-F238E27FC236}">
                    <a16:creationId xmlns:a16="http://schemas.microsoft.com/office/drawing/2014/main" id="{EF5CBCD0-F8DA-9F80-0D3B-0D6B43361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46200" y="1353326"/>
                <a:ext cx="9403560" cy="4931860"/>
              </a:xfrm>
              <a:prstGeom prst="rect">
                <a:avLst/>
              </a:prstGeom>
              <a:blipFill>
                <a:blip r:embed="rId4"/>
                <a:stretch>
                  <a:fillRect l="-270" t="-5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ceHolder 3">
            <a:extLst>
              <a:ext uri="{FF2B5EF4-FFF2-40B4-BE49-F238E27FC236}">
                <a16:creationId xmlns:a16="http://schemas.microsoft.com/office/drawing/2014/main" id="{BADA1EC9-AE91-CA37-2EB7-4F4F293D2C7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39</a:t>
            </a:fld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DC8DE2-49EC-CACF-DABD-42ADEF94F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914" y="2181553"/>
            <a:ext cx="330200" cy="266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43841D-59C7-646F-CF69-820C888E8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702" y="2565639"/>
            <a:ext cx="1663700" cy="35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4E8D4E-E4DE-872E-70C1-5591BE4F7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650" y="3593562"/>
            <a:ext cx="2209800" cy="67310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$&#10;x_t = \sqrt{\alpha_t} x_{0} + \sqrt{1-\alpha_t} \epsilon&#10;$$&#10;&#10;\end{document}" title="IguanaTex Picture Display">
            <a:extLst>
              <a:ext uri="{FF2B5EF4-FFF2-40B4-BE49-F238E27FC236}">
                <a16:creationId xmlns:a16="http://schemas.microsoft.com/office/drawing/2014/main" id="{8131AF4E-CE28-8AB7-0152-91DD64138C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99258" y="3038625"/>
            <a:ext cx="2426149" cy="2616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86AF3A-15AF-87D0-2D1F-BBB6AA7C09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3114" y="4869524"/>
            <a:ext cx="3695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013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A8F4-9C9A-042A-85C0-295BC68C7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33FE4990-9396-6A58-02BE-40304020439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800" b="0" u="none" strike="noStrike" dirty="0">
                <a:solidFill>
                  <a:schemeClr val="dk2"/>
                </a:solidFill>
                <a:uFillTx/>
                <a:latin typeface="华文中宋"/>
                <a:ea typeface="华文中宋"/>
              </a:rPr>
              <a:t>Conditional Diffusion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13A523A-F7E6-FF7C-221B-276C4B018C7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40</a:t>
            </a:fld>
            <a:endParaRPr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B6779F1-4036-46CC-473F-E7C517968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33" b="94474" l="419" r="98624">
                        <a14:foregroundMark x1="12081" y1="18278" x2="5981" y2="18385"/>
                        <a14:foregroundMark x1="5981" y1="18385" x2="1316" y2="23911"/>
                        <a14:foregroundMark x1="1316" y1="23911" x2="1196" y2="33900"/>
                        <a14:foregroundMark x1="1196" y1="33900" x2="3947" y2="41870"/>
                        <a14:foregroundMark x1="3947" y1="41870" x2="52392" y2="54942"/>
                        <a14:foregroundMark x1="52392" y1="54942" x2="52392" y2="54623"/>
                        <a14:foregroundMark x1="16866" y1="31456" x2="27153" y2="29012"/>
                        <a14:foregroundMark x1="27153" y1="29012" x2="76435" y2="38576"/>
                        <a14:foregroundMark x1="76435" y1="38576" x2="48565" y2="34431"/>
                        <a14:foregroundMark x1="48565" y1="34431" x2="56160" y2="28799"/>
                        <a14:foregroundMark x1="56160" y1="28799" x2="64055" y2="28480"/>
                        <a14:foregroundMark x1="64055" y1="28480" x2="18122" y2="21998"/>
                        <a14:foregroundMark x1="18122" y1="21998" x2="22548" y2="21360"/>
                        <a14:foregroundMark x1="22548" y1="21360" x2="72368" y2="24230"/>
                        <a14:foregroundMark x1="72368" y1="24230" x2="50120" y2="24336"/>
                        <a14:foregroundMark x1="50120" y1="24336" x2="75598" y2="21785"/>
                        <a14:foregroundMark x1="75598" y1="21785" x2="18600" y2="19872"/>
                        <a14:foregroundMark x1="18600" y1="19872" x2="25778" y2="19447"/>
                        <a14:foregroundMark x1="25778" y1="19447" x2="55801" y2="23698"/>
                        <a14:foregroundMark x1="55801" y1="23698" x2="9211" y2="16684"/>
                        <a14:foregroundMark x1="9211" y1="16684" x2="32237" y2="13709"/>
                        <a14:foregroundMark x1="32237" y1="13709" x2="43600" y2="14240"/>
                        <a14:foregroundMark x1="43600" y1="14240" x2="23804" y2="14559"/>
                        <a14:foregroundMark x1="23804" y1="14559" x2="33612" y2="12965"/>
                        <a14:foregroundMark x1="33612" y1="12965" x2="8852" y2="12540"/>
                        <a14:foregroundMark x1="8852" y1="12540" x2="14833" y2="12327"/>
                        <a14:foregroundMark x1="14833" y1="12327" x2="35945" y2="12327"/>
                        <a14:foregroundMark x1="35945" y1="12327" x2="29007" y2="12646"/>
                        <a14:foregroundMark x1="29007" y1="12646" x2="75897" y2="14878"/>
                        <a14:foregroundMark x1="75897" y1="14878" x2="80263" y2="14346"/>
                        <a14:foregroundMark x1="80263" y1="14346" x2="44079" y2="13177"/>
                        <a14:foregroundMark x1="44079" y1="13177" x2="78409" y2="15834"/>
                        <a14:foregroundMark x1="78409" y1="15834" x2="71471" y2="14134"/>
                        <a14:foregroundMark x1="77273" y1="25399" x2="46591" y2="20085"/>
                        <a14:foregroundMark x1="46591" y1="20085" x2="60108" y2="20085"/>
                        <a14:foregroundMark x1="60108" y1="20085" x2="20694" y2="19447"/>
                        <a14:foregroundMark x1="20694" y1="19447" x2="28289" y2="15409"/>
                        <a14:foregroundMark x1="28289" y1="15409" x2="957" y2="14984"/>
                        <a14:foregroundMark x1="957" y1="14984" x2="5502" y2="14772"/>
                        <a14:foregroundMark x1="5502" y1="14772" x2="11364" y2="16366"/>
                        <a14:foregroundMark x1="11364" y1="16366" x2="1555" y2="17535"/>
                        <a14:foregroundMark x1="1555" y1="17535" x2="5921" y2="12115"/>
                        <a14:foregroundMark x1="5921" y1="12115" x2="1136" y2="17322"/>
                        <a14:foregroundMark x1="1136" y1="17322" x2="7775" y2="11158"/>
                        <a14:foregroundMark x1="7775" y1="11158" x2="3648" y2="20829"/>
                        <a14:foregroundMark x1="3648" y1="20829" x2="9211" y2="16366"/>
                        <a14:foregroundMark x1="9211" y1="16366" x2="1435" y2="38470"/>
                        <a14:foregroundMark x1="1435" y1="38470" x2="7536" y2="27736"/>
                        <a14:foregroundMark x1="7536" y1="27736" x2="4306" y2="54942"/>
                        <a14:foregroundMark x1="4306" y1="54942" x2="10646" y2="50584"/>
                        <a14:foregroundMark x1="10646" y1="50584" x2="16089" y2="42933"/>
                        <a14:foregroundMark x1="16089" y1="42933" x2="15191" y2="54942"/>
                        <a14:foregroundMark x1="15191" y1="54942" x2="12440" y2="62912"/>
                        <a14:foregroundMark x1="12440" y1="62912" x2="24641" y2="53560"/>
                        <a14:foregroundMark x1="24641" y1="53560" x2="31041" y2="53454"/>
                        <a14:foregroundMark x1="31041" y1="53454" x2="21711" y2="74601"/>
                        <a14:foregroundMark x1="21711" y1="74601" x2="36722" y2="60893"/>
                        <a14:foregroundMark x1="36722" y1="60893" x2="33194" y2="70351"/>
                        <a14:foregroundMark x1="33194" y1="70351" x2="27452" y2="75027"/>
                        <a14:foregroundMark x1="27452" y1="75027" x2="44258" y2="74070"/>
                        <a14:foregroundMark x1="44258" y1="74070" x2="54426" y2="77258"/>
                        <a14:foregroundMark x1="54426" y1="77258" x2="45335" y2="76196"/>
                        <a14:foregroundMark x1="45335" y1="76196" x2="57656" y2="76089"/>
                        <a14:foregroundMark x1="57656" y1="76089" x2="74462" y2="76196"/>
                        <a14:foregroundMark x1="74462" y1="76196" x2="85048" y2="68650"/>
                        <a14:foregroundMark x1="85048" y1="68650" x2="87799" y2="58023"/>
                        <a14:foregroundMark x1="87799" y1="58023" x2="79665" y2="43889"/>
                        <a14:foregroundMark x1="79665" y1="43889" x2="68361" y2="42614"/>
                        <a14:foregroundMark x1="68361" y1="42614" x2="49402" y2="53560"/>
                        <a14:foregroundMark x1="49402" y1="53560" x2="66986" y2="56748"/>
                        <a14:foregroundMark x1="66986" y1="56748" x2="41746" y2="55473"/>
                        <a14:foregroundMark x1="41746" y1="55473" x2="48744" y2="66525"/>
                        <a14:foregroundMark x1="48744" y1="66525" x2="48086" y2="76727"/>
                        <a14:foregroundMark x1="48086" y1="76727" x2="45514" y2="84591"/>
                        <a14:foregroundMark x1="45514" y1="84591" x2="39952" y2="85335"/>
                        <a14:foregroundMark x1="39952" y1="85335" x2="50538" y2="94580"/>
                        <a14:foregroundMark x1="50538" y1="94580" x2="56340" y2="82465"/>
                        <a14:foregroundMark x1="56340" y1="82465" x2="56280" y2="80765"/>
                        <a14:foregroundMark x1="93481" y1="19235" x2="89294" y2="25717"/>
                        <a14:foregroundMark x1="89294" y1="25717" x2="87799" y2="51860"/>
                        <a14:foregroundMark x1="87799" y1="51860" x2="88756" y2="60255"/>
                        <a14:foregroundMark x1="88756" y1="60255" x2="88278" y2="69501"/>
                        <a14:foregroundMark x1="88278" y1="69501" x2="87081" y2="73007"/>
                        <a14:foregroundMark x1="93720" y1="15197" x2="96411" y2="66844"/>
                        <a14:foregroundMark x1="96411" y1="66844" x2="94139" y2="74283"/>
                        <a14:foregroundMark x1="94139" y1="74283" x2="89773" y2="75664"/>
                        <a14:foregroundMark x1="89773" y1="75664" x2="89175" y2="76408"/>
                        <a14:foregroundMark x1="87919" y1="69926" x2="64115" y2="58130"/>
                        <a14:foregroundMark x1="64115" y1="58130" x2="45096" y2="42083"/>
                        <a14:foregroundMark x1="45096" y1="42083" x2="12440" y2="36663"/>
                        <a14:foregroundMark x1="12440" y1="36663" x2="20096" y2="36026"/>
                        <a14:foregroundMark x1="20096" y1="36026" x2="71471" y2="48459"/>
                        <a14:foregroundMark x1="71471" y1="48459" x2="78050" y2="58023"/>
                        <a14:foregroundMark x1="78050" y1="58023" x2="79306" y2="68863"/>
                        <a14:foregroundMark x1="79306" y1="68863" x2="75120" y2="76302"/>
                        <a14:foregroundMark x1="75120" y1="76302" x2="33074" y2="60255"/>
                        <a14:foregroundMark x1="33074" y1="60255" x2="20873" y2="50478"/>
                        <a14:foregroundMark x1="20873" y1="50478" x2="23624" y2="46865"/>
                        <a14:foregroundMark x1="4964" y1="10840" x2="10586" y2="12327"/>
                        <a14:foregroundMark x1="10586" y1="12327" x2="29246" y2="10946"/>
                        <a14:foregroundMark x1="29246" y1="10946" x2="69677" y2="14559"/>
                        <a14:foregroundMark x1="69677" y1="14559" x2="83493" y2="12115"/>
                        <a14:foregroundMark x1="83493" y1="12115" x2="56938" y2="12115"/>
                        <a14:foregroundMark x1="56938" y1="12115" x2="68959" y2="16259"/>
                        <a14:foregroundMark x1="68959" y1="16259" x2="15730" y2="10946"/>
                        <a14:foregroundMark x1="15730" y1="10946" x2="52871" y2="10627"/>
                        <a14:foregroundMark x1="52871" y1="10627" x2="40072" y2="10733"/>
                        <a14:foregroundMark x1="40072" y1="10733" x2="75538" y2="12752"/>
                        <a14:foregroundMark x1="75538" y1="12752" x2="49701" y2="11265"/>
                        <a14:foregroundMark x1="49701" y1="11265" x2="78828" y2="11477"/>
                        <a14:foregroundMark x1="78828" y1="11477" x2="61244" y2="15197"/>
                        <a14:foregroundMark x1="61244" y1="15197" x2="94737" y2="15834"/>
                        <a14:foregroundMark x1="94737" y1="15834" x2="71411" y2="18172"/>
                        <a14:foregroundMark x1="71411" y1="18172" x2="86603" y2="18704"/>
                        <a14:foregroundMark x1="86603" y1="18704" x2="71053" y2="29756"/>
                        <a14:foregroundMark x1="71053" y1="29756" x2="94139" y2="35388"/>
                        <a14:foregroundMark x1="94139" y1="35388" x2="91746" y2="43783"/>
                        <a14:foregroundMark x1="91746" y1="43783" x2="78529" y2="46652"/>
                        <a14:foregroundMark x1="78529" y1="46652" x2="94916" y2="42083"/>
                        <a14:foregroundMark x1="94916" y1="42083" x2="69199" y2="46652"/>
                        <a14:foregroundMark x1="69199" y1="46652" x2="95335" y2="37938"/>
                        <a14:foregroundMark x1="96591" y1="35494" x2="89234" y2="19235"/>
                        <a14:foregroundMark x1="89234" y1="19235" x2="82476" y2="19235"/>
                        <a14:foregroundMark x1="82476" y1="19235" x2="88158" y2="13709"/>
                        <a14:foregroundMark x1="88158" y1="13709" x2="98864" y2="17109"/>
                        <a14:foregroundMark x1="98864" y1="17109" x2="88995" y2="34750"/>
                        <a14:foregroundMark x1="88995" y1="34750" x2="95574" y2="42402"/>
                        <a14:foregroundMark x1="95574" y1="42402" x2="95156" y2="51541"/>
                        <a14:foregroundMark x1="95156" y1="51541" x2="87081" y2="61637"/>
                        <a14:foregroundMark x1="87081" y1="61637" x2="93780" y2="63549"/>
                        <a14:foregroundMark x1="93780" y1="63549" x2="86065" y2="71838"/>
                        <a14:foregroundMark x1="86065" y1="71838" x2="75778" y2="76089"/>
                        <a14:foregroundMark x1="75778" y1="76089" x2="89294" y2="76408"/>
                        <a14:foregroundMark x1="89294" y1="76408" x2="60885" y2="81403"/>
                        <a14:foregroundMark x1="60885" y1="81403" x2="74581" y2="73433"/>
                        <a14:foregroundMark x1="74581" y1="73433" x2="45754" y2="85122"/>
                        <a14:foregroundMark x1="45754" y1="85122" x2="69617" y2="88310"/>
                        <a14:foregroundMark x1="69617" y1="88310" x2="61842" y2="94474"/>
                        <a14:foregroundMark x1="61842" y1="94474" x2="42644" y2="99362"/>
                        <a14:foregroundMark x1="42644" y1="99362" x2="38218" y2="98087"/>
                        <a14:foregroundMark x1="38218" y1="98087" x2="44677" y2="96174"/>
                        <a14:foregroundMark x1="44677" y1="96174" x2="16388" y2="92667"/>
                        <a14:foregroundMark x1="16388" y1="92667" x2="11663" y2="89586"/>
                        <a14:foregroundMark x1="11663" y1="89586" x2="33134" y2="87354"/>
                        <a14:foregroundMark x1="33134" y1="87354" x2="4725" y2="86716"/>
                        <a14:foregroundMark x1="4725" y1="86716" x2="28529" y2="79702"/>
                        <a14:foregroundMark x1="28529" y1="79702" x2="9928" y2="86291"/>
                        <a14:foregroundMark x1="9928" y1="86291" x2="2632" y2="85228"/>
                        <a14:foregroundMark x1="2632" y1="85228" x2="19318" y2="69288"/>
                        <a14:foregroundMark x1="19318" y1="69288" x2="1136" y2="73114"/>
                        <a14:foregroundMark x1="1136" y1="73114" x2="1555" y2="47609"/>
                        <a14:foregroundMark x1="1555" y1="47609" x2="419" y2="65994"/>
                        <a14:foregroundMark x1="419" y1="65994" x2="9151" y2="34325"/>
                        <a14:foregroundMark x1="9151" y1="34325" x2="12500" y2="41764"/>
                        <a14:foregroundMark x1="16567" y1="10840" x2="1256" y2="9139"/>
                        <a14:foregroundMark x1="76854" y1="81615" x2="92883" y2="78108"/>
                        <a14:foregroundMark x1="92883" y1="78108" x2="94318" y2="78108"/>
                        <a14:foregroundMark x1="89533" y1="80765" x2="94139" y2="80978"/>
                        <a14:foregroundMark x1="94139" y1="80978" x2="98505" y2="80553"/>
                        <a14:foregroundMark x1="98505" y1="80553" x2="98505" y2="80553"/>
                        <a14:foregroundMark x1="89952" y1="83528" x2="94498" y2="82465"/>
                        <a14:foregroundMark x1="94498" y1="82465" x2="98146" y2="82465"/>
                        <a14:foregroundMark x1="98624" y1="82784" x2="74940" y2="83209"/>
                        <a14:foregroundMark x1="74940" y1="83209" x2="80502" y2="83528"/>
                        <a14:foregroundMark x1="80502" y1="83528" x2="85407" y2="82784"/>
                        <a14:foregroundMark x1="85407" y1="82784" x2="93062" y2="83634"/>
                        <a14:foregroundMark x1="79844" y1="12646" x2="92524" y2="12859"/>
                        <a14:foregroundMark x1="92524" y1="12859" x2="97309" y2="12327"/>
                        <a14:foregroundMark x1="97309" y1="12327" x2="85227" y2="11371"/>
                        <a14:foregroundMark x1="85227" y1="11371" x2="92105" y2="11477"/>
                        <a14:foregroundMark x1="92105" y1="11477" x2="80502" y2="11477"/>
                        <a14:foregroundMark x1="80502" y1="11477" x2="95335" y2="14028"/>
                        <a14:foregroundMark x1="95335" y1="14028" x2="84689" y2="12327"/>
                        <a14:foregroundMark x1="84689" y1="12327" x2="90909" y2="12327"/>
                        <a14:foregroundMark x1="90909" y1="12327" x2="74222" y2="11265"/>
                        <a14:foregroundMark x1="74222" y1="11265" x2="85167" y2="10521"/>
                        <a14:foregroundMark x1="85167" y1="10521" x2="91866" y2="11477"/>
                        <a14:foregroundMark x1="97010" y1="12965" x2="89414" y2="12965"/>
                        <a14:foregroundMark x1="89414" y1="12965" x2="97967" y2="12646"/>
                        <a14:foregroundMark x1="97967" y1="12646" x2="92644" y2="12646"/>
                        <a14:foregroundMark x1="92644" y1="12646" x2="97129" y2="12646"/>
                        <a14:foregroundMark x1="97129" y1="12646" x2="91926" y2="11902"/>
                        <a14:foregroundMark x1="91926" y1="11902" x2="96711" y2="11158"/>
                        <a14:foregroundMark x1="96711" y1="11158" x2="89175" y2="10840"/>
                        <a14:foregroundMark x1="89175" y1="10840" x2="96950" y2="11265"/>
                        <a14:foregroundMark x1="96950" y1="11265" x2="94438" y2="11583"/>
                        <a14:foregroundMark x1="88577" y1="29118" x2="82117" y2="46334"/>
                        <a14:foregroundMark x1="82117" y1="46334" x2="76914" y2="55367"/>
                        <a14:foregroundMark x1="76914" y1="55367" x2="53708" y2="70351"/>
                        <a14:foregroundMark x1="53708" y1="70351" x2="34270" y2="68757"/>
                        <a14:foregroundMark x1="34270" y1="68757" x2="29785" y2="63974"/>
                        <a14:foregroundMark x1="29785" y1="63974" x2="29306" y2="54304"/>
                        <a14:foregroundMark x1="29306" y1="54304" x2="38337" y2="52922"/>
                        <a14:foregroundMark x1="38337" y1="52922" x2="14593" y2="55260"/>
                        <a14:foregroundMark x1="14593" y1="55260" x2="13636" y2="54623"/>
                        <a14:backgroundMark x1="98026" y1="88417" x2="77273" y2="89054"/>
                        <a14:backgroundMark x1="77273" y1="89054" x2="73026" y2="92455"/>
                        <a14:backgroundMark x1="73026" y1="92455" x2="76435" y2="98300"/>
                        <a14:backgroundMark x1="76435" y1="98300" x2="82596" y2="99681"/>
                        <a14:backgroundMark x1="82596" y1="99681" x2="97309" y2="99681"/>
                        <a14:backgroundMark x1="97309" y1="99681" x2="98325" y2="91605"/>
                        <a14:backgroundMark x1="98325" y1="91605" x2="88158" y2="89692"/>
                        <a14:backgroundMark x1="88158" y1="89692" x2="72548" y2="92136"/>
                        <a14:backgroundMark x1="72548" y1="92136" x2="78768" y2="92136"/>
                        <a14:backgroundMark x1="77333" y1="92667" x2="77333" y2="92667"/>
                        <a14:backgroundMark x1="83911" y1="92136" x2="83911" y2="92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48"/>
          <a:stretch>
            <a:fillRect/>
          </a:stretch>
        </p:blipFill>
        <p:spPr>
          <a:xfrm>
            <a:off x="261882" y="1172880"/>
            <a:ext cx="11033369" cy="56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37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85F2-F96E-68B4-49E7-880E156C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>
            <a:extLst>
              <a:ext uri="{FF2B5EF4-FFF2-40B4-BE49-F238E27FC236}">
                <a16:creationId xmlns:a16="http://schemas.microsoft.com/office/drawing/2014/main" id="{7D833851-15FB-9AD2-207F-28852BAB00B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46200" y="452880"/>
            <a:ext cx="9404280" cy="7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dirty="0">
                <a:solidFill>
                  <a:schemeClr val="dk2"/>
                </a:solidFill>
                <a:latin typeface="华文中宋"/>
                <a:ea typeface="华文中宋"/>
              </a:rPr>
              <a:t>Application: </a:t>
            </a:r>
            <a:r>
              <a:rPr lang="en-US" sz="2800" dirty="0" err="1">
                <a:solidFill>
                  <a:schemeClr val="dk2"/>
                </a:solidFill>
                <a:latin typeface="华文中宋"/>
                <a:ea typeface="华文中宋"/>
              </a:rPr>
              <a:t>Squidiff</a:t>
            </a:r>
            <a:endParaRPr lang="en-US" sz="2800" b="0" u="none" strike="noStrike" dirty="0">
              <a:solidFill>
                <a:schemeClr val="dk1"/>
              </a:solidFill>
              <a:uFillTx/>
              <a:latin typeface="Century Gothic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B031937-5264-1D16-0D17-6705D8B33AE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C27646-495F-4B6F-9416-09F93FD7972B}" type="slidenum">
              <a:rPr/>
              <a:t>41</a:t>
            </a:fld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58C238-5A13-09E4-BF2C-06E0DA5FD66E}"/>
              </a:ext>
            </a:extLst>
          </p:cNvPr>
          <p:cNvSpPr txBox="1"/>
          <p:nvPr/>
        </p:nvSpPr>
        <p:spPr>
          <a:xfrm>
            <a:off x="530586" y="6150709"/>
            <a:ext cx="786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He, Siyu, et al. "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Squidiff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 predicting cellular development and responses to perturbations using a diffusion model."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Nature methods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23.1 (2026): 65-77.</a:t>
            </a:r>
            <a:endParaRPr kumimoji="1"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9C298B-1946-48CB-B64D-3092749EE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3"/>
          <a:stretch>
            <a:fillRect/>
          </a:stretch>
        </p:blipFill>
        <p:spPr>
          <a:xfrm>
            <a:off x="2469931" y="1341823"/>
            <a:ext cx="7147034" cy="454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01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"/>
  <p:tag name="ORIGINALWIDTH" val=" 45"/>
  <p:tag name="OUTPUTTYPE" val="PDF"/>
  <p:tag name="IGUANATEXVERSION" val="162"/>
  <p:tag name="LATEXADDIN" val="\documentclass{article}&#10;\usepackage{amsmath}&#10;\pagestyle{empty}&#10;\begin{document}&#10;&#10;$$&#10;h: \mathcal X \rightarrow \mathcal{Y}&#10;$$&#10;&#10;&#10;\end{document}"/>
  <p:tag name="IGUANATEXSIZE" val="20"/>
  <p:tag name="IGUANATEXCURSOR" val="121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"/>
  <p:tag name="ORIGINALWIDTH" val=" 70"/>
  <p:tag name="OUTPUTTYPE" val="PDF"/>
  <p:tag name="IGUANATEXVERSION" val="162"/>
  <p:tag name="LATEXADDIN" val="\documentclass{article}&#10;\usepackage{amsmath}&#10;\pagestyle{empty}&#10;\begin{document}&#10;&#10;&#10;$$&#10;p_\theta(x) \approx p_{\text{data}}(x)&#10;$$&#10;&#10;\end{document}"/>
  <p:tag name="IGUANATEXSIZE" val="20"/>
  <p:tag name="IGUANATEXCURSOR" val="123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"/>
  <p:tag name="ORIGINALWIDTH" val=" 56"/>
  <p:tag name="OUTPUTTYPE" val="PDF"/>
  <p:tag name="IGUANATEXVERSION" val="162"/>
  <p:tag name="LATEXADDIN" val="\documentclass{article}&#10;\usepackage{amsmath}&#10;\pagestyle{empty}&#10;\begin{document}&#10;&#10;$$&#10;z \sim \mathcal N (\mu, \sigma^2)&#10;$$&#10;&#10;&#10;&#10;\end{document}"/>
  <p:tag name="IGUANATEXSIZE" val="20"/>
  <p:tag name="IGUANATEXCURSOR" val="117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"/>
  <p:tag name="ORIGINALWIDTH" val=" 32"/>
  <p:tag name="OUTPUTTYPE" val="PDF"/>
  <p:tag name="IGUANATEXVERSION" val="162"/>
  <p:tag name="LATEXADDIN" val="\documentclass{article}&#10;\usepackage{amsmath}&#10;\pagestyle{empty}&#10;\begin{document}&#10;&#10;$$&#10;\mathcal N (0, I)&#10;$$&#10;&#10;&#10;\end{document}"/>
  <p:tag name="IGUANATEXSIZE" val="20"/>
  <p:tag name="IGUANATEXCURSOR" val="101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"/>
  <p:tag name="ORIGINALWIDTH" val=" 23"/>
  <p:tag name="OUTPUTTYPE" val="PDF"/>
  <p:tag name="IGUANATEXVERSION" val="162"/>
  <p:tag name="LATEXADDIN" val="\documentclass{article}&#10;\usepackage{amsmath}&#10;\pagestyle{empty}&#10;\begin{document}&#10;&#10;$$&#10;(\mu, \sigma)&#10;$$&#10;&#10;&#10;&#10;\end{document}"/>
  <p:tag name="IGUANATEXSIZE" val="20"/>
  <p:tag name="IGUANATEXCURSOR" val="83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"/>
  <p:tag name="ORIGINALWIDTH" val=" 49"/>
  <p:tag name="OUTPUTTYPE" val="PDF"/>
  <p:tag name="IGUANATEXVERSION" val="162"/>
  <p:tag name="LATEXADDIN" val="\documentclass{article}&#10;\usepackage{amsmath}&#10;\pagestyle{empty}&#10;\begin{document}&#10;&#10;$$&#10;z \sim \mathcal N (0, I)&#10;$$&#10;&#10;&#10;&#10;\end{document}"/>
  <p:tag name="IGUANATEXSIZE" val="20"/>
  <p:tag name="IGUANATEXCURSOR" val="107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"/>
  <p:tag name="ORIGINALWIDTH" val=" 177"/>
  <p:tag name="OUTPUTTYPE" val="PDF"/>
  <p:tag name="IGUANATEXVERSION" val="162"/>
  <p:tag name="LATEXADDIN" val="\documentclass{article}&#10;\usepackage{amsmath}&#10;\pagestyle{empty}&#10;\begin{document}&#10;&#10;&#10;$$&#10;x_t = \sqrt{\alpha_t} x_{\text{data}} + \sqrt{1-\alpha_t} \epsilon, \quad \epsilon \sim \mathcal N(0, I)&#10;$$&#10;&#10;\end{document}"/>
  <p:tag name="IGUANATEXSIZE" val="20"/>
  <p:tag name="IGUANATEXCURSOR" val="142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"/>
  <p:tag name="ORIGINALWIDTH" val=" 102"/>
  <p:tag name="OUTPUTTYPE" val="PDF"/>
  <p:tag name="IGUANATEXVERSION" val="162"/>
  <p:tag name="LATEXADDIN" val="\documentclass{article}&#10;\usepackage{amsmath}&#10;\pagestyle{empty}&#10;\begin{document}&#10;&#10;&#10;$$&#10;x_t = \sqrt{\alpha_t} x_{0} + \sqrt{1-\alpha_t} \epsilon&#10;$$&#10;&#10;\end{document}"/>
  <p:tag name="IGUANATEXSIZE" val="20"/>
  <p:tag name="IGUANATEXCURSOR" val="111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"/>
  <p:tag name="ORIGINALWIDTH" val=" 102"/>
  <p:tag name="OUTPUTTYPE" val="PDF"/>
  <p:tag name="IGUANATEXVERSION" val="162"/>
  <p:tag name="LATEXADDIN" val="\documentclass{article}&#10;\usepackage{amsmath}&#10;\pagestyle{empty}&#10;\begin{document}&#10;&#10;&#10;$$&#10;x_t = \sqrt{\alpha_t} x_{0} + \sqrt{1-\alpha_t} \epsilon&#10;$$&#10;&#10;\end{document}"/>
  <p:tag name="IGUANATEXSIZE" val="20"/>
  <p:tag name="IGUANATEXCURSOR" val="111"/>
  <p:tag name="TRANSPARENCY" val="True"/>
  <p:tag name="CHOOSECOLOR" val="False"/>
  <p:tag name="COLORHEX" val="000000"/>
  <p:tag name="LATEXENGINEID" val="2"/>
  <p:tag name="TEMPFOLDER" val="/Users/zich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紫罗兰色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ormulas xmlns="https://texslide.com/formulas/2023/main"/>
</file>

<file path=customXml/itemProps1.xml><?xml version="1.0" encoding="utf-8"?>
<ds:datastoreItem xmlns:ds="http://schemas.openxmlformats.org/officeDocument/2006/customXml" ds:itemID="{A3C1B8D1-241A-C84B-87A1-CDE7FC0C071B}">
  <ds:schemaRefs>
    <ds:schemaRef ds:uri="https://texslide.com/formulas/2023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20970</TotalTime>
  <Words>1863</Words>
  <Application>Microsoft Office PowerPoint</Application>
  <PresentationFormat>Widescreen</PresentationFormat>
  <Paragraphs>314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华文中宋</vt:lpstr>
      <vt:lpstr>Arial</vt:lpstr>
      <vt:lpstr>Cambria Math</vt:lpstr>
      <vt:lpstr>Century Gothic</vt:lpstr>
      <vt:lpstr>Gill Sans MT</vt:lpstr>
      <vt:lpstr>Times New Roman</vt:lpstr>
      <vt:lpstr>Wingdings</vt:lpstr>
      <vt:lpstr>Wingdings 3</vt:lpstr>
      <vt:lpstr>Ion</vt:lpstr>
      <vt:lpstr>生物统计和生物信息引论  Lecture 11   生成模型    </vt:lpstr>
      <vt:lpstr>PowerPoint Presentation</vt:lpstr>
      <vt:lpstr>What is generative model？</vt:lpstr>
      <vt:lpstr>Discriminative Model v.s. Generative Model</vt:lpstr>
      <vt:lpstr>Discriminative Model v.s. Generative Model</vt:lpstr>
      <vt:lpstr>Why generative model?</vt:lpstr>
      <vt:lpstr>Timeline</vt:lpstr>
      <vt:lpstr>PowerPoint Presentation</vt:lpstr>
      <vt:lpstr>Auto Encoder</vt:lpstr>
      <vt:lpstr>How to train an AE? </vt:lpstr>
      <vt:lpstr>How to train an AE? </vt:lpstr>
      <vt:lpstr>How to use an AE? </vt:lpstr>
      <vt:lpstr>From AE to VAE</vt:lpstr>
      <vt:lpstr>Variational AutoEncoder(VAE)</vt:lpstr>
      <vt:lpstr>VAE train and inference</vt:lpstr>
      <vt:lpstr>VAE latent space</vt:lpstr>
      <vt:lpstr>Conditional Generation</vt:lpstr>
      <vt:lpstr>Further…</vt:lpstr>
      <vt:lpstr>PowerPoint Presentation</vt:lpstr>
      <vt:lpstr>Recap: central dogma</vt:lpstr>
      <vt:lpstr>RNA sequencing</vt:lpstr>
      <vt:lpstr>RNA-seq data: Anndata</vt:lpstr>
      <vt:lpstr>RNA-seq data: Anndata</vt:lpstr>
      <vt:lpstr>Perturb-Seq data</vt:lpstr>
      <vt:lpstr>Application: scVI</vt:lpstr>
      <vt:lpstr>Application: scVI</vt:lpstr>
      <vt:lpstr>What can it do</vt:lpstr>
      <vt:lpstr>scGPT</vt:lpstr>
      <vt:lpstr>scGPT</vt:lpstr>
      <vt:lpstr>What can scGPT do</vt:lpstr>
      <vt:lpstr>Further…</vt:lpstr>
      <vt:lpstr>PowerPoint Presentation</vt:lpstr>
      <vt:lpstr>Diffusion in Physics</vt:lpstr>
      <vt:lpstr>Diffusion in Physics</vt:lpstr>
      <vt:lpstr>Diffusion-based models</vt:lpstr>
      <vt:lpstr>Core idea of diffusion model</vt:lpstr>
      <vt:lpstr>Diffusion Training</vt:lpstr>
      <vt:lpstr>Diffusion Training</vt:lpstr>
      <vt:lpstr>Diffusion sampling</vt:lpstr>
      <vt:lpstr>Conditional Diffusion</vt:lpstr>
      <vt:lpstr>Application: Squidiff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</dc:title>
  <dc:subject/>
  <dc:creator>Deng</dc:creator>
  <cp:keywords/>
  <dc:description/>
  <cp:lastModifiedBy>Jianqiao Wang</cp:lastModifiedBy>
  <cp:revision>167</cp:revision>
  <dcterms:created xsi:type="dcterms:W3CDTF">2020-06-29T14:27:43Z</dcterms:created>
  <dcterms:modified xsi:type="dcterms:W3CDTF">2026-05-26T03:36:34Z</dcterms:modified>
  <cp:category/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amble">
    <vt:lpwstr>\def\pgfsysdriver{pgfsys-dvisvgm.def}
\usepackage{amsmath}
\usepackage{amssymb}
\usepackage{ifxetex}
% Uncommenting this will make compilation slightly slower
%\ifxetex
%    \usepackage{xeCJK}
%\fi
</vt:lpwstr>
  </property>
  <property fmtid="{D5CDD505-2E9C-101B-9397-08002B2CF9AE}" pid="4" name="PresentationFormat">
    <vt:lpwstr>宽屏</vt:lpwstr>
  </property>
  <property fmtid="{D5CDD505-2E9C-101B-9397-08002B2CF9AE}" pid="5" name="Slides">
    <vt:i4>17</vt:i4>
  </property>
</Properties>
</file>