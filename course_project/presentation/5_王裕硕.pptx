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354" r:id="rId2"/>
    <p:sldId id="3370" r:id="rId3"/>
    <p:sldId id="3366" r:id="rId4"/>
    <p:sldId id="3374" r:id="rId5"/>
    <p:sldId id="3416" r:id="rId6"/>
    <p:sldId id="3375" r:id="rId7"/>
    <p:sldId id="3417" r:id="rId8"/>
    <p:sldId id="3376" r:id="rId9"/>
    <p:sldId id="256" r:id="rId10"/>
    <p:sldId id="3418" r:id="rId11"/>
    <p:sldId id="3377" r:id="rId12"/>
    <p:sldId id="3385" r:id="rId13"/>
    <p:sldId id="3415" r:id="rId14"/>
    <p:sldId id="3365"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14"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22F6A5-3EA5-45CD-BBF9-6C52992CC6F3}" type="datetimeFigureOut">
              <a:rPr lang="zh-TW" altLang="en-US" smtClean="0"/>
              <a:t>2026/6/9</a:t>
            </a:fld>
            <a:endParaRPr lang="zh-TW"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95EED5-78A6-402F-B7C9-D4744F46D9DD}" type="slidenum">
              <a:rPr lang="zh-TW" altLang="en-US" smtClean="0"/>
              <a:t>‹#›</a:t>
            </a:fld>
            <a:endParaRPr lang="zh-TW" altLang="en-US"/>
          </a:p>
        </p:txBody>
      </p:sp>
    </p:spTree>
    <p:extLst>
      <p:ext uri="{BB962C8B-B14F-4D97-AF65-F5344CB8AC3E}">
        <p14:creationId xmlns:p14="http://schemas.microsoft.com/office/powerpoint/2010/main" val="744129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大家好，我是王裕硕。现在向各位老师汇报我的毕业论文：基于机械智能的绳驱折纸灵巧手顺序驱动控制技术。</a:t>
            </a:r>
            <a:endParaRPr lang="en-US" altLang="zh-CN" dirty="0"/>
          </a:p>
          <a:p>
            <a:r>
              <a:rPr lang="zh-CN" altLang="en-US" dirty="0"/>
              <a:t>先解释一下，我开题的题目里写的是物理智能，现在改成机械智能是为了让概念更精确。</a:t>
            </a:r>
          </a:p>
        </p:txBody>
      </p:sp>
    </p:spTree>
    <p:extLst>
      <p:ext uri="{BB962C8B-B14F-4D97-AF65-F5344CB8AC3E}">
        <p14:creationId xmlns:p14="http://schemas.microsoft.com/office/powerpoint/2010/main" val="877104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我从研究背景，研究内容，总结展望三部分进行汇报</a:t>
            </a:r>
          </a:p>
        </p:txBody>
      </p:sp>
    </p:spTree>
    <p:extLst>
      <p:ext uri="{BB962C8B-B14F-4D97-AF65-F5344CB8AC3E}">
        <p14:creationId xmlns:p14="http://schemas.microsoft.com/office/powerpoint/2010/main" val="3170544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目录</a:t>
            </a:r>
          </a:p>
        </p:txBody>
      </p:sp>
    </p:spTree>
    <p:extLst>
      <p:ext uri="{BB962C8B-B14F-4D97-AF65-F5344CB8AC3E}">
        <p14:creationId xmlns:p14="http://schemas.microsoft.com/office/powerpoint/2010/main" val="1414764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研究者把目光看向了欠驱动方案，其中一个分支叫做协同灵巧手。神经科学中，人手的姿态协同理论告诉我们，人手虽然有大量自由度，但是大脑在控制时不是每个自由度独立控制，而是对几种特定的运动模式按一定比例组合，来形成复杂的人手运动。</a:t>
            </a:r>
          </a:p>
        </p:txBody>
      </p:sp>
    </p:spTree>
    <p:extLst>
      <p:ext uri="{BB962C8B-B14F-4D97-AF65-F5344CB8AC3E}">
        <p14:creationId xmlns:p14="http://schemas.microsoft.com/office/powerpoint/2010/main" val="160901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研究者把目光看向了欠驱动方案，其中一个分支叫做协同灵巧手。神经科学中，人手的姿态协同理论告诉我们，人手虽然有大量自由度，但是大脑在控制时不是每个自由度独立控制，而是对几种特定的运动模式按一定比例组合，来形成复杂的人手运动。</a:t>
            </a:r>
          </a:p>
        </p:txBody>
      </p:sp>
    </p:spTree>
    <p:extLst>
      <p:ext uri="{BB962C8B-B14F-4D97-AF65-F5344CB8AC3E}">
        <p14:creationId xmlns:p14="http://schemas.microsoft.com/office/powerpoint/2010/main" val="2649890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研究者把目光看向了欠驱动方案，其中一个分支叫做协同灵巧手。神经科学中，人手的姿态协同理论告诉我们，人手虽然有大量自由度，但是大脑在控制时不是每个自由度独立控制，而是对几种特定的运动模式按一定比例组合，来形成复杂的人手运动。</a:t>
            </a:r>
          </a:p>
        </p:txBody>
      </p:sp>
    </p:spTree>
    <p:extLst>
      <p:ext uri="{BB962C8B-B14F-4D97-AF65-F5344CB8AC3E}">
        <p14:creationId xmlns:p14="http://schemas.microsoft.com/office/powerpoint/2010/main" val="1284444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研究者把目光看向了欠驱动方案，其中一个分支叫做协同灵巧手。神经科学中，人手的姿态协同理论告诉我们，人手虽然有大量自由度，但是大脑在控制时不是每个自由度独立控制，而是对几种特定的运动模式按一定比例组合，来形成复杂的人手运动。</a:t>
            </a:r>
          </a:p>
        </p:txBody>
      </p:sp>
    </p:spTree>
    <p:extLst>
      <p:ext uri="{BB962C8B-B14F-4D97-AF65-F5344CB8AC3E}">
        <p14:creationId xmlns:p14="http://schemas.microsoft.com/office/powerpoint/2010/main" val="617765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目录</a:t>
            </a:r>
          </a:p>
        </p:txBody>
      </p:sp>
    </p:spTree>
    <p:extLst>
      <p:ext uri="{BB962C8B-B14F-4D97-AF65-F5344CB8AC3E}">
        <p14:creationId xmlns:p14="http://schemas.microsoft.com/office/powerpoint/2010/main" val="3647581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目录</a:t>
            </a:r>
          </a:p>
        </p:txBody>
      </p:sp>
    </p:spTree>
    <p:extLst>
      <p:ext uri="{BB962C8B-B14F-4D97-AF65-F5344CB8AC3E}">
        <p14:creationId xmlns:p14="http://schemas.microsoft.com/office/powerpoint/2010/main" val="1519495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2438-BEB6-06B6-0C1F-8F231CD32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910B5-E648-92BD-7771-B323A387D8C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53DBB0F-E809-B63D-D004-1ED3217C1A7F}"/>
              </a:ext>
            </a:extLst>
          </p:cNvPr>
          <p:cNvSpPr>
            <a:spLocks noGrp="1"/>
          </p:cNvSpPr>
          <p:nvPr>
            <p:ph type="body" idx="3"/>
          </p:nvPr>
        </p:nvSpPr>
        <p:spPr/>
        <p:txBody>
          <a:bodyPr/>
          <a:lstStyle/>
          <a:p>
            <a:r>
              <a:rPr lang="zh-CN" altLang="en-US" dirty="0"/>
              <a:t>分析结果表明，前两个主成分一起，就可以解释人手</a:t>
            </a:r>
            <a:r>
              <a:rPr lang="en-US" altLang="zh-CN" dirty="0"/>
              <a:t>87.9%</a:t>
            </a:r>
            <a:r>
              <a:rPr lang="zh-CN" altLang="en-US" dirty="0"/>
              <a:t>的运动姿态，这和姿态协同理论给出的结果是很接近的。随后我们研究这两个主成分，我画了一张可视化的图，从左往右是</a:t>
            </a:r>
            <a:r>
              <a:rPr lang="en-US" altLang="zh-CN" dirty="0"/>
              <a:t>PC1</a:t>
            </a:r>
            <a:r>
              <a:rPr lang="zh-CN" altLang="en-US" dirty="0"/>
              <a:t>增大的方向，从下往上是</a:t>
            </a:r>
            <a:r>
              <a:rPr lang="en-US" altLang="zh-CN" dirty="0"/>
              <a:t>PC2</a:t>
            </a:r>
            <a:r>
              <a:rPr lang="zh-CN" altLang="en-US" dirty="0"/>
              <a:t>增大的方向。</a:t>
            </a:r>
          </a:p>
        </p:txBody>
      </p:sp>
    </p:spTree>
    <p:extLst>
      <p:ext uri="{BB962C8B-B14F-4D97-AF65-F5344CB8AC3E}">
        <p14:creationId xmlns:p14="http://schemas.microsoft.com/office/powerpoint/2010/main" val="1458006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D3E1-6E82-BBEF-94D2-245EDF257C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2421F3-BAE0-0CE0-5E61-8BA2D3000A9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10953B4-A68C-D879-BF01-095EF84E94D5}"/>
              </a:ext>
            </a:extLst>
          </p:cNvPr>
          <p:cNvSpPr>
            <a:spLocks noGrp="1"/>
          </p:cNvSpPr>
          <p:nvPr>
            <p:ph type="body" idx="3"/>
          </p:nvPr>
        </p:nvSpPr>
        <p:spPr/>
        <p:txBody>
          <a:bodyPr/>
          <a:lstStyle/>
          <a:p>
            <a:r>
              <a:rPr lang="zh-CN" altLang="en-US" dirty="0"/>
              <a:t>目录</a:t>
            </a:r>
          </a:p>
        </p:txBody>
      </p:sp>
    </p:spTree>
    <p:extLst>
      <p:ext uri="{BB962C8B-B14F-4D97-AF65-F5344CB8AC3E}">
        <p14:creationId xmlns:p14="http://schemas.microsoft.com/office/powerpoint/2010/main" val="2776544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C63E77-8442-4FC2-95DE-00D5068B630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TW" altLang="en-US"/>
          </a:p>
        </p:txBody>
      </p:sp>
      <p:sp>
        <p:nvSpPr>
          <p:cNvPr id="3" name="副标题 2">
            <a:extLst>
              <a:ext uri="{FF2B5EF4-FFF2-40B4-BE49-F238E27FC236}">
                <a16:creationId xmlns:a16="http://schemas.microsoft.com/office/drawing/2014/main" id="{337E3FE5-30BA-4CB5-9EE5-18108D3376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TW" altLang="en-US"/>
          </a:p>
        </p:txBody>
      </p:sp>
      <p:sp>
        <p:nvSpPr>
          <p:cNvPr id="4" name="日期占位符 3">
            <a:extLst>
              <a:ext uri="{FF2B5EF4-FFF2-40B4-BE49-F238E27FC236}">
                <a16:creationId xmlns:a16="http://schemas.microsoft.com/office/drawing/2014/main" id="{24EEB96A-727B-4981-B58A-802D96A8E6A0}"/>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5" name="页脚占位符 4">
            <a:extLst>
              <a:ext uri="{FF2B5EF4-FFF2-40B4-BE49-F238E27FC236}">
                <a16:creationId xmlns:a16="http://schemas.microsoft.com/office/drawing/2014/main" id="{64ABBB10-68C8-41F2-B4F3-D651B0C9260B}"/>
              </a:ext>
            </a:extLst>
          </p:cNvPr>
          <p:cNvSpPr>
            <a:spLocks noGrp="1"/>
          </p:cNvSpPr>
          <p:nvPr>
            <p:ph type="ftr" sz="quarter" idx="11"/>
          </p:nvPr>
        </p:nvSpPr>
        <p:spPr/>
        <p:txBody>
          <a:bodyPr/>
          <a:lstStyle/>
          <a:p>
            <a:endParaRPr lang="zh-TW" altLang="en-US"/>
          </a:p>
        </p:txBody>
      </p:sp>
      <p:sp>
        <p:nvSpPr>
          <p:cNvPr id="6" name="灯片编号占位符 5">
            <a:extLst>
              <a:ext uri="{FF2B5EF4-FFF2-40B4-BE49-F238E27FC236}">
                <a16:creationId xmlns:a16="http://schemas.microsoft.com/office/drawing/2014/main" id="{E8FB98DB-7B45-40EC-923F-383D0903102C}"/>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91517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AAA1E0-BE03-4544-AF7A-B80273B50D4E}"/>
              </a:ext>
            </a:extLst>
          </p:cNvPr>
          <p:cNvSpPr>
            <a:spLocks noGrp="1"/>
          </p:cNvSpPr>
          <p:nvPr>
            <p:ph type="title"/>
          </p:nvPr>
        </p:nvSpPr>
        <p:spPr/>
        <p:txBody>
          <a:bodyPr/>
          <a:lstStyle/>
          <a:p>
            <a:r>
              <a:rPr lang="zh-CN" altLang="en-US"/>
              <a:t>单击此处编辑母版标题样式</a:t>
            </a:r>
            <a:endParaRPr lang="zh-TW" altLang="en-US"/>
          </a:p>
        </p:txBody>
      </p:sp>
      <p:sp>
        <p:nvSpPr>
          <p:cNvPr id="3" name="内容占位符 2">
            <a:extLst>
              <a:ext uri="{FF2B5EF4-FFF2-40B4-BE49-F238E27FC236}">
                <a16:creationId xmlns:a16="http://schemas.microsoft.com/office/drawing/2014/main" id="{A0F3E0A4-0576-477C-924D-0EFC3FD6067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4" name="日期占位符 3">
            <a:extLst>
              <a:ext uri="{FF2B5EF4-FFF2-40B4-BE49-F238E27FC236}">
                <a16:creationId xmlns:a16="http://schemas.microsoft.com/office/drawing/2014/main" id="{ACA94DA4-24EF-4BDC-9F8A-5B084E3C9A63}"/>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5" name="页脚占位符 4">
            <a:extLst>
              <a:ext uri="{FF2B5EF4-FFF2-40B4-BE49-F238E27FC236}">
                <a16:creationId xmlns:a16="http://schemas.microsoft.com/office/drawing/2014/main" id="{1347B029-8940-487D-AED0-E00A1B8DDD25}"/>
              </a:ext>
            </a:extLst>
          </p:cNvPr>
          <p:cNvSpPr>
            <a:spLocks noGrp="1"/>
          </p:cNvSpPr>
          <p:nvPr>
            <p:ph type="ftr" sz="quarter" idx="11"/>
          </p:nvPr>
        </p:nvSpPr>
        <p:spPr/>
        <p:txBody>
          <a:bodyPr/>
          <a:lstStyle/>
          <a:p>
            <a:endParaRPr lang="zh-TW" altLang="en-US"/>
          </a:p>
        </p:txBody>
      </p:sp>
      <p:sp>
        <p:nvSpPr>
          <p:cNvPr id="6" name="灯片编号占位符 5">
            <a:extLst>
              <a:ext uri="{FF2B5EF4-FFF2-40B4-BE49-F238E27FC236}">
                <a16:creationId xmlns:a16="http://schemas.microsoft.com/office/drawing/2014/main" id="{FC7C8401-226D-42A7-B273-5735CE611C7B}"/>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1197751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62434F-D079-47CA-ACBF-C902FC23070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TW" altLang="en-US"/>
          </a:p>
        </p:txBody>
      </p:sp>
      <p:sp>
        <p:nvSpPr>
          <p:cNvPr id="3" name="文本占位符 2">
            <a:extLst>
              <a:ext uri="{FF2B5EF4-FFF2-40B4-BE49-F238E27FC236}">
                <a16:creationId xmlns:a16="http://schemas.microsoft.com/office/drawing/2014/main" id="{A9D9B461-ED1C-48DE-AA9D-75B812120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B719DFB-566E-4993-97FA-B54EE5E2746B}"/>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5" name="页脚占位符 4">
            <a:extLst>
              <a:ext uri="{FF2B5EF4-FFF2-40B4-BE49-F238E27FC236}">
                <a16:creationId xmlns:a16="http://schemas.microsoft.com/office/drawing/2014/main" id="{2AAC8D9B-EBF4-4A1D-9F6A-3F2E59680231}"/>
              </a:ext>
            </a:extLst>
          </p:cNvPr>
          <p:cNvSpPr>
            <a:spLocks noGrp="1"/>
          </p:cNvSpPr>
          <p:nvPr>
            <p:ph type="ftr" sz="quarter" idx="11"/>
          </p:nvPr>
        </p:nvSpPr>
        <p:spPr/>
        <p:txBody>
          <a:bodyPr/>
          <a:lstStyle/>
          <a:p>
            <a:endParaRPr lang="zh-TW" altLang="en-US"/>
          </a:p>
        </p:txBody>
      </p:sp>
      <p:sp>
        <p:nvSpPr>
          <p:cNvPr id="6" name="灯片编号占位符 5">
            <a:extLst>
              <a:ext uri="{FF2B5EF4-FFF2-40B4-BE49-F238E27FC236}">
                <a16:creationId xmlns:a16="http://schemas.microsoft.com/office/drawing/2014/main" id="{0DF1329A-4A75-4A9D-86BE-44F9DD4BAF88}"/>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3628226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AD6CEC-4700-40BA-8F62-63F98929CCE0}"/>
              </a:ext>
            </a:extLst>
          </p:cNvPr>
          <p:cNvSpPr>
            <a:spLocks noGrp="1"/>
          </p:cNvSpPr>
          <p:nvPr>
            <p:ph type="title"/>
          </p:nvPr>
        </p:nvSpPr>
        <p:spPr/>
        <p:txBody>
          <a:bodyPr/>
          <a:lstStyle/>
          <a:p>
            <a:r>
              <a:rPr lang="zh-CN" altLang="en-US"/>
              <a:t>单击此处编辑母版标题样式</a:t>
            </a:r>
            <a:endParaRPr lang="zh-TW" altLang="en-US"/>
          </a:p>
        </p:txBody>
      </p:sp>
      <p:sp>
        <p:nvSpPr>
          <p:cNvPr id="3" name="内容占位符 2">
            <a:extLst>
              <a:ext uri="{FF2B5EF4-FFF2-40B4-BE49-F238E27FC236}">
                <a16:creationId xmlns:a16="http://schemas.microsoft.com/office/drawing/2014/main" id="{9303376A-F689-4C8B-9C44-A576074348C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4" name="内容占位符 3">
            <a:extLst>
              <a:ext uri="{FF2B5EF4-FFF2-40B4-BE49-F238E27FC236}">
                <a16:creationId xmlns:a16="http://schemas.microsoft.com/office/drawing/2014/main" id="{1426C9F4-F5B5-4BE1-98AE-42504845DFB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5" name="日期占位符 4">
            <a:extLst>
              <a:ext uri="{FF2B5EF4-FFF2-40B4-BE49-F238E27FC236}">
                <a16:creationId xmlns:a16="http://schemas.microsoft.com/office/drawing/2014/main" id="{B51377CC-1F83-4794-89F7-4C3E112D2DD2}"/>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6" name="页脚占位符 5">
            <a:extLst>
              <a:ext uri="{FF2B5EF4-FFF2-40B4-BE49-F238E27FC236}">
                <a16:creationId xmlns:a16="http://schemas.microsoft.com/office/drawing/2014/main" id="{BFF3AA58-975A-4117-9937-0550A7DA0FDD}"/>
              </a:ext>
            </a:extLst>
          </p:cNvPr>
          <p:cNvSpPr>
            <a:spLocks noGrp="1"/>
          </p:cNvSpPr>
          <p:nvPr>
            <p:ph type="ftr" sz="quarter" idx="11"/>
          </p:nvPr>
        </p:nvSpPr>
        <p:spPr/>
        <p:txBody>
          <a:bodyPr/>
          <a:lstStyle/>
          <a:p>
            <a:endParaRPr lang="zh-TW" altLang="en-US"/>
          </a:p>
        </p:txBody>
      </p:sp>
      <p:sp>
        <p:nvSpPr>
          <p:cNvPr id="7" name="灯片编号占位符 6">
            <a:extLst>
              <a:ext uri="{FF2B5EF4-FFF2-40B4-BE49-F238E27FC236}">
                <a16:creationId xmlns:a16="http://schemas.microsoft.com/office/drawing/2014/main" id="{D7BC1267-8D19-40CF-8B59-7EDA179DC8DD}"/>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351757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EB77DE-A23B-4F46-8A6E-120EE011EBF7}"/>
              </a:ext>
            </a:extLst>
          </p:cNvPr>
          <p:cNvSpPr>
            <a:spLocks noGrp="1"/>
          </p:cNvSpPr>
          <p:nvPr>
            <p:ph type="title"/>
          </p:nvPr>
        </p:nvSpPr>
        <p:spPr>
          <a:xfrm>
            <a:off x="839788" y="365125"/>
            <a:ext cx="10515600" cy="1325563"/>
          </a:xfrm>
        </p:spPr>
        <p:txBody>
          <a:bodyPr/>
          <a:lstStyle/>
          <a:p>
            <a:r>
              <a:rPr lang="zh-CN" altLang="en-US"/>
              <a:t>单击此处编辑母版标题样式</a:t>
            </a:r>
            <a:endParaRPr lang="zh-TW" altLang="en-US"/>
          </a:p>
        </p:txBody>
      </p:sp>
      <p:sp>
        <p:nvSpPr>
          <p:cNvPr id="3" name="文本占位符 2">
            <a:extLst>
              <a:ext uri="{FF2B5EF4-FFF2-40B4-BE49-F238E27FC236}">
                <a16:creationId xmlns:a16="http://schemas.microsoft.com/office/drawing/2014/main" id="{6AFFDB42-FEE4-4AAF-A41C-F1BFD585F9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F495771-F7AA-4128-81D2-ACDA1FA0FA7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5" name="文本占位符 4">
            <a:extLst>
              <a:ext uri="{FF2B5EF4-FFF2-40B4-BE49-F238E27FC236}">
                <a16:creationId xmlns:a16="http://schemas.microsoft.com/office/drawing/2014/main" id="{A4A500BD-8ABC-474C-A96A-8E0294CB3F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175B60C-AA03-4D21-9B9D-C9DB4933520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7" name="日期占位符 6">
            <a:extLst>
              <a:ext uri="{FF2B5EF4-FFF2-40B4-BE49-F238E27FC236}">
                <a16:creationId xmlns:a16="http://schemas.microsoft.com/office/drawing/2014/main" id="{B97F9FEF-DAA9-4FC2-93A3-94A5996F947D}"/>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8" name="页脚占位符 7">
            <a:extLst>
              <a:ext uri="{FF2B5EF4-FFF2-40B4-BE49-F238E27FC236}">
                <a16:creationId xmlns:a16="http://schemas.microsoft.com/office/drawing/2014/main" id="{5D05A22E-5681-4B4B-A635-FBD2BF61E536}"/>
              </a:ext>
            </a:extLst>
          </p:cNvPr>
          <p:cNvSpPr>
            <a:spLocks noGrp="1"/>
          </p:cNvSpPr>
          <p:nvPr>
            <p:ph type="ftr" sz="quarter" idx="11"/>
          </p:nvPr>
        </p:nvSpPr>
        <p:spPr/>
        <p:txBody>
          <a:bodyPr/>
          <a:lstStyle/>
          <a:p>
            <a:endParaRPr lang="zh-TW" altLang="en-US"/>
          </a:p>
        </p:txBody>
      </p:sp>
      <p:sp>
        <p:nvSpPr>
          <p:cNvPr id="9" name="灯片编号占位符 8">
            <a:extLst>
              <a:ext uri="{FF2B5EF4-FFF2-40B4-BE49-F238E27FC236}">
                <a16:creationId xmlns:a16="http://schemas.microsoft.com/office/drawing/2014/main" id="{5D5AF95D-2852-4D4C-B0CC-D1C4C00ED69B}"/>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1279378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AD8E33-9E2B-4459-AEC3-09D0EB550041}"/>
              </a:ext>
            </a:extLst>
          </p:cNvPr>
          <p:cNvSpPr>
            <a:spLocks noGrp="1"/>
          </p:cNvSpPr>
          <p:nvPr>
            <p:ph type="title"/>
          </p:nvPr>
        </p:nvSpPr>
        <p:spPr/>
        <p:txBody>
          <a:bodyPr/>
          <a:lstStyle/>
          <a:p>
            <a:r>
              <a:rPr lang="zh-CN" altLang="en-US"/>
              <a:t>单击此处编辑母版标题样式</a:t>
            </a:r>
            <a:endParaRPr lang="zh-TW" altLang="en-US"/>
          </a:p>
        </p:txBody>
      </p:sp>
      <p:sp>
        <p:nvSpPr>
          <p:cNvPr id="3" name="日期占位符 2">
            <a:extLst>
              <a:ext uri="{FF2B5EF4-FFF2-40B4-BE49-F238E27FC236}">
                <a16:creationId xmlns:a16="http://schemas.microsoft.com/office/drawing/2014/main" id="{822D5D95-9030-4E29-AF07-DB0F1F04DF5F}"/>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4" name="页脚占位符 3">
            <a:extLst>
              <a:ext uri="{FF2B5EF4-FFF2-40B4-BE49-F238E27FC236}">
                <a16:creationId xmlns:a16="http://schemas.microsoft.com/office/drawing/2014/main" id="{3D56FCC9-3E99-4D02-A673-16FA471BFFD9}"/>
              </a:ext>
            </a:extLst>
          </p:cNvPr>
          <p:cNvSpPr>
            <a:spLocks noGrp="1"/>
          </p:cNvSpPr>
          <p:nvPr>
            <p:ph type="ftr" sz="quarter" idx="11"/>
          </p:nvPr>
        </p:nvSpPr>
        <p:spPr/>
        <p:txBody>
          <a:bodyPr/>
          <a:lstStyle/>
          <a:p>
            <a:endParaRPr lang="zh-TW" altLang="en-US"/>
          </a:p>
        </p:txBody>
      </p:sp>
      <p:sp>
        <p:nvSpPr>
          <p:cNvPr id="5" name="灯片编号占位符 4">
            <a:extLst>
              <a:ext uri="{FF2B5EF4-FFF2-40B4-BE49-F238E27FC236}">
                <a16:creationId xmlns:a16="http://schemas.microsoft.com/office/drawing/2014/main" id="{17899C3C-AAB3-46A1-8F98-92F9E2FE91D0}"/>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528778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3739C67-5686-4C52-9314-C17EAD41ED18}"/>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3" name="页脚占位符 2">
            <a:extLst>
              <a:ext uri="{FF2B5EF4-FFF2-40B4-BE49-F238E27FC236}">
                <a16:creationId xmlns:a16="http://schemas.microsoft.com/office/drawing/2014/main" id="{5A16E315-9575-4E6B-9B77-58B9D612365D}"/>
              </a:ext>
            </a:extLst>
          </p:cNvPr>
          <p:cNvSpPr>
            <a:spLocks noGrp="1"/>
          </p:cNvSpPr>
          <p:nvPr>
            <p:ph type="ftr" sz="quarter" idx="11"/>
          </p:nvPr>
        </p:nvSpPr>
        <p:spPr/>
        <p:txBody>
          <a:bodyPr/>
          <a:lstStyle/>
          <a:p>
            <a:endParaRPr lang="zh-TW" altLang="en-US"/>
          </a:p>
        </p:txBody>
      </p:sp>
      <p:sp>
        <p:nvSpPr>
          <p:cNvPr id="4" name="灯片编号占位符 3">
            <a:extLst>
              <a:ext uri="{FF2B5EF4-FFF2-40B4-BE49-F238E27FC236}">
                <a16:creationId xmlns:a16="http://schemas.microsoft.com/office/drawing/2014/main" id="{66195039-FE8B-46DD-87C0-DB4D6966F78E}"/>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962518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717749-90CD-4624-AD2B-27AB4B40B99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TW" altLang="en-US"/>
          </a:p>
        </p:txBody>
      </p:sp>
      <p:sp>
        <p:nvSpPr>
          <p:cNvPr id="3" name="内容占位符 2">
            <a:extLst>
              <a:ext uri="{FF2B5EF4-FFF2-40B4-BE49-F238E27FC236}">
                <a16:creationId xmlns:a16="http://schemas.microsoft.com/office/drawing/2014/main" id="{ED4270F1-C643-4CBB-9A80-5C31AC3C43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4" name="文本占位符 3">
            <a:extLst>
              <a:ext uri="{FF2B5EF4-FFF2-40B4-BE49-F238E27FC236}">
                <a16:creationId xmlns:a16="http://schemas.microsoft.com/office/drawing/2014/main" id="{57539723-222F-48DE-B9BE-FE1AA0CC8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08E24FC-575B-41CA-B9F0-68126FF2FCDF}"/>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6" name="页脚占位符 5">
            <a:extLst>
              <a:ext uri="{FF2B5EF4-FFF2-40B4-BE49-F238E27FC236}">
                <a16:creationId xmlns:a16="http://schemas.microsoft.com/office/drawing/2014/main" id="{DA41048C-D5F4-44C1-BC9A-57BABA8FCD7F}"/>
              </a:ext>
            </a:extLst>
          </p:cNvPr>
          <p:cNvSpPr>
            <a:spLocks noGrp="1"/>
          </p:cNvSpPr>
          <p:nvPr>
            <p:ph type="ftr" sz="quarter" idx="11"/>
          </p:nvPr>
        </p:nvSpPr>
        <p:spPr/>
        <p:txBody>
          <a:bodyPr/>
          <a:lstStyle/>
          <a:p>
            <a:endParaRPr lang="zh-TW" altLang="en-US"/>
          </a:p>
        </p:txBody>
      </p:sp>
      <p:sp>
        <p:nvSpPr>
          <p:cNvPr id="7" name="灯片编号占位符 6">
            <a:extLst>
              <a:ext uri="{FF2B5EF4-FFF2-40B4-BE49-F238E27FC236}">
                <a16:creationId xmlns:a16="http://schemas.microsoft.com/office/drawing/2014/main" id="{A37B9BBF-8FBB-4139-9EE7-835BE13AD965}"/>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366092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E94C41-5CB8-4832-93C0-716A5BDEA7B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TW" altLang="en-US"/>
          </a:p>
        </p:txBody>
      </p:sp>
      <p:sp>
        <p:nvSpPr>
          <p:cNvPr id="3" name="图片占位符 2">
            <a:extLst>
              <a:ext uri="{FF2B5EF4-FFF2-40B4-BE49-F238E27FC236}">
                <a16:creationId xmlns:a16="http://schemas.microsoft.com/office/drawing/2014/main" id="{100D3FEC-26D2-459C-B517-0CE4A022C5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本占位符 3">
            <a:extLst>
              <a:ext uri="{FF2B5EF4-FFF2-40B4-BE49-F238E27FC236}">
                <a16:creationId xmlns:a16="http://schemas.microsoft.com/office/drawing/2014/main" id="{BE6BE66A-7C43-4D42-B65C-BA4864ACF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D50E1DA-E271-439A-9AB2-01EE1E8B3A27}"/>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6" name="页脚占位符 5">
            <a:extLst>
              <a:ext uri="{FF2B5EF4-FFF2-40B4-BE49-F238E27FC236}">
                <a16:creationId xmlns:a16="http://schemas.microsoft.com/office/drawing/2014/main" id="{01C2F560-7B34-434B-A0FA-1E51D4D49214}"/>
              </a:ext>
            </a:extLst>
          </p:cNvPr>
          <p:cNvSpPr>
            <a:spLocks noGrp="1"/>
          </p:cNvSpPr>
          <p:nvPr>
            <p:ph type="ftr" sz="quarter" idx="11"/>
          </p:nvPr>
        </p:nvSpPr>
        <p:spPr/>
        <p:txBody>
          <a:bodyPr/>
          <a:lstStyle/>
          <a:p>
            <a:endParaRPr lang="zh-TW" altLang="en-US"/>
          </a:p>
        </p:txBody>
      </p:sp>
      <p:sp>
        <p:nvSpPr>
          <p:cNvPr id="7" name="灯片编号占位符 6">
            <a:extLst>
              <a:ext uri="{FF2B5EF4-FFF2-40B4-BE49-F238E27FC236}">
                <a16:creationId xmlns:a16="http://schemas.microsoft.com/office/drawing/2014/main" id="{485AC085-A167-41AA-BCB7-2FCC9D35175C}"/>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4241058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8A996D-3B63-4AA6-877C-64D35A3655DF}"/>
              </a:ext>
            </a:extLst>
          </p:cNvPr>
          <p:cNvSpPr>
            <a:spLocks noGrp="1"/>
          </p:cNvSpPr>
          <p:nvPr>
            <p:ph type="title"/>
          </p:nvPr>
        </p:nvSpPr>
        <p:spPr/>
        <p:txBody>
          <a:bodyPr/>
          <a:lstStyle/>
          <a:p>
            <a:r>
              <a:rPr lang="zh-CN" altLang="en-US"/>
              <a:t>单击此处编辑母版标题样式</a:t>
            </a:r>
            <a:endParaRPr lang="zh-TW" altLang="en-US"/>
          </a:p>
        </p:txBody>
      </p:sp>
      <p:sp>
        <p:nvSpPr>
          <p:cNvPr id="3" name="竖排文字占位符 2">
            <a:extLst>
              <a:ext uri="{FF2B5EF4-FFF2-40B4-BE49-F238E27FC236}">
                <a16:creationId xmlns:a16="http://schemas.microsoft.com/office/drawing/2014/main" id="{FCF5E361-78B6-4EBA-AD34-043A602953D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4" name="日期占位符 3">
            <a:extLst>
              <a:ext uri="{FF2B5EF4-FFF2-40B4-BE49-F238E27FC236}">
                <a16:creationId xmlns:a16="http://schemas.microsoft.com/office/drawing/2014/main" id="{75F7B981-5B13-46B4-A9C3-4420A53B299A}"/>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5" name="页脚占位符 4">
            <a:extLst>
              <a:ext uri="{FF2B5EF4-FFF2-40B4-BE49-F238E27FC236}">
                <a16:creationId xmlns:a16="http://schemas.microsoft.com/office/drawing/2014/main" id="{C6AD67B4-A4EA-4D71-80F4-36C368EBD0ED}"/>
              </a:ext>
            </a:extLst>
          </p:cNvPr>
          <p:cNvSpPr>
            <a:spLocks noGrp="1"/>
          </p:cNvSpPr>
          <p:nvPr>
            <p:ph type="ftr" sz="quarter" idx="11"/>
          </p:nvPr>
        </p:nvSpPr>
        <p:spPr/>
        <p:txBody>
          <a:bodyPr/>
          <a:lstStyle/>
          <a:p>
            <a:endParaRPr lang="zh-TW" altLang="en-US"/>
          </a:p>
        </p:txBody>
      </p:sp>
      <p:sp>
        <p:nvSpPr>
          <p:cNvPr id="6" name="灯片编号占位符 5">
            <a:extLst>
              <a:ext uri="{FF2B5EF4-FFF2-40B4-BE49-F238E27FC236}">
                <a16:creationId xmlns:a16="http://schemas.microsoft.com/office/drawing/2014/main" id="{97E2E0A5-8714-4A10-8DD1-40BBCBF73D38}"/>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2979488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F574DCB-F6C9-486B-A233-6B61A5942EE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TW" altLang="en-US"/>
          </a:p>
        </p:txBody>
      </p:sp>
      <p:sp>
        <p:nvSpPr>
          <p:cNvPr id="3" name="竖排文字占位符 2">
            <a:extLst>
              <a:ext uri="{FF2B5EF4-FFF2-40B4-BE49-F238E27FC236}">
                <a16:creationId xmlns:a16="http://schemas.microsoft.com/office/drawing/2014/main" id="{35D400D8-E6ED-4562-B5A6-4CBDCC96845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4" name="日期占位符 3">
            <a:extLst>
              <a:ext uri="{FF2B5EF4-FFF2-40B4-BE49-F238E27FC236}">
                <a16:creationId xmlns:a16="http://schemas.microsoft.com/office/drawing/2014/main" id="{5237BC12-3030-46DA-8EA7-A915AA33B7BF}"/>
              </a:ext>
            </a:extLst>
          </p:cNvPr>
          <p:cNvSpPr>
            <a:spLocks noGrp="1"/>
          </p:cNvSpPr>
          <p:nvPr>
            <p:ph type="dt" sz="half" idx="10"/>
          </p:nvPr>
        </p:nvSpPr>
        <p:spPr/>
        <p:txBody>
          <a:bodyPr/>
          <a:lstStyle/>
          <a:p>
            <a:fld id="{122D12FB-6433-45FD-8D04-5A38933CD2A2}" type="datetimeFigureOut">
              <a:rPr lang="zh-TW" altLang="en-US" smtClean="0"/>
              <a:t>2026/6/9</a:t>
            </a:fld>
            <a:endParaRPr lang="zh-TW" altLang="en-US"/>
          </a:p>
        </p:txBody>
      </p:sp>
      <p:sp>
        <p:nvSpPr>
          <p:cNvPr id="5" name="页脚占位符 4">
            <a:extLst>
              <a:ext uri="{FF2B5EF4-FFF2-40B4-BE49-F238E27FC236}">
                <a16:creationId xmlns:a16="http://schemas.microsoft.com/office/drawing/2014/main" id="{923B9D40-825D-4CC7-B1DD-80BE020118E2}"/>
              </a:ext>
            </a:extLst>
          </p:cNvPr>
          <p:cNvSpPr>
            <a:spLocks noGrp="1"/>
          </p:cNvSpPr>
          <p:nvPr>
            <p:ph type="ftr" sz="quarter" idx="11"/>
          </p:nvPr>
        </p:nvSpPr>
        <p:spPr/>
        <p:txBody>
          <a:bodyPr/>
          <a:lstStyle/>
          <a:p>
            <a:endParaRPr lang="zh-TW" altLang="en-US"/>
          </a:p>
        </p:txBody>
      </p:sp>
      <p:sp>
        <p:nvSpPr>
          <p:cNvPr id="6" name="灯片编号占位符 5">
            <a:extLst>
              <a:ext uri="{FF2B5EF4-FFF2-40B4-BE49-F238E27FC236}">
                <a16:creationId xmlns:a16="http://schemas.microsoft.com/office/drawing/2014/main" id="{F8870839-C526-4DB6-8CAD-58E89AC075A5}"/>
              </a:ext>
            </a:extLst>
          </p:cNvPr>
          <p:cNvSpPr>
            <a:spLocks noGrp="1"/>
          </p:cNvSpPr>
          <p:nvPr>
            <p:ph type="sldNum" sz="quarter" idx="12"/>
          </p:nvPr>
        </p:nvSpPr>
        <p:spPr/>
        <p:txBody>
          <a:body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1245090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9345890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20E5995-621D-4E05-882F-DCAE204084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TW" altLang="en-US"/>
          </a:p>
        </p:txBody>
      </p:sp>
      <p:sp>
        <p:nvSpPr>
          <p:cNvPr id="3" name="文本占位符 2">
            <a:extLst>
              <a:ext uri="{FF2B5EF4-FFF2-40B4-BE49-F238E27FC236}">
                <a16:creationId xmlns:a16="http://schemas.microsoft.com/office/drawing/2014/main" id="{0B8BC561-5151-43EC-83CF-6F2B8A433D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TW" altLang="en-US"/>
          </a:p>
        </p:txBody>
      </p:sp>
      <p:sp>
        <p:nvSpPr>
          <p:cNvPr id="4" name="日期占位符 3">
            <a:extLst>
              <a:ext uri="{FF2B5EF4-FFF2-40B4-BE49-F238E27FC236}">
                <a16:creationId xmlns:a16="http://schemas.microsoft.com/office/drawing/2014/main" id="{C6009A6A-ABF1-4B74-8001-2E7FFEB21F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2D12FB-6433-45FD-8D04-5A38933CD2A2}" type="datetimeFigureOut">
              <a:rPr lang="zh-TW" altLang="en-US" smtClean="0"/>
              <a:t>2026/6/9</a:t>
            </a:fld>
            <a:endParaRPr lang="zh-TW" altLang="en-US"/>
          </a:p>
        </p:txBody>
      </p:sp>
      <p:sp>
        <p:nvSpPr>
          <p:cNvPr id="5" name="页脚占位符 4">
            <a:extLst>
              <a:ext uri="{FF2B5EF4-FFF2-40B4-BE49-F238E27FC236}">
                <a16:creationId xmlns:a16="http://schemas.microsoft.com/office/drawing/2014/main" id="{45B64EA6-73F2-4302-8C47-463723683B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灯片编号占位符 5">
            <a:extLst>
              <a:ext uri="{FF2B5EF4-FFF2-40B4-BE49-F238E27FC236}">
                <a16:creationId xmlns:a16="http://schemas.microsoft.com/office/drawing/2014/main" id="{31121D17-6621-46FE-8D8E-A052CBAEBC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603667-67A3-419A-9890-B37616F97004}" type="slidenum">
              <a:rPr lang="zh-TW" altLang="en-US" smtClean="0"/>
              <a:t>‹#›</a:t>
            </a:fld>
            <a:endParaRPr lang="zh-TW" altLang="en-US"/>
          </a:p>
        </p:txBody>
      </p:sp>
    </p:spTree>
    <p:extLst>
      <p:ext uri="{BB962C8B-B14F-4D97-AF65-F5344CB8AC3E}">
        <p14:creationId xmlns:p14="http://schemas.microsoft.com/office/powerpoint/2010/main" val="2708724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26" Type="http://schemas.openxmlformats.org/officeDocument/2006/relationships/image" Target="../media/image35.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10.xml"/><Relationship Id="rId16" Type="http://schemas.openxmlformats.org/officeDocument/2006/relationships/image" Target="../media/image25.png"/><Relationship Id="rId20" Type="http://schemas.openxmlformats.org/officeDocument/2006/relationships/image" Target="../media/image29.png"/><Relationship Id="rId29"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F42BA31-B8DB-265E-101A-5575966DD351}"/>
              </a:ext>
            </a:extLst>
          </p:cNvPr>
          <p:cNvGrpSpPr/>
          <p:nvPr/>
        </p:nvGrpSpPr>
        <p:grpSpPr>
          <a:xfrm rot="21600000">
            <a:off x="-12700" y="1671828"/>
            <a:ext cx="12217400" cy="2318418"/>
            <a:chOff x="-12700" y="0"/>
            <a:chExt cx="12217400" cy="2318418"/>
          </a:xfrm>
        </p:grpSpPr>
        <p:pic>
          <p:nvPicPr>
            <p:cNvPr id="3" name="picture 2">
              <a:extLst>
                <a:ext uri="{FF2B5EF4-FFF2-40B4-BE49-F238E27FC236}">
                  <a16:creationId xmlns:a16="http://schemas.microsoft.com/office/drawing/2014/main" id="{54BBF99F-20BD-C3D9-DDF7-DAC313986920}"/>
                </a:ext>
              </a:extLst>
            </p:cNvPr>
            <p:cNvPicPr>
              <a:picLocks noChangeAspect="1"/>
            </p:cNvPicPr>
            <p:nvPr/>
          </p:nvPicPr>
          <p:blipFill>
            <a:blip r:embed="rId3"/>
            <a:stretch>
              <a:fillRect/>
            </a:stretch>
          </p:blipFill>
          <p:spPr>
            <a:xfrm>
              <a:off x="0" y="0"/>
              <a:ext cx="12192000" cy="2318418"/>
            </a:xfrm>
            <a:prstGeom prst="rect">
              <a:avLst/>
            </a:prstGeom>
          </p:spPr>
        </p:pic>
        <p:sp>
          <p:nvSpPr>
            <p:cNvPr id="4" name="textbox 4">
              <a:extLst>
                <a:ext uri="{FF2B5EF4-FFF2-40B4-BE49-F238E27FC236}">
                  <a16:creationId xmlns:a16="http://schemas.microsoft.com/office/drawing/2014/main" id="{8A21B683-3A04-7582-2012-40EEC59171A4}"/>
                </a:ext>
              </a:extLst>
            </p:cNvPr>
            <p:cNvSpPr/>
            <p:nvPr/>
          </p:nvSpPr>
          <p:spPr>
            <a:xfrm>
              <a:off x="-12700" y="114462"/>
              <a:ext cx="12217400" cy="1901825"/>
            </a:xfrm>
            <a:prstGeom prst="rect">
              <a:avLst/>
            </a:prstGeom>
            <a:noFill/>
            <a:ln w="0" cap="flat">
              <a:noFill/>
              <a:prstDash val="solid"/>
              <a:miter lim="0"/>
            </a:ln>
          </p:spPr>
          <p:txBody>
            <a:bodyPr vert="horz" wrap="square" lIns="0" tIns="0" rIns="0" bIns="0" anchor="ctr"/>
            <a:lstStyle/>
            <a:p>
              <a:pPr algn="ctr" eaLnBrk="0">
                <a:lnSpc>
                  <a:spcPct val="111000"/>
                </a:lnSpc>
              </a:pPr>
              <a:r>
                <a:rPr lang="zh-CN" altLang="en-US" sz="4800" b="1" kern="0" spc="-10" dirty="0">
                  <a:solidFill>
                    <a:srgbClr val="FFFFFF">
                      <a:alpha val="100000"/>
                    </a:srgbClr>
                  </a:solidFill>
                  <a:latin typeface="微软雅黑" panose="020B0503020204020204" pitchFamily="34" charset="-122"/>
                  <a:ea typeface="微软雅黑" panose="020B0503020204020204" pitchFamily="34" charset="-122"/>
                  <a:cs typeface="Times New Roman" panose="02020603050405020304"/>
                </a:rPr>
                <a:t>基于</a:t>
              </a:r>
              <a:r>
                <a:rPr lang="en-US" altLang="zh-CN" sz="4800" b="1" kern="0" spc="-10" dirty="0" err="1">
                  <a:solidFill>
                    <a:srgbClr val="FFFFFF">
                      <a:alpha val="100000"/>
                    </a:srgbClr>
                  </a:solidFill>
                  <a:latin typeface="微软雅黑" panose="020B0503020204020204" pitchFamily="34" charset="-122"/>
                  <a:ea typeface="微软雅黑" panose="020B0503020204020204" pitchFamily="34" charset="-122"/>
                  <a:cs typeface="Times New Roman" panose="02020603050405020304"/>
                </a:rPr>
                <a:t>MyoKi</a:t>
              </a:r>
              <a:r>
                <a:rPr lang="zh-CN" altLang="en-US" sz="4800" b="1" kern="0" spc="-10" dirty="0">
                  <a:solidFill>
                    <a:srgbClr val="FFFFFF">
                      <a:alpha val="100000"/>
                    </a:srgbClr>
                  </a:solidFill>
                  <a:latin typeface="微软雅黑" panose="020B0503020204020204" pitchFamily="34" charset="-122"/>
                  <a:ea typeface="微软雅黑" panose="020B0503020204020204" pitchFamily="34" charset="-122"/>
                  <a:cs typeface="Times New Roman" panose="02020603050405020304"/>
                </a:rPr>
                <a:t>数据集的</a:t>
              </a:r>
              <a:endParaRPr lang="en-US" altLang="zh-CN" sz="4800" b="1" kern="0" spc="-10" dirty="0">
                <a:solidFill>
                  <a:srgbClr val="FFFFFF">
                    <a:alpha val="100000"/>
                  </a:srgbClr>
                </a:solidFill>
                <a:latin typeface="微软雅黑" panose="020B0503020204020204" pitchFamily="34" charset="-122"/>
                <a:ea typeface="微软雅黑" panose="020B0503020204020204" pitchFamily="34" charset="-122"/>
                <a:cs typeface="Times New Roman" panose="02020603050405020304"/>
              </a:endParaRPr>
            </a:p>
            <a:p>
              <a:pPr algn="ctr" eaLnBrk="0">
                <a:lnSpc>
                  <a:spcPct val="111000"/>
                </a:lnSpc>
              </a:pPr>
              <a:r>
                <a:rPr lang="zh-CN" altLang="en-US" sz="4800" b="1" kern="0" spc="-10" dirty="0">
                  <a:solidFill>
                    <a:srgbClr val="FFFFFF">
                      <a:alpha val="100000"/>
                    </a:srgbClr>
                  </a:solidFill>
                  <a:latin typeface="微软雅黑" panose="020B0503020204020204" pitchFamily="34" charset="-122"/>
                  <a:ea typeface="微软雅黑" panose="020B0503020204020204" pitchFamily="34" charset="-122"/>
                  <a:cs typeface="Times New Roman" panose="02020603050405020304"/>
                </a:rPr>
                <a:t>人手姿态数据低维协同分析</a:t>
              </a:r>
              <a:endParaRPr lang="en-US" altLang="zh-CN" sz="4800" b="1" kern="0" spc="-10" dirty="0">
                <a:solidFill>
                  <a:srgbClr val="FFFFFF">
                    <a:alpha val="100000"/>
                  </a:srgbClr>
                </a:solidFill>
                <a:latin typeface="微软雅黑" panose="020B0503020204020204" pitchFamily="34" charset="-122"/>
                <a:ea typeface="微软雅黑" panose="020B0503020204020204" pitchFamily="34" charset="-122"/>
                <a:cs typeface="Times New Roman" panose="02020603050405020304"/>
              </a:endParaRPr>
            </a:p>
          </p:txBody>
        </p:sp>
      </p:grpSp>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1</a:t>
            </a:fld>
            <a:endParaRPr lang="zh-CN" altLang="en-US"/>
          </a:p>
        </p:txBody>
      </p:sp>
      <p:sp>
        <p:nvSpPr>
          <p:cNvPr id="5" name="textbox 6">
            <a:extLst>
              <a:ext uri="{FF2B5EF4-FFF2-40B4-BE49-F238E27FC236}">
                <a16:creationId xmlns:a16="http://schemas.microsoft.com/office/drawing/2014/main" id="{B4602B24-0138-019E-85E2-94E5CC4C8EC6}"/>
              </a:ext>
            </a:extLst>
          </p:cNvPr>
          <p:cNvSpPr/>
          <p:nvPr/>
        </p:nvSpPr>
        <p:spPr>
          <a:xfrm>
            <a:off x="3109088" y="4086815"/>
            <a:ext cx="6019800" cy="1496694"/>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algn="ctr" rtl="0" eaLnBrk="0">
              <a:lnSpc>
                <a:spcPct val="104000"/>
              </a:lnSpc>
            </a:pPr>
            <a:r>
              <a:rPr lang="zh-CN" altLang="en-US" sz="27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汇 报 人 ：王裕硕</a:t>
            </a:r>
            <a:endParaRPr lang="en-US" altLang="zh-CN" sz="27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1495425" indent="-1482725" algn="ctr" rtl="0" eaLnBrk="0">
              <a:lnSpc>
                <a:spcPct val="94000"/>
              </a:lnSpc>
              <a:spcBef>
                <a:spcPts val="0"/>
              </a:spcBef>
            </a:pPr>
            <a:r>
              <a:rPr lang="en-US" sz="2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2026/6/9</a:t>
            </a:r>
          </a:p>
        </p:txBody>
      </p:sp>
    </p:spTree>
    <p:extLst>
      <p:ext uri="{BB962C8B-B14F-4D97-AF65-F5344CB8AC3E}">
        <p14:creationId xmlns:p14="http://schemas.microsoft.com/office/powerpoint/2010/main" val="162270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6FF1FD6D-E81D-4FB2-8EF6-0480D9E5279C}"/>
              </a:ext>
            </a:extLst>
          </p:cNvPr>
          <p:cNvPicPr>
            <a:picLocks noChangeAspect="1"/>
          </p:cNvPicPr>
          <p:nvPr/>
        </p:nvPicPr>
        <p:blipFill>
          <a:blip r:embed="rId3"/>
          <a:srcRect l="7489" r="73935"/>
          <a:stretch>
            <a:fillRect/>
          </a:stretch>
        </p:blipFill>
        <p:spPr>
          <a:xfrm>
            <a:off x="-6229350" y="-6267000"/>
            <a:ext cx="13701485" cy="14026232"/>
          </a:xfrm>
          <a:custGeom>
            <a:avLst/>
            <a:gdLst>
              <a:gd name="connsiteX0" fmla="*/ 1836057 w 3672114"/>
              <a:gd name="connsiteY0" fmla="*/ 0 h 3759149"/>
              <a:gd name="connsiteX1" fmla="*/ 3672114 w 3672114"/>
              <a:gd name="connsiteY1" fmla="*/ 1879575 h 3759149"/>
              <a:gd name="connsiteX2" fmla="*/ 2023783 w 3672114"/>
              <a:gd name="connsiteY2" fmla="*/ 3749446 h 3759149"/>
              <a:gd name="connsiteX3" fmla="*/ 1836076 w 3672114"/>
              <a:gd name="connsiteY3" fmla="*/ 3759149 h 3759149"/>
              <a:gd name="connsiteX4" fmla="*/ 1836039 w 3672114"/>
              <a:gd name="connsiteY4" fmla="*/ 3759149 h 3759149"/>
              <a:gd name="connsiteX5" fmla="*/ 1648331 w 3672114"/>
              <a:gd name="connsiteY5" fmla="*/ 3749446 h 3759149"/>
              <a:gd name="connsiteX6" fmla="*/ 0 w 3672114"/>
              <a:gd name="connsiteY6" fmla="*/ 1879575 h 3759149"/>
              <a:gd name="connsiteX7" fmla="*/ 1836057 w 3672114"/>
              <a:gd name="connsiteY7" fmla="*/ 0 h 375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2114" h="3759149">
                <a:moveTo>
                  <a:pt x="1836057" y="0"/>
                </a:moveTo>
                <a:cubicBezTo>
                  <a:pt x="2850084" y="0"/>
                  <a:pt x="3672114" y="841514"/>
                  <a:pt x="3672114" y="1879575"/>
                </a:cubicBezTo>
                <a:cubicBezTo>
                  <a:pt x="3672114" y="2852757"/>
                  <a:pt x="2949626" y="3653193"/>
                  <a:pt x="2023783" y="3749446"/>
                </a:cubicBezTo>
                <a:lnTo>
                  <a:pt x="1836076" y="3759149"/>
                </a:lnTo>
                <a:lnTo>
                  <a:pt x="1836039" y="3759149"/>
                </a:lnTo>
                <a:lnTo>
                  <a:pt x="1648331" y="3749446"/>
                </a:lnTo>
                <a:cubicBezTo>
                  <a:pt x="722489" y="3653193"/>
                  <a:pt x="0" y="2852757"/>
                  <a:pt x="0" y="1879575"/>
                </a:cubicBezTo>
                <a:cubicBezTo>
                  <a:pt x="0" y="841514"/>
                  <a:pt x="822031" y="0"/>
                  <a:pt x="1836057" y="0"/>
                </a:cubicBezTo>
                <a:close/>
              </a:path>
            </a:pathLst>
          </a:custGeom>
        </p:spPr>
      </p:pic>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2</a:t>
            </a:fld>
            <a:endParaRPr lang="zh-CN" altLang="en-US"/>
          </a:p>
        </p:txBody>
      </p:sp>
      <p:sp>
        <p:nvSpPr>
          <p:cNvPr id="8" name="textbox 4">
            <a:extLst>
              <a:ext uri="{FF2B5EF4-FFF2-40B4-BE49-F238E27FC236}">
                <a16:creationId xmlns:a16="http://schemas.microsoft.com/office/drawing/2014/main" id="{B3CD0A18-9D8F-492A-A7F7-92277554F4A1}"/>
              </a:ext>
            </a:extLst>
          </p:cNvPr>
          <p:cNvSpPr/>
          <p:nvPr/>
        </p:nvSpPr>
        <p:spPr>
          <a:xfrm>
            <a:off x="1378856" y="2478088"/>
            <a:ext cx="2569030"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目录</a:t>
            </a:r>
            <a:endParaRPr lang="en-US"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box 4">
            <a:extLst>
              <a:ext uri="{FF2B5EF4-FFF2-40B4-BE49-F238E27FC236}">
                <a16:creationId xmlns:a16="http://schemas.microsoft.com/office/drawing/2014/main" id="{846E1B9E-C7C5-4930-8D5C-C93EEC6C6E9F}"/>
              </a:ext>
            </a:extLst>
          </p:cNvPr>
          <p:cNvSpPr/>
          <p:nvPr/>
        </p:nvSpPr>
        <p:spPr>
          <a:xfrm>
            <a:off x="5624399" y="1012816"/>
            <a:ext cx="8024586"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en-US" altLang="zh-CN" sz="4800" b="1" kern="0" spc="-10" dirty="0">
                <a:latin typeface="微软雅黑" panose="020B0503020204020204" pitchFamily="34" charset="-122"/>
                <a:ea typeface="微软雅黑" panose="020B0503020204020204" pitchFamily="34" charset="-122"/>
                <a:cs typeface="Times New Roman" panose="02020603050405020304"/>
              </a:rPr>
              <a:t>1  </a:t>
            </a:r>
            <a:r>
              <a:rPr lang="zh-CN" altLang="en-US" sz="4800" b="1" kern="0" spc="-10" dirty="0">
                <a:latin typeface="微软雅黑" panose="020B0503020204020204" pitchFamily="34" charset="-122"/>
                <a:ea typeface="微软雅黑" panose="020B0503020204020204" pitchFamily="34" charset="-122"/>
                <a:cs typeface="Times New Roman" panose="02020603050405020304"/>
              </a:rPr>
              <a:t>研究背景</a:t>
            </a:r>
            <a:endParaRPr lang="en-US" altLang="zh-CN" sz="4800" b="1" kern="0" spc="-10" dirty="0">
              <a:latin typeface="微软雅黑" panose="020B0503020204020204" pitchFamily="34" charset="-122"/>
              <a:ea typeface="微软雅黑" panose="020B0503020204020204" pitchFamily="34" charset="-122"/>
              <a:cs typeface="Times New Roman" panose="02020603050405020304"/>
            </a:endParaRPr>
          </a:p>
        </p:txBody>
      </p:sp>
      <p:sp>
        <p:nvSpPr>
          <p:cNvPr id="11" name="textbox 4">
            <a:extLst>
              <a:ext uri="{FF2B5EF4-FFF2-40B4-BE49-F238E27FC236}">
                <a16:creationId xmlns:a16="http://schemas.microsoft.com/office/drawing/2014/main" id="{0DBBE9AA-4E97-40A4-88F7-3F4F229E1B0C}"/>
              </a:ext>
            </a:extLst>
          </p:cNvPr>
          <p:cNvSpPr/>
          <p:nvPr/>
        </p:nvSpPr>
        <p:spPr>
          <a:xfrm>
            <a:off x="5136355" y="2824951"/>
            <a:ext cx="8024586"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en-US" altLang="zh-CN" sz="4800" b="1" kern="0" spc="-10" dirty="0">
                <a:latin typeface="微软雅黑" panose="020B0503020204020204" pitchFamily="34" charset="-122"/>
                <a:ea typeface="微软雅黑" panose="020B0503020204020204" pitchFamily="34" charset="-122"/>
                <a:cs typeface="Times New Roman" panose="02020603050405020304"/>
              </a:rPr>
              <a:t>2  </a:t>
            </a:r>
            <a:r>
              <a:rPr lang="zh-CN" altLang="en-US" sz="4800" b="1" kern="0" spc="-10" dirty="0">
                <a:latin typeface="微软雅黑" panose="020B0503020204020204" pitchFamily="34" charset="-122"/>
                <a:ea typeface="微软雅黑" panose="020B0503020204020204" pitchFamily="34" charset="-122"/>
                <a:cs typeface="Times New Roman" panose="02020603050405020304"/>
              </a:rPr>
              <a:t>研究方法</a:t>
            </a:r>
            <a:endParaRPr lang="en-US" altLang="zh-CN" sz="4800" b="1" kern="0" spc="-10" dirty="0">
              <a:latin typeface="微软雅黑" panose="020B0503020204020204" pitchFamily="34" charset="-122"/>
              <a:ea typeface="微软雅黑" panose="020B0503020204020204" pitchFamily="34" charset="-122"/>
              <a:cs typeface="Times New Roman" panose="02020603050405020304"/>
            </a:endParaRPr>
          </a:p>
        </p:txBody>
      </p:sp>
      <p:sp>
        <p:nvSpPr>
          <p:cNvPr id="14" name="textbox 4">
            <a:extLst>
              <a:ext uri="{FF2B5EF4-FFF2-40B4-BE49-F238E27FC236}">
                <a16:creationId xmlns:a16="http://schemas.microsoft.com/office/drawing/2014/main" id="{812029D5-7B99-4562-97F6-47F95EC2824F}"/>
              </a:ext>
            </a:extLst>
          </p:cNvPr>
          <p:cNvSpPr/>
          <p:nvPr/>
        </p:nvSpPr>
        <p:spPr>
          <a:xfrm>
            <a:off x="4167414" y="4637087"/>
            <a:ext cx="8024586"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en-US" altLang="zh-CN" sz="4800" b="1" kern="0" spc="-10" dirty="0">
                <a:latin typeface="微软雅黑" panose="020B0503020204020204" pitchFamily="34" charset="-122"/>
                <a:ea typeface="微软雅黑" panose="020B0503020204020204" pitchFamily="34" charset="-122"/>
                <a:cs typeface="Times New Roman" panose="02020603050405020304"/>
              </a:rPr>
              <a:t>3  </a:t>
            </a:r>
            <a:r>
              <a:rPr lang="zh-CN" altLang="en-US" sz="4800" b="1" kern="0" spc="-10" dirty="0">
                <a:latin typeface="微软雅黑" panose="020B0503020204020204" pitchFamily="34" charset="-122"/>
                <a:ea typeface="微软雅黑" panose="020B0503020204020204" pitchFamily="34" charset="-122"/>
                <a:cs typeface="Times New Roman" panose="02020603050405020304"/>
              </a:rPr>
              <a:t>研究结论</a:t>
            </a:r>
            <a:endParaRPr lang="en-US" altLang="zh-CN" sz="4800" b="1" kern="0" spc="-10" dirty="0">
              <a:latin typeface="微软雅黑" panose="020B0503020204020204" pitchFamily="34" charset="-122"/>
              <a:ea typeface="微软雅黑" panose="020B0503020204020204" pitchFamily="34" charset="-122"/>
              <a:cs typeface="Times New Roman" panose="02020603050405020304"/>
            </a:endParaRPr>
          </a:p>
        </p:txBody>
      </p:sp>
    </p:spTree>
    <p:extLst>
      <p:ext uri="{BB962C8B-B14F-4D97-AF65-F5344CB8AC3E}">
        <p14:creationId xmlns:p14="http://schemas.microsoft.com/office/powerpoint/2010/main" val="4036654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3</a:t>
            </a:fld>
            <a:endParaRPr lang="zh-CN" altLang="en-US"/>
          </a:p>
        </p:txBody>
      </p:sp>
      <p:pic>
        <p:nvPicPr>
          <p:cNvPr id="9" name="图片 8">
            <a:extLst>
              <a:ext uri="{FF2B5EF4-FFF2-40B4-BE49-F238E27FC236}">
                <a16:creationId xmlns:a16="http://schemas.microsoft.com/office/drawing/2014/main" id="{8DC150AE-3435-4776-96FA-783A8C475E5B}"/>
              </a:ext>
            </a:extLst>
          </p:cNvPr>
          <p:cNvPicPr>
            <a:picLocks noChangeAspect="1"/>
          </p:cNvPicPr>
          <p:nvPr/>
        </p:nvPicPr>
        <p:blipFill>
          <a:blip r:embed="rId3"/>
          <a:srcRect r="70000" b="531"/>
          <a:stretch>
            <a:fillRect/>
          </a:stretch>
        </p:blipFill>
        <p:spPr>
          <a:xfrm>
            <a:off x="0" y="2275948"/>
            <a:ext cx="3657600" cy="2306103"/>
          </a:xfrm>
          <a:custGeom>
            <a:avLst/>
            <a:gdLst>
              <a:gd name="connsiteX0" fmla="*/ 0 w 3657600"/>
              <a:gd name="connsiteY0" fmla="*/ 0 h 2306103"/>
              <a:gd name="connsiteX1" fmla="*/ 2283716 w 3657600"/>
              <a:gd name="connsiteY1" fmla="*/ 0 h 2306103"/>
              <a:gd name="connsiteX2" fmla="*/ 3657600 w 3657600"/>
              <a:gd name="connsiteY2" fmla="*/ 1153052 h 2306103"/>
              <a:gd name="connsiteX3" fmla="*/ 2283716 w 3657600"/>
              <a:gd name="connsiteY3" fmla="*/ 2306103 h 2306103"/>
              <a:gd name="connsiteX4" fmla="*/ 0 w 3657600"/>
              <a:gd name="connsiteY4" fmla="*/ 2306103 h 2306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0" h="2306103">
                <a:moveTo>
                  <a:pt x="0" y="0"/>
                </a:moveTo>
                <a:lnTo>
                  <a:pt x="2283716" y="0"/>
                </a:lnTo>
                <a:lnTo>
                  <a:pt x="3657600" y="1153052"/>
                </a:lnTo>
                <a:lnTo>
                  <a:pt x="2283716" y="2306103"/>
                </a:lnTo>
                <a:lnTo>
                  <a:pt x="0" y="2306103"/>
                </a:lnTo>
                <a:close/>
              </a:path>
            </a:pathLst>
          </a:custGeom>
        </p:spPr>
      </p:pic>
      <p:sp>
        <p:nvSpPr>
          <p:cNvPr id="10" name="textbox 4">
            <a:extLst>
              <a:ext uri="{FF2B5EF4-FFF2-40B4-BE49-F238E27FC236}">
                <a16:creationId xmlns:a16="http://schemas.microsoft.com/office/drawing/2014/main" id="{EC640D0C-20FF-4810-A56A-9441648D3ECE}"/>
              </a:ext>
            </a:extLst>
          </p:cNvPr>
          <p:cNvSpPr/>
          <p:nvPr/>
        </p:nvSpPr>
        <p:spPr>
          <a:xfrm>
            <a:off x="667657" y="2478086"/>
            <a:ext cx="1335314"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en-US" altLang="zh-CN"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textbox 4">
            <a:extLst>
              <a:ext uri="{FF2B5EF4-FFF2-40B4-BE49-F238E27FC236}">
                <a16:creationId xmlns:a16="http://schemas.microsoft.com/office/drawing/2014/main" id="{A22A704B-8B7A-43FA-94E5-966466B491FF}"/>
              </a:ext>
            </a:extLst>
          </p:cNvPr>
          <p:cNvSpPr/>
          <p:nvPr/>
        </p:nvSpPr>
        <p:spPr>
          <a:xfrm>
            <a:off x="2873829" y="2478085"/>
            <a:ext cx="8024586"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6000" b="1" kern="0" spc="-10" dirty="0">
                <a:latin typeface="微软雅黑" panose="020B0503020204020204" pitchFamily="34" charset="-122"/>
                <a:ea typeface="微软雅黑" panose="020B0503020204020204" pitchFamily="34" charset="-122"/>
                <a:cs typeface="Times New Roman" panose="02020603050405020304"/>
              </a:rPr>
              <a:t>研究背景</a:t>
            </a:r>
            <a:endParaRPr lang="en-US" altLang="zh-CN" sz="6000" b="1" kern="0" spc="-10" dirty="0">
              <a:latin typeface="微软雅黑" panose="020B0503020204020204" pitchFamily="34" charset="-122"/>
              <a:ea typeface="微软雅黑" panose="020B0503020204020204" pitchFamily="34" charset="-122"/>
              <a:cs typeface="Times New Roman" panose="02020603050405020304"/>
            </a:endParaRPr>
          </a:p>
        </p:txBody>
      </p:sp>
    </p:spTree>
    <p:extLst>
      <p:ext uri="{BB962C8B-B14F-4D97-AF65-F5344CB8AC3E}">
        <p14:creationId xmlns:p14="http://schemas.microsoft.com/office/powerpoint/2010/main" val="27056055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4</a:t>
            </a:fld>
            <a:endParaRPr lang="zh-CN" altLang="en-US"/>
          </a:p>
        </p:txBody>
      </p:sp>
      <p:sp>
        <p:nvSpPr>
          <p:cNvPr id="6" name="矩形 46">
            <a:extLst>
              <a:ext uri="{FF2B5EF4-FFF2-40B4-BE49-F238E27FC236}">
                <a16:creationId xmlns:a16="http://schemas.microsoft.com/office/drawing/2014/main" id="{4DB44E74-6B94-4F4B-8A63-36FCA7954817}"/>
              </a:ext>
            </a:extLst>
          </p:cNvPr>
          <p:cNvSpPr>
            <a:spLocks noChangeArrowheads="1"/>
          </p:cNvSpPr>
          <p:nvPr/>
        </p:nvSpPr>
        <p:spPr bwMode="auto">
          <a:xfrm>
            <a:off x="634918" y="237124"/>
            <a:ext cx="2633087"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1.1 </a:t>
            </a:r>
            <a:r>
              <a:rPr kumimoji="0" lang="zh-CN" altLang="en-US"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理论</a:t>
            </a:r>
            <a:r>
              <a:rPr lang="zh-CN" altLang="en-US" b="1" dirty="0">
                <a:solidFill>
                  <a:srgbClr val="000099"/>
                </a:solidFill>
              </a:rPr>
              <a:t>背景</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8" name="等腰三角形 47">
            <a:extLst>
              <a:ext uri="{FF2B5EF4-FFF2-40B4-BE49-F238E27FC236}">
                <a16:creationId xmlns:a16="http://schemas.microsoft.com/office/drawing/2014/main" id="{B30A2D93-61EF-4B5F-B18D-F76B30294E2B}"/>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矩形 8">
            <a:extLst>
              <a:ext uri="{FF2B5EF4-FFF2-40B4-BE49-F238E27FC236}">
                <a16:creationId xmlns:a16="http://schemas.microsoft.com/office/drawing/2014/main" id="{1B52DE07-BED5-4552-BADF-7E13C532AC6F}"/>
              </a:ext>
            </a:extLst>
          </p:cNvPr>
          <p:cNvSpPr/>
          <p:nvPr/>
        </p:nvSpPr>
        <p:spPr>
          <a:xfrm>
            <a:off x="387350" y="1084959"/>
            <a:ext cx="11504814" cy="430306"/>
          </a:xfrm>
          <a:prstGeom prst="rect">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神经科学研究发现，人手通过少数</a:t>
            </a:r>
            <a:r>
              <a:rPr lang="zh-CN" altLang="en-US" sz="2000" b="1"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低维协同模式</a:t>
            </a:r>
            <a:r>
              <a:rPr lang="zh-CN" altLang="en-US" sz="2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组织复杂的多关节运动。</a:t>
            </a:r>
          </a:p>
        </p:txBody>
      </p:sp>
      <p:grpSp>
        <p:nvGrpSpPr>
          <p:cNvPr id="5" name="组合 4">
            <a:extLst>
              <a:ext uri="{FF2B5EF4-FFF2-40B4-BE49-F238E27FC236}">
                <a16:creationId xmlns:a16="http://schemas.microsoft.com/office/drawing/2014/main" id="{0A89D092-92C6-46AA-AEFA-3DCB9FB36E34}"/>
              </a:ext>
            </a:extLst>
          </p:cNvPr>
          <p:cNvGrpSpPr/>
          <p:nvPr/>
        </p:nvGrpSpPr>
        <p:grpSpPr>
          <a:xfrm>
            <a:off x="387350" y="1676074"/>
            <a:ext cx="4006850" cy="4899255"/>
            <a:chOff x="387350" y="1676074"/>
            <a:chExt cx="4006850" cy="4899255"/>
          </a:xfrm>
        </p:grpSpPr>
        <p:sp>
          <p:nvSpPr>
            <p:cNvPr id="11" name="!! 矩形: 圆角 4">
              <a:extLst>
                <a:ext uri="{FF2B5EF4-FFF2-40B4-BE49-F238E27FC236}">
                  <a16:creationId xmlns:a16="http://schemas.microsoft.com/office/drawing/2014/main" id="{BD9725AF-34FA-4784-8746-DB92FA0FCBD6}"/>
                </a:ext>
              </a:extLst>
            </p:cNvPr>
            <p:cNvSpPr/>
            <p:nvPr/>
          </p:nvSpPr>
          <p:spPr>
            <a:xfrm>
              <a:off x="387350" y="1676074"/>
              <a:ext cx="4006850" cy="4899255"/>
            </a:xfrm>
            <a:prstGeom prst="roundRect">
              <a:avLst>
                <a:gd name="adj" fmla="val 7632"/>
              </a:avLst>
            </a:prstGeom>
            <a:noFill/>
            <a:ln w="19050" cap="sq">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2" name="图片 11">
              <a:extLst>
                <a:ext uri="{FF2B5EF4-FFF2-40B4-BE49-F238E27FC236}">
                  <a16:creationId xmlns:a16="http://schemas.microsoft.com/office/drawing/2014/main" id="{CE71BC6D-6A92-4767-B0FF-15A4D5118E97}"/>
                </a:ext>
              </a:extLst>
            </p:cNvPr>
            <p:cNvPicPr>
              <a:picLocks noChangeAspect="1"/>
            </p:cNvPicPr>
            <p:nvPr/>
          </p:nvPicPr>
          <p:blipFill>
            <a:blip r:embed="rId3"/>
            <a:stretch>
              <a:fillRect/>
            </a:stretch>
          </p:blipFill>
          <p:spPr>
            <a:xfrm>
              <a:off x="611265" y="2054168"/>
              <a:ext cx="3559019" cy="2595851"/>
            </a:xfrm>
            <a:prstGeom prst="rect">
              <a:avLst/>
            </a:prstGeom>
          </p:spPr>
        </p:pic>
        <p:sp>
          <p:nvSpPr>
            <p:cNvPr id="13" name="文本框 12">
              <a:extLst>
                <a:ext uri="{FF2B5EF4-FFF2-40B4-BE49-F238E27FC236}">
                  <a16:creationId xmlns:a16="http://schemas.microsoft.com/office/drawing/2014/main" id="{3CA745DF-3007-45C5-B190-8E8B18DDA69A}"/>
                </a:ext>
              </a:extLst>
            </p:cNvPr>
            <p:cNvSpPr txBox="1"/>
            <p:nvPr/>
          </p:nvSpPr>
          <p:spPr>
            <a:xfrm>
              <a:off x="924772" y="4860499"/>
              <a:ext cx="2932004" cy="400110"/>
            </a:xfrm>
            <a:prstGeom prst="rect">
              <a:avLst/>
            </a:prstGeom>
            <a:noFill/>
          </p:spPr>
          <p:txBody>
            <a:bodyPr wrap="square" rtlCol="0">
              <a:spAutoFit/>
            </a:bodyPr>
            <a:lstStyle/>
            <a:p>
              <a:pPr algn="ct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人手的姿态协同理论</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1DD175F9-AA21-40E7-A7A8-12DD6432FAE2}"/>
                </a:ext>
              </a:extLst>
            </p:cNvPr>
            <p:cNvSpPr txBox="1"/>
            <p:nvPr/>
          </p:nvSpPr>
          <p:spPr>
            <a:xfrm>
              <a:off x="499306" y="5341013"/>
              <a:ext cx="3782935" cy="923330"/>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0">
                <a:buNone/>
              </a:pPr>
              <a:r>
                <a:rPr lang="zh-CN" altLang="en-US" sz="1800" b="0" i="0" dirty="0">
                  <a:solidFill>
                    <a:srgbClr val="1A1C1F"/>
                  </a:solidFill>
                  <a:effectLst/>
                  <a:latin typeface="-apple-system"/>
                </a:rPr>
                <a:t>人手虽然具有大量自由度，但在实际抓取和操作中常表现为少数协同模式的线性组合。</a:t>
              </a:r>
              <a:endParaRPr lang="en-US" altLang="zh-CN" sz="1800" dirty="0"/>
            </a:p>
          </p:txBody>
        </p:sp>
      </p:grpSp>
      <p:pic>
        <p:nvPicPr>
          <p:cNvPr id="16" name="图片 15">
            <a:extLst>
              <a:ext uri="{FF2B5EF4-FFF2-40B4-BE49-F238E27FC236}">
                <a16:creationId xmlns:a16="http://schemas.microsoft.com/office/drawing/2014/main" id="{C477C47A-D11B-40A2-99FF-D83F47040CB5}"/>
              </a:ext>
            </a:extLst>
          </p:cNvPr>
          <p:cNvPicPr>
            <a:picLocks noChangeAspect="1"/>
          </p:cNvPicPr>
          <p:nvPr/>
        </p:nvPicPr>
        <p:blipFill>
          <a:blip r:embed="rId4"/>
          <a:stretch>
            <a:fillRect/>
          </a:stretch>
        </p:blipFill>
        <p:spPr>
          <a:xfrm rot="10800000">
            <a:off x="4618115" y="1747548"/>
            <a:ext cx="3665479" cy="4608801"/>
          </a:xfrm>
          <a:prstGeom prst="rect">
            <a:avLst/>
          </a:prstGeom>
        </p:spPr>
      </p:pic>
      <p:grpSp>
        <p:nvGrpSpPr>
          <p:cNvPr id="19" name="组合 18">
            <a:extLst>
              <a:ext uri="{FF2B5EF4-FFF2-40B4-BE49-F238E27FC236}">
                <a16:creationId xmlns:a16="http://schemas.microsoft.com/office/drawing/2014/main" id="{7EC85138-73F2-426C-BC3A-0B2B69269D84}"/>
              </a:ext>
            </a:extLst>
          </p:cNvPr>
          <p:cNvGrpSpPr/>
          <p:nvPr/>
        </p:nvGrpSpPr>
        <p:grpSpPr>
          <a:xfrm>
            <a:off x="8180023" y="2095625"/>
            <a:ext cx="3712142" cy="1059097"/>
            <a:chOff x="8180023" y="2095625"/>
            <a:chExt cx="3712142" cy="1059097"/>
          </a:xfrm>
        </p:grpSpPr>
        <p:pic>
          <p:nvPicPr>
            <p:cNvPr id="20" name="图片 19">
              <a:extLst>
                <a:ext uri="{FF2B5EF4-FFF2-40B4-BE49-F238E27FC236}">
                  <a16:creationId xmlns:a16="http://schemas.microsoft.com/office/drawing/2014/main" id="{9640DDBB-C39C-43B5-B57F-BE74746E3504}"/>
                </a:ext>
              </a:extLst>
            </p:cNvPr>
            <p:cNvPicPr>
              <a:picLocks noChangeAspect="1"/>
            </p:cNvPicPr>
            <p:nvPr/>
          </p:nvPicPr>
          <p:blipFill>
            <a:blip r:embed="rId5"/>
            <a:srcRect l="15375" t="7060" r="27473" b="7191"/>
            <a:stretch>
              <a:fillRect/>
            </a:stretch>
          </p:blipFill>
          <p:spPr>
            <a:xfrm>
              <a:off x="8180023" y="2095625"/>
              <a:ext cx="3712142" cy="1059097"/>
            </a:xfrm>
            <a:custGeom>
              <a:avLst/>
              <a:gdLst>
                <a:gd name="connsiteX0" fmla="*/ 331342 w 6967990"/>
                <a:gd name="connsiteY0" fmla="*/ 0 h 1988010"/>
                <a:gd name="connsiteX1" fmla="*/ 6636648 w 6967990"/>
                <a:gd name="connsiteY1" fmla="*/ 0 h 1988010"/>
                <a:gd name="connsiteX2" fmla="*/ 6967990 w 6967990"/>
                <a:gd name="connsiteY2" fmla="*/ 331342 h 1988010"/>
                <a:gd name="connsiteX3" fmla="*/ 6967990 w 6967990"/>
                <a:gd name="connsiteY3" fmla="*/ 1656668 h 1988010"/>
                <a:gd name="connsiteX4" fmla="*/ 6636648 w 6967990"/>
                <a:gd name="connsiteY4" fmla="*/ 1988010 h 1988010"/>
                <a:gd name="connsiteX5" fmla="*/ 331342 w 6967990"/>
                <a:gd name="connsiteY5" fmla="*/ 1988010 h 1988010"/>
                <a:gd name="connsiteX6" fmla="*/ 0 w 6967990"/>
                <a:gd name="connsiteY6" fmla="*/ 1656668 h 1988010"/>
                <a:gd name="connsiteX7" fmla="*/ 0 w 6967990"/>
                <a:gd name="connsiteY7" fmla="*/ 331342 h 1988010"/>
                <a:gd name="connsiteX8" fmla="*/ 331342 w 6967990"/>
                <a:gd name="connsiteY8" fmla="*/ 0 h 1988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67990" h="1988010">
                  <a:moveTo>
                    <a:pt x="331342" y="0"/>
                  </a:moveTo>
                  <a:lnTo>
                    <a:pt x="6636648" y="0"/>
                  </a:lnTo>
                  <a:cubicBezTo>
                    <a:pt x="6819643" y="0"/>
                    <a:pt x="6967990" y="148347"/>
                    <a:pt x="6967990" y="331342"/>
                  </a:cubicBezTo>
                  <a:lnTo>
                    <a:pt x="6967990" y="1656668"/>
                  </a:lnTo>
                  <a:cubicBezTo>
                    <a:pt x="6967990" y="1839663"/>
                    <a:pt x="6819643" y="1988010"/>
                    <a:pt x="6636648" y="1988010"/>
                  </a:cubicBezTo>
                  <a:lnTo>
                    <a:pt x="331342" y="1988010"/>
                  </a:lnTo>
                  <a:cubicBezTo>
                    <a:pt x="148347" y="1988010"/>
                    <a:pt x="0" y="1839663"/>
                    <a:pt x="0" y="1656668"/>
                  </a:cubicBezTo>
                  <a:lnTo>
                    <a:pt x="0" y="331342"/>
                  </a:lnTo>
                  <a:cubicBezTo>
                    <a:pt x="0" y="148347"/>
                    <a:pt x="148347" y="0"/>
                    <a:pt x="331342" y="0"/>
                  </a:cubicBezTo>
                  <a:close/>
                </a:path>
              </a:pathLst>
            </a:custGeom>
          </p:spPr>
        </p:pic>
        <p:sp>
          <p:nvSpPr>
            <p:cNvPr id="23" name="textbox 4">
              <a:extLst>
                <a:ext uri="{FF2B5EF4-FFF2-40B4-BE49-F238E27FC236}">
                  <a16:creationId xmlns:a16="http://schemas.microsoft.com/office/drawing/2014/main" id="{EE114DBB-FDC1-4271-A281-ADFAB09DF7DF}"/>
                </a:ext>
              </a:extLst>
            </p:cNvPr>
            <p:cNvSpPr/>
            <p:nvPr/>
          </p:nvSpPr>
          <p:spPr>
            <a:xfrm>
              <a:off x="9382126" y="2143739"/>
              <a:ext cx="1244616" cy="380386"/>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20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神经层面</a:t>
              </a:r>
              <a:endParaRPr lang="en-US" sz="20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textbox 4">
              <a:extLst>
                <a:ext uri="{FF2B5EF4-FFF2-40B4-BE49-F238E27FC236}">
                  <a16:creationId xmlns:a16="http://schemas.microsoft.com/office/drawing/2014/main" id="{2F5D1D1E-F3F6-492B-AC01-0CDF255325F2}"/>
                </a:ext>
              </a:extLst>
            </p:cNvPr>
            <p:cNvSpPr/>
            <p:nvPr/>
          </p:nvSpPr>
          <p:spPr>
            <a:xfrm>
              <a:off x="8371074" y="2509235"/>
              <a:ext cx="3287526" cy="633349"/>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1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中枢神经系统内部对手部肌肉控制采取模块化编码与协同控制。</a:t>
              </a:r>
              <a:endParaRPr lang="en-US" sz="1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6" name="组合 25">
            <a:extLst>
              <a:ext uri="{FF2B5EF4-FFF2-40B4-BE49-F238E27FC236}">
                <a16:creationId xmlns:a16="http://schemas.microsoft.com/office/drawing/2014/main" id="{A6D9D98A-9C53-4257-97DB-FE1AF7BC2C9A}"/>
              </a:ext>
            </a:extLst>
          </p:cNvPr>
          <p:cNvGrpSpPr/>
          <p:nvPr/>
        </p:nvGrpSpPr>
        <p:grpSpPr>
          <a:xfrm>
            <a:off x="8180023" y="3502799"/>
            <a:ext cx="3712142" cy="1059097"/>
            <a:chOff x="8180023" y="2095625"/>
            <a:chExt cx="3712142" cy="1059097"/>
          </a:xfrm>
        </p:grpSpPr>
        <p:pic>
          <p:nvPicPr>
            <p:cNvPr id="27" name="图片 26">
              <a:extLst>
                <a:ext uri="{FF2B5EF4-FFF2-40B4-BE49-F238E27FC236}">
                  <a16:creationId xmlns:a16="http://schemas.microsoft.com/office/drawing/2014/main" id="{D8ACF8C8-1081-41BF-9F6A-EB264B213284}"/>
                </a:ext>
              </a:extLst>
            </p:cNvPr>
            <p:cNvPicPr>
              <a:picLocks noChangeAspect="1"/>
            </p:cNvPicPr>
            <p:nvPr/>
          </p:nvPicPr>
          <p:blipFill>
            <a:blip r:embed="rId5"/>
            <a:srcRect l="15375" t="7060" r="27473" b="7191"/>
            <a:stretch>
              <a:fillRect/>
            </a:stretch>
          </p:blipFill>
          <p:spPr>
            <a:xfrm>
              <a:off x="8180023" y="2095625"/>
              <a:ext cx="3712142" cy="1059097"/>
            </a:xfrm>
            <a:custGeom>
              <a:avLst/>
              <a:gdLst>
                <a:gd name="connsiteX0" fmla="*/ 331342 w 6967990"/>
                <a:gd name="connsiteY0" fmla="*/ 0 h 1988010"/>
                <a:gd name="connsiteX1" fmla="*/ 6636648 w 6967990"/>
                <a:gd name="connsiteY1" fmla="*/ 0 h 1988010"/>
                <a:gd name="connsiteX2" fmla="*/ 6967990 w 6967990"/>
                <a:gd name="connsiteY2" fmla="*/ 331342 h 1988010"/>
                <a:gd name="connsiteX3" fmla="*/ 6967990 w 6967990"/>
                <a:gd name="connsiteY3" fmla="*/ 1656668 h 1988010"/>
                <a:gd name="connsiteX4" fmla="*/ 6636648 w 6967990"/>
                <a:gd name="connsiteY4" fmla="*/ 1988010 h 1988010"/>
                <a:gd name="connsiteX5" fmla="*/ 331342 w 6967990"/>
                <a:gd name="connsiteY5" fmla="*/ 1988010 h 1988010"/>
                <a:gd name="connsiteX6" fmla="*/ 0 w 6967990"/>
                <a:gd name="connsiteY6" fmla="*/ 1656668 h 1988010"/>
                <a:gd name="connsiteX7" fmla="*/ 0 w 6967990"/>
                <a:gd name="connsiteY7" fmla="*/ 331342 h 1988010"/>
                <a:gd name="connsiteX8" fmla="*/ 331342 w 6967990"/>
                <a:gd name="connsiteY8" fmla="*/ 0 h 1988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67990" h="1988010">
                  <a:moveTo>
                    <a:pt x="331342" y="0"/>
                  </a:moveTo>
                  <a:lnTo>
                    <a:pt x="6636648" y="0"/>
                  </a:lnTo>
                  <a:cubicBezTo>
                    <a:pt x="6819643" y="0"/>
                    <a:pt x="6967990" y="148347"/>
                    <a:pt x="6967990" y="331342"/>
                  </a:cubicBezTo>
                  <a:lnTo>
                    <a:pt x="6967990" y="1656668"/>
                  </a:lnTo>
                  <a:cubicBezTo>
                    <a:pt x="6967990" y="1839663"/>
                    <a:pt x="6819643" y="1988010"/>
                    <a:pt x="6636648" y="1988010"/>
                  </a:cubicBezTo>
                  <a:lnTo>
                    <a:pt x="331342" y="1988010"/>
                  </a:lnTo>
                  <a:cubicBezTo>
                    <a:pt x="148347" y="1988010"/>
                    <a:pt x="0" y="1839663"/>
                    <a:pt x="0" y="1656668"/>
                  </a:cubicBezTo>
                  <a:lnTo>
                    <a:pt x="0" y="331342"/>
                  </a:lnTo>
                  <a:cubicBezTo>
                    <a:pt x="0" y="148347"/>
                    <a:pt x="148347" y="0"/>
                    <a:pt x="331342" y="0"/>
                  </a:cubicBezTo>
                  <a:close/>
                </a:path>
              </a:pathLst>
            </a:custGeom>
          </p:spPr>
        </p:pic>
        <p:sp>
          <p:nvSpPr>
            <p:cNvPr id="28" name="textbox 4">
              <a:extLst>
                <a:ext uri="{FF2B5EF4-FFF2-40B4-BE49-F238E27FC236}">
                  <a16:creationId xmlns:a16="http://schemas.microsoft.com/office/drawing/2014/main" id="{60A6B290-D69E-428D-BB42-C693837CD820}"/>
                </a:ext>
              </a:extLst>
            </p:cNvPr>
            <p:cNvSpPr/>
            <p:nvPr/>
          </p:nvSpPr>
          <p:spPr>
            <a:xfrm>
              <a:off x="9382126" y="2143739"/>
              <a:ext cx="1244616" cy="380386"/>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20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肌肉层面</a:t>
              </a:r>
              <a:endParaRPr lang="en-US" sz="20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textbox 4">
              <a:extLst>
                <a:ext uri="{FF2B5EF4-FFF2-40B4-BE49-F238E27FC236}">
                  <a16:creationId xmlns:a16="http://schemas.microsoft.com/office/drawing/2014/main" id="{28F76246-0A14-4878-8D3A-BC268FD480F2}"/>
                </a:ext>
              </a:extLst>
            </p:cNvPr>
            <p:cNvSpPr/>
            <p:nvPr/>
          </p:nvSpPr>
          <p:spPr>
            <a:xfrm>
              <a:off x="8371074" y="2509235"/>
              <a:ext cx="3287526" cy="633349"/>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1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多块肌肉以相对固定的组合模式共同激活，从而生成不同抓握动作。</a:t>
              </a:r>
              <a:endParaRPr lang="en-US" sz="1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0" name="组合 29">
            <a:extLst>
              <a:ext uri="{FF2B5EF4-FFF2-40B4-BE49-F238E27FC236}">
                <a16:creationId xmlns:a16="http://schemas.microsoft.com/office/drawing/2014/main" id="{60F9E97D-4BAD-4698-BE81-E07185974073}"/>
              </a:ext>
            </a:extLst>
          </p:cNvPr>
          <p:cNvGrpSpPr/>
          <p:nvPr/>
        </p:nvGrpSpPr>
        <p:grpSpPr>
          <a:xfrm>
            <a:off x="8180023" y="4909973"/>
            <a:ext cx="3712142" cy="1059097"/>
            <a:chOff x="8180023" y="2095625"/>
            <a:chExt cx="3712142" cy="1059097"/>
          </a:xfrm>
        </p:grpSpPr>
        <p:pic>
          <p:nvPicPr>
            <p:cNvPr id="31" name="图片 30">
              <a:extLst>
                <a:ext uri="{FF2B5EF4-FFF2-40B4-BE49-F238E27FC236}">
                  <a16:creationId xmlns:a16="http://schemas.microsoft.com/office/drawing/2014/main" id="{A42D23A0-29DF-4B03-936C-6DD4D0F8EF95}"/>
                </a:ext>
              </a:extLst>
            </p:cNvPr>
            <p:cNvPicPr>
              <a:picLocks noChangeAspect="1"/>
            </p:cNvPicPr>
            <p:nvPr/>
          </p:nvPicPr>
          <p:blipFill>
            <a:blip r:embed="rId5"/>
            <a:srcRect l="15375" t="7060" r="27473" b="7191"/>
            <a:stretch>
              <a:fillRect/>
            </a:stretch>
          </p:blipFill>
          <p:spPr>
            <a:xfrm>
              <a:off x="8180023" y="2095625"/>
              <a:ext cx="3712142" cy="1059097"/>
            </a:xfrm>
            <a:custGeom>
              <a:avLst/>
              <a:gdLst>
                <a:gd name="connsiteX0" fmla="*/ 331342 w 6967990"/>
                <a:gd name="connsiteY0" fmla="*/ 0 h 1988010"/>
                <a:gd name="connsiteX1" fmla="*/ 6636648 w 6967990"/>
                <a:gd name="connsiteY1" fmla="*/ 0 h 1988010"/>
                <a:gd name="connsiteX2" fmla="*/ 6967990 w 6967990"/>
                <a:gd name="connsiteY2" fmla="*/ 331342 h 1988010"/>
                <a:gd name="connsiteX3" fmla="*/ 6967990 w 6967990"/>
                <a:gd name="connsiteY3" fmla="*/ 1656668 h 1988010"/>
                <a:gd name="connsiteX4" fmla="*/ 6636648 w 6967990"/>
                <a:gd name="connsiteY4" fmla="*/ 1988010 h 1988010"/>
                <a:gd name="connsiteX5" fmla="*/ 331342 w 6967990"/>
                <a:gd name="connsiteY5" fmla="*/ 1988010 h 1988010"/>
                <a:gd name="connsiteX6" fmla="*/ 0 w 6967990"/>
                <a:gd name="connsiteY6" fmla="*/ 1656668 h 1988010"/>
                <a:gd name="connsiteX7" fmla="*/ 0 w 6967990"/>
                <a:gd name="connsiteY7" fmla="*/ 331342 h 1988010"/>
                <a:gd name="connsiteX8" fmla="*/ 331342 w 6967990"/>
                <a:gd name="connsiteY8" fmla="*/ 0 h 1988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67990" h="1988010">
                  <a:moveTo>
                    <a:pt x="331342" y="0"/>
                  </a:moveTo>
                  <a:lnTo>
                    <a:pt x="6636648" y="0"/>
                  </a:lnTo>
                  <a:cubicBezTo>
                    <a:pt x="6819643" y="0"/>
                    <a:pt x="6967990" y="148347"/>
                    <a:pt x="6967990" y="331342"/>
                  </a:cubicBezTo>
                  <a:lnTo>
                    <a:pt x="6967990" y="1656668"/>
                  </a:lnTo>
                  <a:cubicBezTo>
                    <a:pt x="6967990" y="1839663"/>
                    <a:pt x="6819643" y="1988010"/>
                    <a:pt x="6636648" y="1988010"/>
                  </a:cubicBezTo>
                  <a:lnTo>
                    <a:pt x="331342" y="1988010"/>
                  </a:lnTo>
                  <a:cubicBezTo>
                    <a:pt x="148347" y="1988010"/>
                    <a:pt x="0" y="1839663"/>
                    <a:pt x="0" y="1656668"/>
                  </a:cubicBezTo>
                  <a:lnTo>
                    <a:pt x="0" y="331342"/>
                  </a:lnTo>
                  <a:cubicBezTo>
                    <a:pt x="0" y="148347"/>
                    <a:pt x="148347" y="0"/>
                    <a:pt x="331342" y="0"/>
                  </a:cubicBezTo>
                  <a:close/>
                </a:path>
              </a:pathLst>
            </a:custGeom>
          </p:spPr>
        </p:pic>
        <p:sp>
          <p:nvSpPr>
            <p:cNvPr id="32" name="textbox 4">
              <a:extLst>
                <a:ext uri="{FF2B5EF4-FFF2-40B4-BE49-F238E27FC236}">
                  <a16:creationId xmlns:a16="http://schemas.microsoft.com/office/drawing/2014/main" id="{4890E3AE-7955-4234-B864-1288911D8FAA}"/>
                </a:ext>
              </a:extLst>
            </p:cNvPr>
            <p:cNvSpPr/>
            <p:nvPr/>
          </p:nvSpPr>
          <p:spPr>
            <a:xfrm>
              <a:off x="9382126" y="2143739"/>
              <a:ext cx="1244616" cy="380386"/>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20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关节层面</a:t>
              </a:r>
              <a:endParaRPr lang="en-US" sz="20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textbox 4">
              <a:extLst>
                <a:ext uri="{FF2B5EF4-FFF2-40B4-BE49-F238E27FC236}">
                  <a16:creationId xmlns:a16="http://schemas.microsoft.com/office/drawing/2014/main" id="{CFAC9357-BCD6-462A-97B1-02BE04A6D330}"/>
                </a:ext>
              </a:extLst>
            </p:cNvPr>
            <p:cNvSpPr/>
            <p:nvPr/>
          </p:nvSpPr>
          <p:spPr>
            <a:xfrm>
              <a:off x="8371074" y="2509235"/>
              <a:ext cx="3287526" cy="633349"/>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1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多个关节在肌腱、韧带的作用下，运动角度之间产生约束。</a:t>
              </a:r>
              <a:endParaRPr lang="en-US" sz="1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52675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5</a:t>
            </a:fld>
            <a:endParaRPr lang="zh-CN" altLang="en-US"/>
          </a:p>
        </p:txBody>
      </p:sp>
      <p:sp>
        <p:nvSpPr>
          <p:cNvPr id="6" name="矩形 46">
            <a:extLst>
              <a:ext uri="{FF2B5EF4-FFF2-40B4-BE49-F238E27FC236}">
                <a16:creationId xmlns:a16="http://schemas.microsoft.com/office/drawing/2014/main" id="{4DB44E74-6B94-4F4B-8A63-36FCA7954817}"/>
              </a:ext>
            </a:extLst>
          </p:cNvPr>
          <p:cNvSpPr>
            <a:spLocks noChangeArrowheads="1"/>
          </p:cNvSpPr>
          <p:nvPr/>
        </p:nvSpPr>
        <p:spPr bwMode="auto">
          <a:xfrm>
            <a:off x="634918" y="237124"/>
            <a:ext cx="2633087"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1.2 </a:t>
            </a:r>
            <a:r>
              <a:rPr lang="zh-CN" altLang="en-US" b="1" dirty="0">
                <a:solidFill>
                  <a:srgbClr val="000099"/>
                </a:solidFill>
              </a:rPr>
              <a:t>研究问题</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8" name="等腰三角形 47">
            <a:extLst>
              <a:ext uri="{FF2B5EF4-FFF2-40B4-BE49-F238E27FC236}">
                <a16:creationId xmlns:a16="http://schemas.microsoft.com/office/drawing/2014/main" id="{B30A2D93-61EF-4B5F-B18D-F76B30294E2B}"/>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矩形 8">
            <a:extLst>
              <a:ext uri="{FF2B5EF4-FFF2-40B4-BE49-F238E27FC236}">
                <a16:creationId xmlns:a16="http://schemas.microsoft.com/office/drawing/2014/main" id="{1B52DE07-BED5-4552-BADF-7E13C532AC6F}"/>
              </a:ext>
            </a:extLst>
          </p:cNvPr>
          <p:cNvSpPr/>
          <p:nvPr/>
        </p:nvSpPr>
        <p:spPr>
          <a:xfrm>
            <a:off x="387350" y="1084959"/>
            <a:ext cx="11504814" cy="430306"/>
          </a:xfrm>
          <a:prstGeom prst="rect">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使用公开的数据集，对人手姿态数据展开统计研究，提取低维协同模式</a:t>
            </a:r>
          </a:p>
        </p:txBody>
      </p:sp>
      <p:sp>
        <p:nvSpPr>
          <p:cNvPr id="35" name="文本框 34">
            <a:extLst>
              <a:ext uri="{FF2B5EF4-FFF2-40B4-BE49-F238E27FC236}">
                <a16:creationId xmlns:a16="http://schemas.microsoft.com/office/drawing/2014/main" id="{C6BBB919-7690-4089-827A-CCCF7259D0AD}"/>
              </a:ext>
            </a:extLst>
          </p:cNvPr>
          <p:cNvSpPr txBox="1"/>
          <p:nvPr/>
        </p:nvSpPr>
        <p:spPr>
          <a:xfrm>
            <a:off x="509356" y="2334417"/>
            <a:ext cx="5904144" cy="733662"/>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a:lnSpc>
                <a:spcPct val="120000"/>
              </a:lnSpc>
            </a:pPr>
            <a:r>
              <a:rPr lang="zh-CN" altLang="en-US" sz="1800" dirty="0">
                <a:solidFill>
                  <a:srgbClr val="1A1C1F"/>
                </a:solidFill>
                <a:latin typeface="-apple-system"/>
              </a:rPr>
              <a:t>人手的多个关节的活动是否可以由少数几个低维姿态协同成分概括？</a:t>
            </a:r>
            <a:endParaRPr lang="en-US" altLang="zh-CN" sz="1800" dirty="0">
              <a:solidFill>
                <a:srgbClr val="1A1C1F"/>
              </a:solidFill>
              <a:latin typeface="-apple-system"/>
            </a:endParaRPr>
          </a:p>
        </p:txBody>
      </p:sp>
      <p:grpSp>
        <p:nvGrpSpPr>
          <p:cNvPr id="2" name="组合 1">
            <a:extLst>
              <a:ext uri="{FF2B5EF4-FFF2-40B4-BE49-F238E27FC236}">
                <a16:creationId xmlns:a16="http://schemas.microsoft.com/office/drawing/2014/main" id="{A0825908-E3A7-47B1-A7A8-E45D93908DE7}"/>
              </a:ext>
            </a:extLst>
          </p:cNvPr>
          <p:cNvGrpSpPr/>
          <p:nvPr/>
        </p:nvGrpSpPr>
        <p:grpSpPr>
          <a:xfrm>
            <a:off x="6953250" y="1676074"/>
            <a:ext cx="4851400" cy="4899255"/>
            <a:chOff x="6953250" y="1676074"/>
            <a:chExt cx="4851400" cy="4899255"/>
          </a:xfrm>
        </p:grpSpPr>
        <p:sp>
          <p:nvSpPr>
            <p:cNvPr id="11" name="!! 矩形: 圆角 4">
              <a:extLst>
                <a:ext uri="{FF2B5EF4-FFF2-40B4-BE49-F238E27FC236}">
                  <a16:creationId xmlns:a16="http://schemas.microsoft.com/office/drawing/2014/main" id="{BD9725AF-34FA-4784-8746-DB92FA0FCBD6}"/>
                </a:ext>
              </a:extLst>
            </p:cNvPr>
            <p:cNvSpPr/>
            <p:nvPr/>
          </p:nvSpPr>
          <p:spPr>
            <a:xfrm>
              <a:off x="6953250" y="1676074"/>
              <a:ext cx="4851400" cy="4899255"/>
            </a:xfrm>
            <a:prstGeom prst="roundRect">
              <a:avLst>
                <a:gd name="adj" fmla="val 7632"/>
              </a:avLst>
            </a:prstGeom>
            <a:noFill/>
            <a:ln w="19050" cap="sq">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3CA745DF-3007-45C5-B190-8E8B18DDA69A}"/>
                </a:ext>
              </a:extLst>
            </p:cNvPr>
            <p:cNvSpPr txBox="1"/>
            <p:nvPr/>
          </p:nvSpPr>
          <p:spPr>
            <a:xfrm>
              <a:off x="7603947" y="4444374"/>
              <a:ext cx="3550002" cy="400110"/>
            </a:xfrm>
            <a:prstGeom prst="rect">
              <a:avLst/>
            </a:prstGeom>
            <a:noFill/>
          </p:spPr>
          <p:txBody>
            <a:bodyPr wrap="square" rtlCol="0">
              <a:spAutoFit/>
            </a:bodyPr>
            <a:lstStyle/>
            <a:p>
              <a:pPr algn="ct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现实意义</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1DD175F9-AA21-40E7-A7A8-12DD6432FAE2}"/>
                </a:ext>
              </a:extLst>
            </p:cNvPr>
            <p:cNvSpPr txBox="1"/>
            <p:nvPr/>
          </p:nvSpPr>
          <p:spPr>
            <a:xfrm>
              <a:off x="7088804" y="4801502"/>
              <a:ext cx="4626946" cy="1725985"/>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a:lnSpc>
                  <a:spcPct val="120000"/>
                </a:lnSpc>
              </a:pPr>
              <a:r>
                <a:rPr lang="zh-CN" altLang="en-US" sz="1800" dirty="0">
                  <a:solidFill>
                    <a:srgbClr val="1A1C1F"/>
                  </a:solidFill>
                  <a:latin typeface="-apple-system"/>
                </a:rPr>
                <a:t>对人手的姿态协同理论可以提取出人手运动的前几个主要协同模式。</a:t>
              </a:r>
              <a:endParaRPr lang="en-US" altLang="zh-CN" sz="1800" dirty="0">
                <a:solidFill>
                  <a:srgbClr val="1A1C1F"/>
                </a:solidFill>
                <a:latin typeface="-apple-system"/>
              </a:endParaRPr>
            </a:p>
            <a:p>
              <a:pPr>
                <a:lnSpc>
                  <a:spcPct val="120000"/>
                </a:lnSpc>
              </a:pPr>
              <a:r>
                <a:rPr lang="zh-CN" altLang="en-US" sz="1800" dirty="0">
                  <a:solidFill>
                    <a:srgbClr val="1A1C1F"/>
                  </a:solidFill>
                  <a:latin typeface="-apple-system"/>
                </a:rPr>
                <a:t>可以据此开发面向大部分日常任务的假肢；</a:t>
              </a:r>
              <a:endParaRPr lang="en-US" altLang="zh-CN" sz="1800" dirty="0">
                <a:solidFill>
                  <a:srgbClr val="1A1C1F"/>
                </a:solidFill>
                <a:latin typeface="-apple-system"/>
              </a:endParaRPr>
            </a:p>
            <a:p>
              <a:pPr>
                <a:lnSpc>
                  <a:spcPct val="120000"/>
                </a:lnSpc>
              </a:pPr>
              <a:r>
                <a:rPr lang="zh-CN" altLang="en-US" sz="1800" dirty="0">
                  <a:solidFill>
                    <a:srgbClr val="1A1C1F"/>
                  </a:solidFill>
                  <a:latin typeface="-apple-system"/>
                </a:rPr>
                <a:t>可以设计并制造针对特定任务的欠驱动低成本灵巧手。</a:t>
              </a:r>
              <a:endParaRPr lang="en-US" altLang="zh-CN" sz="1800" dirty="0"/>
            </a:p>
          </p:txBody>
        </p:sp>
        <p:pic>
          <p:nvPicPr>
            <p:cNvPr id="2050" name="Picture 2" descr="适用于机器人手和假肢手的精密驱动器- FAULHABER">
              <a:extLst>
                <a:ext uri="{FF2B5EF4-FFF2-40B4-BE49-F238E27FC236}">
                  <a16:creationId xmlns:a16="http://schemas.microsoft.com/office/drawing/2014/main" id="{06E9A3F9-438E-4414-AF61-8CC28B483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8028" y="1958054"/>
              <a:ext cx="4413421" cy="240439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文本框 24">
            <a:extLst>
              <a:ext uri="{FF2B5EF4-FFF2-40B4-BE49-F238E27FC236}">
                <a16:creationId xmlns:a16="http://schemas.microsoft.com/office/drawing/2014/main" id="{8D96A1AB-164A-40B3-9A95-1C0D1BEFF1D2}"/>
              </a:ext>
            </a:extLst>
          </p:cNvPr>
          <p:cNvSpPr txBox="1"/>
          <p:nvPr/>
        </p:nvSpPr>
        <p:spPr>
          <a:xfrm>
            <a:off x="387350" y="1757999"/>
            <a:ext cx="2932004" cy="461665"/>
          </a:xfrm>
          <a:prstGeom prst="rect">
            <a:avLst/>
          </a:prstGeom>
          <a:noFill/>
        </p:spPr>
        <p:txBody>
          <a:bodyPr wrap="square" rtlCol="0">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核心问题：</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文本框 33">
            <a:extLst>
              <a:ext uri="{FF2B5EF4-FFF2-40B4-BE49-F238E27FC236}">
                <a16:creationId xmlns:a16="http://schemas.microsoft.com/office/drawing/2014/main" id="{7C54154E-4F2C-496B-A39C-68E50B3FEC0C}"/>
              </a:ext>
            </a:extLst>
          </p:cNvPr>
          <p:cNvSpPr txBox="1"/>
          <p:nvPr/>
        </p:nvSpPr>
        <p:spPr>
          <a:xfrm>
            <a:off x="387350" y="3160251"/>
            <a:ext cx="2932004" cy="461665"/>
          </a:xfrm>
          <a:prstGeom prst="rect">
            <a:avLst/>
          </a:prstGeom>
          <a:noFill/>
        </p:spPr>
        <p:txBody>
          <a:bodyPr wrap="square" rtlCol="0">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次要问题：</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文本框 35">
            <a:extLst>
              <a:ext uri="{FF2B5EF4-FFF2-40B4-BE49-F238E27FC236}">
                <a16:creationId xmlns:a16="http://schemas.microsoft.com/office/drawing/2014/main" id="{BE43277F-9DBF-40AB-BCEC-313E50EF3891}"/>
              </a:ext>
            </a:extLst>
          </p:cNvPr>
          <p:cNvSpPr txBox="1"/>
          <p:nvPr/>
        </p:nvSpPr>
        <p:spPr>
          <a:xfrm>
            <a:off x="553113" y="3710712"/>
            <a:ext cx="5749436" cy="2728055"/>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a:lnSpc>
                <a:spcPct val="120000"/>
              </a:lnSpc>
            </a:pPr>
            <a:r>
              <a:rPr lang="zh-CN" altLang="en-US" sz="1800" dirty="0">
                <a:solidFill>
                  <a:srgbClr val="1A1C1F"/>
                </a:solidFill>
                <a:latin typeface="-apple-system"/>
              </a:rPr>
              <a:t>低维姿态协同结构是否对受试者样本的变化保持稳定，而不是少数个体偶然造成？</a:t>
            </a:r>
            <a:endParaRPr lang="en-US" altLang="zh-CN" sz="1800" dirty="0">
              <a:solidFill>
                <a:srgbClr val="1A1C1F"/>
              </a:solidFill>
              <a:latin typeface="-apple-system"/>
            </a:endParaRPr>
          </a:p>
          <a:p>
            <a:pPr>
              <a:lnSpc>
                <a:spcPct val="120000"/>
              </a:lnSpc>
            </a:pPr>
            <a:r>
              <a:rPr lang="zh-CN" altLang="en-US" sz="1800" dirty="0">
                <a:solidFill>
                  <a:srgbClr val="1A1C1F"/>
                </a:solidFill>
                <a:latin typeface="-apple-system"/>
              </a:rPr>
              <a:t>不同抓取任务是否需要不同数量的主成分才能被充分描述？</a:t>
            </a:r>
            <a:endParaRPr lang="en-US" altLang="zh-CN" sz="1800" dirty="0">
              <a:solidFill>
                <a:srgbClr val="1A1C1F"/>
              </a:solidFill>
              <a:latin typeface="-apple-system"/>
            </a:endParaRPr>
          </a:p>
          <a:p>
            <a:pPr>
              <a:lnSpc>
                <a:spcPct val="120000"/>
              </a:lnSpc>
            </a:pPr>
            <a:r>
              <a:rPr lang="zh-CN" altLang="en-US" sz="1800" dirty="0">
                <a:solidFill>
                  <a:srgbClr val="1A1C1F"/>
                </a:solidFill>
                <a:latin typeface="-apple-system"/>
              </a:rPr>
              <a:t>力量型、精细型和复杂型抓取在姿态协同空间中的分布是否存在统计学显著差异？</a:t>
            </a:r>
            <a:endParaRPr lang="en-US" altLang="zh-CN" sz="1800" dirty="0">
              <a:solidFill>
                <a:srgbClr val="1A1C1F"/>
              </a:solidFill>
              <a:latin typeface="-apple-system"/>
            </a:endParaRPr>
          </a:p>
          <a:p>
            <a:pPr>
              <a:lnSpc>
                <a:spcPct val="120000"/>
              </a:lnSpc>
            </a:pPr>
            <a:r>
              <a:rPr lang="zh-CN" altLang="en-US" sz="1800" dirty="0">
                <a:solidFill>
                  <a:srgbClr val="1A1C1F"/>
                </a:solidFill>
                <a:latin typeface="-apple-system"/>
              </a:rPr>
              <a:t>低维姿态协同特征是否能够在未见过的新受试者上预测其抓取类别？</a:t>
            </a:r>
            <a:endParaRPr lang="en-US" altLang="zh-CN" sz="1800" dirty="0">
              <a:solidFill>
                <a:srgbClr val="1A1C1F"/>
              </a:solidFill>
              <a:latin typeface="-apple-system"/>
            </a:endParaRPr>
          </a:p>
        </p:txBody>
      </p:sp>
      <p:sp>
        <p:nvSpPr>
          <p:cNvPr id="37" name="文本框 36">
            <a:extLst>
              <a:ext uri="{FF2B5EF4-FFF2-40B4-BE49-F238E27FC236}">
                <a16:creationId xmlns:a16="http://schemas.microsoft.com/office/drawing/2014/main" id="{CAABE064-A4D7-436C-98E4-5A12784C149D}"/>
              </a:ext>
            </a:extLst>
          </p:cNvPr>
          <p:cNvSpPr txBox="1"/>
          <p:nvPr/>
        </p:nvSpPr>
        <p:spPr>
          <a:xfrm>
            <a:off x="2908300" y="2675762"/>
            <a:ext cx="3327400" cy="402546"/>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0" algn="r">
              <a:lnSpc>
                <a:spcPct val="120000"/>
              </a:lnSpc>
              <a:buNone/>
            </a:pPr>
            <a:r>
              <a:rPr lang="en-US" altLang="zh-CN" sz="1800" b="1" dirty="0">
                <a:solidFill>
                  <a:srgbClr val="1A1C1F"/>
                </a:solidFill>
                <a:latin typeface="-apple-system"/>
              </a:rPr>
              <a:t>PCA</a:t>
            </a:r>
            <a:r>
              <a:rPr lang="zh-CN" altLang="en-US" sz="1800" b="1" dirty="0">
                <a:solidFill>
                  <a:srgbClr val="1A1C1F"/>
                </a:solidFill>
                <a:latin typeface="-apple-system"/>
              </a:rPr>
              <a:t>方差解释率</a:t>
            </a:r>
            <a:endParaRPr lang="en-US" altLang="zh-CN" sz="1800" b="1" dirty="0">
              <a:solidFill>
                <a:srgbClr val="1A1C1F"/>
              </a:solidFill>
              <a:latin typeface="-apple-system"/>
            </a:endParaRPr>
          </a:p>
        </p:txBody>
      </p:sp>
      <p:sp>
        <p:nvSpPr>
          <p:cNvPr id="38" name="文本框 37">
            <a:extLst>
              <a:ext uri="{FF2B5EF4-FFF2-40B4-BE49-F238E27FC236}">
                <a16:creationId xmlns:a16="http://schemas.microsoft.com/office/drawing/2014/main" id="{437048E6-85F0-403A-BC64-45D60C0E4C3A}"/>
              </a:ext>
            </a:extLst>
          </p:cNvPr>
          <p:cNvSpPr txBox="1"/>
          <p:nvPr/>
        </p:nvSpPr>
        <p:spPr>
          <a:xfrm>
            <a:off x="2908300" y="4014947"/>
            <a:ext cx="3327400" cy="402546"/>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0" algn="r">
              <a:lnSpc>
                <a:spcPct val="120000"/>
              </a:lnSpc>
              <a:buNone/>
            </a:pPr>
            <a:r>
              <a:rPr lang="en-US" altLang="zh-CN" sz="1800" b="1" dirty="0">
                <a:solidFill>
                  <a:srgbClr val="1A1C1F"/>
                </a:solidFill>
                <a:latin typeface="-apple-system"/>
              </a:rPr>
              <a:t>Bootstrap</a:t>
            </a:r>
            <a:r>
              <a:rPr lang="zh-CN" altLang="en-US" sz="1800" b="1" dirty="0">
                <a:solidFill>
                  <a:srgbClr val="1A1C1F"/>
                </a:solidFill>
                <a:latin typeface="-apple-system"/>
              </a:rPr>
              <a:t>置信区间</a:t>
            </a:r>
            <a:endParaRPr lang="en-US" altLang="zh-CN" sz="1800" b="1" dirty="0">
              <a:solidFill>
                <a:srgbClr val="1A1C1F"/>
              </a:solidFill>
              <a:latin typeface="-apple-system"/>
            </a:endParaRPr>
          </a:p>
        </p:txBody>
      </p:sp>
      <p:sp>
        <p:nvSpPr>
          <p:cNvPr id="39" name="文本框 38">
            <a:extLst>
              <a:ext uri="{FF2B5EF4-FFF2-40B4-BE49-F238E27FC236}">
                <a16:creationId xmlns:a16="http://schemas.microsoft.com/office/drawing/2014/main" id="{9B5659DD-BD9E-4D58-ACEA-C271BA9F7F04}"/>
              </a:ext>
            </a:extLst>
          </p:cNvPr>
          <p:cNvSpPr txBox="1"/>
          <p:nvPr/>
        </p:nvSpPr>
        <p:spPr>
          <a:xfrm>
            <a:off x="2908300" y="4685451"/>
            <a:ext cx="3327400" cy="402546"/>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0" algn="r">
              <a:lnSpc>
                <a:spcPct val="120000"/>
              </a:lnSpc>
              <a:buNone/>
            </a:pPr>
            <a:r>
              <a:rPr lang="zh-CN" altLang="en-US" sz="1800" b="1" dirty="0">
                <a:solidFill>
                  <a:srgbClr val="1A1C1F"/>
                </a:solidFill>
                <a:latin typeface="-apple-system"/>
              </a:rPr>
              <a:t>复杂度指数</a:t>
            </a:r>
            <a:endParaRPr lang="en-US" altLang="zh-CN" sz="1800" b="1" dirty="0">
              <a:solidFill>
                <a:srgbClr val="1A1C1F"/>
              </a:solidFill>
              <a:latin typeface="-apple-system"/>
            </a:endParaRPr>
          </a:p>
        </p:txBody>
      </p:sp>
      <p:sp>
        <p:nvSpPr>
          <p:cNvPr id="40" name="文本框 39">
            <a:extLst>
              <a:ext uri="{FF2B5EF4-FFF2-40B4-BE49-F238E27FC236}">
                <a16:creationId xmlns:a16="http://schemas.microsoft.com/office/drawing/2014/main" id="{1EE3508B-4D17-4877-B9BB-3C3C8B8D7484}"/>
              </a:ext>
            </a:extLst>
          </p:cNvPr>
          <p:cNvSpPr txBox="1"/>
          <p:nvPr/>
        </p:nvSpPr>
        <p:spPr>
          <a:xfrm>
            <a:off x="2908300" y="5355955"/>
            <a:ext cx="3327400" cy="402546"/>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0" algn="r">
              <a:lnSpc>
                <a:spcPct val="120000"/>
              </a:lnSpc>
              <a:buNone/>
            </a:pPr>
            <a:r>
              <a:rPr lang="en-US" altLang="zh-CN" sz="1800" b="1" dirty="0">
                <a:solidFill>
                  <a:srgbClr val="1A1C1F"/>
                </a:solidFill>
                <a:latin typeface="-apple-system"/>
              </a:rPr>
              <a:t>ANOVA</a:t>
            </a:r>
          </a:p>
        </p:txBody>
      </p:sp>
      <p:sp>
        <p:nvSpPr>
          <p:cNvPr id="41" name="文本框 40">
            <a:extLst>
              <a:ext uri="{FF2B5EF4-FFF2-40B4-BE49-F238E27FC236}">
                <a16:creationId xmlns:a16="http://schemas.microsoft.com/office/drawing/2014/main" id="{F7DA0E7E-4326-4C9B-B1DD-0F096352C627}"/>
              </a:ext>
            </a:extLst>
          </p:cNvPr>
          <p:cNvSpPr txBox="1"/>
          <p:nvPr/>
        </p:nvSpPr>
        <p:spPr>
          <a:xfrm>
            <a:off x="2908300" y="5968927"/>
            <a:ext cx="3327400" cy="402546"/>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0" algn="r">
              <a:lnSpc>
                <a:spcPct val="120000"/>
              </a:lnSpc>
              <a:buNone/>
            </a:pPr>
            <a:r>
              <a:rPr lang="en-US" altLang="zh-CN" sz="1800" b="1" dirty="0">
                <a:solidFill>
                  <a:srgbClr val="1A1C1F"/>
                </a:solidFill>
                <a:latin typeface="-apple-system"/>
              </a:rPr>
              <a:t>LOSO-CV</a:t>
            </a:r>
          </a:p>
        </p:txBody>
      </p:sp>
    </p:spTree>
    <p:extLst>
      <p:ext uri="{BB962C8B-B14F-4D97-AF65-F5344CB8AC3E}">
        <p14:creationId xmlns:p14="http://schemas.microsoft.com/office/powerpoint/2010/main" val="233593620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6</a:t>
            </a:fld>
            <a:endParaRPr lang="zh-CN" altLang="en-US"/>
          </a:p>
        </p:txBody>
      </p:sp>
      <p:sp>
        <p:nvSpPr>
          <p:cNvPr id="6" name="矩形 46">
            <a:extLst>
              <a:ext uri="{FF2B5EF4-FFF2-40B4-BE49-F238E27FC236}">
                <a16:creationId xmlns:a16="http://schemas.microsoft.com/office/drawing/2014/main" id="{4DB44E74-6B94-4F4B-8A63-36FCA7954817}"/>
              </a:ext>
            </a:extLst>
          </p:cNvPr>
          <p:cNvSpPr>
            <a:spLocks noChangeArrowheads="1"/>
          </p:cNvSpPr>
          <p:nvPr/>
        </p:nvSpPr>
        <p:spPr bwMode="auto">
          <a:xfrm>
            <a:off x="634918" y="237124"/>
            <a:ext cx="2633087"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1.3 </a:t>
            </a:r>
            <a:r>
              <a:rPr lang="zh-CN" altLang="en-US" b="1" dirty="0">
                <a:solidFill>
                  <a:srgbClr val="000099"/>
                </a:solidFill>
              </a:rPr>
              <a:t>数据来源</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8" name="等腰三角形 47">
            <a:extLst>
              <a:ext uri="{FF2B5EF4-FFF2-40B4-BE49-F238E27FC236}">
                <a16:creationId xmlns:a16="http://schemas.microsoft.com/office/drawing/2014/main" id="{B30A2D93-61EF-4B5F-B18D-F76B30294E2B}"/>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 name="文本框 9">
            <a:extLst>
              <a:ext uri="{FF2B5EF4-FFF2-40B4-BE49-F238E27FC236}">
                <a16:creationId xmlns:a16="http://schemas.microsoft.com/office/drawing/2014/main" id="{D592F65D-7C56-4324-898A-D21A90EBA716}"/>
              </a:ext>
            </a:extLst>
          </p:cNvPr>
          <p:cNvSpPr txBox="1"/>
          <p:nvPr/>
        </p:nvSpPr>
        <p:spPr>
          <a:xfrm>
            <a:off x="604098" y="1074087"/>
            <a:ext cx="7583169" cy="2062103"/>
          </a:xfrm>
          <a:prstGeom prst="rect">
            <a:avLst/>
          </a:prstGeom>
          <a:noFill/>
        </p:spPr>
        <p:txBody>
          <a:bodyPr wrap="square">
            <a:spAutoFit/>
          </a:bodyPr>
          <a:lstStyle/>
          <a:p>
            <a:pPr algn="l"/>
            <a:r>
              <a:rPr lang="en-US" altLang="zh-TW" sz="2000" b="1" i="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MyoKi</a:t>
            </a:r>
            <a:r>
              <a:rPr lang="zh-CN" altLang="en-US" sz="2000" b="1" i="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人手姿态数据集</a:t>
            </a:r>
            <a:endParaRPr lang="en-US" altLang="zh-CN" sz="2000" b="1" i="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l"/>
            <a:endParaRPr lang="en-US" altLang="zh-TW"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latin typeface="微软雅黑" panose="020B0503020204020204" pitchFamily="34" charset="-122"/>
                <a:ea typeface="微软雅黑" panose="020B0503020204020204" pitchFamily="34" charset="-122"/>
              </a:rPr>
              <a:t>MyoKi</a:t>
            </a:r>
            <a:r>
              <a:rPr lang="zh-CN" altLang="zh-CN" dirty="0">
                <a:latin typeface="微软雅黑" panose="020B0503020204020204" pitchFamily="34" charset="-122"/>
                <a:ea typeface="微软雅黑" panose="020B0503020204020204" pitchFamily="34" charset="-122"/>
              </a:rPr>
              <a:t>是一套面向</a:t>
            </a:r>
            <a:r>
              <a:rPr lang="zh-CN" altLang="zh-CN" b="1" dirty="0">
                <a:latin typeface="微软雅黑" panose="020B0503020204020204" pitchFamily="34" charset="-122"/>
                <a:ea typeface="微软雅黑" panose="020B0503020204020204" pitchFamily="34" charset="-122"/>
              </a:rPr>
              <a:t>真实日常</a:t>
            </a:r>
            <a:r>
              <a:rPr lang="zh-CN" altLang="en-US" b="1" dirty="0">
                <a:latin typeface="微软雅黑" panose="020B0503020204020204" pitchFamily="34" charset="-122"/>
                <a:ea typeface="微软雅黑" panose="020B0503020204020204" pitchFamily="34" charset="-122"/>
              </a:rPr>
              <a:t>抓取与</a:t>
            </a:r>
            <a:r>
              <a:rPr lang="zh-CN" altLang="zh-CN" b="1" dirty="0">
                <a:latin typeface="微软雅黑" panose="020B0503020204020204" pitchFamily="34" charset="-122"/>
                <a:ea typeface="微软雅黑" panose="020B0503020204020204" pitchFamily="34" charset="-122"/>
              </a:rPr>
              <a:t>操作任务</a:t>
            </a:r>
            <a:r>
              <a:rPr lang="zh-CN" altLang="zh-CN" dirty="0">
                <a:latin typeface="微软雅黑" panose="020B0503020204020204" pitchFamily="34" charset="-122"/>
                <a:ea typeface="微软雅黑" panose="020B0503020204020204" pitchFamily="34" charset="-122"/>
              </a:rPr>
              <a:t>的多模态肌电与手部运动学数据集</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覆盖拿杯子、拿球、提包、使用工具、书写等日常任务。</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本研究选取数据集中</a:t>
            </a:r>
            <a:r>
              <a:rPr lang="zh-CN" altLang="zh-CN" b="1" dirty="0">
                <a:latin typeface="微软雅黑" panose="020B0503020204020204" pitchFamily="34" charset="-122"/>
                <a:ea typeface="微软雅黑" panose="020B0503020204020204" pitchFamily="34" charset="-122"/>
              </a:rPr>
              <a:t>传感器配置一致</a:t>
            </a:r>
            <a:r>
              <a:rPr lang="zh-CN" altLang="zh-CN" dirty="0">
                <a:latin typeface="微软雅黑" panose="020B0503020204020204" pitchFamily="34" charset="-122"/>
                <a:ea typeface="微软雅黑" panose="020B0503020204020204" pitchFamily="34" charset="-122"/>
              </a:rPr>
              <a:t>且</a:t>
            </a:r>
            <a:r>
              <a:rPr lang="zh-CN" altLang="zh-CN" b="1" dirty="0">
                <a:latin typeface="微软雅黑" panose="020B0503020204020204" pitchFamily="34" charset="-122"/>
                <a:ea typeface="微软雅黑" panose="020B0503020204020204" pitchFamily="34" charset="-122"/>
              </a:rPr>
              <a:t>右利手</a:t>
            </a:r>
            <a:r>
              <a:rPr lang="zh-CN" altLang="zh-CN"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23</a:t>
            </a:r>
            <a:r>
              <a:rPr lang="zh-CN" altLang="zh-CN" dirty="0">
                <a:latin typeface="微软雅黑" panose="020B0503020204020204" pitchFamily="34" charset="-122"/>
                <a:ea typeface="微软雅黑" panose="020B0503020204020204" pitchFamily="34" charset="-122"/>
              </a:rPr>
              <a:t>名受试者（</a:t>
            </a:r>
            <a:r>
              <a:rPr lang="en-US" altLang="zh-CN" dirty="0">
                <a:latin typeface="微软雅黑" panose="020B0503020204020204" pitchFamily="34" charset="-122"/>
                <a:ea typeface="微软雅黑" panose="020B0503020204020204" pitchFamily="34" charset="-122"/>
              </a:rPr>
              <a:t>P01-P15</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P17-P24</a:t>
            </a:r>
            <a:r>
              <a:rPr lang="zh-CN" altLang="zh-CN" dirty="0">
                <a:latin typeface="微软雅黑" panose="020B0503020204020204" pitchFamily="34" charset="-122"/>
                <a:ea typeface="微软雅黑" panose="020B0503020204020204" pitchFamily="34" charset="-122"/>
              </a:rPr>
              <a:t>），保留</a:t>
            </a:r>
            <a:r>
              <a:rPr lang="en-US" altLang="zh-CN" dirty="0">
                <a:latin typeface="微软雅黑" panose="020B0503020204020204" pitchFamily="34" charset="-122"/>
                <a:ea typeface="微软雅黑" panose="020B0503020204020204" pitchFamily="34" charset="-122"/>
              </a:rPr>
              <a:t>15</a:t>
            </a:r>
            <a:r>
              <a:rPr lang="zh-CN" altLang="zh-CN" dirty="0">
                <a:latin typeface="微软雅黑" panose="020B0503020204020204" pitchFamily="34" charset="-122"/>
                <a:ea typeface="微软雅黑" panose="020B0503020204020204" pitchFamily="34" charset="-122"/>
              </a:rPr>
              <a:t>个手指相关关节角度通道（图中</a:t>
            </a:r>
            <a:r>
              <a:rPr lang="en-US" altLang="zh-CN" dirty="0">
                <a:latin typeface="微软雅黑" panose="020B0503020204020204" pitchFamily="34" charset="-122"/>
                <a:ea typeface="微软雅黑" panose="020B0503020204020204" pitchFamily="34" charset="-122"/>
              </a:rPr>
              <a:t>1-15</a:t>
            </a:r>
            <a:r>
              <a:rPr lang="zh-CN" altLang="zh-CN" dirty="0">
                <a:latin typeface="微软雅黑" panose="020B0503020204020204" pitchFamily="34" charset="-122"/>
                <a:ea typeface="微软雅黑" panose="020B0503020204020204" pitchFamily="34" charset="-122"/>
              </a:rPr>
              <a:t>号</a:t>
            </a:r>
            <a:r>
              <a:rPr lang="zh-CN" altLang="en-US" dirty="0">
                <a:latin typeface="微软雅黑" panose="020B0503020204020204" pitchFamily="34" charset="-122"/>
                <a:ea typeface="微软雅黑" panose="020B0503020204020204" pitchFamily="34" charset="-122"/>
              </a:rPr>
              <a:t>）。</a:t>
            </a:r>
            <a:endParaRPr lang="zh-CN" altLang="zh-CN" dirty="0">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09BA7E46-A0E9-4B3C-8781-7597751762A5}"/>
              </a:ext>
            </a:extLst>
          </p:cNvPr>
          <p:cNvPicPr/>
          <p:nvPr/>
        </p:nvPicPr>
        <p:blipFill>
          <a:blip r:embed="rId3"/>
          <a:stretch>
            <a:fillRect/>
          </a:stretch>
        </p:blipFill>
        <p:spPr>
          <a:xfrm>
            <a:off x="8556145" y="1547888"/>
            <a:ext cx="3364921" cy="4033156"/>
          </a:xfrm>
          <a:prstGeom prst="rect">
            <a:avLst/>
          </a:prstGeom>
        </p:spPr>
      </p:pic>
      <p:graphicFrame>
        <p:nvGraphicFramePr>
          <p:cNvPr id="16" name="表格 15">
            <a:extLst>
              <a:ext uri="{FF2B5EF4-FFF2-40B4-BE49-F238E27FC236}">
                <a16:creationId xmlns:a16="http://schemas.microsoft.com/office/drawing/2014/main" id="{13340A89-54E9-4670-ABCC-CD7F7ADCE7BF}"/>
              </a:ext>
            </a:extLst>
          </p:cNvPr>
          <p:cNvGraphicFramePr>
            <a:graphicFrameLocks noGrp="1"/>
          </p:cNvGraphicFramePr>
          <p:nvPr>
            <p:extLst>
              <p:ext uri="{D42A27DB-BD31-4B8C-83A1-F6EECF244321}">
                <p14:modId xmlns:p14="http://schemas.microsoft.com/office/powerpoint/2010/main" val="2187242625"/>
              </p:ext>
            </p:extLst>
          </p:nvPr>
        </p:nvGraphicFramePr>
        <p:xfrm>
          <a:off x="372450" y="3326825"/>
          <a:ext cx="7952048" cy="2616776"/>
        </p:xfrm>
        <a:graphic>
          <a:graphicData uri="http://schemas.openxmlformats.org/drawingml/2006/table">
            <a:tbl>
              <a:tblPr firstRow="1" firstCol="1" bandRow="1">
                <a:tableStyleId>{5C22544A-7EE6-4342-B048-85BDC9FD1C3A}</a:tableStyleId>
              </a:tblPr>
              <a:tblGrid>
                <a:gridCol w="1988012">
                  <a:extLst>
                    <a:ext uri="{9D8B030D-6E8A-4147-A177-3AD203B41FA5}">
                      <a16:colId xmlns:a16="http://schemas.microsoft.com/office/drawing/2014/main" val="3155199916"/>
                    </a:ext>
                  </a:extLst>
                </a:gridCol>
                <a:gridCol w="1988012">
                  <a:extLst>
                    <a:ext uri="{9D8B030D-6E8A-4147-A177-3AD203B41FA5}">
                      <a16:colId xmlns:a16="http://schemas.microsoft.com/office/drawing/2014/main" val="503733072"/>
                    </a:ext>
                  </a:extLst>
                </a:gridCol>
                <a:gridCol w="1988012">
                  <a:extLst>
                    <a:ext uri="{9D8B030D-6E8A-4147-A177-3AD203B41FA5}">
                      <a16:colId xmlns:a16="http://schemas.microsoft.com/office/drawing/2014/main" val="1469403083"/>
                    </a:ext>
                  </a:extLst>
                </a:gridCol>
                <a:gridCol w="1988012">
                  <a:extLst>
                    <a:ext uri="{9D8B030D-6E8A-4147-A177-3AD203B41FA5}">
                      <a16:colId xmlns:a16="http://schemas.microsoft.com/office/drawing/2014/main" val="3543905008"/>
                    </a:ext>
                  </a:extLst>
                </a:gridCol>
              </a:tblGrid>
              <a:tr h="327097">
                <a:tc>
                  <a:txBody>
                    <a:bodyPr/>
                    <a:lstStyle/>
                    <a:p>
                      <a:pPr algn="ctr">
                        <a:lnSpc>
                          <a:spcPts val="2000"/>
                        </a:lnSpc>
                        <a:spcBef>
                          <a:spcPts val="300"/>
                        </a:spcBef>
                        <a:spcAft>
                          <a:spcPts val="300"/>
                        </a:spcAft>
                        <a:buNone/>
                      </a:pPr>
                      <a:r>
                        <a:rPr lang="zh-CN" sz="1600" kern="100" dirty="0">
                          <a:solidFill>
                            <a:schemeClr val="tx1"/>
                          </a:solidFill>
                          <a:effectLst/>
                          <a:latin typeface="微软雅黑" panose="020B0503020204020204" pitchFamily="34" charset="-122"/>
                          <a:ea typeface="微软雅黑" panose="020B0503020204020204" pitchFamily="34" charset="-122"/>
                        </a:rPr>
                        <a:t>任务类别</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zh-CN" sz="1600" kern="100">
                          <a:solidFill>
                            <a:schemeClr val="tx1"/>
                          </a:solidFill>
                          <a:effectLst/>
                          <a:latin typeface="微软雅黑" panose="020B0503020204020204" pitchFamily="34" charset="-122"/>
                          <a:ea typeface="微软雅黑" panose="020B0503020204020204" pitchFamily="34" charset="-122"/>
                        </a:rPr>
                        <a:t>任务编号</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zh-CN" sz="1600" kern="100">
                          <a:solidFill>
                            <a:schemeClr val="tx1"/>
                          </a:solidFill>
                          <a:effectLst/>
                          <a:latin typeface="微软雅黑" panose="020B0503020204020204" pitchFamily="34" charset="-122"/>
                          <a:ea typeface="微软雅黑" panose="020B0503020204020204" pitchFamily="34" charset="-122"/>
                        </a:rPr>
                        <a:t>任务数量</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zh-CN" sz="1600" kern="100">
                          <a:solidFill>
                            <a:schemeClr val="tx1"/>
                          </a:solidFill>
                          <a:effectLst/>
                          <a:latin typeface="微软雅黑" panose="020B0503020204020204" pitchFamily="34" charset="-122"/>
                          <a:ea typeface="微软雅黑" panose="020B0503020204020204" pitchFamily="34" charset="-122"/>
                        </a:rPr>
                        <a:t>有效试次数</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093065"/>
                  </a:ext>
                </a:extLst>
              </a:tr>
              <a:tr h="327097">
                <a:tc>
                  <a:txBody>
                    <a:bodyPr/>
                    <a:lstStyle/>
                    <a:p>
                      <a:pPr algn="ctr">
                        <a:lnSpc>
                          <a:spcPts val="2000"/>
                        </a:lnSpc>
                        <a:spcBef>
                          <a:spcPts val="300"/>
                        </a:spcBef>
                        <a:spcAft>
                          <a:spcPts val="300"/>
                        </a:spcAft>
                        <a:buNone/>
                      </a:pPr>
                      <a:r>
                        <a:rPr lang="zh-CN" sz="1600" b="0" kern="100" dirty="0">
                          <a:solidFill>
                            <a:schemeClr val="tx1"/>
                          </a:solidFill>
                          <a:effectLst/>
                          <a:latin typeface="微软雅黑" panose="020B0503020204020204" pitchFamily="34" charset="-122"/>
                          <a:ea typeface="微软雅黑" panose="020B0503020204020204" pitchFamily="34" charset="-122"/>
                        </a:rPr>
                        <a:t>圆柱抓取</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1-6</a:t>
                      </a:r>
                      <a:r>
                        <a:rPr lang="zh-CN" sz="1600" kern="100" dirty="0">
                          <a:solidFill>
                            <a:schemeClr val="tx1"/>
                          </a:solidFill>
                          <a:effectLst/>
                          <a:latin typeface="微软雅黑" panose="020B0503020204020204" pitchFamily="34" charset="-122"/>
                          <a:ea typeface="微软雅黑" panose="020B0503020204020204" pitchFamily="34" charset="-122"/>
                        </a:rPr>
                        <a:t>，</a:t>
                      </a:r>
                      <a:r>
                        <a:rPr lang="en-US" sz="1600" kern="100" dirty="0">
                          <a:solidFill>
                            <a:schemeClr val="tx1"/>
                          </a:solidFill>
                          <a:effectLst/>
                          <a:latin typeface="微软雅黑" panose="020B0503020204020204" pitchFamily="34" charset="-122"/>
                          <a:ea typeface="微软雅黑" panose="020B0503020204020204" pitchFamily="34" charset="-122"/>
                        </a:rPr>
                        <a:t>9-15</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13</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1792</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0881743"/>
                  </a:ext>
                </a:extLst>
              </a:tr>
              <a:tr h="327097">
                <a:tc>
                  <a:txBody>
                    <a:bodyPr/>
                    <a:lstStyle/>
                    <a:p>
                      <a:pPr algn="ctr">
                        <a:lnSpc>
                          <a:spcPts val="2000"/>
                        </a:lnSpc>
                        <a:spcBef>
                          <a:spcPts val="300"/>
                        </a:spcBef>
                        <a:spcAft>
                          <a:spcPts val="300"/>
                        </a:spcAft>
                        <a:buNone/>
                      </a:pPr>
                      <a:r>
                        <a:rPr lang="zh-CN" sz="1600" b="0" kern="100" dirty="0">
                          <a:solidFill>
                            <a:schemeClr val="tx1"/>
                          </a:solidFill>
                          <a:effectLst/>
                          <a:latin typeface="微软雅黑" panose="020B0503020204020204" pitchFamily="34" charset="-122"/>
                          <a:ea typeface="微软雅黑" panose="020B0503020204020204" pitchFamily="34" charset="-122"/>
                        </a:rPr>
                        <a:t>三指捏取</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16-21</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6</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828</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1111129"/>
                  </a:ext>
                </a:extLst>
              </a:tr>
              <a:tr h="327097">
                <a:tc>
                  <a:txBody>
                    <a:bodyPr/>
                    <a:lstStyle/>
                    <a:p>
                      <a:pPr algn="ctr">
                        <a:lnSpc>
                          <a:spcPts val="2000"/>
                        </a:lnSpc>
                        <a:spcBef>
                          <a:spcPts val="300"/>
                        </a:spcBef>
                        <a:spcAft>
                          <a:spcPts val="300"/>
                        </a:spcAft>
                        <a:buNone/>
                      </a:pPr>
                      <a:r>
                        <a:rPr lang="zh-CN" sz="1600" b="0" kern="100" dirty="0">
                          <a:solidFill>
                            <a:schemeClr val="tx1"/>
                          </a:solidFill>
                          <a:effectLst/>
                          <a:latin typeface="微软雅黑" panose="020B0503020204020204" pitchFamily="34" charset="-122"/>
                          <a:ea typeface="微软雅黑" panose="020B0503020204020204" pitchFamily="34" charset="-122"/>
                        </a:rPr>
                        <a:t>球状抓取</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28-33</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6</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828</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3552386"/>
                  </a:ext>
                </a:extLst>
              </a:tr>
              <a:tr h="327097">
                <a:tc>
                  <a:txBody>
                    <a:bodyPr/>
                    <a:lstStyle/>
                    <a:p>
                      <a:pPr algn="ctr">
                        <a:lnSpc>
                          <a:spcPts val="2000"/>
                        </a:lnSpc>
                        <a:spcBef>
                          <a:spcPts val="300"/>
                        </a:spcBef>
                        <a:spcAft>
                          <a:spcPts val="300"/>
                        </a:spcAft>
                        <a:buNone/>
                      </a:pPr>
                      <a:r>
                        <a:rPr lang="zh-CN" sz="1600" b="0" kern="100" dirty="0">
                          <a:solidFill>
                            <a:schemeClr val="tx1"/>
                          </a:solidFill>
                          <a:effectLst/>
                          <a:latin typeface="微软雅黑" panose="020B0503020204020204" pitchFamily="34" charset="-122"/>
                          <a:ea typeface="微软雅黑" panose="020B0503020204020204" pitchFamily="34" charset="-122"/>
                        </a:rPr>
                        <a:t>提拉抓取</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40-45</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6</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828</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9348310"/>
                  </a:ext>
                </a:extLst>
              </a:tr>
              <a:tr h="327097">
                <a:tc>
                  <a:txBody>
                    <a:bodyPr/>
                    <a:lstStyle/>
                    <a:p>
                      <a:pPr algn="ctr">
                        <a:lnSpc>
                          <a:spcPts val="2000"/>
                        </a:lnSpc>
                        <a:spcBef>
                          <a:spcPts val="300"/>
                        </a:spcBef>
                        <a:spcAft>
                          <a:spcPts val="300"/>
                        </a:spcAft>
                        <a:buNone/>
                      </a:pPr>
                      <a:r>
                        <a:rPr lang="zh-CN" sz="1600" b="0" kern="100" dirty="0">
                          <a:solidFill>
                            <a:schemeClr val="tx1"/>
                          </a:solidFill>
                          <a:effectLst/>
                          <a:latin typeface="微软雅黑" panose="020B0503020204020204" pitchFamily="34" charset="-122"/>
                          <a:ea typeface="微软雅黑" panose="020B0503020204020204" pitchFamily="34" charset="-122"/>
                        </a:rPr>
                        <a:t>复合操作</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46-51</a:t>
                      </a:r>
                      <a:r>
                        <a:rPr lang="zh-CN" sz="1600" kern="100">
                          <a:solidFill>
                            <a:schemeClr val="tx1"/>
                          </a:solidFill>
                          <a:effectLst/>
                          <a:latin typeface="微软雅黑" panose="020B0503020204020204" pitchFamily="34" charset="-122"/>
                          <a:ea typeface="微软雅黑" panose="020B0503020204020204" pitchFamily="34" charset="-122"/>
                        </a:rPr>
                        <a:t>，</a:t>
                      </a:r>
                      <a:r>
                        <a:rPr lang="en-US" sz="1600" kern="100">
                          <a:solidFill>
                            <a:schemeClr val="tx1"/>
                          </a:solidFill>
                          <a:effectLst/>
                          <a:latin typeface="微软雅黑" panose="020B0503020204020204" pitchFamily="34" charset="-122"/>
                          <a:ea typeface="微软雅黑" panose="020B0503020204020204" pitchFamily="34" charset="-122"/>
                        </a:rPr>
                        <a:t>54-56</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9</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1242</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4041671"/>
                  </a:ext>
                </a:extLst>
              </a:tr>
              <a:tr h="327097">
                <a:tc>
                  <a:txBody>
                    <a:bodyPr/>
                    <a:lstStyle/>
                    <a:p>
                      <a:pPr algn="ctr">
                        <a:lnSpc>
                          <a:spcPts val="2000"/>
                        </a:lnSpc>
                        <a:spcBef>
                          <a:spcPts val="300"/>
                        </a:spcBef>
                        <a:spcAft>
                          <a:spcPts val="300"/>
                        </a:spcAft>
                        <a:buNone/>
                      </a:pPr>
                      <a:r>
                        <a:rPr lang="zh-CN" sz="1600" b="0" kern="100" dirty="0">
                          <a:solidFill>
                            <a:schemeClr val="tx1"/>
                          </a:solidFill>
                          <a:effectLst/>
                          <a:latin typeface="微软雅黑" panose="020B0503020204020204" pitchFamily="34" charset="-122"/>
                          <a:ea typeface="微软雅黑" panose="020B0503020204020204" pitchFamily="34" charset="-122"/>
                        </a:rPr>
                        <a:t>对指捏取</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61</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1</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138</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2929421"/>
                  </a:ext>
                </a:extLst>
              </a:tr>
              <a:tr h="327097">
                <a:tc>
                  <a:txBody>
                    <a:bodyPr/>
                    <a:lstStyle/>
                    <a:p>
                      <a:pPr algn="ctr">
                        <a:lnSpc>
                          <a:spcPts val="2000"/>
                        </a:lnSpc>
                        <a:spcBef>
                          <a:spcPts val="300"/>
                        </a:spcBef>
                        <a:spcAft>
                          <a:spcPts val="300"/>
                        </a:spcAft>
                        <a:buNone/>
                      </a:pPr>
                      <a:r>
                        <a:rPr lang="zh-CN" sz="1600" b="0" kern="100" dirty="0">
                          <a:solidFill>
                            <a:schemeClr val="tx1"/>
                          </a:solidFill>
                          <a:effectLst/>
                          <a:latin typeface="微软雅黑" panose="020B0503020204020204" pitchFamily="34" charset="-122"/>
                          <a:ea typeface="微软雅黑" panose="020B0503020204020204" pitchFamily="34" charset="-122"/>
                        </a:rPr>
                        <a:t>合计</a:t>
                      </a:r>
                      <a:endParaRPr lang="zh-CN" sz="16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a:solidFill>
                            <a:schemeClr val="tx1"/>
                          </a:solidFill>
                          <a:effectLst/>
                          <a:latin typeface="微软雅黑" panose="020B0503020204020204" pitchFamily="34" charset="-122"/>
                          <a:ea typeface="微软雅黑" panose="020B0503020204020204" pitchFamily="34" charset="-122"/>
                        </a:rPr>
                        <a:t>-</a:t>
                      </a:r>
                      <a:endParaRPr lang="zh-CN" sz="16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41</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2000"/>
                        </a:lnSpc>
                        <a:spcBef>
                          <a:spcPts val="300"/>
                        </a:spcBef>
                        <a:spcAft>
                          <a:spcPts val="300"/>
                        </a:spcAft>
                        <a:buNone/>
                      </a:pPr>
                      <a:r>
                        <a:rPr lang="en-US" sz="1600" kern="100" dirty="0">
                          <a:solidFill>
                            <a:schemeClr val="tx1"/>
                          </a:solidFill>
                          <a:effectLst/>
                          <a:latin typeface="微软雅黑" panose="020B0503020204020204" pitchFamily="34" charset="-122"/>
                          <a:ea typeface="微软雅黑" panose="020B0503020204020204" pitchFamily="34" charset="-122"/>
                        </a:rPr>
                        <a:t>5656</a:t>
                      </a:r>
                      <a:endParaRPr lang="zh-CN" sz="16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9972" marR="7997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9392093"/>
                  </a:ext>
                </a:extLst>
              </a:tr>
            </a:tbl>
          </a:graphicData>
        </a:graphic>
      </p:graphicFrame>
      <p:sp>
        <p:nvSpPr>
          <p:cNvPr id="17" name="矩形 16">
            <a:extLst>
              <a:ext uri="{FF2B5EF4-FFF2-40B4-BE49-F238E27FC236}">
                <a16:creationId xmlns:a16="http://schemas.microsoft.com/office/drawing/2014/main" id="{B3905784-3F62-4CB1-B3F2-1C1D28B57863}"/>
              </a:ext>
            </a:extLst>
          </p:cNvPr>
          <p:cNvSpPr/>
          <p:nvPr/>
        </p:nvSpPr>
        <p:spPr>
          <a:xfrm>
            <a:off x="8476393" y="5581044"/>
            <a:ext cx="3444674" cy="61655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err="1">
                <a:solidFill>
                  <a:schemeClr val="tx1"/>
                </a:solidFill>
                <a:latin typeface="微软雅黑" panose="020B0503020204020204" pitchFamily="34" charset="-122"/>
                <a:ea typeface="微软雅黑" panose="020B0503020204020204" pitchFamily="34" charset="-122"/>
                <a:cs typeface="Arial" panose="020B0604020202020204" pitchFamily="34" charset="0"/>
              </a:rPr>
              <a:t>CyberGlove</a:t>
            </a:r>
            <a:r>
              <a:rPr lang="en-US" altLang="zh-CN"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 Ⅱ</a:t>
            </a:r>
            <a:r>
              <a:rPr lang="zh-CN" altLang="en-US"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数据手套</a:t>
            </a:r>
            <a:endParaRPr lang="en-US" altLang="zh-CN"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ctr"/>
            <a:r>
              <a:rPr lang="zh-CN" altLang="en-US"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角度传感器设置</a:t>
            </a:r>
          </a:p>
        </p:txBody>
      </p:sp>
      <p:sp>
        <p:nvSpPr>
          <p:cNvPr id="19" name="文本框 18">
            <a:extLst>
              <a:ext uri="{FF2B5EF4-FFF2-40B4-BE49-F238E27FC236}">
                <a16:creationId xmlns:a16="http://schemas.microsoft.com/office/drawing/2014/main" id="{07F52C5B-6EEF-4C32-A2C0-ED94A595459F}"/>
              </a:ext>
            </a:extLst>
          </p:cNvPr>
          <p:cNvSpPr txBox="1"/>
          <p:nvPr/>
        </p:nvSpPr>
        <p:spPr>
          <a:xfrm>
            <a:off x="3447107" y="1101246"/>
            <a:ext cx="6097508" cy="369332"/>
          </a:xfrm>
          <a:prstGeom prst="rect">
            <a:avLst/>
          </a:prstGeom>
          <a:noFill/>
        </p:spPr>
        <p:txBody>
          <a:bodyPr wrap="square">
            <a:spAutoFit/>
          </a:bodyPr>
          <a:lstStyle/>
          <a:p>
            <a:r>
              <a:rPr lang="zh-TW" altLang="en-US" u="sng" dirty="0">
                <a:solidFill>
                  <a:srgbClr val="000099"/>
                </a:solidFill>
              </a:rPr>
              <a:t>https://doi.org/10.6084/m9.figshare.28696778</a:t>
            </a:r>
          </a:p>
        </p:txBody>
      </p:sp>
    </p:spTree>
    <p:extLst>
      <p:ext uri="{BB962C8B-B14F-4D97-AF65-F5344CB8AC3E}">
        <p14:creationId xmlns:p14="http://schemas.microsoft.com/office/powerpoint/2010/main" val="363153462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C34EF07D-4BE2-4A0A-9C32-E179A9991BEC}"/>
              </a:ext>
            </a:extLst>
          </p:cNvPr>
          <p:cNvPicPr>
            <a:picLocks noChangeAspect="1"/>
          </p:cNvPicPr>
          <p:nvPr/>
        </p:nvPicPr>
        <p:blipFill>
          <a:blip r:embed="rId3"/>
          <a:stretch>
            <a:fillRect/>
          </a:stretch>
        </p:blipFill>
        <p:spPr>
          <a:xfrm>
            <a:off x="5970436" y="1437388"/>
            <a:ext cx="6196164" cy="4150612"/>
          </a:xfrm>
          <a:prstGeom prst="rect">
            <a:avLst/>
          </a:prstGeom>
        </p:spPr>
      </p:pic>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7</a:t>
            </a:fld>
            <a:endParaRPr lang="zh-CN" altLang="en-US"/>
          </a:p>
        </p:txBody>
      </p:sp>
      <p:sp>
        <p:nvSpPr>
          <p:cNvPr id="6" name="矩形 46">
            <a:extLst>
              <a:ext uri="{FF2B5EF4-FFF2-40B4-BE49-F238E27FC236}">
                <a16:creationId xmlns:a16="http://schemas.microsoft.com/office/drawing/2014/main" id="{4DB44E74-6B94-4F4B-8A63-36FCA7954817}"/>
              </a:ext>
            </a:extLst>
          </p:cNvPr>
          <p:cNvSpPr>
            <a:spLocks noChangeArrowheads="1"/>
          </p:cNvSpPr>
          <p:nvPr/>
        </p:nvSpPr>
        <p:spPr bwMode="auto">
          <a:xfrm>
            <a:off x="634918" y="237124"/>
            <a:ext cx="2633087"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1.4 </a:t>
            </a:r>
            <a:r>
              <a:rPr lang="zh-CN" altLang="en-US" b="1" dirty="0">
                <a:solidFill>
                  <a:srgbClr val="000099"/>
                </a:solidFill>
              </a:rPr>
              <a:t>数据格式</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8" name="等腰三角形 47">
            <a:extLst>
              <a:ext uri="{FF2B5EF4-FFF2-40B4-BE49-F238E27FC236}">
                <a16:creationId xmlns:a16="http://schemas.microsoft.com/office/drawing/2014/main" id="{B30A2D93-61EF-4B5F-B18D-F76B30294E2B}"/>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 name="Rectangle 1">
            <a:extLst>
              <a:ext uri="{FF2B5EF4-FFF2-40B4-BE49-F238E27FC236}">
                <a16:creationId xmlns:a16="http://schemas.microsoft.com/office/drawing/2014/main" id="{ED8F8E10-B287-4FF1-9F48-550F9D4FCCD0}"/>
              </a:ext>
            </a:extLst>
          </p:cNvPr>
          <p:cNvSpPr>
            <a:spLocks noChangeArrowheads="1"/>
          </p:cNvSpPr>
          <p:nvPr/>
        </p:nvSpPr>
        <p:spPr bwMode="auto">
          <a:xfrm>
            <a:off x="124755" y="1534506"/>
            <a:ext cx="597124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该数据库以受试者为单位存储，每名受试者对应一个 MATLAB 格式数据文件（P01.mat–P</a:t>
            </a:r>
            <a:r>
              <a:rPr kumimoji="0" lang="en-US" altLang="zh-TW"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25</a:t>
            </a:r>
            <a:r>
              <a:rPr kumimoji="0" lang="zh-TW" altLang="zh-TW"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.mat）。</a:t>
            </a:r>
            <a:endParaRPr kumimoji="0" lang="en-US" altLang="zh-TW"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每个文件包含按时间同步后的时间序列数据，包括</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任务标签</a:t>
            </a:r>
            <a:endParaRPr kumimoji="0" lang="en-US"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抓握类型标签</a:t>
            </a:r>
            <a:endParaRPr kumimoji="0" lang="en-US"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重复次数标签</a:t>
            </a:r>
            <a:endParaRPr kumimoji="0" lang="en-US"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时间戳</a:t>
            </a:r>
            <a:endParaRPr kumimoji="0" lang="en-US"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采样频率</a:t>
            </a:r>
            <a:endParaRPr lang="en-US" altLang="zh-TW" b="1" dirty="0">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12 通道表面肌电信号（sEMG）</a:t>
            </a:r>
            <a:endParaRPr kumimoji="0" lang="en-US" altLang="zh-TW"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9 个 IMU 传感器对应的加速度</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TW" altLang="zh-TW"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角速度信号</a:t>
            </a:r>
            <a:endParaRPr kumimoji="0" lang="en-US" altLang="zh-TW"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42950" lvl="1" indent="-285750" eaLnBrk="0" fontAlgn="base" hangingPunct="0">
              <a:spcBef>
                <a:spcPct val="0"/>
              </a:spcBef>
              <a:spcAft>
                <a:spcPct val="0"/>
              </a:spcAft>
              <a:buFont typeface="Wingdings" panose="05000000000000000000" pitchFamily="2" charset="2"/>
              <a:buChar char="Ø"/>
            </a:pPr>
            <a:r>
              <a:rPr kumimoji="0" lang="zh-TW"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CyberGlove 采集的手指与腕部关节运动学数据</a:t>
            </a:r>
            <a:endParaRPr kumimoji="0" lang="en-US" altLang="zh-TW"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zh-TW" dirty="0">
              <a:latin typeface="微软雅黑" panose="020B0503020204020204" pitchFamily="34" charset="-122"/>
              <a:ea typeface="微软雅黑" panose="020B0503020204020204" pitchFamily="34" charset="-122"/>
            </a:endParaRPr>
          </a:p>
          <a:p>
            <a:pPr marR="0" lvl="0" algn="l" defTabSz="914400" rtl="0" eaLnBrk="0" fontAlgn="base" latinLnBrk="0" hangingPunct="0">
              <a:lnSpc>
                <a:spcPct val="100000"/>
              </a:lnSpc>
              <a:spcBef>
                <a:spcPct val="0"/>
              </a:spcBef>
              <a:spcAft>
                <a:spcPct val="0"/>
              </a:spcAft>
              <a:buClrTx/>
              <a:buSzTx/>
              <a:tabLst/>
            </a:pPr>
            <a:r>
              <a:rPr kumimoji="0" lang="zh-TW" altLang="zh-TW"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手部运动学同时提供原始 8-bit 弯曲传感器数值和经标定后的关节角度；对于所有低频信号均通过基于时间戳的零阶保持方法对齐至肌电信号约 2000 Hz 的采样频率</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TW" altLang="zh-TW"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286136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8</a:t>
            </a:fld>
            <a:endParaRPr lang="zh-CN" altLang="en-US"/>
          </a:p>
        </p:txBody>
      </p:sp>
      <p:pic>
        <p:nvPicPr>
          <p:cNvPr id="9" name="图片 8">
            <a:extLst>
              <a:ext uri="{FF2B5EF4-FFF2-40B4-BE49-F238E27FC236}">
                <a16:creationId xmlns:a16="http://schemas.microsoft.com/office/drawing/2014/main" id="{8DC150AE-3435-4776-96FA-783A8C475E5B}"/>
              </a:ext>
            </a:extLst>
          </p:cNvPr>
          <p:cNvPicPr>
            <a:picLocks noChangeAspect="1"/>
          </p:cNvPicPr>
          <p:nvPr/>
        </p:nvPicPr>
        <p:blipFill>
          <a:blip r:embed="rId3"/>
          <a:srcRect r="70000" b="531"/>
          <a:stretch>
            <a:fillRect/>
          </a:stretch>
        </p:blipFill>
        <p:spPr>
          <a:xfrm>
            <a:off x="0" y="2275948"/>
            <a:ext cx="3657600" cy="2306103"/>
          </a:xfrm>
          <a:custGeom>
            <a:avLst/>
            <a:gdLst>
              <a:gd name="connsiteX0" fmla="*/ 0 w 3657600"/>
              <a:gd name="connsiteY0" fmla="*/ 0 h 2306103"/>
              <a:gd name="connsiteX1" fmla="*/ 2283716 w 3657600"/>
              <a:gd name="connsiteY1" fmla="*/ 0 h 2306103"/>
              <a:gd name="connsiteX2" fmla="*/ 3657600 w 3657600"/>
              <a:gd name="connsiteY2" fmla="*/ 1153052 h 2306103"/>
              <a:gd name="connsiteX3" fmla="*/ 2283716 w 3657600"/>
              <a:gd name="connsiteY3" fmla="*/ 2306103 h 2306103"/>
              <a:gd name="connsiteX4" fmla="*/ 0 w 3657600"/>
              <a:gd name="connsiteY4" fmla="*/ 2306103 h 2306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0" h="2306103">
                <a:moveTo>
                  <a:pt x="0" y="0"/>
                </a:moveTo>
                <a:lnTo>
                  <a:pt x="2283716" y="0"/>
                </a:lnTo>
                <a:lnTo>
                  <a:pt x="3657600" y="1153052"/>
                </a:lnTo>
                <a:lnTo>
                  <a:pt x="2283716" y="2306103"/>
                </a:lnTo>
                <a:lnTo>
                  <a:pt x="0" y="2306103"/>
                </a:lnTo>
                <a:close/>
              </a:path>
            </a:pathLst>
          </a:custGeom>
        </p:spPr>
      </p:pic>
      <p:sp>
        <p:nvSpPr>
          <p:cNvPr id="10" name="textbox 4">
            <a:extLst>
              <a:ext uri="{FF2B5EF4-FFF2-40B4-BE49-F238E27FC236}">
                <a16:creationId xmlns:a16="http://schemas.microsoft.com/office/drawing/2014/main" id="{EC640D0C-20FF-4810-A56A-9441648D3ECE}"/>
              </a:ext>
            </a:extLst>
          </p:cNvPr>
          <p:cNvSpPr/>
          <p:nvPr/>
        </p:nvSpPr>
        <p:spPr>
          <a:xfrm>
            <a:off x="667657" y="2478086"/>
            <a:ext cx="1335314"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en-US" altLang="zh-CN"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textbox 4">
            <a:extLst>
              <a:ext uri="{FF2B5EF4-FFF2-40B4-BE49-F238E27FC236}">
                <a16:creationId xmlns:a16="http://schemas.microsoft.com/office/drawing/2014/main" id="{A22A704B-8B7A-43FA-94E5-966466B491FF}"/>
              </a:ext>
            </a:extLst>
          </p:cNvPr>
          <p:cNvSpPr/>
          <p:nvPr/>
        </p:nvSpPr>
        <p:spPr>
          <a:xfrm>
            <a:off x="2873829" y="2478085"/>
            <a:ext cx="8024586"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6000" b="1" kern="0" spc="-10" dirty="0">
                <a:latin typeface="微软雅黑" panose="020B0503020204020204" pitchFamily="34" charset="-122"/>
                <a:ea typeface="微软雅黑" panose="020B0503020204020204" pitchFamily="34" charset="-122"/>
                <a:cs typeface="Times New Roman" panose="02020603050405020304"/>
              </a:rPr>
              <a:t>研究方法</a:t>
            </a:r>
            <a:endParaRPr lang="en-US" altLang="zh-CN" sz="6000" b="1" kern="0" spc="-10" dirty="0">
              <a:latin typeface="微软雅黑" panose="020B0503020204020204" pitchFamily="34" charset="-122"/>
              <a:ea typeface="微软雅黑" panose="020B0503020204020204" pitchFamily="34" charset="-122"/>
              <a:cs typeface="Times New Roman" panose="02020603050405020304"/>
            </a:endParaRPr>
          </a:p>
        </p:txBody>
      </p:sp>
    </p:spTree>
    <p:extLst>
      <p:ext uri="{BB962C8B-B14F-4D97-AF65-F5344CB8AC3E}">
        <p14:creationId xmlns:p14="http://schemas.microsoft.com/office/powerpoint/2010/main" val="32759161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6">
            <a:extLst>
              <a:ext uri="{FF2B5EF4-FFF2-40B4-BE49-F238E27FC236}">
                <a16:creationId xmlns:a16="http://schemas.microsoft.com/office/drawing/2014/main" id="{0C6650A9-1A31-4D93-8731-92F2783DBD50}"/>
              </a:ext>
            </a:extLst>
          </p:cNvPr>
          <p:cNvSpPr>
            <a:spLocks noChangeArrowheads="1"/>
          </p:cNvSpPr>
          <p:nvPr/>
        </p:nvSpPr>
        <p:spPr bwMode="auto">
          <a:xfrm>
            <a:off x="634918" y="237124"/>
            <a:ext cx="6828145"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b="1" dirty="0">
                <a:solidFill>
                  <a:srgbClr val="000099"/>
                </a:solidFill>
              </a:rPr>
              <a:t>2</a:t>
            </a: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.1 </a:t>
            </a:r>
            <a:r>
              <a:rPr kumimoji="0" lang="zh-CN" altLang="en-US"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核心问题：预处理与</a:t>
            </a:r>
            <a:r>
              <a:rPr lang="zh-CN" altLang="en-US" b="1" dirty="0">
                <a:solidFill>
                  <a:srgbClr val="000099"/>
                </a:solidFill>
              </a:rPr>
              <a:t>主成分分析</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5" name="等腰三角形 47">
            <a:extLst>
              <a:ext uri="{FF2B5EF4-FFF2-40B4-BE49-F238E27FC236}">
                <a16:creationId xmlns:a16="http://schemas.microsoft.com/office/drawing/2014/main" id="{BD3C3259-7687-43A1-975B-51CDDF89F5F1}"/>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9" name="组合 8">
            <a:extLst>
              <a:ext uri="{FF2B5EF4-FFF2-40B4-BE49-F238E27FC236}">
                <a16:creationId xmlns:a16="http://schemas.microsoft.com/office/drawing/2014/main" id="{52A6CAD8-2D7F-4F5C-9E11-5225F6170FE5}"/>
              </a:ext>
            </a:extLst>
          </p:cNvPr>
          <p:cNvGrpSpPr/>
          <p:nvPr/>
        </p:nvGrpSpPr>
        <p:grpSpPr>
          <a:xfrm>
            <a:off x="7797800" y="241820"/>
            <a:ext cx="4034738" cy="6548013"/>
            <a:chOff x="8286036" y="1034183"/>
            <a:chExt cx="3546502" cy="5755650"/>
          </a:xfrm>
        </p:grpSpPr>
        <p:pic>
          <p:nvPicPr>
            <p:cNvPr id="6" name="图片 5">
              <a:extLst>
                <a:ext uri="{FF2B5EF4-FFF2-40B4-BE49-F238E27FC236}">
                  <a16:creationId xmlns:a16="http://schemas.microsoft.com/office/drawing/2014/main" id="{7F5C5B44-A46A-4766-844C-DE7C1E126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6036" y="4129956"/>
              <a:ext cx="3546502" cy="2659877"/>
            </a:xfrm>
            <a:prstGeom prst="rect">
              <a:avLst/>
            </a:prstGeom>
          </p:spPr>
        </p:pic>
        <p:pic>
          <p:nvPicPr>
            <p:cNvPr id="7" name="图片 6">
              <a:extLst>
                <a:ext uri="{FF2B5EF4-FFF2-40B4-BE49-F238E27FC236}">
                  <a16:creationId xmlns:a16="http://schemas.microsoft.com/office/drawing/2014/main" id="{77FD124F-A043-4E2F-9E97-CAD63F76F2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036" y="1034183"/>
              <a:ext cx="3546502" cy="2659877"/>
            </a:xfrm>
            <a:prstGeom prst="rect">
              <a:avLst/>
            </a:prstGeom>
          </p:spPr>
        </p:pic>
        <p:sp>
          <p:nvSpPr>
            <p:cNvPr id="8" name="箭头: 下 7">
              <a:extLst>
                <a:ext uri="{FF2B5EF4-FFF2-40B4-BE49-F238E27FC236}">
                  <a16:creationId xmlns:a16="http://schemas.microsoft.com/office/drawing/2014/main" id="{B13934DE-0824-4F3F-BEFC-C87300893B13}"/>
                </a:ext>
              </a:extLst>
            </p:cNvPr>
            <p:cNvSpPr/>
            <p:nvPr/>
          </p:nvSpPr>
          <p:spPr>
            <a:xfrm>
              <a:off x="9988587" y="3694060"/>
              <a:ext cx="283096" cy="408185"/>
            </a:xfrm>
            <a:prstGeom prst="downArrow">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本框 9">
            <a:extLst>
              <a:ext uri="{FF2B5EF4-FFF2-40B4-BE49-F238E27FC236}">
                <a16:creationId xmlns:a16="http://schemas.microsoft.com/office/drawing/2014/main" id="{C4F4EB4E-BA85-4B4F-ACBC-1797E3C6A437}"/>
              </a:ext>
            </a:extLst>
          </p:cNvPr>
          <p:cNvSpPr txBox="1"/>
          <p:nvPr/>
        </p:nvSpPr>
        <p:spPr>
          <a:xfrm>
            <a:off x="387350" y="1110299"/>
            <a:ext cx="2932004" cy="461665"/>
          </a:xfrm>
          <a:prstGeom prst="rect">
            <a:avLst/>
          </a:prstGeom>
          <a:noFill/>
        </p:spPr>
        <p:txBody>
          <a:bodyPr wrap="square" rtlCol="0">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预处理：</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703134CF-BDC3-4FF0-B634-E82208F7D358}"/>
              </a:ext>
            </a:extLst>
          </p:cNvPr>
          <p:cNvSpPr txBox="1"/>
          <p:nvPr/>
        </p:nvSpPr>
        <p:spPr>
          <a:xfrm>
            <a:off x="387350" y="1571964"/>
            <a:ext cx="7258050" cy="1200329"/>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筛选右利手健康受试者，并仅保留与抓取相关的 </a:t>
            </a:r>
            <a:r>
              <a:rPr lang="en-US" altLang="zh-CN" dirty="0">
                <a:latin typeface="微软雅黑" panose="020B0503020204020204" pitchFamily="34" charset="-122"/>
                <a:ea typeface="微软雅黑" panose="020B0503020204020204" pitchFamily="34" charset="-122"/>
              </a:rPr>
              <a:t>41 </a:t>
            </a:r>
            <a:r>
              <a:rPr lang="zh-CN" altLang="en-US" dirty="0">
                <a:latin typeface="微软雅黑" panose="020B0503020204020204" pitchFamily="34" charset="-122"/>
                <a:ea typeface="微软雅黑" panose="020B0503020204020204" pitchFamily="34" charset="-122"/>
              </a:rPr>
              <a:t>个日常任务。</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每个试次的 </a:t>
            </a:r>
            <a:r>
              <a:rPr lang="en-US" altLang="zh-CN" dirty="0" err="1">
                <a:latin typeface="微软雅黑" panose="020B0503020204020204" pitchFamily="34" charset="-122"/>
                <a:ea typeface="微软雅黑" panose="020B0503020204020204" pitchFamily="34" charset="-122"/>
              </a:rPr>
              <a:t>CyberGlove</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手部关节角数据首先根据任务标签切片并分类，去除无任务部分，并对每个试次重采样为 </a:t>
            </a:r>
            <a:r>
              <a:rPr lang="en-US" altLang="zh-CN" dirty="0">
                <a:latin typeface="微软雅黑" panose="020B0503020204020204" pitchFamily="34" charset="-122"/>
                <a:ea typeface="微软雅黑" panose="020B0503020204020204" pitchFamily="34" charset="-122"/>
              </a:rPr>
              <a:t>100 </a:t>
            </a:r>
            <a:r>
              <a:rPr lang="zh-CN" altLang="en-US" dirty="0">
                <a:latin typeface="微软雅黑" panose="020B0503020204020204" pitchFamily="34" charset="-122"/>
                <a:ea typeface="微软雅黑" panose="020B0503020204020204" pitchFamily="34" charset="-122"/>
              </a:rPr>
              <a:t>帧。</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分析中剔除腕部及非目标通道，保留 </a:t>
            </a:r>
            <a:r>
              <a:rPr lang="en-US" altLang="zh-CN" dirty="0">
                <a:latin typeface="微软雅黑" panose="020B0503020204020204" pitchFamily="34" charset="-122"/>
                <a:ea typeface="微软雅黑" panose="020B0503020204020204" pitchFamily="34" charset="-122"/>
              </a:rPr>
              <a:t>15 </a:t>
            </a:r>
            <a:r>
              <a:rPr lang="zh-CN" altLang="en-US" dirty="0">
                <a:latin typeface="微软雅黑" panose="020B0503020204020204" pitchFamily="34" charset="-122"/>
                <a:ea typeface="微软雅黑" panose="020B0503020204020204" pitchFamily="34" charset="-122"/>
              </a:rPr>
              <a:t>个手指关节通道。</a:t>
            </a:r>
            <a:endParaRPr lang="zh-TW" altLang="en-US" dirty="0"/>
          </a:p>
        </p:txBody>
      </p: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37804B46-3B88-4B81-B086-01877A4F188B}"/>
                  </a:ext>
                </a:extLst>
              </p:cNvPr>
              <p:cNvSpPr txBox="1"/>
              <p:nvPr/>
            </p:nvSpPr>
            <p:spPr>
              <a:xfrm>
                <a:off x="968375" y="3630358"/>
                <a:ext cx="6096000"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en-US" i="1" smtClean="0">
                              <a:solidFill>
                                <a:srgbClr val="836967"/>
                              </a:solidFill>
                              <a:latin typeface="Cambria Math" panose="02040503050406030204" pitchFamily="18" charset="0"/>
                            </a:rPr>
                          </m:ctrlPr>
                        </m:sSubSupPr>
                        <m:e>
                          <m:r>
                            <a:rPr lang="zh-TW" altLang="en-US" i="1">
                              <a:latin typeface="Cambria Math" panose="02040503050406030204" pitchFamily="18" charset="0"/>
                            </a:rPr>
                            <m:t>𝑑</m:t>
                          </m:r>
                        </m:e>
                        <m:sub>
                          <m:r>
                            <a:rPr lang="zh-TW" altLang="en-US" i="1">
                              <a:latin typeface="Cambria Math" panose="02040503050406030204" pitchFamily="18" charset="0"/>
                            </a:rPr>
                            <m:t>𝑗</m:t>
                          </m:r>
                        </m:sub>
                        <m:sup>
                          <m:r>
                            <a:rPr lang="zh-TW" altLang="en-US" i="1">
                              <a:latin typeface="Cambria Math" panose="02040503050406030204" pitchFamily="18" charset="0"/>
                            </a:rPr>
                            <m:t>𝑞</m:t>
                          </m:r>
                        </m:sup>
                      </m:sSubSup>
                      <m:r>
                        <a:rPr lang="zh-TW" altLang="en-US" i="0">
                          <a:latin typeface="Cambria Math" panose="02040503050406030204" pitchFamily="18" charset="0"/>
                        </a:rPr>
                        <m:t>=</m:t>
                      </m:r>
                      <m:rad>
                        <m:radPr>
                          <m:degHide m:val="on"/>
                          <m:ctrlPr>
                            <a:rPr lang="zh-TW" altLang="en-US" i="1">
                              <a:solidFill>
                                <a:srgbClr val="836967"/>
                              </a:solidFill>
                              <a:latin typeface="Cambria Math" panose="02040503050406030204" pitchFamily="18" charset="0"/>
                            </a:rPr>
                          </m:ctrlPr>
                        </m:radPr>
                        <m:deg/>
                        <m:e>
                          <m:f>
                            <m:fPr>
                              <m:ctrlPr>
                                <a:rPr lang="zh-TW" altLang="en-US" i="1">
                                  <a:solidFill>
                                    <a:srgbClr val="836967"/>
                                  </a:solidFill>
                                  <a:latin typeface="Cambria Math" panose="02040503050406030204" pitchFamily="18" charset="0"/>
                                </a:rPr>
                              </m:ctrlPr>
                            </m:fPr>
                            <m:num>
                              <m:r>
                                <a:rPr lang="zh-TW" altLang="en-US" i="0">
                                  <a:latin typeface="Cambria Math" panose="02040503050406030204" pitchFamily="18" charset="0"/>
                                </a:rPr>
                                <m:t>1</m:t>
                              </m:r>
                            </m:num>
                            <m:den>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𝑇</m:t>
                                  </m:r>
                                </m:e>
                                <m:sub>
                                  <m:r>
                                    <a:rPr lang="zh-TW" altLang="en-US" i="1">
                                      <a:latin typeface="Cambria Math" panose="02040503050406030204" pitchFamily="18" charset="0"/>
                                    </a:rPr>
                                    <m:t>𝑞</m:t>
                                  </m:r>
                                </m:sub>
                              </m:sSub>
                            </m:den>
                          </m:f>
                          <m:r>
                            <a:rPr lang="zh-TW" altLang="en-US" i="0">
                              <a:latin typeface="Cambria Math" panose="02040503050406030204" pitchFamily="18" charset="0"/>
                            </a:rPr>
                            <m:t>⋅</m:t>
                          </m:r>
                          <m:nary>
                            <m:naryPr>
                              <m:chr m:val="∑"/>
                              <m:limLoc m:val="undOvr"/>
                              <m:supHide m:val="on"/>
                              <m:ctrlPr>
                                <a:rPr lang="zh-TW" altLang="en-US" i="1">
                                  <a:latin typeface="Cambria Math" panose="02040503050406030204" pitchFamily="18" charset="0"/>
                                </a:rPr>
                              </m:ctrlPr>
                            </m:naryPr>
                            <m:sub>
                              <m:r>
                                <a:rPr lang="zh-TW" altLang="en-US" i="1">
                                  <a:latin typeface="Cambria Math" panose="02040503050406030204" pitchFamily="18" charset="0"/>
                                </a:rPr>
                                <m:t>𝑓</m:t>
                              </m:r>
                            </m:sub>
                            <m:sup/>
                            <m:e>
                              <m:sSup>
                                <m:sSupPr>
                                  <m:ctrlPr>
                                    <a:rPr lang="zh-TW" altLang="en-US" i="1">
                                      <a:solidFill>
                                        <a:srgbClr val="836967"/>
                                      </a:solidFill>
                                      <a:latin typeface="Cambria Math" panose="02040503050406030204" pitchFamily="18" charset="0"/>
                                    </a:rPr>
                                  </m:ctrlPr>
                                </m:sSupPr>
                                <m:e>
                                  <m:d>
                                    <m:dPr>
                                      <m:ctrlPr>
                                        <a:rPr lang="zh-TW" altLang="en-US" i="1">
                                          <a:solidFill>
                                            <a:srgbClr val="836967"/>
                                          </a:solidFill>
                                          <a:latin typeface="Cambria Math" panose="02040503050406030204" pitchFamily="18" charset="0"/>
                                        </a:rPr>
                                      </m:ctrlPr>
                                    </m:dPr>
                                    <m:e>
                                      <m:sSubSup>
                                        <m:sSubSupPr>
                                          <m:ctrlPr>
                                            <a:rPr lang="zh-TW" altLang="en-US" i="1">
                                              <a:solidFill>
                                                <a:srgbClr val="836967"/>
                                              </a:solidFill>
                                              <a:latin typeface="Cambria Math" panose="02040503050406030204" pitchFamily="18" charset="0"/>
                                            </a:rPr>
                                          </m:ctrlPr>
                                        </m:sSubSupPr>
                                        <m:e>
                                          <m:r>
                                            <a:rPr lang="zh-TW" altLang="en-US" i="1">
                                              <a:latin typeface="Cambria Math" panose="02040503050406030204" pitchFamily="18" charset="0"/>
                                            </a:rPr>
                                            <m:t>𝜃</m:t>
                                          </m:r>
                                        </m:e>
                                        <m:sub>
                                          <m:r>
                                            <a:rPr lang="zh-TW" altLang="en-US" i="1">
                                              <a:latin typeface="Cambria Math" panose="02040503050406030204" pitchFamily="18" charset="0"/>
                                            </a:rPr>
                                            <m:t>𝑗</m:t>
                                          </m:r>
                                        </m:sub>
                                        <m:sup>
                                          <m:r>
                                            <a:rPr lang="zh-TW" altLang="en-US" i="1">
                                              <a:latin typeface="Cambria Math" panose="02040503050406030204" pitchFamily="18" charset="0"/>
                                            </a:rPr>
                                            <m:t>𝑞</m:t>
                                          </m:r>
                                        </m:sup>
                                      </m:sSubSup>
                                      <m:d>
                                        <m:dPr>
                                          <m:ctrlPr>
                                            <a:rPr lang="zh-TW" altLang="en-US" i="1">
                                              <a:solidFill>
                                                <a:srgbClr val="836967"/>
                                              </a:solidFill>
                                              <a:latin typeface="Cambria Math" panose="02040503050406030204" pitchFamily="18" charset="0"/>
                                            </a:rPr>
                                          </m:ctrlPr>
                                        </m:dPr>
                                        <m:e>
                                          <m:r>
                                            <a:rPr lang="zh-TW" altLang="en-US" i="1">
                                              <a:latin typeface="Cambria Math" panose="02040503050406030204" pitchFamily="18" charset="0"/>
                                            </a:rPr>
                                            <m:t>𝑓</m:t>
                                          </m:r>
                                        </m:e>
                                      </m:d>
                                      <m:r>
                                        <a:rPr lang="zh-TW" altLang="en-US" i="0">
                                          <a:latin typeface="Cambria Math" panose="02040503050406030204" pitchFamily="18" charset="0"/>
                                        </a:rPr>
                                        <m:t>−</m:t>
                                      </m:r>
                                      <m:sSubSup>
                                        <m:sSubSupPr>
                                          <m:ctrlPr>
                                            <a:rPr lang="zh-TW" altLang="en-US" i="1">
                                              <a:solidFill>
                                                <a:srgbClr val="836967"/>
                                              </a:solidFill>
                                              <a:latin typeface="Cambria Math" panose="02040503050406030204" pitchFamily="18" charset="0"/>
                                            </a:rPr>
                                          </m:ctrlPr>
                                        </m:sSubSupPr>
                                        <m:e>
                                          <m:r>
                                            <a:rPr lang="zh-TW" altLang="en-US" i="1">
                                              <a:latin typeface="Cambria Math" panose="02040503050406030204" pitchFamily="18" charset="0"/>
                                            </a:rPr>
                                            <m:t>𝜃</m:t>
                                          </m:r>
                                        </m:e>
                                        <m:sub>
                                          <m:r>
                                            <a:rPr lang="zh-TW" altLang="en-US" i="1">
                                              <a:latin typeface="Cambria Math" panose="02040503050406030204" pitchFamily="18" charset="0"/>
                                            </a:rPr>
                                            <m:t>𝑗</m:t>
                                          </m:r>
                                          <m:r>
                                            <a:rPr lang="zh-TW" altLang="en-US" i="0">
                                              <a:latin typeface="Cambria Math" panose="02040503050406030204" pitchFamily="18" charset="0"/>
                                            </a:rPr>
                                            <m:t>,0</m:t>
                                          </m:r>
                                        </m:sub>
                                        <m:sup>
                                          <m:r>
                                            <a:rPr lang="zh-TW" altLang="en-US" i="1">
                                              <a:latin typeface="Cambria Math" panose="02040503050406030204" pitchFamily="18" charset="0"/>
                                            </a:rPr>
                                            <m:t>𝑞</m:t>
                                          </m:r>
                                        </m:sup>
                                      </m:sSubSup>
                                    </m:e>
                                  </m:d>
                                </m:e>
                                <m:sup>
                                  <m:r>
                                    <a:rPr lang="zh-TW" altLang="en-US" i="0">
                                      <a:latin typeface="Cambria Math" panose="02040503050406030204" pitchFamily="18" charset="0"/>
                                    </a:rPr>
                                    <m:t>2</m:t>
                                  </m:r>
                                </m:sup>
                              </m:sSup>
                            </m:e>
                          </m:nary>
                        </m:e>
                      </m:rad>
                    </m:oMath>
                  </m:oMathPara>
                </a14:m>
                <a:endParaRPr lang="zh-TW" altLang="en-US" dirty="0"/>
              </a:p>
            </p:txBody>
          </p:sp>
        </mc:Choice>
        <mc:Fallback>
          <p:sp>
            <p:nvSpPr>
              <p:cNvPr id="14" name="文本框 13">
                <a:extLst>
                  <a:ext uri="{FF2B5EF4-FFF2-40B4-BE49-F238E27FC236}">
                    <a16:creationId xmlns:a16="http://schemas.microsoft.com/office/drawing/2014/main" id="{37804B46-3B88-4B81-B086-01877A4F188B}"/>
                  </a:ext>
                </a:extLst>
              </p:cNvPr>
              <p:cNvSpPr txBox="1">
                <a:spLocks noRot="1" noChangeAspect="1" noMove="1" noResize="1" noEditPoints="1" noAdjustHandles="1" noChangeArrowheads="1" noChangeShapeType="1" noTextEdit="1"/>
              </p:cNvSpPr>
              <p:nvPr/>
            </p:nvSpPr>
            <p:spPr>
              <a:xfrm>
                <a:off x="968375" y="3630358"/>
                <a:ext cx="6096000" cy="910699"/>
              </a:xfrm>
              <a:prstGeom prst="rect">
                <a:avLst/>
              </a:prstGeom>
              <a:blipFill>
                <a:blip r:embed="rId4"/>
                <a:stretch>
                  <a:fillRect/>
                </a:stretch>
              </a:blipFill>
            </p:spPr>
            <p:txBody>
              <a:bodyPr/>
              <a:lstStyle/>
              <a:p>
                <a:r>
                  <a:rPr lang="zh-TW" altLang="en-US">
                    <a:noFill/>
                  </a:rPr>
                  <a:t> </a:t>
                </a:r>
              </a:p>
            </p:txBody>
          </p:sp>
        </mc:Fallback>
      </mc:AlternateContent>
      <p:sp>
        <p:nvSpPr>
          <p:cNvPr id="15" name="文本框 14">
            <a:extLst>
              <a:ext uri="{FF2B5EF4-FFF2-40B4-BE49-F238E27FC236}">
                <a16:creationId xmlns:a16="http://schemas.microsoft.com/office/drawing/2014/main" id="{86CF30EC-CA75-47FD-ABCA-E6ECC69B18C1}"/>
              </a:ext>
            </a:extLst>
          </p:cNvPr>
          <p:cNvSpPr txBox="1"/>
          <p:nvPr/>
        </p:nvSpPr>
        <p:spPr>
          <a:xfrm>
            <a:off x="387350" y="2903887"/>
            <a:ext cx="2932004" cy="461665"/>
          </a:xfrm>
          <a:prstGeom prst="rect">
            <a:avLst/>
          </a:prstGeom>
          <a:noFill/>
        </p:spPr>
        <p:txBody>
          <a:bodyPr wrap="square" rtlCol="0">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主成分分析：</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077C001A-C17B-431F-9C15-7AFBC6E7972B}"/>
                  </a:ext>
                </a:extLst>
              </p:cNvPr>
              <p:cNvSpPr txBox="1"/>
              <p:nvPr/>
            </p:nvSpPr>
            <p:spPr>
              <a:xfrm>
                <a:off x="1000990" y="4873176"/>
                <a:ext cx="6096000"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TW" altLang="en-US" smtClean="0">
                          <a:latin typeface="Cambria Math" panose="02040503050406030204" pitchFamily="18" charset="0"/>
                        </a:rPr>
                        <m:t>Σ</m:t>
                      </m:r>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r>
                            <a:rPr lang="zh-TW" altLang="en-US" i="0">
                              <a:latin typeface="Cambria Math" panose="02040503050406030204" pitchFamily="18" charset="0"/>
                            </a:rPr>
                            <m:t>1</m:t>
                          </m:r>
                        </m:num>
                        <m:den>
                          <m:r>
                            <a:rPr lang="zh-TW" altLang="en-US" i="1">
                              <a:latin typeface="Cambria Math" panose="02040503050406030204" pitchFamily="18" charset="0"/>
                            </a:rPr>
                            <m:t>𝑁</m:t>
                          </m:r>
                          <m:r>
                            <a:rPr lang="zh-TW" altLang="en-US" i="0">
                              <a:latin typeface="Cambria Math" panose="02040503050406030204" pitchFamily="18" charset="0"/>
                            </a:rPr>
                            <m:t>−1</m:t>
                          </m:r>
                        </m:den>
                      </m:f>
                      <m:sSubSup>
                        <m:sSubSupPr>
                          <m:ctrlPr>
                            <a:rPr lang="zh-TW" altLang="en-US" i="1">
                              <a:solidFill>
                                <a:srgbClr val="836967"/>
                              </a:solidFill>
                              <a:latin typeface="Cambria Math" panose="02040503050406030204" pitchFamily="18" charset="0"/>
                            </a:rPr>
                          </m:ctrlPr>
                        </m:sSubSupPr>
                        <m:e>
                          <m:r>
                            <a:rPr lang="zh-TW" altLang="en-US" i="1">
                              <a:latin typeface="Cambria Math" panose="02040503050406030204" pitchFamily="18" charset="0"/>
                            </a:rPr>
                            <m:t>𝑋</m:t>
                          </m:r>
                        </m:e>
                        <m:sub>
                          <m:r>
                            <a:rPr lang="zh-TW" altLang="en-US" i="1">
                              <a:latin typeface="Cambria Math" panose="02040503050406030204" pitchFamily="18" charset="0"/>
                            </a:rPr>
                            <m:t>𝑐</m:t>
                          </m:r>
                        </m:sub>
                        <m:sup>
                          <m:r>
                            <a:rPr lang="zh-TW" altLang="en-US" i="1">
                              <a:latin typeface="Cambria Math" panose="02040503050406030204" pitchFamily="18" charset="0"/>
                            </a:rPr>
                            <m:t>𝑇</m:t>
                          </m:r>
                        </m:sup>
                      </m:sSubSup>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𝑋</m:t>
                          </m:r>
                        </m:e>
                        <m:sub>
                          <m:r>
                            <a:rPr lang="zh-TW" altLang="en-US" i="1">
                              <a:latin typeface="Cambria Math" panose="02040503050406030204" pitchFamily="18" charset="0"/>
                            </a:rPr>
                            <m:t>𝑐</m:t>
                          </m:r>
                        </m:sub>
                      </m:sSub>
                      <m:r>
                        <a:rPr lang="zh-TW" altLang="en-US" i="0">
                          <a:latin typeface="Cambria Math" panose="02040503050406030204" pitchFamily="18" charset="0"/>
                        </a:rPr>
                        <m:t>,    </m:t>
                      </m:r>
                      <m:r>
                        <a:rPr lang="zh-TW" altLang="en-US" i="1">
                          <a:latin typeface="Cambria Math" panose="02040503050406030204" pitchFamily="18" charset="0"/>
                        </a:rPr>
                        <m:t>𝑁</m:t>
                      </m:r>
                      <m:r>
                        <a:rPr lang="zh-TW" altLang="en-US" i="0">
                          <a:latin typeface="Cambria Math" panose="02040503050406030204" pitchFamily="18" charset="0"/>
                        </a:rPr>
                        <m:t>=41. </m:t>
                      </m:r>
                    </m:oMath>
                  </m:oMathPara>
                </a14:m>
                <a:endParaRPr lang="zh-TW" altLang="en-US" dirty="0"/>
              </a:p>
            </p:txBody>
          </p:sp>
        </mc:Choice>
        <mc:Fallback>
          <p:sp>
            <p:nvSpPr>
              <p:cNvPr id="17" name="文本框 16">
                <a:extLst>
                  <a:ext uri="{FF2B5EF4-FFF2-40B4-BE49-F238E27FC236}">
                    <a16:creationId xmlns:a16="http://schemas.microsoft.com/office/drawing/2014/main" id="{077C001A-C17B-431F-9C15-7AFBC6E7972B}"/>
                  </a:ext>
                </a:extLst>
              </p:cNvPr>
              <p:cNvSpPr txBox="1">
                <a:spLocks noRot="1" noChangeAspect="1" noMove="1" noResize="1" noEditPoints="1" noAdjustHandles="1" noChangeArrowheads="1" noChangeShapeType="1" noTextEdit="1"/>
              </p:cNvSpPr>
              <p:nvPr/>
            </p:nvSpPr>
            <p:spPr>
              <a:xfrm>
                <a:off x="1000990" y="4873176"/>
                <a:ext cx="6096000" cy="610936"/>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3807A8FB-E291-4B3F-9078-73C7743DBEB3}"/>
                  </a:ext>
                </a:extLst>
              </p:cNvPr>
              <p:cNvSpPr txBox="1"/>
              <p:nvPr/>
            </p:nvSpPr>
            <p:spPr>
              <a:xfrm>
                <a:off x="942975" y="5563035"/>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TW" altLang="en-US" smtClean="0">
                          <a:latin typeface="Cambria Math" panose="02040503050406030204" pitchFamily="18" charset="0"/>
                        </a:rPr>
                        <m:t>Σ</m:t>
                      </m:r>
                      <m:r>
                        <a:rPr lang="zh-TW" altLang="en-US" i="0">
                          <a:latin typeface="Cambria Math" panose="02040503050406030204" pitchFamily="18" charset="0"/>
                        </a:rPr>
                        <m:t> </m:t>
                      </m:r>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𝑤</m:t>
                          </m:r>
                        </m:e>
                        <m:sub>
                          <m:r>
                            <a:rPr lang="zh-TW" altLang="en-US" i="1">
                              <a:latin typeface="Cambria Math" panose="02040503050406030204" pitchFamily="18" charset="0"/>
                            </a:rPr>
                            <m:t>𝑘</m:t>
                          </m:r>
                        </m:sub>
                      </m:sSub>
                      <m:r>
                        <a:rPr lang="zh-TW" altLang="en-US" i="0">
                          <a:latin typeface="Cambria Math" panose="02040503050406030204" pitchFamily="18" charset="0"/>
                        </a:rPr>
                        <m:t>=</m:t>
                      </m:r>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𝜆</m:t>
                          </m:r>
                        </m:e>
                        <m:sub>
                          <m:r>
                            <a:rPr lang="zh-TW" altLang="en-US" i="1">
                              <a:latin typeface="Cambria Math" panose="02040503050406030204" pitchFamily="18" charset="0"/>
                            </a:rPr>
                            <m:t>𝑘</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𝑤</m:t>
                          </m:r>
                        </m:e>
                        <m:sub>
                          <m:r>
                            <a:rPr lang="zh-TW" altLang="en-US" i="1">
                              <a:latin typeface="Cambria Math" panose="02040503050406030204" pitchFamily="18" charset="0"/>
                            </a:rPr>
                            <m:t>𝑘</m:t>
                          </m:r>
                        </m:sub>
                      </m:sSub>
                    </m:oMath>
                  </m:oMathPara>
                </a14:m>
                <a:endParaRPr lang="zh-TW" altLang="en-US" dirty="0"/>
              </a:p>
            </p:txBody>
          </p:sp>
        </mc:Choice>
        <mc:Fallback>
          <p:sp>
            <p:nvSpPr>
              <p:cNvPr id="19" name="文本框 18">
                <a:extLst>
                  <a:ext uri="{FF2B5EF4-FFF2-40B4-BE49-F238E27FC236}">
                    <a16:creationId xmlns:a16="http://schemas.microsoft.com/office/drawing/2014/main" id="{3807A8FB-E291-4B3F-9078-73C7743DBEB3}"/>
                  </a:ext>
                </a:extLst>
              </p:cNvPr>
              <p:cNvSpPr txBox="1">
                <a:spLocks noRot="1" noChangeAspect="1" noMove="1" noResize="1" noEditPoints="1" noAdjustHandles="1" noChangeArrowheads="1" noChangeShapeType="1" noTextEdit="1"/>
              </p:cNvSpPr>
              <p:nvPr/>
            </p:nvSpPr>
            <p:spPr>
              <a:xfrm>
                <a:off x="942975" y="5563035"/>
                <a:ext cx="6096000" cy="369332"/>
              </a:xfrm>
              <a:prstGeom prst="rect">
                <a:avLst/>
              </a:prstGeom>
              <a:blipFill>
                <a:blip r:embed="rId6"/>
                <a:stretch>
                  <a:fillRect/>
                </a:stretch>
              </a:blipFill>
            </p:spPr>
            <p:txBody>
              <a:bodyPr/>
              <a:lstStyle/>
              <a:p>
                <a:r>
                  <a:rPr lang="zh-TW" altLang="en-US">
                    <a:noFill/>
                  </a:rPr>
                  <a:t> </a:t>
                </a:r>
              </a:p>
            </p:txBody>
          </p:sp>
        </mc:Fallback>
      </mc:AlternateContent>
      <p:sp>
        <p:nvSpPr>
          <p:cNvPr id="20" name="文本框 19">
            <a:extLst>
              <a:ext uri="{FF2B5EF4-FFF2-40B4-BE49-F238E27FC236}">
                <a16:creationId xmlns:a16="http://schemas.microsoft.com/office/drawing/2014/main" id="{B85468F9-0812-4D1D-B1D7-3A223FDCE0FB}"/>
              </a:ext>
            </a:extLst>
          </p:cNvPr>
          <p:cNvSpPr txBox="1"/>
          <p:nvPr/>
        </p:nvSpPr>
        <p:spPr>
          <a:xfrm>
            <a:off x="419965" y="3441609"/>
            <a:ext cx="725805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任务特征向量：</a:t>
            </a:r>
            <a:endParaRPr lang="zh-TW" altLang="en-US" dirty="0"/>
          </a:p>
        </p:txBody>
      </p:sp>
      <p:sp>
        <p:nvSpPr>
          <p:cNvPr id="21" name="文本框 20">
            <a:extLst>
              <a:ext uri="{FF2B5EF4-FFF2-40B4-BE49-F238E27FC236}">
                <a16:creationId xmlns:a16="http://schemas.microsoft.com/office/drawing/2014/main" id="{3E2C2DC8-2763-4C0F-90DC-4D9ABBBF5941}"/>
              </a:ext>
            </a:extLst>
          </p:cNvPr>
          <p:cNvSpPr txBox="1"/>
          <p:nvPr/>
        </p:nvSpPr>
        <p:spPr>
          <a:xfrm>
            <a:off x="411902" y="4545140"/>
            <a:ext cx="725805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主成分分析算法：</a:t>
            </a:r>
            <a:endParaRPr lang="zh-TW" altLang="en-US" dirty="0"/>
          </a:p>
        </p:txBody>
      </p:sp>
    </p:spTree>
    <p:extLst>
      <p:ext uri="{BB962C8B-B14F-4D97-AF65-F5344CB8AC3E}">
        <p14:creationId xmlns:p14="http://schemas.microsoft.com/office/powerpoint/2010/main" val="686925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6">
            <a:extLst>
              <a:ext uri="{FF2B5EF4-FFF2-40B4-BE49-F238E27FC236}">
                <a16:creationId xmlns:a16="http://schemas.microsoft.com/office/drawing/2014/main" id="{B2E652A8-7F3F-44FE-BB4D-1078C36D8713}"/>
              </a:ext>
            </a:extLst>
          </p:cNvPr>
          <p:cNvSpPr>
            <a:spLocks noChangeArrowheads="1"/>
          </p:cNvSpPr>
          <p:nvPr/>
        </p:nvSpPr>
        <p:spPr bwMode="auto">
          <a:xfrm>
            <a:off x="634918" y="237124"/>
            <a:ext cx="3864193"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b="1" dirty="0">
                <a:solidFill>
                  <a:srgbClr val="000099"/>
                </a:solidFill>
              </a:rPr>
              <a:t>2</a:t>
            </a: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.2 </a:t>
            </a:r>
            <a:r>
              <a:rPr lang="zh-CN" altLang="en-US" b="1" dirty="0">
                <a:solidFill>
                  <a:srgbClr val="000099"/>
                </a:solidFill>
              </a:rPr>
              <a:t>次要问题的方法</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 name="等腰三角形 47">
            <a:extLst>
              <a:ext uri="{FF2B5EF4-FFF2-40B4-BE49-F238E27FC236}">
                <a16:creationId xmlns:a16="http://schemas.microsoft.com/office/drawing/2014/main" id="{E9B97166-EB08-49D6-946B-1D37663D956E}"/>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文本框 3">
            <a:extLst>
              <a:ext uri="{FF2B5EF4-FFF2-40B4-BE49-F238E27FC236}">
                <a16:creationId xmlns:a16="http://schemas.microsoft.com/office/drawing/2014/main" id="{3FBE86D2-7FFE-4532-BB70-4FA880E03FEB}"/>
              </a:ext>
            </a:extLst>
          </p:cNvPr>
          <p:cNvSpPr txBox="1"/>
          <p:nvPr/>
        </p:nvSpPr>
        <p:spPr>
          <a:xfrm>
            <a:off x="387350" y="1012004"/>
            <a:ext cx="2932004" cy="461665"/>
          </a:xfrm>
          <a:prstGeom prst="rect">
            <a:avLst/>
          </a:prstGeom>
          <a:noFill/>
        </p:spPr>
        <p:txBody>
          <a:bodyPr wrap="square" rtlCol="0">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次要问题：</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AB1BD8FD-E0A2-4A98-A246-37DB473FFFC6}"/>
              </a:ext>
            </a:extLst>
          </p:cNvPr>
          <p:cNvSpPr txBox="1"/>
          <p:nvPr/>
        </p:nvSpPr>
        <p:spPr>
          <a:xfrm>
            <a:off x="553112" y="1562465"/>
            <a:ext cx="11143587" cy="401264"/>
          </a:xfrm>
          <a:prstGeom prst="rect">
            <a:avLst/>
          </a:prstGeom>
          <a:noFill/>
        </p:spPr>
        <p:txBody>
          <a:bodyPr wrap="square" rtlCol="0">
            <a:spAutoFit/>
          </a:bodyPr>
          <a:lstStyle>
            <a:defPPr>
              <a:defRPr lang="zh-CN"/>
            </a:defPPr>
            <a:lvl1pPr marL="285750" indent="-285750">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a:lnSpc>
                <a:spcPct val="120000"/>
              </a:lnSpc>
            </a:pPr>
            <a:r>
              <a:rPr lang="zh-CN" altLang="en-US" sz="1800" dirty="0">
                <a:solidFill>
                  <a:srgbClr val="1A1C1F"/>
                </a:solidFill>
                <a:latin typeface="-apple-system"/>
              </a:rPr>
              <a:t>低维姿态协同结构是否对受试者样本的变化保持稳定，而不是少数个体偶然造成？</a:t>
            </a:r>
            <a:endParaRPr lang="en-US" altLang="zh-CN" sz="1800" dirty="0">
              <a:solidFill>
                <a:srgbClr val="1A1C1F"/>
              </a:solidFill>
              <a:latin typeface="-apple-system"/>
            </a:endParaRPr>
          </a:p>
        </p:txBody>
      </p:sp>
      <p:sp>
        <p:nvSpPr>
          <p:cNvPr id="7" name="文本框 6">
            <a:extLst>
              <a:ext uri="{FF2B5EF4-FFF2-40B4-BE49-F238E27FC236}">
                <a16:creationId xmlns:a16="http://schemas.microsoft.com/office/drawing/2014/main" id="{A5C200A9-70C4-4D53-B8D9-95B3EE27E25B}"/>
              </a:ext>
            </a:extLst>
          </p:cNvPr>
          <p:cNvSpPr txBox="1"/>
          <p:nvPr/>
        </p:nvSpPr>
        <p:spPr>
          <a:xfrm>
            <a:off x="553112" y="2673067"/>
            <a:ext cx="7391400" cy="401264"/>
          </a:xfrm>
          <a:prstGeom prst="rect">
            <a:avLst/>
          </a:prstGeom>
          <a:noFill/>
        </p:spPr>
        <p:txBody>
          <a:bodyPr wrap="square" rtlCol="0">
            <a:spAutoFit/>
          </a:bodyPr>
          <a:lstStyle>
            <a:defPPr>
              <a:defRPr lang="zh-TW"/>
            </a:defPPr>
            <a:lvl1pPr marL="285750" indent="-285750">
              <a:lnSpc>
                <a:spcPct val="120000"/>
              </a:lnSpc>
              <a:buFont typeface="Wingdings" panose="05000000000000000000" pitchFamily="2" charset="2"/>
              <a:buChar char="Ø"/>
              <a:defRPr>
                <a:solidFill>
                  <a:srgbClr val="1A1C1F"/>
                </a:solidFill>
                <a:latin typeface="-apple-system"/>
                <a:ea typeface="微软雅黑" panose="020B0503020204020204" pitchFamily="34" charset="-122"/>
                <a:cs typeface="Times New Roman" panose="02020603050405020304" pitchFamily="18" charset="0"/>
              </a:defRPr>
            </a:lvl1pPr>
          </a:lstStyle>
          <a:p>
            <a:r>
              <a:rPr lang="zh-CN" altLang="en-US" dirty="0"/>
              <a:t>低维姿态协同特征是否能够在未见过的新受试者上预测其抓取类别？</a:t>
            </a:r>
            <a:endParaRPr lang="en-US" altLang="zh-CN" dirty="0"/>
          </a:p>
        </p:txBody>
      </p:sp>
      <p:sp>
        <p:nvSpPr>
          <p:cNvPr id="9" name="文本框 8">
            <a:extLst>
              <a:ext uri="{FF2B5EF4-FFF2-40B4-BE49-F238E27FC236}">
                <a16:creationId xmlns:a16="http://schemas.microsoft.com/office/drawing/2014/main" id="{53708749-7EDC-4200-9636-94834F835968}"/>
              </a:ext>
            </a:extLst>
          </p:cNvPr>
          <p:cNvSpPr txBox="1"/>
          <p:nvPr/>
        </p:nvSpPr>
        <p:spPr>
          <a:xfrm>
            <a:off x="553112" y="3783669"/>
            <a:ext cx="9677400" cy="401264"/>
          </a:xfrm>
          <a:prstGeom prst="rect">
            <a:avLst/>
          </a:prstGeom>
          <a:noFill/>
        </p:spPr>
        <p:txBody>
          <a:bodyPr wrap="square" rtlCol="0">
            <a:spAutoFit/>
          </a:bodyPr>
          <a:lstStyle>
            <a:defPPr>
              <a:defRPr lang="zh-TW"/>
            </a:defPPr>
            <a:lvl1pPr marL="285750" indent="-285750">
              <a:lnSpc>
                <a:spcPct val="120000"/>
              </a:lnSpc>
              <a:buFont typeface="Wingdings" panose="05000000000000000000" pitchFamily="2" charset="2"/>
              <a:buChar char="Ø"/>
              <a:defRPr>
                <a:solidFill>
                  <a:srgbClr val="1A1C1F"/>
                </a:solidFill>
                <a:latin typeface="-apple-system"/>
                <a:ea typeface="微软雅黑" panose="020B0503020204020204" pitchFamily="34" charset="-122"/>
                <a:cs typeface="Times New Roman" panose="02020603050405020304" pitchFamily="18" charset="0"/>
              </a:defRPr>
            </a:lvl1pPr>
          </a:lstStyle>
          <a:p>
            <a:r>
              <a:rPr lang="zh-CN" altLang="en-US" dirty="0"/>
              <a:t>力量型、精细型和复杂型抓取在姿态协同空间中的分布是否存在统计学显著差异？</a:t>
            </a:r>
            <a:endParaRPr lang="en-US" altLang="zh-CN" dirty="0"/>
          </a:p>
        </p:txBody>
      </p:sp>
      <p:sp>
        <p:nvSpPr>
          <p:cNvPr id="11" name="文本框 10">
            <a:extLst>
              <a:ext uri="{FF2B5EF4-FFF2-40B4-BE49-F238E27FC236}">
                <a16:creationId xmlns:a16="http://schemas.microsoft.com/office/drawing/2014/main" id="{89A23FB5-7B09-4E04-A38C-445AD74356E5}"/>
              </a:ext>
            </a:extLst>
          </p:cNvPr>
          <p:cNvSpPr txBox="1"/>
          <p:nvPr/>
        </p:nvSpPr>
        <p:spPr>
          <a:xfrm>
            <a:off x="553112" y="4894271"/>
            <a:ext cx="9321800" cy="401264"/>
          </a:xfrm>
          <a:prstGeom prst="rect">
            <a:avLst/>
          </a:prstGeom>
          <a:noFill/>
        </p:spPr>
        <p:txBody>
          <a:bodyPr wrap="square" rtlCol="0">
            <a:spAutoFit/>
          </a:bodyPr>
          <a:lstStyle>
            <a:defPPr>
              <a:defRPr lang="zh-TW"/>
            </a:defPPr>
            <a:lvl1pPr marL="285750" indent="-285750">
              <a:lnSpc>
                <a:spcPct val="120000"/>
              </a:lnSpc>
              <a:buFont typeface="Wingdings" panose="05000000000000000000" pitchFamily="2" charset="2"/>
              <a:buChar char="Ø"/>
              <a:defRPr>
                <a:solidFill>
                  <a:srgbClr val="1A1C1F"/>
                </a:solidFill>
                <a:latin typeface="-apple-system"/>
                <a:ea typeface="微软雅黑" panose="020B0503020204020204" pitchFamily="34" charset="-122"/>
                <a:cs typeface="Times New Roman" panose="02020603050405020304" pitchFamily="18" charset="0"/>
              </a:defRPr>
            </a:lvl1pPr>
          </a:lstStyle>
          <a:p>
            <a:r>
              <a:rPr lang="zh-CN" altLang="en-US" dirty="0"/>
              <a:t>不同抓取任务是否需要不同数量的主成分才能被充分描述？</a:t>
            </a:r>
            <a:endParaRPr lang="en-US" altLang="zh-CN" dirty="0"/>
          </a:p>
        </p:txBody>
      </p:sp>
    </p:spTree>
    <p:extLst>
      <p:ext uri="{BB962C8B-B14F-4D97-AF65-F5344CB8AC3E}">
        <p14:creationId xmlns:p14="http://schemas.microsoft.com/office/powerpoint/2010/main" val="2261485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11</a:t>
            </a:fld>
            <a:endParaRPr lang="zh-CN" altLang="en-US"/>
          </a:p>
        </p:txBody>
      </p:sp>
      <p:pic>
        <p:nvPicPr>
          <p:cNvPr id="9" name="图片 8">
            <a:extLst>
              <a:ext uri="{FF2B5EF4-FFF2-40B4-BE49-F238E27FC236}">
                <a16:creationId xmlns:a16="http://schemas.microsoft.com/office/drawing/2014/main" id="{8DC150AE-3435-4776-96FA-783A8C475E5B}"/>
              </a:ext>
            </a:extLst>
          </p:cNvPr>
          <p:cNvPicPr>
            <a:picLocks noChangeAspect="1"/>
          </p:cNvPicPr>
          <p:nvPr/>
        </p:nvPicPr>
        <p:blipFill>
          <a:blip r:embed="rId3"/>
          <a:srcRect r="70000" b="531"/>
          <a:stretch>
            <a:fillRect/>
          </a:stretch>
        </p:blipFill>
        <p:spPr>
          <a:xfrm>
            <a:off x="0" y="2275948"/>
            <a:ext cx="3657600" cy="2306103"/>
          </a:xfrm>
          <a:custGeom>
            <a:avLst/>
            <a:gdLst>
              <a:gd name="connsiteX0" fmla="*/ 0 w 3657600"/>
              <a:gd name="connsiteY0" fmla="*/ 0 h 2306103"/>
              <a:gd name="connsiteX1" fmla="*/ 2283716 w 3657600"/>
              <a:gd name="connsiteY1" fmla="*/ 0 h 2306103"/>
              <a:gd name="connsiteX2" fmla="*/ 3657600 w 3657600"/>
              <a:gd name="connsiteY2" fmla="*/ 1153052 h 2306103"/>
              <a:gd name="connsiteX3" fmla="*/ 2283716 w 3657600"/>
              <a:gd name="connsiteY3" fmla="*/ 2306103 h 2306103"/>
              <a:gd name="connsiteX4" fmla="*/ 0 w 3657600"/>
              <a:gd name="connsiteY4" fmla="*/ 2306103 h 2306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0" h="2306103">
                <a:moveTo>
                  <a:pt x="0" y="0"/>
                </a:moveTo>
                <a:lnTo>
                  <a:pt x="2283716" y="0"/>
                </a:lnTo>
                <a:lnTo>
                  <a:pt x="3657600" y="1153052"/>
                </a:lnTo>
                <a:lnTo>
                  <a:pt x="2283716" y="2306103"/>
                </a:lnTo>
                <a:lnTo>
                  <a:pt x="0" y="2306103"/>
                </a:lnTo>
                <a:close/>
              </a:path>
            </a:pathLst>
          </a:custGeom>
        </p:spPr>
      </p:pic>
      <p:sp>
        <p:nvSpPr>
          <p:cNvPr id="10" name="textbox 4">
            <a:extLst>
              <a:ext uri="{FF2B5EF4-FFF2-40B4-BE49-F238E27FC236}">
                <a16:creationId xmlns:a16="http://schemas.microsoft.com/office/drawing/2014/main" id="{EC640D0C-20FF-4810-A56A-9441648D3ECE}"/>
              </a:ext>
            </a:extLst>
          </p:cNvPr>
          <p:cNvSpPr/>
          <p:nvPr/>
        </p:nvSpPr>
        <p:spPr>
          <a:xfrm>
            <a:off x="667657" y="2478086"/>
            <a:ext cx="1335314"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en-US" altLang="zh-CN"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sz="9600" b="1" kern="0" spc="-10" dirty="0">
              <a:solidFill>
                <a:srgbClr val="FFFFFF">
                  <a:alpha val="10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textbox 4">
            <a:extLst>
              <a:ext uri="{FF2B5EF4-FFF2-40B4-BE49-F238E27FC236}">
                <a16:creationId xmlns:a16="http://schemas.microsoft.com/office/drawing/2014/main" id="{A22A704B-8B7A-43FA-94E5-966466B491FF}"/>
              </a:ext>
            </a:extLst>
          </p:cNvPr>
          <p:cNvSpPr/>
          <p:nvPr/>
        </p:nvSpPr>
        <p:spPr>
          <a:xfrm>
            <a:off x="2873829" y="2478085"/>
            <a:ext cx="8024586" cy="1901825"/>
          </a:xfrm>
          <a:prstGeom prst="rect">
            <a:avLst/>
          </a:prstGeom>
          <a:noFill/>
          <a:ln w="0" cap="flat">
            <a:noFill/>
            <a:prstDash val="solid"/>
            <a:miter lim="0"/>
          </a:ln>
        </p:spPr>
        <p:txBody>
          <a:bodyPr vert="horz" wrap="square" lIns="0" tIns="0" rIns="0" bIns="0" anchor="ctr"/>
          <a:lstStyle/>
          <a:p>
            <a:pPr algn="ctr" rtl="0" eaLnBrk="0">
              <a:lnSpc>
                <a:spcPct val="111000"/>
              </a:lnSpc>
            </a:pPr>
            <a:r>
              <a:rPr lang="zh-CN" altLang="en-US" sz="6000" b="1" kern="0" spc="-10" dirty="0">
                <a:latin typeface="微软雅黑" panose="020B0503020204020204" pitchFamily="34" charset="-122"/>
                <a:ea typeface="微软雅黑" panose="020B0503020204020204" pitchFamily="34" charset="-122"/>
                <a:cs typeface="Times New Roman" panose="02020603050405020304"/>
              </a:rPr>
              <a:t>研究结论</a:t>
            </a:r>
            <a:endParaRPr lang="en-US" altLang="zh-CN" sz="6000" b="1" kern="0" spc="-10" dirty="0">
              <a:latin typeface="微软雅黑" panose="020B0503020204020204" pitchFamily="34" charset="-122"/>
              <a:ea typeface="微软雅黑" panose="020B0503020204020204" pitchFamily="34" charset="-122"/>
              <a:cs typeface="Times New Roman" panose="02020603050405020304"/>
            </a:endParaRPr>
          </a:p>
        </p:txBody>
      </p:sp>
    </p:spTree>
    <p:extLst>
      <p:ext uri="{BB962C8B-B14F-4D97-AF65-F5344CB8AC3E}">
        <p14:creationId xmlns:p14="http://schemas.microsoft.com/office/powerpoint/2010/main" val="10924638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533C4-FB80-D444-9403-C91A0E250A4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16B6D88-97AC-4E07-B3FB-442066818C2E}"/>
              </a:ext>
            </a:extLst>
          </p:cNvPr>
          <p:cNvGrpSpPr/>
          <p:nvPr/>
        </p:nvGrpSpPr>
        <p:grpSpPr>
          <a:xfrm>
            <a:off x="4987294" y="0"/>
            <a:ext cx="7070458" cy="6846982"/>
            <a:chOff x="2355046" y="-800100"/>
            <a:chExt cx="8151243" cy="7893606"/>
          </a:xfrm>
        </p:grpSpPr>
        <p:pic>
          <p:nvPicPr>
            <p:cNvPr id="5" name="Picture 2" descr="图片预览">
              <a:extLst>
                <a:ext uri="{FF2B5EF4-FFF2-40B4-BE49-F238E27FC236}">
                  <a16:creationId xmlns:a16="http://schemas.microsoft.com/office/drawing/2014/main" id="{F0053F04-B853-4718-ADF0-36C8A42EBE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5046" y="-800100"/>
              <a:ext cx="8151243" cy="789360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8">
              <a:extLst>
                <a:ext uri="{FF2B5EF4-FFF2-40B4-BE49-F238E27FC236}">
                  <a16:creationId xmlns:a16="http://schemas.microsoft.com/office/drawing/2014/main" id="{4E5DDE4D-F650-4F02-A52A-16795A43237D}"/>
                </a:ext>
              </a:extLst>
            </p:cNvPr>
            <p:cNvGrpSpPr/>
            <p:nvPr/>
          </p:nvGrpSpPr>
          <p:grpSpPr>
            <a:xfrm>
              <a:off x="3905250" y="-537805"/>
              <a:ext cx="6037940" cy="6183863"/>
              <a:chOff x="4006850" y="-262034"/>
              <a:chExt cx="6037940" cy="6183863"/>
            </a:xfrm>
          </p:grpSpPr>
          <p:pic>
            <p:nvPicPr>
              <p:cNvPr id="10" name="图片 9">
                <a:extLst>
                  <a:ext uri="{FF2B5EF4-FFF2-40B4-BE49-F238E27FC236}">
                    <a16:creationId xmlns:a16="http://schemas.microsoft.com/office/drawing/2014/main" id="{5FAEC744-20E8-4F0E-8DED-1AD2D91F0050}"/>
                  </a:ext>
                </a:extLst>
              </p:cNvPr>
              <p:cNvPicPr>
                <a:picLocks noChangeAspect="1"/>
              </p:cNvPicPr>
              <p:nvPr/>
            </p:nvPicPr>
            <p:blipFill>
              <a:blip r:embed="rId4">
                <a:clrChange>
                  <a:clrFrom>
                    <a:srgbClr val="FFFFFF"/>
                  </a:clrFrom>
                  <a:clrTo>
                    <a:srgbClr val="FFFFFF">
                      <a:alpha val="0"/>
                    </a:srgbClr>
                  </a:clrTo>
                </a:clrChange>
              </a:blip>
              <a:srcRect l="40729" t="45042" r="36771" b="16613"/>
              <a:stretch>
                <a:fillRect/>
              </a:stretch>
            </p:blipFill>
            <p:spPr>
              <a:xfrm>
                <a:off x="6398832" y="2229480"/>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11" name="图片 10">
                <a:extLst>
                  <a:ext uri="{FF2B5EF4-FFF2-40B4-BE49-F238E27FC236}">
                    <a16:creationId xmlns:a16="http://schemas.microsoft.com/office/drawing/2014/main" id="{DCB5E5B7-CE7B-41BB-8DE1-0C5F776348D6}"/>
                  </a:ext>
                </a:extLst>
              </p:cNvPr>
              <p:cNvPicPr>
                <a:picLocks noChangeAspect="1"/>
              </p:cNvPicPr>
              <p:nvPr/>
            </p:nvPicPr>
            <p:blipFill>
              <a:blip r:embed="rId5">
                <a:clrChange>
                  <a:clrFrom>
                    <a:srgbClr val="FFFFFF"/>
                  </a:clrFrom>
                  <a:clrTo>
                    <a:srgbClr val="FFFFFF">
                      <a:alpha val="0"/>
                    </a:srgbClr>
                  </a:clrTo>
                </a:clrChange>
              </a:blip>
              <a:srcRect l="39896" t="45042" r="37604" b="16613"/>
              <a:stretch>
                <a:fillRect/>
              </a:stretch>
            </p:blipFill>
            <p:spPr>
              <a:xfrm>
                <a:off x="7594822" y="2229480"/>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12" name="图片 11">
                <a:extLst>
                  <a:ext uri="{FF2B5EF4-FFF2-40B4-BE49-F238E27FC236}">
                    <a16:creationId xmlns:a16="http://schemas.microsoft.com/office/drawing/2014/main" id="{6030D154-71A1-47BD-82DF-75EC75FFA72C}"/>
                  </a:ext>
                </a:extLst>
              </p:cNvPr>
              <p:cNvPicPr>
                <a:picLocks noChangeAspect="1"/>
              </p:cNvPicPr>
              <p:nvPr/>
            </p:nvPicPr>
            <p:blipFill>
              <a:blip r:embed="rId6">
                <a:clrChange>
                  <a:clrFrom>
                    <a:srgbClr val="FFFFFF"/>
                  </a:clrFrom>
                  <a:clrTo>
                    <a:srgbClr val="FFFFFF">
                      <a:alpha val="0"/>
                    </a:srgbClr>
                  </a:clrTo>
                </a:clrChange>
              </a:blip>
              <a:srcRect l="39896" t="45042" r="37604" b="16613"/>
              <a:stretch>
                <a:fillRect/>
              </a:stretch>
            </p:blipFill>
            <p:spPr>
              <a:xfrm>
                <a:off x="8790813" y="2229480"/>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13" name="图片 12">
                <a:extLst>
                  <a:ext uri="{FF2B5EF4-FFF2-40B4-BE49-F238E27FC236}">
                    <a16:creationId xmlns:a16="http://schemas.microsoft.com/office/drawing/2014/main" id="{346DFDE1-4521-413D-A32C-B9C60D78C659}"/>
                  </a:ext>
                </a:extLst>
              </p:cNvPr>
              <p:cNvPicPr>
                <a:picLocks noChangeAspect="1"/>
              </p:cNvPicPr>
              <p:nvPr/>
            </p:nvPicPr>
            <p:blipFill>
              <a:blip r:embed="rId7">
                <a:clrChange>
                  <a:clrFrom>
                    <a:srgbClr val="FFFFFF"/>
                  </a:clrFrom>
                  <a:clrTo>
                    <a:srgbClr val="FFFFFF">
                      <a:alpha val="0"/>
                    </a:srgbClr>
                  </a:clrTo>
                </a:clrChange>
              </a:blip>
              <a:srcRect l="41563" t="45042" r="35938" b="16613"/>
              <a:stretch>
                <a:fillRect/>
              </a:stretch>
            </p:blipFill>
            <p:spPr>
              <a:xfrm>
                <a:off x="5202841" y="2229480"/>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14" name="图片 13">
                <a:extLst>
                  <a:ext uri="{FF2B5EF4-FFF2-40B4-BE49-F238E27FC236}">
                    <a16:creationId xmlns:a16="http://schemas.microsoft.com/office/drawing/2014/main" id="{00209562-E1D1-402A-BD98-408AEC4C700C}"/>
                  </a:ext>
                </a:extLst>
              </p:cNvPr>
              <p:cNvPicPr>
                <a:picLocks noChangeAspect="1"/>
              </p:cNvPicPr>
              <p:nvPr/>
            </p:nvPicPr>
            <p:blipFill>
              <a:blip r:embed="rId8">
                <a:clrChange>
                  <a:clrFrom>
                    <a:srgbClr val="FFFFFF"/>
                  </a:clrFrom>
                  <a:clrTo>
                    <a:srgbClr val="FFFFFF">
                      <a:alpha val="0"/>
                    </a:srgbClr>
                  </a:clrTo>
                </a:clrChange>
              </a:blip>
              <a:srcRect l="41563" t="45042" r="35938" b="16613"/>
              <a:stretch>
                <a:fillRect/>
              </a:stretch>
            </p:blipFill>
            <p:spPr>
              <a:xfrm>
                <a:off x="4006850" y="2229480"/>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15" name="图片 14">
                <a:extLst>
                  <a:ext uri="{FF2B5EF4-FFF2-40B4-BE49-F238E27FC236}">
                    <a16:creationId xmlns:a16="http://schemas.microsoft.com/office/drawing/2014/main" id="{AF1B2A3B-BDC9-48B8-9179-764BC24F7539}"/>
                  </a:ext>
                </a:extLst>
              </p:cNvPr>
              <p:cNvPicPr>
                <a:picLocks noChangeAspect="1"/>
              </p:cNvPicPr>
              <p:nvPr/>
            </p:nvPicPr>
            <p:blipFill>
              <a:blip r:embed="rId9">
                <a:clrChange>
                  <a:clrFrom>
                    <a:srgbClr val="FFFFFF"/>
                  </a:clrFrom>
                  <a:clrTo>
                    <a:srgbClr val="FFFFFF">
                      <a:alpha val="0"/>
                    </a:srgbClr>
                  </a:clrTo>
                </a:clrChange>
              </a:blip>
              <a:srcRect l="40729" t="44085" r="36771" b="17570"/>
              <a:stretch>
                <a:fillRect/>
              </a:stretch>
            </p:blipFill>
            <p:spPr>
              <a:xfrm>
                <a:off x="6398832" y="4720994"/>
                <a:ext cx="1253977" cy="1200835"/>
              </a:xfrm>
              <a:custGeom>
                <a:avLst/>
                <a:gdLst>
                  <a:gd name="connsiteX0" fmla="*/ 0 w 2743200"/>
                  <a:gd name="connsiteY0" fmla="*/ 0 h 2626948"/>
                  <a:gd name="connsiteX1" fmla="*/ 2743200 w 2743200"/>
                  <a:gd name="connsiteY1" fmla="*/ 0 h 2626948"/>
                  <a:gd name="connsiteX2" fmla="*/ 2743200 w 2743200"/>
                  <a:gd name="connsiteY2" fmla="*/ 2626948 h 2626948"/>
                  <a:gd name="connsiteX3" fmla="*/ 0 w 2743200"/>
                  <a:gd name="connsiteY3" fmla="*/ 2626948 h 2626948"/>
                </a:gdLst>
                <a:ahLst/>
                <a:cxnLst>
                  <a:cxn ang="0">
                    <a:pos x="connsiteX0" y="connsiteY0"/>
                  </a:cxn>
                  <a:cxn ang="0">
                    <a:pos x="connsiteX1" y="connsiteY1"/>
                  </a:cxn>
                  <a:cxn ang="0">
                    <a:pos x="connsiteX2" y="connsiteY2"/>
                  </a:cxn>
                  <a:cxn ang="0">
                    <a:pos x="connsiteX3" y="connsiteY3"/>
                  </a:cxn>
                </a:cxnLst>
                <a:rect l="l" t="t" r="r" b="b"/>
                <a:pathLst>
                  <a:path w="2743200" h="2626948">
                    <a:moveTo>
                      <a:pt x="0" y="0"/>
                    </a:moveTo>
                    <a:lnTo>
                      <a:pt x="2743200" y="0"/>
                    </a:lnTo>
                    <a:lnTo>
                      <a:pt x="2743200" y="2626948"/>
                    </a:lnTo>
                    <a:lnTo>
                      <a:pt x="0" y="2626948"/>
                    </a:lnTo>
                    <a:close/>
                  </a:path>
                </a:pathLst>
              </a:custGeom>
            </p:spPr>
          </p:pic>
          <p:pic>
            <p:nvPicPr>
              <p:cNvPr id="16" name="图片 15">
                <a:extLst>
                  <a:ext uri="{FF2B5EF4-FFF2-40B4-BE49-F238E27FC236}">
                    <a16:creationId xmlns:a16="http://schemas.microsoft.com/office/drawing/2014/main" id="{E7C682FD-5B0A-4BDA-BCB2-A0AB8710371D}"/>
                  </a:ext>
                </a:extLst>
              </p:cNvPr>
              <p:cNvPicPr>
                <a:picLocks noChangeAspect="1"/>
              </p:cNvPicPr>
              <p:nvPr/>
            </p:nvPicPr>
            <p:blipFill>
              <a:blip r:embed="rId10">
                <a:clrChange>
                  <a:clrFrom>
                    <a:srgbClr val="FFFFFF"/>
                  </a:clrFrom>
                  <a:clrTo>
                    <a:srgbClr val="FFFFFF">
                      <a:alpha val="0"/>
                    </a:srgbClr>
                  </a:clrTo>
                </a:clrChange>
              </a:blip>
              <a:srcRect l="39896" t="44085" r="37604" b="17570"/>
              <a:stretch>
                <a:fillRect/>
              </a:stretch>
            </p:blipFill>
            <p:spPr>
              <a:xfrm>
                <a:off x="7594822" y="4720994"/>
                <a:ext cx="1253977" cy="1200835"/>
              </a:xfrm>
              <a:custGeom>
                <a:avLst/>
                <a:gdLst>
                  <a:gd name="connsiteX0" fmla="*/ 0 w 2743200"/>
                  <a:gd name="connsiteY0" fmla="*/ 0 h 2626948"/>
                  <a:gd name="connsiteX1" fmla="*/ 2743200 w 2743200"/>
                  <a:gd name="connsiteY1" fmla="*/ 0 h 2626948"/>
                  <a:gd name="connsiteX2" fmla="*/ 2743200 w 2743200"/>
                  <a:gd name="connsiteY2" fmla="*/ 2626948 h 2626948"/>
                  <a:gd name="connsiteX3" fmla="*/ 0 w 2743200"/>
                  <a:gd name="connsiteY3" fmla="*/ 2626948 h 2626948"/>
                </a:gdLst>
                <a:ahLst/>
                <a:cxnLst>
                  <a:cxn ang="0">
                    <a:pos x="connsiteX0" y="connsiteY0"/>
                  </a:cxn>
                  <a:cxn ang="0">
                    <a:pos x="connsiteX1" y="connsiteY1"/>
                  </a:cxn>
                  <a:cxn ang="0">
                    <a:pos x="connsiteX2" y="connsiteY2"/>
                  </a:cxn>
                  <a:cxn ang="0">
                    <a:pos x="connsiteX3" y="connsiteY3"/>
                  </a:cxn>
                </a:cxnLst>
                <a:rect l="l" t="t" r="r" b="b"/>
                <a:pathLst>
                  <a:path w="2743200" h="2626948">
                    <a:moveTo>
                      <a:pt x="0" y="0"/>
                    </a:moveTo>
                    <a:lnTo>
                      <a:pt x="2743200" y="0"/>
                    </a:lnTo>
                    <a:lnTo>
                      <a:pt x="2743200" y="2626948"/>
                    </a:lnTo>
                    <a:lnTo>
                      <a:pt x="0" y="2626948"/>
                    </a:lnTo>
                    <a:close/>
                  </a:path>
                </a:pathLst>
              </a:custGeom>
            </p:spPr>
          </p:pic>
          <p:pic>
            <p:nvPicPr>
              <p:cNvPr id="17" name="图片 16">
                <a:extLst>
                  <a:ext uri="{FF2B5EF4-FFF2-40B4-BE49-F238E27FC236}">
                    <a16:creationId xmlns:a16="http://schemas.microsoft.com/office/drawing/2014/main" id="{F16C4A4D-C571-4B84-9771-CA99F7FBC116}"/>
                  </a:ext>
                </a:extLst>
              </p:cNvPr>
              <p:cNvPicPr>
                <a:picLocks noChangeAspect="1"/>
              </p:cNvPicPr>
              <p:nvPr/>
            </p:nvPicPr>
            <p:blipFill>
              <a:blip r:embed="rId11">
                <a:clrChange>
                  <a:clrFrom>
                    <a:srgbClr val="FFFFFF"/>
                  </a:clrFrom>
                  <a:clrTo>
                    <a:srgbClr val="FFFFFF">
                      <a:alpha val="0"/>
                    </a:srgbClr>
                  </a:clrTo>
                </a:clrChange>
              </a:blip>
              <a:srcRect l="39896" t="44085" r="37604" b="17570"/>
              <a:stretch>
                <a:fillRect/>
              </a:stretch>
            </p:blipFill>
            <p:spPr>
              <a:xfrm>
                <a:off x="8790813" y="4720994"/>
                <a:ext cx="1253977" cy="1200835"/>
              </a:xfrm>
              <a:custGeom>
                <a:avLst/>
                <a:gdLst>
                  <a:gd name="connsiteX0" fmla="*/ 0 w 2743200"/>
                  <a:gd name="connsiteY0" fmla="*/ 0 h 2626948"/>
                  <a:gd name="connsiteX1" fmla="*/ 2743200 w 2743200"/>
                  <a:gd name="connsiteY1" fmla="*/ 0 h 2626948"/>
                  <a:gd name="connsiteX2" fmla="*/ 2743200 w 2743200"/>
                  <a:gd name="connsiteY2" fmla="*/ 2626948 h 2626948"/>
                  <a:gd name="connsiteX3" fmla="*/ 0 w 2743200"/>
                  <a:gd name="connsiteY3" fmla="*/ 2626948 h 2626948"/>
                </a:gdLst>
                <a:ahLst/>
                <a:cxnLst>
                  <a:cxn ang="0">
                    <a:pos x="connsiteX0" y="connsiteY0"/>
                  </a:cxn>
                  <a:cxn ang="0">
                    <a:pos x="connsiteX1" y="connsiteY1"/>
                  </a:cxn>
                  <a:cxn ang="0">
                    <a:pos x="connsiteX2" y="connsiteY2"/>
                  </a:cxn>
                  <a:cxn ang="0">
                    <a:pos x="connsiteX3" y="connsiteY3"/>
                  </a:cxn>
                </a:cxnLst>
                <a:rect l="l" t="t" r="r" b="b"/>
                <a:pathLst>
                  <a:path w="2743200" h="2626948">
                    <a:moveTo>
                      <a:pt x="0" y="0"/>
                    </a:moveTo>
                    <a:lnTo>
                      <a:pt x="2743200" y="0"/>
                    </a:lnTo>
                    <a:lnTo>
                      <a:pt x="2743200" y="2626948"/>
                    </a:lnTo>
                    <a:lnTo>
                      <a:pt x="0" y="2626948"/>
                    </a:lnTo>
                    <a:close/>
                  </a:path>
                </a:pathLst>
              </a:custGeom>
            </p:spPr>
          </p:pic>
          <p:pic>
            <p:nvPicPr>
              <p:cNvPr id="18" name="图片 17">
                <a:extLst>
                  <a:ext uri="{FF2B5EF4-FFF2-40B4-BE49-F238E27FC236}">
                    <a16:creationId xmlns:a16="http://schemas.microsoft.com/office/drawing/2014/main" id="{C3B5D37C-61B3-4E97-88F1-CD269BD65C48}"/>
                  </a:ext>
                </a:extLst>
              </p:cNvPr>
              <p:cNvPicPr>
                <a:picLocks noChangeAspect="1"/>
              </p:cNvPicPr>
              <p:nvPr/>
            </p:nvPicPr>
            <p:blipFill>
              <a:blip r:embed="rId12">
                <a:clrChange>
                  <a:clrFrom>
                    <a:srgbClr val="FFFFFF"/>
                  </a:clrFrom>
                  <a:clrTo>
                    <a:srgbClr val="FFFFFF">
                      <a:alpha val="0"/>
                    </a:srgbClr>
                  </a:clrTo>
                </a:clrChange>
              </a:blip>
              <a:srcRect l="41563" t="44085" r="35938" b="17570"/>
              <a:stretch>
                <a:fillRect/>
              </a:stretch>
            </p:blipFill>
            <p:spPr>
              <a:xfrm>
                <a:off x="5202841" y="4720994"/>
                <a:ext cx="1253977" cy="1200835"/>
              </a:xfrm>
              <a:custGeom>
                <a:avLst/>
                <a:gdLst>
                  <a:gd name="connsiteX0" fmla="*/ 0 w 2743200"/>
                  <a:gd name="connsiteY0" fmla="*/ 0 h 2626948"/>
                  <a:gd name="connsiteX1" fmla="*/ 2743200 w 2743200"/>
                  <a:gd name="connsiteY1" fmla="*/ 0 h 2626948"/>
                  <a:gd name="connsiteX2" fmla="*/ 2743200 w 2743200"/>
                  <a:gd name="connsiteY2" fmla="*/ 2626948 h 2626948"/>
                  <a:gd name="connsiteX3" fmla="*/ 0 w 2743200"/>
                  <a:gd name="connsiteY3" fmla="*/ 2626948 h 2626948"/>
                </a:gdLst>
                <a:ahLst/>
                <a:cxnLst>
                  <a:cxn ang="0">
                    <a:pos x="connsiteX0" y="connsiteY0"/>
                  </a:cxn>
                  <a:cxn ang="0">
                    <a:pos x="connsiteX1" y="connsiteY1"/>
                  </a:cxn>
                  <a:cxn ang="0">
                    <a:pos x="connsiteX2" y="connsiteY2"/>
                  </a:cxn>
                  <a:cxn ang="0">
                    <a:pos x="connsiteX3" y="connsiteY3"/>
                  </a:cxn>
                </a:cxnLst>
                <a:rect l="l" t="t" r="r" b="b"/>
                <a:pathLst>
                  <a:path w="2743200" h="2626948">
                    <a:moveTo>
                      <a:pt x="0" y="0"/>
                    </a:moveTo>
                    <a:lnTo>
                      <a:pt x="2743200" y="0"/>
                    </a:lnTo>
                    <a:lnTo>
                      <a:pt x="2743200" y="2626948"/>
                    </a:lnTo>
                    <a:lnTo>
                      <a:pt x="0" y="2626948"/>
                    </a:lnTo>
                    <a:close/>
                  </a:path>
                </a:pathLst>
              </a:custGeom>
            </p:spPr>
          </p:pic>
          <p:pic>
            <p:nvPicPr>
              <p:cNvPr id="19" name="图片 18">
                <a:extLst>
                  <a:ext uri="{FF2B5EF4-FFF2-40B4-BE49-F238E27FC236}">
                    <a16:creationId xmlns:a16="http://schemas.microsoft.com/office/drawing/2014/main" id="{866EC196-0A04-4965-8DE0-C0AB49D85547}"/>
                  </a:ext>
                </a:extLst>
              </p:cNvPr>
              <p:cNvPicPr>
                <a:picLocks noChangeAspect="1"/>
              </p:cNvPicPr>
              <p:nvPr/>
            </p:nvPicPr>
            <p:blipFill>
              <a:blip r:embed="rId13">
                <a:clrChange>
                  <a:clrFrom>
                    <a:srgbClr val="FFFFFF"/>
                  </a:clrFrom>
                  <a:clrTo>
                    <a:srgbClr val="FFFFFF">
                      <a:alpha val="0"/>
                    </a:srgbClr>
                  </a:clrTo>
                </a:clrChange>
              </a:blip>
              <a:srcRect l="41563" t="44085" r="35938" b="17570"/>
              <a:stretch>
                <a:fillRect/>
              </a:stretch>
            </p:blipFill>
            <p:spPr>
              <a:xfrm>
                <a:off x="4006850" y="4720994"/>
                <a:ext cx="1253977" cy="1200835"/>
              </a:xfrm>
              <a:custGeom>
                <a:avLst/>
                <a:gdLst>
                  <a:gd name="connsiteX0" fmla="*/ 0 w 2743200"/>
                  <a:gd name="connsiteY0" fmla="*/ 0 h 2626948"/>
                  <a:gd name="connsiteX1" fmla="*/ 2743200 w 2743200"/>
                  <a:gd name="connsiteY1" fmla="*/ 0 h 2626948"/>
                  <a:gd name="connsiteX2" fmla="*/ 2743200 w 2743200"/>
                  <a:gd name="connsiteY2" fmla="*/ 2626948 h 2626948"/>
                  <a:gd name="connsiteX3" fmla="*/ 0 w 2743200"/>
                  <a:gd name="connsiteY3" fmla="*/ 2626948 h 2626948"/>
                </a:gdLst>
                <a:ahLst/>
                <a:cxnLst>
                  <a:cxn ang="0">
                    <a:pos x="connsiteX0" y="connsiteY0"/>
                  </a:cxn>
                  <a:cxn ang="0">
                    <a:pos x="connsiteX1" y="connsiteY1"/>
                  </a:cxn>
                  <a:cxn ang="0">
                    <a:pos x="connsiteX2" y="connsiteY2"/>
                  </a:cxn>
                  <a:cxn ang="0">
                    <a:pos x="connsiteX3" y="connsiteY3"/>
                  </a:cxn>
                </a:cxnLst>
                <a:rect l="l" t="t" r="r" b="b"/>
                <a:pathLst>
                  <a:path w="2743200" h="2626948">
                    <a:moveTo>
                      <a:pt x="0" y="0"/>
                    </a:moveTo>
                    <a:lnTo>
                      <a:pt x="2743200" y="0"/>
                    </a:lnTo>
                    <a:lnTo>
                      <a:pt x="2743200" y="2626948"/>
                    </a:lnTo>
                    <a:lnTo>
                      <a:pt x="0" y="2626948"/>
                    </a:lnTo>
                    <a:close/>
                  </a:path>
                </a:pathLst>
              </a:custGeom>
            </p:spPr>
          </p:pic>
          <p:pic>
            <p:nvPicPr>
              <p:cNvPr id="20" name="图片 19">
                <a:extLst>
                  <a:ext uri="{FF2B5EF4-FFF2-40B4-BE49-F238E27FC236}">
                    <a16:creationId xmlns:a16="http://schemas.microsoft.com/office/drawing/2014/main" id="{FE64C96E-CBB3-44C2-916E-4499DA382B86}"/>
                  </a:ext>
                </a:extLst>
              </p:cNvPr>
              <p:cNvPicPr>
                <a:picLocks noChangeAspect="1"/>
              </p:cNvPicPr>
              <p:nvPr/>
            </p:nvPicPr>
            <p:blipFill>
              <a:blip r:embed="rId14">
                <a:clrChange>
                  <a:clrFrom>
                    <a:srgbClr val="FFFFFF"/>
                  </a:clrFrom>
                  <a:clrTo>
                    <a:srgbClr val="FFFFFF">
                      <a:alpha val="0"/>
                    </a:srgbClr>
                  </a:clrTo>
                </a:clrChange>
              </a:blip>
              <a:srcRect l="40729" t="44564" r="36771" b="17091"/>
              <a:stretch>
                <a:fillRect/>
              </a:stretch>
            </p:blipFill>
            <p:spPr>
              <a:xfrm>
                <a:off x="6398832" y="3475237"/>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1" name="图片 20">
                <a:extLst>
                  <a:ext uri="{FF2B5EF4-FFF2-40B4-BE49-F238E27FC236}">
                    <a16:creationId xmlns:a16="http://schemas.microsoft.com/office/drawing/2014/main" id="{9F9AD5CD-8921-4B77-90D4-06EFBD59C0EC}"/>
                  </a:ext>
                </a:extLst>
              </p:cNvPr>
              <p:cNvPicPr>
                <a:picLocks noChangeAspect="1"/>
              </p:cNvPicPr>
              <p:nvPr/>
            </p:nvPicPr>
            <p:blipFill>
              <a:blip r:embed="rId15">
                <a:clrChange>
                  <a:clrFrom>
                    <a:srgbClr val="FFFFFF"/>
                  </a:clrFrom>
                  <a:clrTo>
                    <a:srgbClr val="FFFFFF">
                      <a:alpha val="0"/>
                    </a:srgbClr>
                  </a:clrTo>
                </a:clrChange>
              </a:blip>
              <a:srcRect l="39896" t="44564" r="37604" b="17091"/>
              <a:stretch>
                <a:fillRect/>
              </a:stretch>
            </p:blipFill>
            <p:spPr>
              <a:xfrm>
                <a:off x="7594822" y="3475237"/>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2" name="图片 21">
                <a:extLst>
                  <a:ext uri="{FF2B5EF4-FFF2-40B4-BE49-F238E27FC236}">
                    <a16:creationId xmlns:a16="http://schemas.microsoft.com/office/drawing/2014/main" id="{EA8D69E7-D774-450C-8564-A326335BC424}"/>
                  </a:ext>
                </a:extLst>
              </p:cNvPr>
              <p:cNvPicPr>
                <a:picLocks noChangeAspect="1"/>
              </p:cNvPicPr>
              <p:nvPr/>
            </p:nvPicPr>
            <p:blipFill>
              <a:blip r:embed="rId16">
                <a:clrChange>
                  <a:clrFrom>
                    <a:srgbClr val="FFFFFF"/>
                  </a:clrFrom>
                  <a:clrTo>
                    <a:srgbClr val="FFFFFF">
                      <a:alpha val="0"/>
                    </a:srgbClr>
                  </a:clrTo>
                </a:clrChange>
              </a:blip>
              <a:srcRect l="39896" t="44564" r="37604" b="17091"/>
              <a:stretch>
                <a:fillRect/>
              </a:stretch>
            </p:blipFill>
            <p:spPr>
              <a:xfrm>
                <a:off x="8790813" y="3475237"/>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3" name="图片 22">
                <a:extLst>
                  <a:ext uri="{FF2B5EF4-FFF2-40B4-BE49-F238E27FC236}">
                    <a16:creationId xmlns:a16="http://schemas.microsoft.com/office/drawing/2014/main" id="{F328E052-5AC8-4F8C-AD87-097C64C12F55}"/>
                  </a:ext>
                </a:extLst>
              </p:cNvPr>
              <p:cNvPicPr>
                <a:picLocks noChangeAspect="1"/>
              </p:cNvPicPr>
              <p:nvPr/>
            </p:nvPicPr>
            <p:blipFill>
              <a:blip r:embed="rId17">
                <a:clrChange>
                  <a:clrFrom>
                    <a:srgbClr val="FFFFFF"/>
                  </a:clrFrom>
                  <a:clrTo>
                    <a:srgbClr val="FFFFFF">
                      <a:alpha val="0"/>
                    </a:srgbClr>
                  </a:clrTo>
                </a:clrChange>
              </a:blip>
              <a:srcRect l="41563" t="44564" r="35938" b="17091"/>
              <a:stretch>
                <a:fillRect/>
              </a:stretch>
            </p:blipFill>
            <p:spPr>
              <a:xfrm>
                <a:off x="5202841" y="3475237"/>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4" name="图片 23">
                <a:extLst>
                  <a:ext uri="{FF2B5EF4-FFF2-40B4-BE49-F238E27FC236}">
                    <a16:creationId xmlns:a16="http://schemas.microsoft.com/office/drawing/2014/main" id="{359B7BB2-FD9D-4EBD-8462-90726873DEF5}"/>
                  </a:ext>
                </a:extLst>
              </p:cNvPr>
              <p:cNvPicPr>
                <a:picLocks noChangeAspect="1"/>
              </p:cNvPicPr>
              <p:nvPr/>
            </p:nvPicPr>
            <p:blipFill>
              <a:blip r:embed="rId18">
                <a:clrChange>
                  <a:clrFrom>
                    <a:srgbClr val="FFFFFF"/>
                  </a:clrFrom>
                  <a:clrTo>
                    <a:srgbClr val="FFFFFF">
                      <a:alpha val="0"/>
                    </a:srgbClr>
                  </a:clrTo>
                </a:clrChange>
              </a:blip>
              <a:srcRect l="41563" t="44564" r="35938" b="17091"/>
              <a:stretch>
                <a:fillRect/>
              </a:stretch>
            </p:blipFill>
            <p:spPr>
              <a:xfrm>
                <a:off x="4006850" y="3475237"/>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5" name="图片 24">
                <a:extLst>
                  <a:ext uri="{FF2B5EF4-FFF2-40B4-BE49-F238E27FC236}">
                    <a16:creationId xmlns:a16="http://schemas.microsoft.com/office/drawing/2014/main" id="{4621E45A-830D-4E83-878F-FFEF0C27F64B}"/>
                  </a:ext>
                </a:extLst>
              </p:cNvPr>
              <p:cNvPicPr>
                <a:picLocks noChangeAspect="1"/>
              </p:cNvPicPr>
              <p:nvPr/>
            </p:nvPicPr>
            <p:blipFill>
              <a:blip r:embed="rId19">
                <a:clrChange>
                  <a:clrFrom>
                    <a:srgbClr val="FFFFFF"/>
                  </a:clrFrom>
                  <a:clrTo>
                    <a:srgbClr val="FFFFFF">
                      <a:alpha val="0"/>
                    </a:srgbClr>
                  </a:clrTo>
                </a:clrChange>
              </a:blip>
              <a:srcRect l="40729" t="45521" r="36771" b="16135"/>
              <a:stretch>
                <a:fillRect/>
              </a:stretch>
            </p:blipFill>
            <p:spPr>
              <a:xfrm>
                <a:off x="6398832" y="983723"/>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6" name="图片 25">
                <a:extLst>
                  <a:ext uri="{FF2B5EF4-FFF2-40B4-BE49-F238E27FC236}">
                    <a16:creationId xmlns:a16="http://schemas.microsoft.com/office/drawing/2014/main" id="{CB6771DE-8462-4190-8F99-5F1EC78B772F}"/>
                  </a:ext>
                </a:extLst>
              </p:cNvPr>
              <p:cNvPicPr>
                <a:picLocks noChangeAspect="1"/>
              </p:cNvPicPr>
              <p:nvPr/>
            </p:nvPicPr>
            <p:blipFill>
              <a:blip r:embed="rId20">
                <a:clrChange>
                  <a:clrFrom>
                    <a:srgbClr val="FFFFFF"/>
                  </a:clrFrom>
                  <a:clrTo>
                    <a:srgbClr val="FFFFFF">
                      <a:alpha val="0"/>
                    </a:srgbClr>
                  </a:clrTo>
                </a:clrChange>
              </a:blip>
              <a:srcRect l="39896" t="45521" r="37604" b="16135"/>
              <a:stretch>
                <a:fillRect/>
              </a:stretch>
            </p:blipFill>
            <p:spPr>
              <a:xfrm>
                <a:off x="7594822" y="983723"/>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7" name="图片 26">
                <a:extLst>
                  <a:ext uri="{FF2B5EF4-FFF2-40B4-BE49-F238E27FC236}">
                    <a16:creationId xmlns:a16="http://schemas.microsoft.com/office/drawing/2014/main" id="{3E83E545-416D-407A-93C7-ADC9A36B5960}"/>
                  </a:ext>
                </a:extLst>
              </p:cNvPr>
              <p:cNvPicPr>
                <a:picLocks noChangeAspect="1"/>
              </p:cNvPicPr>
              <p:nvPr/>
            </p:nvPicPr>
            <p:blipFill>
              <a:blip r:embed="rId21">
                <a:clrChange>
                  <a:clrFrom>
                    <a:srgbClr val="FFFFFF"/>
                  </a:clrFrom>
                  <a:clrTo>
                    <a:srgbClr val="FFFFFF">
                      <a:alpha val="0"/>
                    </a:srgbClr>
                  </a:clrTo>
                </a:clrChange>
              </a:blip>
              <a:srcRect l="39896" t="45521" r="37604" b="16135"/>
              <a:stretch>
                <a:fillRect/>
              </a:stretch>
            </p:blipFill>
            <p:spPr>
              <a:xfrm>
                <a:off x="8790813" y="983723"/>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8" name="图片 27">
                <a:extLst>
                  <a:ext uri="{FF2B5EF4-FFF2-40B4-BE49-F238E27FC236}">
                    <a16:creationId xmlns:a16="http://schemas.microsoft.com/office/drawing/2014/main" id="{01340943-11C2-435F-9C4B-B4A58FC99DCF}"/>
                  </a:ext>
                </a:extLst>
              </p:cNvPr>
              <p:cNvPicPr>
                <a:picLocks noChangeAspect="1"/>
              </p:cNvPicPr>
              <p:nvPr/>
            </p:nvPicPr>
            <p:blipFill>
              <a:blip r:embed="rId22">
                <a:clrChange>
                  <a:clrFrom>
                    <a:srgbClr val="FFFFFF"/>
                  </a:clrFrom>
                  <a:clrTo>
                    <a:srgbClr val="FFFFFF">
                      <a:alpha val="0"/>
                    </a:srgbClr>
                  </a:clrTo>
                </a:clrChange>
              </a:blip>
              <a:srcRect l="41563" t="45521" r="35938" b="16135"/>
              <a:stretch>
                <a:fillRect/>
              </a:stretch>
            </p:blipFill>
            <p:spPr>
              <a:xfrm>
                <a:off x="5202841" y="983723"/>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29" name="图片 28">
                <a:extLst>
                  <a:ext uri="{FF2B5EF4-FFF2-40B4-BE49-F238E27FC236}">
                    <a16:creationId xmlns:a16="http://schemas.microsoft.com/office/drawing/2014/main" id="{8F86EF3F-DF3A-44E9-8A80-4742CC3055B5}"/>
                  </a:ext>
                </a:extLst>
              </p:cNvPr>
              <p:cNvPicPr>
                <a:picLocks noChangeAspect="1"/>
              </p:cNvPicPr>
              <p:nvPr/>
            </p:nvPicPr>
            <p:blipFill>
              <a:blip r:embed="rId23">
                <a:clrChange>
                  <a:clrFrom>
                    <a:srgbClr val="FFFFFF"/>
                  </a:clrFrom>
                  <a:clrTo>
                    <a:srgbClr val="FFFFFF">
                      <a:alpha val="0"/>
                    </a:srgbClr>
                  </a:clrTo>
                </a:clrChange>
              </a:blip>
              <a:srcRect l="41563" t="45521" r="35938" b="16135"/>
              <a:stretch>
                <a:fillRect/>
              </a:stretch>
            </p:blipFill>
            <p:spPr>
              <a:xfrm>
                <a:off x="4006850" y="983723"/>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30" name="图片 29">
                <a:extLst>
                  <a:ext uri="{FF2B5EF4-FFF2-40B4-BE49-F238E27FC236}">
                    <a16:creationId xmlns:a16="http://schemas.microsoft.com/office/drawing/2014/main" id="{5419FAD2-C732-4B22-9003-F1EBE4513144}"/>
                  </a:ext>
                </a:extLst>
              </p:cNvPr>
              <p:cNvPicPr>
                <a:picLocks noChangeAspect="1"/>
              </p:cNvPicPr>
              <p:nvPr/>
            </p:nvPicPr>
            <p:blipFill>
              <a:blip r:embed="rId24">
                <a:clrChange>
                  <a:clrFrom>
                    <a:srgbClr val="FFFFFF"/>
                  </a:clrFrom>
                  <a:clrTo>
                    <a:srgbClr val="FFFFFF">
                      <a:alpha val="0"/>
                    </a:srgbClr>
                  </a:clrTo>
                </a:clrChange>
              </a:blip>
              <a:srcRect l="40729" t="45999" r="36771" b="15656"/>
              <a:stretch>
                <a:fillRect/>
              </a:stretch>
            </p:blipFill>
            <p:spPr>
              <a:xfrm>
                <a:off x="6398832" y="-262034"/>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31" name="图片 30">
                <a:extLst>
                  <a:ext uri="{FF2B5EF4-FFF2-40B4-BE49-F238E27FC236}">
                    <a16:creationId xmlns:a16="http://schemas.microsoft.com/office/drawing/2014/main" id="{8601B5B8-F45E-46DC-B53B-C3066D07B737}"/>
                  </a:ext>
                </a:extLst>
              </p:cNvPr>
              <p:cNvPicPr>
                <a:picLocks noChangeAspect="1"/>
              </p:cNvPicPr>
              <p:nvPr/>
            </p:nvPicPr>
            <p:blipFill>
              <a:blip r:embed="rId25">
                <a:clrChange>
                  <a:clrFrom>
                    <a:srgbClr val="FFFFFF"/>
                  </a:clrFrom>
                  <a:clrTo>
                    <a:srgbClr val="FFFFFF">
                      <a:alpha val="0"/>
                    </a:srgbClr>
                  </a:clrTo>
                </a:clrChange>
              </a:blip>
              <a:srcRect l="39896" t="45999" r="37604" b="15656"/>
              <a:stretch>
                <a:fillRect/>
              </a:stretch>
            </p:blipFill>
            <p:spPr>
              <a:xfrm>
                <a:off x="7594822" y="-262034"/>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32" name="图片 31">
                <a:extLst>
                  <a:ext uri="{FF2B5EF4-FFF2-40B4-BE49-F238E27FC236}">
                    <a16:creationId xmlns:a16="http://schemas.microsoft.com/office/drawing/2014/main" id="{04D19B5C-5853-4D82-AFB1-9CBB01EB2F41}"/>
                  </a:ext>
                </a:extLst>
              </p:cNvPr>
              <p:cNvPicPr>
                <a:picLocks noChangeAspect="1"/>
              </p:cNvPicPr>
              <p:nvPr/>
            </p:nvPicPr>
            <p:blipFill>
              <a:blip r:embed="rId26">
                <a:clrChange>
                  <a:clrFrom>
                    <a:srgbClr val="FFFFFF"/>
                  </a:clrFrom>
                  <a:clrTo>
                    <a:srgbClr val="FFFFFF">
                      <a:alpha val="0"/>
                    </a:srgbClr>
                  </a:clrTo>
                </a:clrChange>
              </a:blip>
              <a:srcRect l="39896" t="45999" r="37604" b="15656"/>
              <a:stretch>
                <a:fillRect/>
              </a:stretch>
            </p:blipFill>
            <p:spPr>
              <a:xfrm>
                <a:off x="8790813" y="-262034"/>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33" name="图片 32">
                <a:extLst>
                  <a:ext uri="{FF2B5EF4-FFF2-40B4-BE49-F238E27FC236}">
                    <a16:creationId xmlns:a16="http://schemas.microsoft.com/office/drawing/2014/main" id="{7D38DA0A-4A9A-4A97-A284-1806D6CDB142}"/>
                  </a:ext>
                </a:extLst>
              </p:cNvPr>
              <p:cNvPicPr>
                <a:picLocks noChangeAspect="1"/>
              </p:cNvPicPr>
              <p:nvPr/>
            </p:nvPicPr>
            <p:blipFill>
              <a:blip r:embed="rId27">
                <a:clrChange>
                  <a:clrFrom>
                    <a:srgbClr val="FFFFFF"/>
                  </a:clrFrom>
                  <a:clrTo>
                    <a:srgbClr val="FFFFFF">
                      <a:alpha val="0"/>
                    </a:srgbClr>
                  </a:clrTo>
                </a:clrChange>
              </a:blip>
              <a:srcRect l="41563" t="45999" r="35938" b="15656"/>
              <a:stretch>
                <a:fillRect/>
              </a:stretch>
            </p:blipFill>
            <p:spPr>
              <a:xfrm>
                <a:off x="5202841" y="-262034"/>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pic>
            <p:nvPicPr>
              <p:cNvPr id="34" name="图片 33">
                <a:extLst>
                  <a:ext uri="{FF2B5EF4-FFF2-40B4-BE49-F238E27FC236}">
                    <a16:creationId xmlns:a16="http://schemas.microsoft.com/office/drawing/2014/main" id="{5AB4285D-5764-4D79-B564-FA15D8DA4352}"/>
                  </a:ext>
                </a:extLst>
              </p:cNvPr>
              <p:cNvPicPr>
                <a:picLocks noChangeAspect="1"/>
              </p:cNvPicPr>
              <p:nvPr/>
            </p:nvPicPr>
            <p:blipFill>
              <a:blip r:embed="rId28">
                <a:clrChange>
                  <a:clrFrom>
                    <a:srgbClr val="FFFFFF"/>
                  </a:clrFrom>
                  <a:clrTo>
                    <a:srgbClr val="FFFFFF">
                      <a:alpha val="0"/>
                    </a:srgbClr>
                  </a:clrTo>
                </a:clrChange>
              </a:blip>
              <a:srcRect l="41563" t="45999" r="35938" b="15656"/>
              <a:stretch>
                <a:fillRect/>
              </a:stretch>
            </p:blipFill>
            <p:spPr>
              <a:xfrm>
                <a:off x="4006850" y="-262034"/>
                <a:ext cx="1253977" cy="1200835"/>
              </a:xfrm>
              <a:custGeom>
                <a:avLst/>
                <a:gdLst>
                  <a:gd name="connsiteX0" fmla="*/ 0 w 2743200"/>
                  <a:gd name="connsiteY0" fmla="*/ 0 h 2626949"/>
                  <a:gd name="connsiteX1" fmla="*/ 2743200 w 2743200"/>
                  <a:gd name="connsiteY1" fmla="*/ 0 h 2626949"/>
                  <a:gd name="connsiteX2" fmla="*/ 2743200 w 2743200"/>
                  <a:gd name="connsiteY2" fmla="*/ 2626949 h 2626949"/>
                  <a:gd name="connsiteX3" fmla="*/ 0 w 2743200"/>
                  <a:gd name="connsiteY3" fmla="*/ 2626949 h 2626949"/>
                </a:gdLst>
                <a:ahLst/>
                <a:cxnLst>
                  <a:cxn ang="0">
                    <a:pos x="connsiteX0" y="connsiteY0"/>
                  </a:cxn>
                  <a:cxn ang="0">
                    <a:pos x="connsiteX1" y="connsiteY1"/>
                  </a:cxn>
                  <a:cxn ang="0">
                    <a:pos x="connsiteX2" y="connsiteY2"/>
                  </a:cxn>
                  <a:cxn ang="0">
                    <a:pos x="connsiteX3" y="connsiteY3"/>
                  </a:cxn>
                </a:cxnLst>
                <a:rect l="l" t="t" r="r" b="b"/>
                <a:pathLst>
                  <a:path w="2743200" h="2626949">
                    <a:moveTo>
                      <a:pt x="0" y="0"/>
                    </a:moveTo>
                    <a:lnTo>
                      <a:pt x="2743200" y="0"/>
                    </a:lnTo>
                    <a:lnTo>
                      <a:pt x="2743200" y="2626949"/>
                    </a:lnTo>
                    <a:lnTo>
                      <a:pt x="0" y="2626949"/>
                    </a:lnTo>
                    <a:close/>
                  </a:path>
                </a:pathLst>
              </a:custGeom>
            </p:spPr>
          </p:pic>
        </p:grpSp>
      </p:grpSp>
      <p:sp>
        <p:nvSpPr>
          <p:cNvPr id="7" name="灯片编号占位符 5">
            <a:extLst>
              <a:ext uri="{FF2B5EF4-FFF2-40B4-BE49-F238E27FC236}">
                <a16:creationId xmlns:a16="http://schemas.microsoft.com/office/drawing/2014/main" id="{3DDE54A5-05F3-F548-6F95-B63A6B999D94}"/>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12</a:t>
            </a:fld>
            <a:endParaRPr lang="zh-CN" altLang="en-US"/>
          </a:p>
        </p:txBody>
      </p:sp>
      <p:sp>
        <p:nvSpPr>
          <p:cNvPr id="6" name="矩形 46">
            <a:extLst>
              <a:ext uri="{FF2B5EF4-FFF2-40B4-BE49-F238E27FC236}">
                <a16:creationId xmlns:a16="http://schemas.microsoft.com/office/drawing/2014/main" id="{4DB44E74-6B94-4F4B-8A63-36FCA7954817}"/>
              </a:ext>
            </a:extLst>
          </p:cNvPr>
          <p:cNvSpPr>
            <a:spLocks noChangeArrowheads="1"/>
          </p:cNvSpPr>
          <p:nvPr/>
        </p:nvSpPr>
        <p:spPr bwMode="auto">
          <a:xfrm>
            <a:off x="634918" y="237124"/>
            <a:ext cx="4274562"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zh-CN" b="1" dirty="0">
                <a:solidFill>
                  <a:srgbClr val="000099"/>
                </a:solidFill>
              </a:rPr>
              <a:t>3</a:t>
            </a: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.1 </a:t>
            </a:r>
            <a:r>
              <a:rPr lang="zh-CN" altLang="en-US" b="1" dirty="0">
                <a:solidFill>
                  <a:srgbClr val="000099"/>
                </a:solidFill>
              </a:rPr>
              <a:t>人手姿态数据分析</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8" name="等腰三角形 47">
            <a:extLst>
              <a:ext uri="{FF2B5EF4-FFF2-40B4-BE49-F238E27FC236}">
                <a16:creationId xmlns:a16="http://schemas.microsoft.com/office/drawing/2014/main" id="{B30A2D93-61EF-4B5F-B18D-F76B30294E2B}"/>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6" name="图片 35">
            <a:extLst>
              <a:ext uri="{FF2B5EF4-FFF2-40B4-BE49-F238E27FC236}">
                <a16:creationId xmlns:a16="http://schemas.microsoft.com/office/drawing/2014/main" id="{C6BCDF1B-983C-4FC2-B9C1-23E25F2DCBB7}"/>
              </a:ext>
            </a:extLst>
          </p:cNvPr>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108715" y="4249948"/>
            <a:ext cx="4539672" cy="2257024"/>
          </a:xfrm>
          <a:prstGeom prst="rect">
            <a:avLst/>
          </a:prstGeom>
          <a:noFill/>
          <a:ln>
            <a:noFill/>
          </a:ln>
        </p:spPr>
      </p:pic>
      <p:pic>
        <p:nvPicPr>
          <p:cNvPr id="3" name="Picture 26">
            <a:extLst>
              <a:ext uri="{FF2B5EF4-FFF2-40B4-BE49-F238E27FC236}">
                <a16:creationId xmlns:a16="http://schemas.microsoft.com/office/drawing/2014/main" id="{72E9D3FE-8FDB-EC94-28B0-87F9251D170A}"/>
              </a:ext>
            </a:extLst>
          </p:cNvPr>
          <p:cNvPicPr/>
          <p:nvPr/>
        </p:nvPicPr>
        <p:blipFill>
          <a:blip r:embed="rId30"/>
          <a:srcRect l="49739"/>
          <a:stretch>
            <a:fillRect/>
          </a:stretch>
        </p:blipFill>
        <p:spPr>
          <a:xfrm>
            <a:off x="241270" y="950230"/>
            <a:ext cx="4274562" cy="3202163"/>
          </a:xfrm>
          <a:prstGeom prst="rect">
            <a:avLst/>
          </a:prstGeom>
        </p:spPr>
      </p:pic>
      <p:sp>
        <p:nvSpPr>
          <p:cNvPr id="4" name="矩形 3">
            <a:extLst>
              <a:ext uri="{FF2B5EF4-FFF2-40B4-BE49-F238E27FC236}">
                <a16:creationId xmlns:a16="http://schemas.microsoft.com/office/drawing/2014/main" id="{2546D44F-B72E-9564-CFEC-26B3CD321140}"/>
              </a:ext>
            </a:extLst>
          </p:cNvPr>
          <p:cNvSpPr/>
          <p:nvPr/>
        </p:nvSpPr>
        <p:spPr>
          <a:xfrm>
            <a:off x="1201825" y="2503983"/>
            <a:ext cx="1226407" cy="379489"/>
          </a:xfrm>
          <a:prstGeom prst="rect">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6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87.9%</a:t>
            </a:r>
            <a:endParaRPr lang="zh-CN" altLang="en-US" sz="160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72202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A342-090A-20D8-6BC6-9C583AF3E673}"/>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D466395-E0B8-1197-BC12-9FF00969F8D8}"/>
              </a:ext>
            </a:extLst>
          </p:cNvPr>
          <p:cNvSpPr>
            <a:spLocks noGrp="1"/>
          </p:cNvSpP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EBDCA-0AED-4A89-A21A-899EB9F7E44E}" type="slidenum">
              <a:rPr lang="zh-CN" altLang="en-US" smtClean="0"/>
              <a:t>13</a:t>
            </a:fld>
            <a:endParaRPr lang="zh-CN" altLang="en-US"/>
          </a:p>
        </p:txBody>
      </p:sp>
      <p:sp>
        <p:nvSpPr>
          <p:cNvPr id="6" name="矩形 46">
            <a:extLst>
              <a:ext uri="{FF2B5EF4-FFF2-40B4-BE49-F238E27FC236}">
                <a16:creationId xmlns:a16="http://schemas.microsoft.com/office/drawing/2014/main" id="{E1117EEE-0AC3-3503-57A8-EEBB62D00A33}"/>
              </a:ext>
            </a:extLst>
          </p:cNvPr>
          <p:cNvSpPr>
            <a:spLocks noChangeArrowheads="1"/>
          </p:cNvSpPr>
          <p:nvPr/>
        </p:nvSpPr>
        <p:spPr bwMode="auto">
          <a:xfrm>
            <a:off x="634918" y="237124"/>
            <a:ext cx="2262793"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3 </a:t>
            </a:r>
            <a:r>
              <a:rPr kumimoji="0" lang="zh-CN" altLang="en-US" sz="3200" b="1" i="0" u="none" strike="noStrike" kern="120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总结展望</a:t>
            </a:r>
            <a:endParaRPr kumimoji="0" lang="zh-CN" altLang="en-US" sz="3200" b="1" i="0" u="none" strike="noStrike" kern="1200" cap="none" spc="0" normalizeH="0" baseline="0" noProof="0" dirty="0">
              <a:ln>
                <a:noFill/>
              </a:ln>
              <a:solidFill>
                <a:srgbClr val="000099"/>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8" name="等腰三角形 47">
            <a:extLst>
              <a:ext uri="{FF2B5EF4-FFF2-40B4-BE49-F238E27FC236}">
                <a16:creationId xmlns:a16="http://schemas.microsoft.com/office/drawing/2014/main" id="{CFED538A-53D6-B6D6-34F6-EF5D159C6133}"/>
              </a:ext>
            </a:extLst>
          </p:cNvPr>
          <p:cNvSpPr>
            <a:spLocks noChangeArrowheads="1"/>
          </p:cNvSpPr>
          <p:nvPr/>
        </p:nvSpPr>
        <p:spPr bwMode="auto">
          <a:xfrm rot="5400000">
            <a:off x="-53049" y="209721"/>
            <a:ext cx="774879" cy="668780"/>
          </a:xfrm>
          <a:prstGeom prst="triangle">
            <a:avLst>
              <a:gd name="adj" fmla="val 50000"/>
            </a:avLst>
          </a:prstGeom>
          <a:solidFill>
            <a:srgbClr val="000099"/>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圆角 3">
            <a:extLst>
              <a:ext uri="{FF2B5EF4-FFF2-40B4-BE49-F238E27FC236}">
                <a16:creationId xmlns:a16="http://schemas.microsoft.com/office/drawing/2014/main" id="{F1FE8CA9-1A1D-D198-2FD2-478100560FAB}"/>
              </a:ext>
            </a:extLst>
          </p:cNvPr>
          <p:cNvSpPr/>
          <p:nvPr/>
        </p:nvSpPr>
        <p:spPr>
          <a:xfrm flipH="1">
            <a:off x="253592" y="1316334"/>
            <a:ext cx="3417189" cy="5124660"/>
          </a:xfrm>
          <a:prstGeom prst="roundRect">
            <a:avLst>
              <a:gd name="adj" fmla="val 5316"/>
            </a:avLst>
          </a:prstGeom>
          <a:noFill/>
          <a:ln w="25400">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5" name="组合 4">
            <a:extLst>
              <a:ext uri="{FF2B5EF4-FFF2-40B4-BE49-F238E27FC236}">
                <a16:creationId xmlns:a16="http://schemas.microsoft.com/office/drawing/2014/main" id="{86E55521-1FDB-E2D9-1D7E-2D3E6E395047}"/>
              </a:ext>
            </a:extLst>
          </p:cNvPr>
          <p:cNvGrpSpPr/>
          <p:nvPr/>
        </p:nvGrpSpPr>
        <p:grpSpPr>
          <a:xfrm>
            <a:off x="495339" y="1116833"/>
            <a:ext cx="2933694" cy="400585"/>
            <a:chOff x="7133740" y="709552"/>
            <a:chExt cx="3278091" cy="400585"/>
          </a:xfrm>
        </p:grpSpPr>
        <p:pic>
          <p:nvPicPr>
            <p:cNvPr id="9" name="图片 8">
              <a:extLst>
                <a:ext uri="{FF2B5EF4-FFF2-40B4-BE49-F238E27FC236}">
                  <a16:creationId xmlns:a16="http://schemas.microsoft.com/office/drawing/2014/main" id="{36405E11-920B-8C47-4684-3E658E21B6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3740" y="709552"/>
              <a:ext cx="3278091" cy="400585"/>
            </a:xfrm>
            <a:prstGeom prst="rect">
              <a:avLst/>
            </a:prstGeom>
            <a:effectLst>
              <a:outerShdw blurRad="50800" dist="12700" dir="2700000" sx="101000" sy="101000" algn="tl" rotWithShape="0">
                <a:prstClr val="black">
                  <a:alpha val="40000"/>
                </a:prstClr>
              </a:outerShdw>
            </a:effectLst>
          </p:spPr>
        </p:pic>
        <p:sp>
          <p:nvSpPr>
            <p:cNvPr id="10" name="文本框 9">
              <a:extLst>
                <a:ext uri="{FF2B5EF4-FFF2-40B4-BE49-F238E27FC236}">
                  <a16:creationId xmlns:a16="http://schemas.microsoft.com/office/drawing/2014/main" id="{C1D06EC6-07C4-53DF-1539-E2A825AA22A5}"/>
                </a:ext>
              </a:extLst>
            </p:cNvPr>
            <p:cNvSpPr txBox="1"/>
            <p:nvPr/>
          </p:nvSpPr>
          <p:spPr>
            <a:xfrm>
              <a:off x="7356747" y="709552"/>
              <a:ext cx="2878890" cy="400110"/>
            </a:xfrm>
            <a:prstGeom prst="rect">
              <a:avLst/>
            </a:prstGeom>
            <a:noFill/>
          </p:spPr>
          <p:txBody>
            <a:bodyPr wrap="square">
              <a:spAutoFit/>
            </a:bodyPr>
            <a:lstStyle/>
            <a:p>
              <a:pPr algn="ct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研究总结</a:t>
              </a:r>
            </a:p>
          </p:txBody>
        </p:sp>
      </p:grpSp>
      <p:sp>
        <p:nvSpPr>
          <p:cNvPr id="11" name="文本框 10">
            <a:extLst>
              <a:ext uri="{FF2B5EF4-FFF2-40B4-BE49-F238E27FC236}">
                <a16:creationId xmlns:a16="http://schemas.microsoft.com/office/drawing/2014/main" id="{A87ADAAD-7BB2-C4F2-7FC2-4CD2318CCEAE}"/>
              </a:ext>
            </a:extLst>
          </p:cNvPr>
          <p:cNvSpPr txBox="1"/>
          <p:nvPr/>
        </p:nvSpPr>
        <p:spPr>
          <a:xfrm>
            <a:off x="253587" y="1716444"/>
            <a:ext cx="3278091" cy="2536400"/>
          </a:xfrm>
          <a:prstGeom prst="rect">
            <a:avLst/>
          </a:prstGeom>
          <a:noFill/>
        </p:spPr>
        <p:txBody>
          <a:bodyPr wrap="square">
            <a:spAutoFit/>
          </a:bodyPr>
          <a:lstStyle/>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建立了双端驱动的腱绳协同理论模型；</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使用公开数据集完成人手低维协同的主成分分析；</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开发绳驱折纸灵巧手的设计与仿真软件工具包。</a:t>
            </a:r>
          </a:p>
        </p:txBody>
      </p:sp>
      <p:sp>
        <p:nvSpPr>
          <p:cNvPr id="13" name="矩形: 圆角 12">
            <a:extLst>
              <a:ext uri="{FF2B5EF4-FFF2-40B4-BE49-F238E27FC236}">
                <a16:creationId xmlns:a16="http://schemas.microsoft.com/office/drawing/2014/main" id="{445BFE58-3591-E7D0-2FCF-3C31D5720EA6}"/>
              </a:ext>
            </a:extLst>
          </p:cNvPr>
          <p:cNvSpPr/>
          <p:nvPr/>
        </p:nvSpPr>
        <p:spPr>
          <a:xfrm flipH="1">
            <a:off x="4219841" y="1316334"/>
            <a:ext cx="3761565" cy="5124660"/>
          </a:xfrm>
          <a:prstGeom prst="roundRect">
            <a:avLst>
              <a:gd name="adj" fmla="val 5316"/>
            </a:avLst>
          </a:prstGeom>
          <a:noFill/>
          <a:ln w="25400">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4" name="组合 13">
            <a:extLst>
              <a:ext uri="{FF2B5EF4-FFF2-40B4-BE49-F238E27FC236}">
                <a16:creationId xmlns:a16="http://schemas.microsoft.com/office/drawing/2014/main" id="{F9E5FF95-78DC-E126-97ED-875A2BD32D88}"/>
              </a:ext>
            </a:extLst>
          </p:cNvPr>
          <p:cNvGrpSpPr/>
          <p:nvPr/>
        </p:nvGrpSpPr>
        <p:grpSpPr>
          <a:xfrm>
            <a:off x="4461582" y="1116833"/>
            <a:ext cx="3278091" cy="400585"/>
            <a:chOff x="7133740" y="709552"/>
            <a:chExt cx="3278091" cy="400585"/>
          </a:xfrm>
        </p:grpSpPr>
        <p:pic>
          <p:nvPicPr>
            <p:cNvPr id="15" name="图片 14">
              <a:extLst>
                <a:ext uri="{FF2B5EF4-FFF2-40B4-BE49-F238E27FC236}">
                  <a16:creationId xmlns:a16="http://schemas.microsoft.com/office/drawing/2014/main" id="{E8F34408-4F12-ACE6-82FC-F63A923703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33740" y="709552"/>
              <a:ext cx="3278091" cy="400585"/>
            </a:xfrm>
            <a:prstGeom prst="rect">
              <a:avLst/>
            </a:prstGeom>
            <a:effectLst>
              <a:outerShdw blurRad="50800" dist="12700" dir="2700000" sx="101000" sy="101000" algn="tl" rotWithShape="0">
                <a:prstClr val="black">
                  <a:alpha val="40000"/>
                </a:prstClr>
              </a:outerShdw>
            </a:effectLst>
          </p:spPr>
        </p:pic>
        <p:sp>
          <p:nvSpPr>
            <p:cNvPr id="16" name="文本框 15">
              <a:extLst>
                <a:ext uri="{FF2B5EF4-FFF2-40B4-BE49-F238E27FC236}">
                  <a16:creationId xmlns:a16="http://schemas.microsoft.com/office/drawing/2014/main" id="{B06268FE-056A-D7BC-471D-53B5E10E1BEA}"/>
                </a:ext>
              </a:extLst>
            </p:cNvPr>
            <p:cNvSpPr txBox="1"/>
            <p:nvPr/>
          </p:nvSpPr>
          <p:spPr>
            <a:xfrm>
              <a:off x="7356747" y="709552"/>
              <a:ext cx="2878890" cy="400110"/>
            </a:xfrm>
            <a:prstGeom prst="rect">
              <a:avLst/>
            </a:prstGeom>
            <a:noFill/>
          </p:spPr>
          <p:txBody>
            <a:bodyPr wrap="square">
              <a:spAutoFit/>
            </a:bodyPr>
            <a:lstStyle/>
            <a:p>
              <a:pPr algn="ct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研究局限性分析</a:t>
              </a:r>
            </a:p>
          </p:txBody>
        </p:sp>
      </p:grpSp>
      <p:sp>
        <p:nvSpPr>
          <p:cNvPr id="17" name="文本框 16">
            <a:extLst>
              <a:ext uri="{FF2B5EF4-FFF2-40B4-BE49-F238E27FC236}">
                <a16:creationId xmlns:a16="http://schemas.microsoft.com/office/drawing/2014/main" id="{614DC9B3-9EF5-DE02-AD87-235F2ADBDEFA}"/>
              </a:ext>
            </a:extLst>
          </p:cNvPr>
          <p:cNvSpPr txBox="1"/>
          <p:nvPr/>
        </p:nvSpPr>
        <p:spPr>
          <a:xfrm>
            <a:off x="4461582" y="1716444"/>
            <a:ext cx="3519829" cy="2536400"/>
          </a:xfrm>
          <a:prstGeom prst="rect">
            <a:avLst/>
          </a:prstGeom>
          <a:noFill/>
        </p:spPr>
        <p:txBody>
          <a:bodyPr wrap="square">
            <a:spAutoFit/>
          </a:bodyPr>
          <a:lstStyle/>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建立平面热压</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激光切割的平面制造工艺路线；</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运用机械智能思想，模块化设计手指与腱路编程掌板；</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制成绳驱折纸灵巧手样机，完成初步协同抓取实验验证。</a:t>
            </a:r>
          </a:p>
        </p:txBody>
      </p:sp>
      <p:sp>
        <p:nvSpPr>
          <p:cNvPr id="19" name="矩形: 圆角 18">
            <a:extLst>
              <a:ext uri="{FF2B5EF4-FFF2-40B4-BE49-F238E27FC236}">
                <a16:creationId xmlns:a16="http://schemas.microsoft.com/office/drawing/2014/main" id="{25273358-58B5-3F1E-4481-C7E7221E5D5B}"/>
              </a:ext>
            </a:extLst>
          </p:cNvPr>
          <p:cNvSpPr/>
          <p:nvPr/>
        </p:nvSpPr>
        <p:spPr>
          <a:xfrm flipH="1">
            <a:off x="8530482" y="1316334"/>
            <a:ext cx="3417189" cy="5124660"/>
          </a:xfrm>
          <a:prstGeom prst="roundRect">
            <a:avLst>
              <a:gd name="adj" fmla="val 5316"/>
            </a:avLst>
          </a:prstGeom>
          <a:noFill/>
          <a:ln w="25400">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0" name="组合 19">
            <a:extLst>
              <a:ext uri="{FF2B5EF4-FFF2-40B4-BE49-F238E27FC236}">
                <a16:creationId xmlns:a16="http://schemas.microsoft.com/office/drawing/2014/main" id="{1FA976A0-D2C5-02C3-1C93-8D3F2E004295}"/>
              </a:ext>
            </a:extLst>
          </p:cNvPr>
          <p:cNvGrpSpPr/>
          <p:nvPr/>
        </p:nvGrpSpPr>
        <p:grpSpPr>
          <a:xfrm>
            <a:off x="8600030" y="1116833"/>
            <a:ext cx="3278091" cy="400585"/>
            <a:chOff x="7133740" y="709552"/>
            <a:chExt cx="3278091" cy="400585"/>
          </a:xfrm>
        </p:grpSpPr>
        <p:pic>
          <p:nvPicPr>
            <p:cNvPr id="21" name="图片 20">
              <a:extLst>
                <a:ext uri="{FF2B5EF4-FFF2-40B4-BE49-F238E27FC236}">
                  <a16:creationId xmlns:a16="http://schemas.microsoft.com/office/drawing/2014/main" id="{506CDB8A-BEAD-3618-895E-9B49BA02EE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33740" y="709552"/>
              <a:ext cx="3278091" cy="400585"/>
            </a:xfrm>
            <a:prstGeom prst="rect">
              <a:avLst/>
            </a:prstGeom>
            <a:effectLst>
              <a:outerShdw blurRad="50800" dist="12700" dir="2700000" sx="101000" sy="101000" algn="tl" rotWithShape="0">
                <a:prstClr val="black">
                  <a:alpha val="40000"/>
                </a:prstClr>
              </a:outerShdw>
            </a:effectLst>
          </p:spPr>
        </p:pic>
        <p:sp>
          <p:nvSpPr>
            <p:cNvPr id="22" name="文本框 21">
              <a:extLst>
                <a:ext uri="{FF2B5EF4-FFF2-40B4-BE49-F238E27FC236}">
                  <a16:creationId xmlns:a16="http://schemas.microsoft.com/office/drawing/2014/main" id="{895C1DC2-4D9C-A574-4F41-3737687861B6}"/>
                </a:ext>
              </a:extLst>
            </p:cNvPr>
            <p:cNvSpPr txBox="1"/>
            <p:nvPr/>
          </p:nvSpPr>
          <p:spPr>
            <a:xfrm>
              <a:off x="7356747" y="709552"/>
              <a:ext cx="2878890" cy="400110"/>
            </a:xfrm>
            <a:prstGeom prst="rect">
              <a:avLst/>
            </a:prstGeom>
            <a:noFill/>
          </p:spPr>
          <p:txBody>
            <a:bodyPr wrap="square">
              <a:spAutoFit/>
            </a:bodyPr>
            <a:lstStyle/>
            <a:p>
              <a:pPr algn="ct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未来展望</a:t>
              </a:r>
            </a:p>
          </p:txBody>
        </p:sp>
      </p:grpSp>
      <p:sp>
        <p:nvSpPr>
          <p:cNvPr id="23" name="文本框 22">
            <a:extLst>
              <a:ext uri="{FF2B5EF4-FFF2-40B4-BE49-F238E27FC236}">
                <a16:creationId xmlns:a16="http://schemas.microsoft.com/office/drawing/2014/main" id="{CC446D7E-4B22-5AA7-C956-A72000B8B70F}"/>
              </a:ext>
            </a:extLst>
          </p:cNvPr>
          <p:cNvSpPr txBox="1"/>
          <p:nvPr/>
        </p:nvSpPr>
        <p:spPr>
          <a:xfrm>
            <a:off x="8623436" y="1590010"/>
            <a:ext cx="3278091" cy="3782895"/>
          </a:xfrm>
          <a:prstGeom prst="rect">
            <a:avLst/>
          </a:prstGeom>
          <a:noFill/>
        </p:spPr>
        <p:txBody>
          <a:bodyPr wrap="square">
            <a:spAutoFit/>
          </a:bodyPr>
          <a:lstStyle/>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对仿真软件进行进一步标定；</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优化尺寸参数和关节设计；</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完善感知控制（如张力控制、位置控制）；</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针对特定任务，为五指灵巧手定制腱路编程掌板，实现</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数据提取</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协同分析</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机构定制</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实验验证</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的闭环设计</a:t>
            </a:r>
            <a:r>
              <a:rPr lang="zh-CN" altLang="en-US" dirty="0">
                <a:latin typeface="微软雅黑" panose="020B0503020204020204" pitchFamily="34" charset="-122"/>
                <a:ea typeface="微软雅黑" panose="020B0503020204020204" pitchFamily="34" charset="-122"/>
              </a:rPr>
              <a:t>工作流。</a:t>
            </a:r>
            <a:endParaRPr lang="en-US" altLang="zh-CN" dirty="0">
              <a:latin typeface="微软雅黑" panose="020B0503020204020204" pitchFamily="34" charset="-122"/>
              <a:ea typeface="微软雅黑" panose="020B0503020204020204" pitchFamily="34" charset="-122"/>
            </a:endParaRPr>
          </a:p>
        </p:txBody>
      </p:sp>
      <p:pic>
        <p:nvPicPr>
          <p:cNvPr id="25" name="图片 24">
            <a:extLst>
              <a:ext uri="{FF2B5EF4-FFF2-40B4-BE49-F238E27FC236}">
                <a16:creationId xmlns:a16="http://schemas.microsoft.com/office/drawing/2014/main" id="{02475DB0-FF4A-AE33-33FF-E3FBD31FF64A}"/>
              </a:ext>
            </a:extLst>
          </p:cNvPr>
          <p:cNvPicPr>
            <a:picLocks noChangeAspect="1"/>
          </p:cNvPicPr>
          <p:nvPr/>
        </p:nvPicPr>
        <p:blipFill>
          <a:blip r:embed="rId5"/>
          <a:srcRect l="28656" t="14158" r="25924" b="13548"/>
          <a:stretch>
            <a:fillRect/>
          </a:stretch>
        </p:blipFill>
        <p:spPr>
          <a:xfrm>
            <a:off x="847070" y="4252844"/>
            <a:ext cx="2228930" cy="2081040"/>
          </a:xfrm>
          <a:custGeom>
            <a:avLst/>
            <a:gdLst>
              <a:gd name="connsiteX0" fmla="*/ 0 w 5310258"/>
              <a:gd name="connsiteY0" fmla="*/ 0 h 4957920"/>
              <a:gd name="connsiteX1" fmla="*/ 5310258 w 5310258"/>
              <a:gd name="connsiteY1" fmla="*/ 0 h 4957920"/>
              <a:gd name="connsiteX2" fmla="*/ 5310258 w 5310258"/>
              <a:gd name="connsiteY2" fmla="*/ 4957920 h 4957920"/>
              <a:gd name="connsiteX3" fmla="*/ 0 w 5310258"/>
              <a:gd name="connsiteY3" fmla="*/ 4957920 h 4957920"/>
            </a:gdLst>
            <a:ahLst/>
            <a:cxnLst>
              <a:cxn ang="0">
                <a:pos x="connsiteX0" y="connsiteY0"/>
              </a:cxn>
              <a:cxn ang="0">
                <a:pos x="connsiteX1" y="connsiteY1"/>
              </a:cxn>
              <a:cxn ang="0">
                <a:pos x="connsiteX2" y="connsiteY2"/>
              </a:cxn>
              <a:cxn ang="0">
                <a:pos x="connsiteX3" y="connsiteY3"/>
              </a:cxn>
            </a:cxnLst>
            <a:rect l="l" t="t" r="r" b="b"/>
            <a:pathLst>
              <a:path w="5310258" h="4957920">
                <a:moveTo>
                  <a:pt x="0" y="0"/>
                </a:moveTo>
                <a:lnTo>
                  <a:pt x="5310258" y="0"/>
                </a:lnTo>
                <a:lnTo>
                  <a:pt x="5310258" y="4957920"/>
                </a:lnTo>
                <a:lnTo>
                  <a:pt x="0" y="4957920"/>
                </a:lnTo>
                <a:close/>
              </a:path>
            </a:pathLst>
          </a:custGeom>
        </p:spPr>
      </p:pic>
      <p:pic>
        <p:nvPicPr>
          <p:cNvPr id="26" name="图片 25">
            <a:extLst>
              <a:ext uri="{FF2B5EF4-FFF2-40B4-BE49-F238E27FC236}">
                <a16:creationId xmlns:a16="http://schemas.microsoft.com/office/drawing/2014/main" id="{66B482C9-A6C3-809E-7C83-3005199D720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6601" r="13320"/>
          <a:stretch>
            <a:fillRect/>
          </a:stretch>
        </p:blipFill>
        <p:spPr>
          <a:xfrm rot="5400000">
            <a:off x="5180976" y="4179787"/>
            <a:ext cx="2081039" cy="2227158"/>
          </a:xfrm>
          <a:prstGeom prst="rect">
            <a:avLst/>
          </a:prstGeom>
        </p:spPr>
      </p:pic>
    </p:spTree>
    <p:extLst>
      <p:ext uri="{BB962C8B-B14F-4D97-AF65-F5344CB8AC3E}">
        <p14:creationId xmlns:p14="http://schemas.microsoft.com/office/powerpoint/2010/main" val="38670951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4585-EF8C-DDD8-2FD3-854C5439DE44}"/>
            </a:ext>
          </a:extLst>
        </p:cNvPr>
        <p:cNvGrpSpPr/>
        <p:nvPr/>
      </p:nvGrpSpPr>
      <p:grpSpPr>
        <a:xfrm>
          <a:off x="0" y="0"/>
          <a:ext cx="0" cy="0"/>
          <a:chOff x="0" y="0"/>
          <a:chExt cx="0" cy="0"/>
        </a:xfrm>
      </p:grpSpPr>
      <p:grpSp>
        <p:nvGrpSpPr>
          <p:cNvPr id="146" name="group 146">
            <a:extLst>
              <a:ext uri="{FF2B5EF4-FFF2-40B4-BE49-F238E27FC236}">
                <a16:creationId xmlns:a16="http://schemas.microsoft.com/office/drawing/2014/main" id="{72520E49-AE93-546D-9BBF-E0450304BA6B}"/>
              </a:ext>
            </a:extLst>
          </p:cNvPr>
          <p:cNvGrpSpPr/>
          <p:nvPr/>
        </p:nvGrpSpPr>
        <p:grpSpPr>
          <a:xfrm rot="21600000">
            <a:off x="-12700" y="2418497"/>
            <a:ext cx="12217400" cy="1879600"/>
            <a:chOff x="-12700" y="-12700"/>
            <a:chExt cx="12217400" cy="1879600"/>
          </a:xfrm>
        </p:grpSpPr>
        <p:pic>
          <p:nvPicPr>
            <p:cNvPr id="3544" name="picture 3544">
              <a:extLst>
                <a:ext uri="{FF2B5EF4-FFF2-40B4-BE49-F238E27FC236}">
                  <a16:creationId xmlns:a16="http://schemas.microsoft.com/office/drawing/2014/main" id="{FC9B15FD-890D-816A-6854-225E4A8E5214}"/>
                </a:ext>
              </a:extLst>
            </p:cNvPr>
            <p:cNvPicPr>
              <a:picLocks noChangeAspect="1"/>
            </p:cNvPicPr>
            <p:nvPr/>
          </p:nvPicPr>
          <p:blipFill>
            <a:blip r:embed="rId2"/>
            <a:stretch>
              <a:fillRect/>
            </a:stretch>
          </p:blipFill>
          <p:spPr>
            <a:xfrm rot="21600000">
              <a:off x="0" y="0"/>
              <a:ext cx="12192000" cy="1862327"/>
            </a:xfrm>
            <a:prstGeom prst="rect">
              <a:avLst/>
            </a:prstGeom>
          </p:spPr>
        </p:pic>
        <p:sp>
          <p:nvSpPr>
            <p:cNvPr id="3546" name="textbox 3546">
              <a:extLst>
                <a:ext uri="{FF2B5EF4-FFF2-40B4-BE49-F238E27FC236}">
                  <a16:creationId xmlns:a16="http://schemas.microsoft.com/office/drawing/2014/main" id="{8E672667-7E84-8895-FEE5-3A684A57DD12}"/>
                </a:ext>
              </a:extLst>
            </p:cNvPr>
            <p:cNvSpPr/>
            <p:nvPr/>
          </p:nvSpPr>
          <p:spPr>
            <a:xfrm>
              <a:off x="-12700" y="-12700"/>
              <a:ext cx="12217400" cy="1879600"/>
            </a:xfrm>
            <a:prstGeom prst="rect">
              <a:avLst/>
            </a:prstGeom>
            <a:noFill/>
            <a:ln w="0" cap="flat">
              <a:noFill/>
              <a:prstDash val="solid"/>
              <a:miter lim="0"/>
            </a:ln>
          </p:spPr>
          <p:txBody>
            <a:bodyPr vert="horz" wrap="square" lIns="0" tIns="0" rIns="0" bIns="0"/>
            <a:lstStyle/>
            <a:p>
              <a:pPr algn="ctr" rtl="0" eaLnBrk="0">
                <a:lnSpc>
                  <a:spcPct val="109000"/>
                </a:lnSpc>
              </a:pPr>
              <a:endParaRPr lang="en-US" sz="1000" dirty="0">
                <a:latin typeface="Arial" panose="020B0604020202020204"/>
                <a:ea typeface="Arial" panose="020B0604020202020204"/>
                <a:cs typeface="Arial" panose="020B0604020202020204"/>
              </a:endParaRPr>
            </a:p>
            <a:p>
              <a:pPr algn="ctr" rtl="0" eaLnBrk="0">
                <a:lnSpc>
                  <a:spcPct val="110000"/>
                </a:lnSpc>
              </a:pPr>
              <a:endParaRPr lang="en-US" sz="1000" dirty="0">
                <a:latin typeface="Arial" panose="020B0604020202020204"/>
                <a:ea typeface="Arial" panose="020B0604020202020204"/>
                <a:cs typeface="Arial" panose="020B0604020202020204"/>
              </a:endParaRPr>
            </a:p>
            <a:p>
              <a:pPr algn="ctr" rtl="0" eaLnBrk="0">
                <a:lnSpc>
                  <a:spcPct val="110000"/>
                </a:lnSpc>
              </a:pPr>
              <a:endParaRPr lang="en-US" sz="1000" dirty="0">
                <a:latin typeface="Arial" panose="020B0604020202020204"/>
                <a:ea typeface="Arial" panose="020B0604020202020204"/>
                <a:cs typeface="Arial" panose="020B0604020202020204"/>
              </a:endParaRPr>
            </a:p>
            <a:p>
              <a:pPr algn="ctr" rtl="0" eaLnBrk="0">
                <a:lnSpc>
                  <a:spcPct val="110000"/>
                </a:lnSpc>
              </a:pPr>
              <a:r>
                <a:rPr lang="zh-CN" altLang="en-US" sz="48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感谢大家，请批评指正！</a:t>
              </a:r>
              <a:endParaRPr lang="en-US" sz="4800" dirty="0">
                <a:latin typeface="微软雅黑" panose="020B0503020204020204" charset="-122"/>
                <a:ea typeface="微软雅黑" panose="020B0503020204020204" charset="-122"/>
                <a:cs typeface="微软雅黑" panose="020B0503020204020204" charset="-122"/>
              </a:endParaRPr>
            </a:p>
          </p:txBody>
        </p:sp>
      </p:grpSp>
    </p:spTree>
    <p:extLst>
      <p:ext uri="{BB962C8B-B14F-4D97-AF65-F5344CB8AC3E}">
        <p14:creationId xmlns:p14="http://schemas.microsoft.com/office/powerpoint/2010/main" val="2281581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1367</Words>
  <Application>Microsoft Office PowerPoint</Application>
  <PresentationFormat>宽屏</PresentationFormat>
  <Paragraphs>159</Paragraphs>
  <Slides>14</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-apple-system</vt:lpstr>
      <vt:lpstr>微软雅黑</vt:lpstr>
      <vt:lpstr>Arial</vt:lpstr>
      <vt:lpstr>Calibri</vt:lpstr>
      <vt:lpstr>Calibri Light</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裕硕 王</dc:creator>
  <cp:lastModifiedBy>裕硕 王</cp:lastModifiedBy>
  <cp:revision>33</cp:revision>
  <dcterms:created xsi:type="dcterms:W3CDTF">2026-06-09T07:23:33Z</dcterms:created>
  <dcterms:modified xsi:type="dcterms:W3CDTF">2026-06-09T09:55:58Z</dcterms:modified>
</cp:coreProperties>
</file>